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8" r:id="rId1"/>
  </p:sldMasterIdLst>
  <p:notesMasterIdLst>
    <p:notesMasterId r:id="rId16"/>
  </p:notesMasterIdLst>
  <p:sldIdLst>
    <p:sldId id="256" r:id="rId2"/>
    <p:sldId id="257" r:id="rId3"/>
    <p:sldId id="267" r:id="rId4"/>
    <p:sldId id="266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8" r:id="rId13"/>
    <p:sldId id="269" r:id="rId14"/>
    <p:sldId id="25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E8C86"/>
    <a:srgbClr val="545088"/>
    <a:srgbClr val="DD127C"/>
    <a:srgbClr val="A50021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nkata Sandeep Talatam" userId="0dba34006804be84" providerId="LiveId" clId="{238875A8-336B-4211-AC04-5BCF4F409A89}"/>
    <pc:docChg chg="modSld">
      <pc:chgData name="Venkata Sandeep Talatam" userId="0dba34006804be84" providerId="LiveId" clId="{238875A8-336B-4211-AC04-5BCF4F409A89}" dt="2026-08-26T19:45:50.283" v="7" actId="1076"/>
      <pc:docMkLst>
        <pc:docMk/>
      </pc:docMkLst>
      <pc:sldChg chg="modSp mod">
        <pc:chgData name="Venkata Sandeep Talatam" userId="0dba34006804be84" providerId="LiveId" clId="{238875A8-336B-4211-AC04-5BCF4F409A89}" dt="2026-08-26T19:45:50.283" v="7" actId="1076"/>
        <pc:sldMkLst>
          <pc:docMk/>
          <pc:sldMk cId="454597532" sldId="262"/>
        </pc:sldMkLst>
        <pc:spChg chg="mod">
          <ac:chgData name="Venkata Sandeep Talatam" userId="0dba34006804be84" providerId="LiveId" clId="{238875A8-336B-4211-AC04-5BCF4F409A89}" dt="2026-08-26T19:45:33.535" v="4" actId="14100"/>
          <ac:spMkLst>
            <pc:docMk/>
            <pc:sldMk cId="454597532" sldId="262"/>
            <ac:spMk id="7" creationId="{63E6FB7D-E773-EF48-31A8-3A4B46ED0DDC}"/>
          </ac:spMkLst>
        </pc:spChg>
        <pc:spChg chg="mod">
          <ac:chgData name="Venkata Sandeep Talatam" userId="0dba34006804be84" providerId="LiveId" clId="{238875A8-336B-4211-AC04-5BCF4F409A89}" dt="2026-08-26T19:45:50.283" v="7" actId="1076"/>
          <ac:spMkLst>
            <pc:docMk/>
            <pc:sldMk cId="454597532" sldId="262"/>
            <ac:spMk id="9" creationId="{1EDEB870-A257-9D3B-2E90-768B17AE8AF5}"/>
          </ac:spMkLst>
        </pc:spChg>
        <pc:spChg chg="mod">
          <ac:chgData name="Venkata Sandeep Talatam" userId="0dba34006804be84" providerId="LiveId" clId="{238875A8-336B-4211-AC04-5BCF4F409A89}" dt="2026-08-26T19:45:40.192" v="6" actId="14100"/>
          <ac:spMkLst>
            <pc:docMk/>
            <pc:sldMk cId="454597532" sldId="262"/>
            <ac:spMk id="11" creationId="{3B0899A4-747E-B641-8E41-249EDAED28BB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0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1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dk2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2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1C6B76B-B94E-4E81-AD05-820C9F455C98}" type="doc">
      <dgm:prSet loTypeId="urn:microsoft.com/office/officeart/2005/8/layout/orgChart1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D5EB5307-A56E-4A33-A7DB-C48CAC8EBEB7}">
      <dgm:prSet phldrT="[Text]" custT="1"/>
      <dgm:spPr/>
      <dgm:t>
        <a:bodyPr/>
        <a:lstStyle/>
        <a:p>
          <a:pPr>
            <a:buNone/>
          </a:pPr>
          <a:r>
            <a:rPr lang="en-IN" sz="1600" dirty="0"/>
            <a:t>Player and Game State</a:t>
          </a:r>
        </a:p>
      </dgm:t>
    </dgm:pt>
    <dgm:pt modelId="{03933E7E-2817-4403-B1EE-ECC8B0B1C119}" type="parTrans" cxnId="{AAFF1384-F078-4EF3-BD12-538E0859EB0E}">
      <dgm:prSet/>
      <dgm:spPr/>
      <dgm:t>
        <a:bodyPr/>
        <a:lstStyle/>
        <a:p>
          <a:endParaRPr lang="en-IN"/>
        </a:p>
      </dgm:t>
    </dgm:pt>
    <dgm:pt modelId="{324590A6-9648-4F46-9864-CAA1C2365234}" type="sibTrans" cxnId="{AAFF1384-F078-4EF3-BD12-538E0859EB0E}">
      <dgm:prSet/>
      <dgm:spPr/>
      <dgm:t>
        <a:bodyPr/>
        <a:lstStyle/>
        <a:p>
          <a:endParaRPr lang="en-IN"/>
        </a:p>
      </dgm:t>
    </dgm:pt>
    <dgm:pt modelId="{9846119F-C6F4-459D-936B-7E8BDCDFA360}">
      <dgm:prSet phldrT="[Text]" custT="1"/>
      <dgm:spPr/>
      <dgm:t>
        <a:bodyPr/>
        <a:lstStyle/>
        <a:p>
          <a:pPr>
            <a:buNone/>
          </a:pPr>
          <a:r>
            <a:rPr lang="en-IN" sz="1600" dirty="0"/>
            <a:t>Adaptive Selector / Fallback</a:t>
          </a:r>
        </a:p>
      </dgm:t>
    </dgm:pt>
    <dgm:pt modelId="{86A3DA2D-B12E-4E5B-8618-AD6918316DB4}" type="parTrans" cxnId="{91A4494F-F8B9-4351-A0B1-A5128170F9C4}">
      <dgm:prSet/>
      <dgm:spPr/>
      <dgm:t>
        <a:bodyPr/>
        <a:lstStyle/>
        <a:p>
          <a:endParaRPr lang="en-IN" sz="1200"/>
        </a:p>
      </dgm:t>
    </dgm:pt>
    <dgm:pt modelId="{6EF7E9DC-E3E1-4C19-AFA3-FBBE47AE627A}" type="sibTrans" cxnId="{91A4494F-F8B9-4351-A0B1-A5128170F9C4}">
      <dgm:prSet/>
      <dgm:spPr/>
      <dgm:t>
        <a:bodyPr/>
        <a:lstStyle/>
        <a:p>
          <a:endParaRPr lang="en-IN"/>
        </a:p>
      </dgm:t>
    </dgm:pt>
    <dgm:pt modelId="{BD9BBA85-3D44-46D1-A682-1D547386AA38}">
      <dgm:prSet phldrT="[Text]" custT="1"/>
      <dgm:spPr/>
      <dgm:t>
        <a:bodyPr/>
        <a:lstStyle/>
        <a:p>
          <a:pPr>
            <a:buNone/>
          </a:pPr>
          <a:r>
            <a:rPr lang="en-IN" sz="1600" b="0" dirty="0"/>
            <a:t>NPC Action</a:t>
          </a:r>
        </a:p>
      </dgm:t>
    </dgm:pt>
    <dgm:pt modelId="{9B9A0B9D-34D4-4CF2-8D19-5C60803A0F90}" type="parTrans" cxnId="{D94412E8-FFF4-47F6-8F3D-3C4DABF506FA}">
      <dgm:prSet/>
      <dgm:spPr/>
      <dgm:t>
        <a:bodyPr/>
        <a:lstStyle/>
        <a:p>
          <a:endParaRPr lang="en-IN" sz="1200"/>
        </a:p>
      </dgm:t>
    </dgm:pt>
    <dgm:pt modelId="{8832299C-1F2D-415A-894D-6D05BF857FDD}" type="sibTrans" cxnId="{D94412E8-FFF4-47F6-8F3D-3C4DABF506FA}">
      <dgm:prSet/>
      <dgm:spPr/>
      <dgm:t>
        <a:bodyPr/>
        <a:lstStyle/>
        <a:p>
          <a:endParaRPr lang="en-IN"/>
        </a:p>
      </dgm:t>
    </dgm:pt>
    <dgm:pt modelId="{718BA79E-F05D-40CB-8E70-A1487EF3EC6F}">
      <dgm:prSet phldrT="[Text]" custT="1"/>
      <dgm:spPr/>
      <dgm:t>
        <a:bodyPr/>
        <a:lstStyle/>
        <a:p>
          <a:pPr>
            <a:buNone/>
          </a:pPr>
          <a:r>
            <a:rPr lang="en-IN" sz="1600" dirty="0"/>
            <a:t>Gameplay Outcome</a:t>
          </a:r>
        </a:p>
      </dgm:t>
    </dgm:pt>
    <dgm:pt modelId="{15447366-5FB6-4C6A-AA4C-2F8C05D51454}" type="parTrans" cxnId="{D7405C8F-EDFA-4F2B-94AF-ABEAC3165F69}">
      <dgm:prSet/>
      <dgm:spPr/>
      <dgm:t>
        <a:bodyPr/>
        <a:lstStyle/>
        <a:p>
          <a:endParaRPr lang="en-IN" sz="1200"/>
        </a:p>
      </dgm:t>
    </dgm:pt>
    <dgm:pt modelId="{76DBD309-5E34-4861-9337-43D761479459}" type="sibTrans" cxnId="{D7405C8F-EDFA-4F2B-94AF-ABEAC3165F69}">
      <dgm:prSet/>
      <dgm:spPr/>
      <dgm:t>
        <a:bodyPr/>
        <a:lstStyle/>
        <a:p>
          <a:endParaRPr lang="en-IN"/>
        </a:p>
      </dgm:t>
    </dgm:pt>
    <dgm:pt modelId="{86AC74E7-7ADF-4F56-9A7B-890308797C88}">
      <dgm:prSet phldrT="[Text]" custT="1"/>
      <dgm:spPr/>
      <dgm:t>
        <a:bodyPr/>
        <a:lstStyle/>
        <a:p>
          <a:pPr>
            <a:buNone/>
          </a:pPr>
          <a:r>
            <a:rPr lang="en-IN" sz="1600" dirty="0"/>
            <a:t>Learning-Enhanced Behaviour Tree</a:t>
          </a:r>
        </a:p>
      </dgm:t>
    </dgm:pt>
    <dgm:pt modelId="{B5C2776A-5CB0-4CA1-AB7E-E716BC9D22E6}" type="parTrans" cxnId="{F971A0E9-82CB-4E3D-8EB9-97E0C69EFE40}">
      <dgm:prSet/>
      <dgm:spPr/>
      <dgm:t>
        <a:bodyPr/>
        <a:lstStyle/>
        <a:p>
          <a:endParaRPr lang="en-IN" sz="1200"/>
        </a:p>
      </dgm:t>
    </dgm:pt>
    <dgm:pt modelId="{76A4440B-66DE-40E0-9705-2B877314F02A}" type="sibTrans" cxnId="{F971A0E9-82CB-4E3D-8EB9-97E0C69EFE40}">
      <dgm:prSet/>
      <dgm:spPr/>
      <dgm:t>
        <a:bodyPr/>
        <a:lstStyle/>
        <a:p>
          <a:endParaRPr lang="en-IN"/>
        </a:p>
      </dgm:t>
    </dgm:pt>
    <dgm:pt modelId="{D9259D38-352E-4AC5-9F9C-DD0D4851DB0C}">
      <dgm:prSet phldrT="[Text]" custT="1"/>
      <dgm:spPr/>
      <dgm:t>
        <a:bodyPr/>
        <a:lstStyle/>
        <a:p>
          <a:pPr>
            <a:buNone/>
          </a:pPr>
          <a:r>
            <a:rPr lang="en-IN" sz="1600" dirty="0"/>
            <a:t> Feedback</a:t>
          </a:r>
        </a:p>
      </dgm:t>
    </dgm:pt>
    <dgm:pt modelId="{032896CF-003E-42BB-9F24-6957AEA18922}" type="parTrans" cxnId="{6D5B53EA-09E3-49C4-814D-CF16CCE821D0}">
      <dgm:prSet/>
      <dgm:spPr/>
      <dgm:t>
        <a:bodyPr/>
        <a:lstStyle/>
        <a:p>
          <a:endParaRPr lang="en-IN"/>
        </a:p>
      </dgm:t>
    </dgm:pt>
    <dgm:pt modelId="{EE3967BB-80E7-491C-8087-38CEAEA2969D}" type="sibTrans" cxnId="{6D5B53EA-09E3-49C4-814D-CF16CCE821D0}">
      <dgm:prSet/>
      <dgm:spPr/>
      <dgm:t>
        <a:bodyPr/>
        <a:lstStyle/>
        <a:p>
          <a:endParaRPr lang="en-IN"/>
        </a:p>
      </dgm:t>
    </dgm:pt>
    <dgm:pt modelId="{A556E76C-4FB7-4396-90BC-7718A7E71A7A}" type="pres">
      <dgm:prSet presAssocID="{C1C6B76B-B94E-4E81-AD05-820C9F455C9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40215760-194F-4E73-A044-19BFA719E88C}" type="pres">
      <dgm:prSet presAssocID="{D5EB5307-A56E-4A33-A7DB-C48CAC8EBEB7}" presName="hierRoot1" presStyleCnt="0">
        <dgm:presLayoutVars>
          <dgm:hierBranch val="init"/>
        </dgm:presLayoutVars>
      </dgm:prSet>
      <dgm:spPr/>
    </dgm:pt>
    <dgm:pt modelId="{F3E4BB74-8154-476E-9273-FCF3CB7F9D80}" type="pres">
      <dgm:prSet presAssocID="{D5EB5307-A56E-4A33-A7DB-C48CAC8EBEB7}" presName="rootComposite1" presStyleCnt="0"/>
      <dgm:spPr/>
    </dgm:pt>
    <dgm:pt modelId="{5E2D2D55-B1EB-4C1F-8D88-637B19D0A228}" type="pres">
      <dgm:prSet presAssocID="{D5EB5307-A56E-4A33-A7DB-C48CAC8EBEB7}" presName="rootText1" presStyleLbl="node0" presStyleIdx="0" presStyleCnt="1" custScaleX="236927" custScaleY="45883">
        <dgm:presLayoutVars>
          <dgm:chPref val="3"/>
        </dgm:presLayoutVars>
      </dgm:prSet>
      <dgm:spPr/>
    </dgm:pt>
    <dgm:pt modelId="{A569B419-7B32-49E9-885F-EFCEA3712392}" type="pres">
      <dgm:prSet presAssocID="{D5EB5307-A56E-4A33-A7DB-C48CAC8EBEB7}" presName="rootConnector1" presStyleLbl="node1" presStyleIdx="0" presStyleCnt="0"/>
      <dgm:spPr/>
    </dgm:pt>
    <dgm:pt modelId="{0808D794-6395-474D-B747-95C4AB0E8B69}" type="pres">
      <dgm:prSet presAssocID="{D5EB5307-A56E-4A33-A7DB-C48CAC8EBEB7}" presName="hierChild2" presStyleCnt="0"/>
      <dgm:spPr/>
    </dgm:pt>
    <dgm:pt modelId="{34F9AFE7-0D12-4A8C-91ED-FF0DECB7F6C3}" type="pres">
      <dgm:prSet presAssocID="{B5C2776A-5CB0-4CA1-AB7E-E716BC9D22E6}" presName="Name37" presStyleLbl="parChTrans1D2" presStyleIdx="0" presStyleCnt="1" custSzX="216646" custSzY="129069"/>
      <dgm:spPr/>
    </dgm:pt>
    <dgm:pt modelId="{5673676F-665F-48A2-B461-4486FAE11586}" type="pres">
      <dgm:prSet presAssocID="{86AC74E7-7ADF-4F56-9A7B-890308797C88}" presName="hierRoot2" presStyleCnt="0">
        <dgm:presLayoutVars>
          <dgm:hierBranch val="init"/>
        </dgm:presLayoutVars>
      </dgm:prSet>
      <dgm:spPr/>
    </dgm:pt>
    <dgm:pt modelId="{16E18FC8-CAF5-4406-A414-74BE1147E063}" type="pres">
      <dgm:prSet presAssocID="{86AC74E7-7ADF-4F56-9A7B-890308797C88}" presName="rootComposite" presStyleCnt="0"/>
      <dgm:spPr/>
    </dgm:pt>
    <dgm:pt modelId="{A0A976C5-51C8-4646-8B82-9EA54EE5933B}" type="pres">
      <dgm:prSet presAssocID="{86AC74E7-7ADF-4F56-9A7B-890308797C88}" presName="rootText" presStyleLbl="node2" presStyleIdx="0" presStyleCnt="1" custScaleX="236927" custScaleY="45883">
        <dgm:presLayoutVars>
          <dgm:chPref val="3"/>
        </dgm:presLayoutVars>
      </dgm:prSet>
      <dgm:spPr/>
    </dgm:pt>
    <dgm:pt modelId="{866BDEB0-39E8-4EBB-A10B-098BC6F2D17B}" type="pres">
      <dgm:prSet presAssocID="{86AC74E7-7ADF-4F56-9A7B-890308797C88}" presName="rootConnector" presStyleLbl="node2" presStyleIdx="0" presStyleCnt="1"/>
      <dgm:spPr/>
    </dgm:pt>
    <dgm:pt modelId="{66AD8E24-E424-4C61-B909-995ABA99BA7E}" type="pres">
      <dgm:prSet presAssocID="{86AC74E7-7ADF-4F56-9A7B-890308797C88}" presName="hierChild4" presStyleCnt="0"/>
      <dgm:spPr/>
    </dgm:pt>
    <dgm:pt modelId="{68862F9E-45E5-4D1D-9C9D-ED5B6C931892}" type="pres">
      <dgm:prSet presAssocID="{86A3DA2D-B12E-4E5B-8618-AD6918316DB4}" presName="Name37" presStyleLbl="parChTrans1D3" presStyleIdx="0" presStyleCnt="1" custSzX="216646" custSzY="129069"/>
      <dgm:spPr/>
    </dgm:pt>
    <dgm:pt modelId="{9087B319-0E26-42F1-A7AE-6ADA9E9C2264}" type="pres">
      <dgm:prSet presAssocID="{9846119F-C6F4-459D-936B-7E8BDCDFA360}" presName="hierRoot2" presStyleCnt="0">
        <dgm:presLayoutVars>
          <dgm:hierBranch val="init"/>
        </dgm:presLayoutVars>
      </dgm:prSet>
      <dgm:spPr/>
    </dgm:pt>
    <dgm:pt modelId="{7E1B8A3C-FE64-4775-8870-A926B4C73DAC}" type="pres">
      <dgm:prSet presAssocID="{9846119F-C6F4-459D-936B-7E8BDCDFA360}" presName="rootComposite" presStyleCnt="0"/>
      <dgm:spPr/>
    </dgm:pt>
    <dgm:pt modelId="{404EAD07-75CB-41C6-8D14-61DCBF46E9B0}" type="pres">
      <dgm:prSet presAssocID="{9846119F-C6F4-459D-936B-7E8BDCDFA360}" presName="rootText" presStyleLbl="node3" presStyleIdx="0" presStyleCnt="1" custScaleX="236927" custScaleY="45883">
        <dgm:presLayoutVars>
          <dgm:chPref val="3"/>
        </dgm:presLayoutVars>
      </dgm:prSet>
      <dgm:spPr/>
    </dgm:pt>
    <dgm:pt modelId="{B958DD21-5C82-4D95-AC6E-3EC0ECCBC78C}" type="pres">
      <dgm:prSet presAssocID="{9846119F-C6F4-459D-936B-7E8BDCDFA360}" presName="rootConnector" presStyleLbl="node3" presStyleIdx="0" presStyleCnt="1"/>
      <dgm:spPr/>
    </dgm:pt>
    <dgm:pt modelId="{90D7FA7B-111B-4566-8851-3A00EACFA9CA}" type="pres">
      <dgm:prSet presAssocID="{9846119F-C6F4-459D-936B-7E8BDCDFA360}" presName="hierChild4" presStyleCnt="0"/>
      <dgm:spPr/>
    </dgm:pt>
    <dgm:pt modelId="{8FD50F7B-EC59-4B17-AF4D-72F8536CCC3E}" type="pres">
      <dgm:prSet presAssocID="{9B9A0B9D-34D4-4CF2-8D19-5C60803A0F90}" presName="Name37" presStyleLbl="parChTrans1D4" presStyleIdx="0" presStyleCnt="3" custSzX="216646" custSzY="129069"/>
      <dgm:spPr/>
    </dgm:pt>
    <dgm:pt modelId="{B090BF24-9FAA-44D4-92CB-45D17B2416C4}" type="pres">
      <dgm:prSet presAssocID="{BD9BBA85-3D44-46D1-A682-1D547386AA38}" presName="hierRoot2" presStyleCnt="0">
        <dgm:presLayoutVars>
          <dgm:hierBranch val="init"/>
        </dgm:presLayoutVars>
      </dgm:prSet>
      <dgm:spPr/>
    </dgm:pt>
    <dgm:pt modelId="{66F17BA1-7600-4CF6-8FB8-A5781FC188DE}" type="pres">
      <dgm:prSet presAssocID="{BD9BBA85-3D44-46D1-A682-1D547386AA38}" presName="rootComposite" presStyleCnt="0"/>
      <dgm:spPr/>
    </dgm:pt>
    <dgm:pt modelId="{1F194F5B-7107-4E06-80EB-4949B32A46C7}" type="pres">
      <dgm:prSet presAssocID="{BD9BBA85-3D44-46D1-A682-1D547386AA38}" presName="rootText" presStyleLbl="node4" presStyleIdx="0" presStyleCnt="3" custScaleX="236927" custScaleY="45883">
        <dgm:presLayoutVars>
          <dgm:chPref val="3"/>
        </dgm:presLayoutVars>
      </dgm:prSet>
      <dgm:spPr/>
    </dgm:pt>
    <dgm:pt modelId="{BE753B0E-0335-45D8-A75B-66A252182107}" type="pres">
      <dgm:prSet presAssocID="{BD9BBA85-3D44-46D1-A682-1D547386AA38}" presName="rootConnector" presStyleLbl="node4" presStyleIdx="0" presStyleCnt="3"/>
      <dgm:spPr/>
    </dgm:pt>
    <dgm:pt modelId="{A7F0118A-10DB-495F-A6C7-6621FB693752}" type="pres">
      <dgm:prSet presAssocID="{BD9BBA85-3D44-46D1-A682-1D547386AA38}" presName="hierChild4" presStyleCnt="0"/>
      <dgm:spPr/>
    </dgm:pt>
    <dgm:pt modelId="{855664D8-DCB4-489A-A210-4305239E6714}" type="pres">
      <dgm:prSet presAssocID="{15447366-5FB6-4C6A-AA4C-2F8C05D51454}" presName="Name37" presStyleLbl="parChTrans1D4" presStyleIdx="1" presStyleCnt="3" custSzX="494994" custSzY="282723"/>
      <dgm:spPr/>
    </dgm:pt>
    <dgm:pt modelId="{091D74E8-18BE-4AEE-895A-F1C02CDF41CA}" type="pres">
      <dgm:prSet presAssocID="{718BA79E-F05D-40CB-8E70-A1487EF3EC6F}" presName="hierRoot2" presStyleCnt="0">
        <dgm:presLayoutVars>
          <dgm:hierBranch val="init"/>
        </dgm:presLayoutVars>
      </dgm:prSet>
      <dgm:spPr/>
    </dgm:pt>
    <dgm:pt modelId="{E0B1487D-B8A7-49FD-80ED-AE6398652E55}" type="pres">
      <dgm:prSet presAssocID="{718BA79E-F05D-40CB-8E70-A1487EF3EC6F}" presName="rootComposite" presStyleCnt="0"/>
      <dgm:spPr/>
    </dgm:pt>
    <dgm:pt modelId="{212A3CD8-B14E-46AD-9523-92E7F147E971}" type="pres">
      <dgm:prSet presAssocID="{718BA79E-F05D-40CB-8E70-A1487EF3EC6F}" presName="rootText" presStyleLbl="node4" presStyleIdx="1" presStyleCnt="3" custScaleX="236927" custScaleY="45883">
        <dgm:presLayoutVars>
          <dgm:chPref val="3"/>
        </dgm:presLayoutVars>
      </dgm:prSet>
      <dgm:spPr/>
    </dgm:pt>
    <dgm:pt modelId="{3B353C9F-44F9-4FC0-A7D7-0652DC489A67}" type="pres">
      <dgm:prSet presAssocID="{718BA79E-F05D-40CB-8E70-A1487EF3EC6F}" presName="rootConnector" presStyleLbl="node4" presStyleIdx="1" presStyleCnt="3"/>
      <dgm:spPr/>
    </dgm:pt>
    <dgm:pt modelId="{A86EA476-591D-4B01-9B10-E55F0EE6ED1B}" type="pres">
      <dgm:prSet presAssocID="{718BA79E-F05D-40CB-8E70-A1487EF3EC6F}" presName="hierChild4" presStyleCnt="0"/>
      <dgm:spPr/>
    </dgm:pt>
    <dgm:pt modelId="{E483EF95-378C-42F0-89A9-D6B7E2392B64}" type="pres">
      <dgm:prSet presAssocID="{032896CF-003E-42BB-9F24-6957AEA18922}" presName="Name37" presStyleLbl="parChTrans1D4" presStyleIdx="2" presStyleCnt="3"/>
      <dgm:spPr/>
    </dgm:pt>
    <dgm:pt modelId="{0EC8990D-7DBA-45DE-967C-E4A92DE6C707}" type="pres">
      <dgm:prSet presAssocID="{D9259D38-352E-4AC5-9F9C-DD0D4851DB0C}" presName="hierRoot2" presStyleCnt="0">
        <dgm:presLayoutVars>
          <dgm:hierBranch val="init"/>
        </dgm:presLayoutVars>
      </dgm:prSet>
      <dgm:spPr/>
    </dgm:pt>
    <dgm:pt modelId="{090AD684-6B3C-47C9-8D7D-2F81C0CBA492}" type="pres">
      <dgm:prSet presAssocID="{D9259D38-352E-4AC5-9F9C-DD0D4851DB0C}" presName="rootComposite" presStyleCnt="0"/>
      <dgm:spPr/>
    </dgm:pt>
    <dgm:pt modelId="{012C38A6-5F31-441F-94BF-CB3A9EDC58CF}" type="pres">
      <dgm:prSet presAssocID="{D9259D38-352E-4AC5-9F9C-DD0D4851DB0C}" presName="rootText" presStyleLbl="node4" presStyleIdx="2" presStyleCnt="3">
        <dgm:presLayoutVars>
          <dgm:chPref val="3"/>
        </dgm:presLayoutVars>
      </dgm:prSet>
      <dgm:spPr/>
    </dgm:pt>
    <dgm:pt modelId="{CF44100F-C6C4-4D36-B44A-C7052F0F89AE}" type="pres">
      <dgm:prSet presAssocID="{D9259D38-352E-4AC5-9F9C-DD0D4851DB0C}" presName="rootConnector" presStyleLbl="node4" presStyleIdx="2" presStyleCnt="3"/>
      <dgm:spPr/>
    </dgm:pt>
    <dgm:pt modelId="{DE15B50B-9C80-46A7-B791-43628A161456}" type="pres">
      <dgm:prSet presAssocID="{D9259D38-352E-4AC5-9F9C-DD0D4851DB0C}" presName="hierChild4" presStyleCnt="0"/>
      <dgm:spPr/>
    </dgm:pt>
    <dgm:pt modelId="{09C50B38-8EB2-4FB7-AE15-89CD7D44D3DC}" type="pres">
      <dgm:prSet presAssocID="{D9259D38-352E-4AC5-9F9C-DD0D4851DB0C}" presName="hierChild5" presStyleCnt="0"/>
      <dgm:spPr/>
    </dgm:pt>
    <dgm:pt modelId="{29327B44-E120-40F4-BE74-4FBFA5803855}" type="pres">
      <dgm:prSet presAssocID="{718BA79E-F05D-40CB-8E70-A1487EF3EC6F}" presName="hierChild5" presStyleCnt="0"/>
      <dgm:spPr/>
    </dgm:pt>
    <dgm:pt modelId="{361D2B36-AD56-49BE-9537-E4D67E2F4EBE}" type="pres">
      <dgm:prSet presAssocID="{BD9BBA85-3D44-46D1-A682-1D547386AA38}" presName="hierChild5" presStyleCnt="0"/>
      <dgm:spPr/>
    </dgm:pt>
    <dgm:pt modelId="{3106D03D-1B03-46E9-B2D8-B221E04F182A}" type="pres">
      <dgm:prSet presAssocID="{9846119F-C6F4-459D-936B-7E8BDCDFA360}" presName="hierChild5" presStyleCnt="0"/>
      <dgm:spPr/>
    </dgm:pt>
    <dgm:pt modelId="{D24AB526-AAB5-43F1-A19E-16057AD6D9AC}" type="pres">
      <dgm:prSet presAssocID="{86AC74E7-7ADF-4F56-9A7B-890308797C88}" presName="hierChild5" presStyleCnt="0"/>
      <dgm:spPr/>
    </dgm:pt>
    <dgm:pt modelId="{0DCF91B4-0524-4654-8696-9AD41ED27CAF}" type="pres">
      <dgm:prSet presAssocID="{D5EB5307-A56E-4A33-A7DB-C48CAC8EBEB7}" presName="hierChild3" presStyleCnt="0"/>
      <dgm:spPr/>
    </dgm:pt>
  </dgm:ptLst>
  <dgm:cxnLst>
    <dgm:cxn modelId="{9199ED14-EF5D-458B-AACC-0A95F75C3EED}" type="presOf" srcId="{86A3DA2D-B12E-4E5B-8618-AD6918316DB4}" destId="{68862F9E-45E5-4D1D-9C9D-ED5B6C931892}" srcOrd="0" destOrd="0" presId="urn:microsoft.com/office/officeart/2005/8/layout/orgChart1"/>
    <dgm:cxn modelId="{5D9DF124-D594-4D16-B7A0-CE0A4D5D2A57}" type="presOf" srcId="{BD9BBA85-3D44-46D1-A682-1D547386AA38}" destId="{1F194F5B-7107-4E06-80EB-4949B32A46C7}" srcOrd="0" destOrd="0" presId="urn:microsoft.com/office/officeart/2005/8/layout/orgChart1"/>
    <dgm:cxn modelId="{21B44E3C-A7B8-4F64-8E84-745CB76F2B13}" type="presOf" srcId="{9846119F-C6F4-459D-936B-7E8BDCDFA360}" destId="{404EAD07-75CB-41C6-8D14-61DCBF46E9B0}" srcOrd="0" destOrd="0" presId="urn:microsoft.com/office/officeart/2005/8/layout/orgChart1"/>
    <dgm:cxn modelId="{4E14745D-9635-4720-8046-C1B9039E378E}" type="presOf" srcId="{718BA79E-F05D-40CB-8E70-A1487EF3EC6F}" destId="{212A3CD8-B14E-46AD-9523-92E7F147E971}" srcOrd="0" destOrd="0" presId="urn:microsoft.com/office/officeart/2005/8/layout/orgChart1"/>
    <dgm:cxn modelId="{DF4C7742-5E85-446B-85D6-8169A41AC96E}" type="presOf" srcId="{D5EB5307-A56E-4A33-A7DB-C48CAC8EBEB7}" destId="{A569B419-7B32-49E9-885F-EFCEA3712392}" srcOrd="1" destOrd="0" presId="urn:microsoft.com/office/officeart/2005/8/layout/orgChart1"/>
    <dgm:cxn modelId="{1FBB8943-6500-45A0-909B-AB26A1987276}" type="presOf" srcId="{9B9A0B9D-34D4-4CF2-8D19-5C60803A0F90}" destId="{8FD50F7B-EC59-4B17-AF4D-72F8536CCC3E}" srcOrd="0" destOrd="0" presId="urn:microsoft.com/office/officeart/2005/8/layout/orgChart1"/>
    <dgm:cxn modelId="{91A4494F-F8B9-4351-A0B1-A5128170F9C4}" srcId="{86AC74E7-7ADF-4F56-9A7B-890308797C88}" destId="{9846119F-C6F4-459D-936B-7E8BDCDFA360}" srcOrd="0" destOrd="0" parTransId="{86A3DA2D-B12E-4E5B-8618-AD6918316DB4}" sibTransId="{6EF7E9DC-E3E1-4C19-AFA3-FBBE47AE627A}"/>
    <dgm:cxn modelId="{6DB62A51-1AB5-4EF7-ACDB-661A4881B2BA}" type="presOf" srcId="{D9259D38-352E-4AC5-9F9C-DD0D4851DB0C}" destId="{012C38A6-5F31-441F-94BF-CB3A9EDC58CF}" srcOrd="0" destOrd="0" presId="urn:microsoft.com/office/officeart/2005/8/layout/orgChart1"/>
    <dgm:cxn modelId="{59E80153-AFEE-4A88-933B-32FFC62E2A0B}" type="presOf" srcId="{B5C2776A-5CB0-4CA1-AB7E-E716BC9D22E6}" destId="{34F9AFE7-0D12-4A8C-91ED-FF0DECB7F6C3}" srcOrd="0" destOrd="0" presId="urn:microsoft.com/office/officeart/2005/8/layout/orgChart1"/>
    <dgm:cxn modelId="{AAFF1384-F078-4EF3-BD12-538E0859EB0E}" srcId="{C1C6B76B-B94E-4E81-AD05-820C9F455C98}" destId="{D5EB5307-A56E-4A33-A7DB-C48CAC8EBEB7}" srcOrd="0" destOrd="0" parTransId="{03933E7E-2817-4403-B1EE-ECC8B0B1C119}" sibTransId="{324590A6-9648-4F46-9864-CAA1C2365234}"/>
    <dgm:cxn modelId="{B8C3CD88-FA16-4089-83D4-5478CDFE6CB0}" type="presOf" srcId="{D5EB5307-A56E-4A33-A7DB-C48CAC8EBEB7}" destId="{5E2D2D55-B1EB-4C1F-8D88-637B19D0A228}" srcOrd="0" destOrd="0" presId="urn:microsoft.com/office/officeart/2005/8/layout/orgChart1"/>
    <dgm:cxn modelId="{C779118A-5795-412E-9E74-5A832D9DF3BF}" type="presOf" srcId="{032896CF-003E-42BB-9F24-6957AEA18922}" destId="{E483EF95-378C-42F0-89A9-D6B7E2392B64}" srcOrd="0" destOrd="0" presId="urn:microsoft.com/office/officeart/2005/8/layout/orgChart1"/>
    <dgm:cxn modelId="{D7405C8F-EDFA-4F2B-94AF-ABEAC3165F69}" srcId="{BD9BBA85-3D44-46D1-A682-1D547386AA38}" destId="{718BA79E-F05D-40CB-8E70-A1487EF3EC6F}" srcOrd="0" destOrd="0" parTransId="{15447366-5FB6-4C6A-AA4C-2F8C05D51454}" sibTransId="{76DBD309-5E34-4861-9337-43D761479459}"/>
    <dgm:cxn modelId="{706CD5B3-1FCC-4538-A872-9AB9F9529EEF}" type="presOf" srcId="{BD9BBA85-3D44-46D1-A682-1D547386AA38}" destId="{BE753B0E-0335-45D8-A75B-66A252182107}" srcOrd="1" destOrd="0" presId="urn:microsoft.com/office/officeart/2005/8/layout/orgChart1"/>
    <dgm:cxn modelId="{9B67DFB5-DFFF-4688-96BF-2AA8BC512447}" type="presOf" srcId="{86AC74E7-7ADF-4F56-9A7B-890308797C88}" destId="{866BDEB0-39E8-4EBB-A10B-098BC6F2D17B}" srcOrd="1" destOrd="0" presId="urn:microsoft.com/office/officeart/2005/8/layout/orgChart1"/>
    <dgm:cxn modelId="{A10DD8BD-7B32-4ED9-9C64-FFD16E43214C}" type="presOf" srcId="{C1C6B76B-B94E-4E81-AD05-820C9F455C98}" destId="{A556E76C-4FB7-4396-90BC-7718A7E71A7A}" srcOrd="0" destOrd="0" presId="urn:microsoft.com/office/officeart/2005/8/layout/orgChart1"/>
    <dgm:cxn modelId="{CAE725C4-6E14-4846-8637-CEE5512DEC45}" type="presOf" srcId="{718BA79E-F05D-40CB-8E70-A1487EF3EC6F}" destId="{3B353C9F-44F9-4FC0-A7D7-0652DC489A67}" srcOrd="1" destOrd="0" presId="urn:microsoft.com/office/officeart/2005/8/layout/orgChart1"/>
    <dgm:cxn modelId="{EFF9C6D5-C9ED-47A8-A1CB-F59D5B9948FB}" type="presOf" srcId="{D9259D38-352E-4AC5-9F9C-DD0D4851DB0C}" destId="{CF44100F-C6C4-4D36-B44A-C7052F0F89AE}" srcOrd="1" destOrd="0" presId="urn:microsoft.com/office/officeart/2005/8/layout/orgChart1"/>
    <dgm:cxn modelId="{D94412E8-FFF4-47F6-8F3D-3C4DABF506FA}" srcId="{9846119F-C6F4-459D-936B-7E8BDCDFA360}" destId="{BD9BBA85-3D44-46D1-A682-1D547386AA38}" srcOrd="0" destOrd="0" parTransId="{9B9A0B9D-34D4-4CF2-8D19-5C60803A0F90}" sibTransId="{8832299C-1F2D-415A-894D-6D05BF857FDD}"/>
    <dgm:cxn modelId="{53C78FE8-5915-46F9-A8E4-93EDCEAE371A}" type="presOf" srcId="{9846119F-C6F4-459D-936B-7E8BDCDFA360}" destId="{B958DD21-5C82-4D95-AC6E-3EC0ECCBC78C}" srcOrd="1" destOrd="0" presId="urn:microsoft.com/office/officeart/2005/8/layout/orgChart1"/>
    <dgm:cxn modelId="{F971A0E9-82CB-4E3D-8EB9-97E0C69EFE40}" srcId="{D5EB5307-A56E-4A33-A7DB-C48CAC8EBEB7}" destId="{86AC74E7-7ADF-4F56-9A7B-890308797C88}" srcOrd="0" destOrd="0" parTransId="{B5C2776A-5CB0-4CA1-AB7E-E716BC9D22E6}" sibTransId="{76A4440B-66DE-40E0-9705-2B877314F02A}"/>
    <dgm:cxn modelId="{6D5B53EA-09E3-49C4-814D-CF16CCE821D0}" srcId="{718BA79E-F05D-40CB-8E70-A1487EF3EC6F}" destId="{D9259D38-352E-4AC5-9F9C-DD0D4851DB0C}" srcOrd="0" destOrd="0" parTransId="{032896CF-003E-42BB-9F24-6957AEA18922}" sibTransId="{EE3967BB-80E7-491C-8087-38CEAEA2969D}"/>
    <dgm:cxn modelId="{A025F4EF-2A49-4C21-BB0A-B2FDD54269AD}" type="presOf" srcId="{15447366-5FB6-4C6A-AA4C-2F8C05D51454}" destId="{855664D8-DCB4-489A-A210-4305239E6714}" srcOrd="0" destOrd="0" presId="urn:microsoft.com/office/officeart/2005/8/layout/orgChart1"/>
    <dgm:cxn modelId="{9EA88FF9-F239-462B-A753-03F0C235E48A}" type="presOf" srcId="{86AC74E7-7ADF-4F56-9A7B-890308797C88}" destId="{A0A976C5-51C8-4646-8B82-9EA54EE5933B}" srcOrd="0" destOrd="0" presId="urn:microsoft.com/office/officeart/2005/8/layout/orgChart1"/>
    <dgm:cxn modelId="{E12D0E2D-BDEB-4FCE-8509-99725BA67F20}" type="presParOf" srcId="{A556E76C-4FB7-4396-90BC-7718A7E71A7A}" destId="{40215760-194F-4E73-A044-19BFA719E88C}" srcOrd="0" destOrd="0" presId="urn:microsoft.com/office/officeart/2005/8/layout/orgChart1"/>
    <dgm:cxn modelId="{0F3B34F2-BBD0-4676-90E3-D614FAC96DAB}" type="presParOf" srcId="{40215760-194F-4E73-A044-19BFA719E88C}" destId="{F3E4BB74-8154-476E-9273-FCF3CB7F9D80}" srcOrd="0" destOrd="0" presId="urn:microsoft.com/office/officeart/2005/8/layout/orgChart1"/>
    <dgm:cxn modelId="{5575AAE1-0F82-4F52-99BD-777407B04460}" type="presParOf" srcId="{F3E4BB74-8154-476E-9273-FCF3CB7F9D80}" destId="{5E2D2D55-B1EB-4C1F-8D88-637B19D0A228}" srcOrd="0" destOrd="0" presId="urn:microsoft.com/office/officeart/2005/8/layout/orgChart1"/>
    <dgm:cxn modelId="{AE192ED8-749E-4D2A-9F7C-AEFB3F4D5E49}" type="presParOf" srcId="{F3E4BB74-8154-476E-9273-FCF3CB7F9D80}" destId="{A569B419-7B32-49E9-885F-EFCEA3712392}" srcOrd="1" destOrd="0" presId="urn:microsoft.com/office/officeart/2005/8/layout/orgChart1"/>
    <dgm:cxn modelId="{5A0B66EC-67AD-4ECB-AA57-E20FBD0794AE}" type="presParOf" srcId="{40215760-194F-4E73-A044-19BFA719E88C}" destId="{0808D794-6395-474D-B747-95C4AB0E8B69}" srcOrd="1" destOrd="0" presId="urn:microsoft.com/office/officeart/2005/8/layout/orgChart1"/>
    <dgm:cxn modelId="{B0A713C0-51DE-4706-9A62-B12A3F40174C}" type="presParOf" srcId="{0808D794-6395-474D-B747-95C4AB0E8B69}" destId="{34F9AFE7-0D12-4A8C-91ED-FF0DECB7F6C3}" srcOrd="0" destOrd="0" presId="urn:microsoft.com/office/officeart/2005/8/layout/orgChart1"/>
    <dgm:cxn modelId="{E5BBDE39-CC89-4C86-8528-9027E711F362}" type="presParOf" srcId="{0808D794-6395-474D-B747-95C4AB0E8B69}" destId="{5673676F-665F-48A2-B461-4486FAE11586}" srcOrd="1" destOrd="0" presId="urn:microsoft.com/office/officeart/2005/8/layout/orgChart1"/>
    <dgm:cxn modelId="{DC58BC88-8D09-42F2-AEFE-C3338F33B309}" type="presParOf" srcId="{5673676F-665F-48A2-B461-4486FAE11586}" destId="{16E18FC8-CAF5-4406-A414-74BE1147E063}" srcOrd="0" destOrd="0" presId="urn:microsoft.com/office/officeart/2005/8/layout/orgChart1"/>
    <dgm:cxn modelId="{27EA4D6E-F129-4483-8B40-65397A2BDF77}" type="presParOf" srcId="{16E18FC8-CAF5-4406-A414-74BE1147E063}" destId="{A0A976C5-51C8-4646-8B82-9EA54EE5933B}" srcOrd="0" destOrd="0" presId="urn:microsoft.com/office/officeart/2005/8/layout/orgChart1"/>
    <dgm:cxn modelId="{0A41A936-3557-4CF6-B439-5E88C00F0A86}" type="presParOf" srcId="{16E18FC8-CAF5-4406-A414-74BE1147E063}" destId="{866BDEB0-39E8-4EBB-A10B-098BC6F2D17B}" srcOrd="1" destOrd="0" presId="urn:microsoft.com/office/officeart/2005/8/layout/orgChart1"/>
    <dgm:cxn modelId="{B16616A6-6AEC-42CA-811E-323793138519}" type="presParOf" srcId="{5673676F-665F-48A2-B461-4486FAE11586}" destId="{66AD8E24-E424-4C61-B909-995ABA99BA7E}" srcOrd="1" destOrd="0" presId="urn:microsoft.com/office/officeart/2005/8/layout/orgChart1"/>
    <dgm:cxn modelId="{F7E2AB02-7506-4F93-9BAC-DEB66A475A72}" type="presParOf" srcId="{66AD8E24-E424-4C61-B909-995ABA99BA7E}" destId="{68862F9E-45E5-4D1D-9C9D-ED5B6C931892}" srcOrd="0" destOrd="0" presId="urn:microsoft.com/office/officeart/2005/8/layout/orgChart1"/>
    <dgm:cxn modelId="{D48F505D-73E7-4597-8047-52DEEBB07872}" type="presParOf" srcId="{66AD8E24-E424-4C61-B909-995ABA99BA7E}" destId="{9087B319-0E26-42F1-A7AE-6ADA9E9C2264}" srcOrd="1" destOrd="0" presId="urn:microsoft.com/office/officeart/2005/8/layout/orgChart1"/>
    <dgm:cxn modelId="{8080DEA1-C345-4BD7-A910-2FF8573514B6}" type="presParOf" srcId="{9087B319-0E26-42F1-A7AE-6ADA9E9C2264}" destId="{7E1B8A3C-FE64-4775-8870-A926B4C73DAC}" srcOrd="0" destOrd="0" presId="urn:microsoft.com/office/officeart/2005/8/layout/orgChart1"/>
    <dgm:cxn modelId="{07B04FD1-43A8-4E90-82F1-63AF2C260785}" type="presParOf" srcId="{7E1B8A3C-FE64-4775-8870-A926B4C73DAC}" destId="{404EAD07-75CB-41C6-8D14-61DCBF46E9B0}" srcOrd="0" destOrd="0" presId="urn:microsoft.com/office/officeart/2005/8/layout/orgChart1"/>
    <dgm:cxn modelId="{6B7CB318-59D3-438D-A801-3917B9AA18A7}" type="presParOf" srcId="{7E1B8A3C-FE64-4775-8870-A926B4C73DAC}" destId="{B958DD21-5C82-4D95-AC6E-3EC0ECCBC78C}" srcOrd="1" destOrd="0" presId="urn:microsoft.com/office/officeart/2005/8/layout/orgChart1"/>
    <dgm:cxn modelId="{23A5F7B6-6CAB-472E-92B0-3E3510ADEA22}" type="presParOf" srcId="{9087B319-0E26-42F1-A7AE-6ADA9E9C2264}" destId="{90D7FA7B-111B-4566-8851-3A00EACFA9CA}" srcOrd="1" destOrd="0" presId="urn:microsoft.com/office/officeart/2005/8/layout/orgChart1"/>
    <dgm:cxn modelId="{BADFBB3B-7863-4DBA-B18A-5C808FB2D5CF}" type="presParOf" srcId="{90D7FA7B-111B-4566-8851-3A00EACFA9CA}" destId="{8FD50F7B-EC59-4B17-AF4D-72F8536CCC3E}" srcOrd="0" destOrd="0" presId="urn:microsoft.com/office/officeart/2005/8/layout/orgChart1"/>
    <dgm:cxn modelId="{AFEBD86B-056C-47ED-A539-B9C0709A54DA}" type="presParOf" srcId="{90D7FA7B-111B-4566-8851-3A00EACFA9CA}" destId="{B090BF24-9FAA-44D4-92CB-45D17B2416C4}" srcOrd="1" destOrd="0" presId="urn:microsoft.com/office/officeart/2005/8/layout/orgChart1"/>
    <dgm:cxn modelId="{CEABFC72-2C93-4128-A385-5094452FE7D8}" type="presParOf" srcId="{B090BF24-9FAA-44D4-92CB-45D17B2416C4}" destId="{66F17BA1-7600-4CF6-8FB8-A5781FC188DE}" srcOrd="0" destOrd="0" presId="urn:microsoft.com/office/officeart/2005/8/layout/orgChart1"/>
    <dgm:cxn modelId="{E55A9771-3364-4711-A010-925287B57467}" type="presParOf" srcId="{66F17BA1-7600-4CF6-8FB8-A5781FC188DE}" destId="{1F194F5B-7107-4E06-80EB-4949B32A46C7}" srcOrd="0" destOrd="0" presId="urn:microsoft.com/office/officeart/2005/8/layout/orgChart1"/>
    <dgm:cxn modelId="{5E8C166F-D8C4-4343-9BB8-3AD89113A8CE}" type="presParOf" srcId="{66F17BA1-7600-4CF6-8FB8-A5781FC188DE}" destId="{BE753B0E-0335-45D8-A75B-66A252182107}" srcOrd="1" destOrd="0" presId="urn:microsoft.com/office/officeart/2005/8/layout/orgChart1"/>
    <dgm:cxn modelId="{35907BAE-F254-477D-8A31-6957FEBD1287}" type="presParOf" srcId="{B090BF24-9FAA-44D4-92CB-45D17B2416C4}" destId="{A7F0118A-10DB-495F-A6C7-6621FB693752}" srcOrd="1" destOrd="0" presId="urn:microsoft.com/office/officeart/2005/8/layout/orgChart1"/>
    <dgm:cxn modelId="{079D415C-B8F6-45EB-9133-54B9DC4842C4}" type="presParOf" srcId="{A7F0118A-10DB-495F-A6C7-6621FB693752}" destId="{855664D8-DCB4-489A-A210-4305239E6714}" srcOrd="0" destOrd="0" presId="urn:microsoft.com/office/officeart/2005/8/layout/orgChart1"/>
    <dgm:cxn modelId="{13AC36A6-4FFD-4072-8299-EA920619F6F8}" type="presParOf" srcId="{A7F0118A-10DB-495F-A6C7-6621FB693752}" destId="{091D74E8-18BE-4AEE-895A-F1C02CDF41CA}" srcOrd="1" destOrd="0" presId="urn:microsoft.com/office/officeart/2005/8/layout/orgChart1"/>
    <dgm:cxn modelId="{A60733C0-3C00-424F-8454-A5230D5FAFFF}" type="presParOf" srcId="{091D74E8-18BE-4AEE-895A-F1C02CDF41CA}" destId="{E0B1487D-B8A7-49FD-80ED-AE6398652E55}" srcOrd="0" destOrd="0" presId="urn:microsoft.com/office/officeart/2005/8/layout/orgChart1"/>
    <dgm:cxn modelId="{B5BBFC28-5951-4B61-B767-0789614F8AA6}" type="presParOf" srcId="{E0B1487D-B8A7-49FD-80ED-AE6398652E55}" destId="{212A3CD8-B14E-46AD-9523-92E7F147E971}" srcOrd="0" destOrd="0" presId="urn:microsoft.com/office/officeart/2005/8/layout/orgChart1"/>
    <dgm:cxn modelId="{A7C04823-B54A-429E-8211-74A1EFD7239B}" type="presParOf" srcId="{E0B1487D-B8A7-49FD-80ED-AE6398652E55}" destId="{3B353C9F-44F9-4FC0-A7D7-0652DC489A67}" srcOrd="1" destOrd="0" presId="urn:microsoft.com/office/officeart/2005/8/layout/orgChart1"/>
    <dgm:cxn modelId="{C0C56C94-BB1C-4298-A1E8-92B9B582144E}" type="presParOf" srcId="{091D74E8-18BE-4AEE-895A-F1C02CDF41CA}" destId="{A86EA476-591D-4B01-9B10-E55F0EE6ED1B}" srcOrd="1" destOrd="0" presId="urn:microsoft.com/office/officeart/2005/8/layout/orgChart1"/>
    <dgm:cxn modelId="{4BE1CC7C-F965-486C-A726-52308F1922B2}" type="presParOf" srcId="{A86EA476-591D-4B01-9B10-E55F0EE6ED1B}" destId="{E483EF95-378C-42F0-89A9-D6B7E2392B64}" srcOrd="0" destOrd="0" presId="urn:microsoft.com/office/officeart/2005/8/layout/orgChart1"/>
    <dgm:cxn modelId="{64493919-5844-4BDA-824B-95E393A2FF5B}" type="presParOf" srcId="{A86EA476-591D-4B01-9B10-E55F0EE6ED1B}" destId="{0EC8990D-7DBA-45DE-967C-E4A92DE6C707}" srcOrd="1" destOrd="0" presId="urn:microsoft.com/office/officeart/2005/8/layout/orgChart1"/>
    <dgm:cxn modelId="{429FCCEE-E4AA-43EA-A39D-B19D39ACA37C}" type="presParOf" srcId="{0EC8990D-7DBA-45DE-967C-E4A92DE6C707}" destId="{090AD684-6B3C-47C9-8D7D-2F81C0CBA492}" srcOrd="0" destOrd="0" presId="urn:microsoft.com/office/officeart/2005/8/layout/orgChart1"/>
    <dgm:cxn modelId="{CDBC75B3-B555-4751-BEF1-D68A0A542C56}" type="presParOf" srcId="{090AD684-6B3C-47C9-8D7D-2F81C0CBA492}" destId="{012C38A6-5F31-441F-94BF-CB3A9EDC58CF}" srcOrd="0" destOrd="0" presId="urn:microsoft.com/office/officeart/2005/8/layout/orgChart1"/>
    <dgm:cxn modelId="{CB364CBF-8917-4EDF-A487-498FB330A819}" type="presParOf" srcId="{090AD684-6B3C-47C9-8D7D-2F81C0CBA492}" destId="{CF44100F-C6C4-4D36-B44A-C7052F0F89AE}" srcOrd="1" destOrd="0" presId="urn:microsoft.com/office/officeart/2005/8/layout/orgChart1"/>
    <dgm:cxn modelId="{366E3187-50FE-4070-9EFE-921C1D352C42}" type="presParOf" srcId="{0EC8990D-7DBA-45DE-967C-E4A92DE6C707}" destId="{DE15B50B-9C80-46A7-B791-43628A161456}" srcOrd="1" destOrd="0" presId="urn:microsoft.com/office/officeart/2005/8/layout/orgChart1"/>
    <dgm:cxn modelId="{C2C71615-B9C5-4929-B73A-278132ADA8E9}" type="presParOf" srcId="{0EC8990D-7DBA-45DE-967C-E4A92DE6C707}" destId="{09C50B38-8EB2-4FB7-AE15-89CD7D44D3DC}" srcOrd="2" destOrd="0" presId="urn:microsoft.com/office/officeart/2005/8/layout/orgChart1"/>
    <dgm:cxn modelId="{056C1697-0F84-4A56-94E7-A3F6330C395C}" type="presParOf" srcId="{091D74E8-18BE-4AEE-895A-F1C02CDF41CA}" destId="{29327B44-E120-40F4-BE74-4FBFA5803855}" srcOrd="2" destOrd="0" presId="urn:microsoft.com/office/officeart/2005/8/layout/orgChart1"/>
    <dgm:cxn modelId="{C60C744F-8390-417C-B9EF-A5CADE66F39A}" type="presParOf" srcId="{B090BF24-9FAA-44D4-92CB-45D17B2416C4}" destId="{361D2B36-AD56-49BE-9537-E4D67E2F4EBE}" srcOrd="2" destOrd="0" presId="urn:microsoft.com/office/officeart/2005/8/layout/orgChart1"/>
    <dgm:cxn modelId="{62E4A555-E460-4461-8A55-FC6A1A134D65}" type="presParOf" srcId="{9087B319-0E26-42F1-A7AE-6ADA9E9C2264}" destId="{3106D03D-1B03-46E9-B2D8-B221E04F182A}" srcOrd="2" destOrd="0" presId="urn:microsoft.com/office/officeart/2005/8/layout/orgChart1"/>
    <dgm:cxn modelId="{547D1B76-ABC1-46C7-81FD-4B054EA8519E}" type="presParOf" srcId="{5673676F-665F-48A2-B461-4486FAE11586}" destId="{D24AB526-AAB5-43F1-A19E-16057AD6D9AC}" srcOrd="2" destOrd="0" presId="urn:microsoft.com/office/officeart/2005/8/layout/orgChart1"/>
    <dgm:cxn modelId="{710A286B-8253-46ED-BEB5-847C2B5E1F94}" type="presParOf" srcId="{40215760-194F-4E73-A044-19BFA719E88C}" destId="{0DCF91B4-0524-4654-8696-9AD41ED27CAF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83EF95-378C-42F0-89A9-D6B7E2392B64}">
      <dsp:nvSpPr>
        <dsp:cNvPr id="0" name=""/>
        <dsp:cNvSpPr/>
      </dsp:nvSpPr>
      <dsp:spPr>
        <a:xfrm>
          <a:off x="398064" y="3397949"/>
          <a:ext cx="594854" cy="7699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69950"/>
              </a:lnTo>
              <a:lnTo>
                <a:pt x="594854" y="769950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55664D8-DCB4-489A-A210-4305239E6714}">
      <dsp:nvSpPr>
        <dsp:cNvPr id="0" name=""/>
        <dsp:cNvSpPr/>
      </dsp:nvSpPr>
      <dsp:spPr>
        <a:xfrm>
          <a:off x="1938622" y="2662454"/>
          <a:ext cx="91440" cy="35149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51498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D50F7B-EC59-4B17-AF4D-72F8536CCC3E}">
      <dsp:nvSpPr>
        <dsp:cNvPr id="0" name=""/>
        <dsp:cNvSpPr/>
      </dsp:nvSpPr>
      <dsp:spPr>
        <a:xfrm>
          <a:off x="1938622" y="1926959"/>
          <a:ext cx="91440" cy="35149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51498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862F9E-45E5-4D1D-9C9D-ED5B6C931892}">
      <dsp:nvSpPr>
        <dsp:cNvPr id="0" name=""/>
        <dsp:cNvSpPr/>
      </dsp:nvSpPr>
      <dsp:spPr>
        <a:xfrm>
          <a:off x="1938622" y="1191465"/>
          <a:ext cx="91440" cy="35149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51498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4F9AFE7-0D12-4A8C-91ED-FF0DECB7F6C3}">
      <dsp:nvSpPr>
        <dsp:cNvPr id="0" name=""/>
        <dsp:cNvSpPr/>
      </dsp:nvSpPr>
      <dsp:spPr>
        <a:xfrm>
          <a:off x="1938622" y="455970"/>
          <a:ext cx="91440" cy="35149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51498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E2D2D55-B1EB-4C1F-8D88-637B19D0A228}">
      <dsp:nvSpPr>
        <dsp:cNvPr id="0" name=""/>
        <dsp:cNvSpPr/>
      </dsp:nvSpPr>
      <dsp:spPr>
        <a:xfrm>
          <a:off x="1495" y="71974"/>
          <a:ext cx="3965694" cy="38399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Player and Game State</a:t>
          </a:r>
        </a:p>
      </dsp:txBody>
      <dsp:txXfrm>
        <a:off x="1495" y="71974"/>
        <a:ext cx="3965694" cy="383995"/>
      </dsp:txXfrm>
    </dsp:sp>
    <dsp:sp modelId="{A0A976C5-51C8-4646-8B82-9EA54EE5933B}">
      <dsp:nvSpPr>
        <dsp:cNvPr id="0" name=""/>
        <dsp:cNvSpPr/>
      </dsp:nvSpPr>
      <dsp:spPr>
        <a:xfrm>
          <a:off x="1495" y="807469"/>
          <a:ext cx="3965694" cy="38399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Learning-Enhanced Behaviour Tree</a:t>
          </a:r>
        </a:p>
      </dsp:txBody>
      <dsp:txXfrm>
        <a:off x="1495" y="807469"/>
        <a:ext cx="3965694" cy="383995"/>
      </dsp:txXfrm>
    </dsp:sp>
    <dsp:sp modelId="{404EAD07-75CB-41C6-8D14-61DCBF46E9B0}">
      <dsp:nvSpPr>
        <dsp:cNvPr id="0" name=""/>
        <dsp:cNvSpPr/>
      </dsp:nvSpPr>
      <dsp:spPr>
        <a:xfrm>
          <a:off x="1495" y="1542963"/>
          <a:ext cx="3965694" cy="38399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Adaptive Selector / Fallback</a:t>
          </a:r>
        </a:p>
      </dsp:txBody>
      <dsp:txXfrm>
        <a:off x="1495" y="1542963"/>
        <a:ext cx="3965694" cy="383995"/>
      </dsp:txXfrm>
    </dsp:sp>
    <dsp:sp modelId="{1F194F5B-7107-4E06-80EB-4949B32A46C7}">
      <dsp:nvSpPr>
        <dsp:cNvPr id="0" name=""/>
        <dsp:cNvSpPr/>
      </dsp:nvSpPr>
      <dsp:spPr>
        <a:xfrm>
          <a:off x="1495" y="2278458"/>
          <a:ext cx="3965694" cy="38399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kern="1200" dirty="0"/>
            <a:t>NPC Action</a:t>
          </a:r>
        </a:p>
      </dsp:txBody>
      <dsp:txXfrm>
        <a:off x="1495" y="2278458"/>
        <a:ext cx="3965694" cy="383995"/>
      </dsp:txXfrm>
    </dsp:sp>
    <dsp:sp modelId="{212A3CD8-B14E-46AD-9523-92E7F147E971}">
      <dsp:nvSpPr>
        <dsp:cNvPr id="0" name=""/>
        <dsp:cNvSpPr/>
      </dsp:nvSpPr>
      <dsp:spPr>
        <a:xfrm>
          <a:off x="1495" y="3013953"/>
          <a:ext cx="3965694" cy="38399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Gameplay Outcome</a:t>
          </a:r>
        </a:p>
      </dsp:txBody>
      <dsp:txXfrm>
        <a:off x="1495" y="3013953"/>
        <a:ext cx="3965694" cy="383995"/>
      </dsp:txXfrm>
    </dsp:sp>
    <dsp:sp modelId="{012C38A6-5F31-441F-94BF-CB3A9EDC58CF}">
      <dsp:nvSpPr>
        <dsp:cNvPr id="0" name=""/>
        <dsp:cNvSpPr/>
      </dsp:nvSpPr>
      <dsp:spPr>
        <a:xfrm>
          <a:off x="992918" y="3749448"/>
          <a:ext cx="1673804" cy="83690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 Feedback</a:t>
          </a:r>
        </a:p>
      </dsp:txBody>
      <dsp:txXfrm>
        <a:off x="992918" y="3749448"/>
        <a:ext cx="1673804" cy="8369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DEA4D5-355F-4308-85D8-830DF1EC235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676362-176A-46A1-ABA9-F7BB7D2339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271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676362-176A-46A1-ABA9-F7BB7D23391B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6973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9C30F-D18E-CB0E-EA0E-19C40489CA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7F5240-F073-FEAD-FF3E-F703079248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B8B7A7-81EC-ADEB-E8F8-8AA84E1C2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B1CD9-F59B-4220-9948-934C63899D59}" type="datetime1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CB027-4518-1079-F1E5-F82C20ABA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Dissertation Review - I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3E3BD7-25C6-974C-6CD5-958B39AC4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64766-4797-42BE-B733-A21DC585C1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9554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2FC4E-0BB4-CDDE-F84E-B59648B4C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B3A045-1009-ECF9-C2EA-CB5E0C6A3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D84DF2-B529-B401-5D7A-6D5CAC307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9C366-F701-40DC-8C25-3194B9371CC7}" type="datetime1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D4C659-50E6-A996-4531-CD13A2CD1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Dissertation Review - I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41357-AAD2-CBAB-D5AE-350A3A912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64766-4797-42BE-B733-A21DC585C1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9566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DACC3-6E6B-4939-96D3-C5A23DA3F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9F8ABD-06DF-55E2-4408-C85C512B5E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6D1D7-0403-38AA-6B9F-A8F14D457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00D1B-6157-444D-85F5-7CBCFF499DAC}" type="datetime1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3F9FE-DDFB-E4C2-0B55-5178F5799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Dissertation Review - I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784241-33A4-EB61-05E2-A17C002C4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64766-4797-42BE-B733-A21DC585C1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5014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616BA-F0F7-1B8B-002B-600CFC52E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36D47-9A87-0960-E3A3-E1A41BED0D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172CEC-7625-099B-5976-48B2052AE9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19F76F-1BDD-339E-8E3F-69F776C42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0CA52-3624-4A85-A057-8A3C1A0C2E3E}" type="datetime1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A3CEBB-844B-06A4-A6BE-03C19FAF1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Dissertation Review - I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F103F5-2EFB-2271-FA39-8551D2521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64766-4797-42BE-B733-A21DC585C1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6741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39E00-82BA-7823-3540-AE6ACF8D5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1FF326-8F4B-35B2-5F1E-15AAA1976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218457-B2A2-B2B3-08BB-33F4E0EBD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419E72-3C56-FD63-3CB3-D2B2B8C7AA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584850-3FBF-0959-AC01-545E546C3E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0CC41A-A113-6441-FADD-CC52325B2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6568A-74B2-4809-9BC7-42138A243E48}" type="datetime1">
              <a:rPr lang="en-IN" smtClean="0"/>
              <a:t>26-08-2026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295006-6C89-9E49-3B0D-B590C7FFF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Dissertation Review - I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0807AE-2C27-8BC5-BE4A-B1FCD7A33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64766-4797-42BE-B733-A21DC585C1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2277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A6C59-E303-B5F3-2630-1D6B087DB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C93489-95E9-DD23-FE57-609C134BA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2BC91-D7FD-4BBE-B587-C914025C9C7E}" type="datetime1">
              <a:rPr lang="en-IN" smtClean="0"/>
              <a:t>26-08-2026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3B029A-4E23-25B3-7822-7E8A75466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Dissertation Review - I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B63627-C31A-7956-24AD-6777EF6DB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64766-4797-42BE-B733-A21DC585C1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8399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07638A-EC88-3898-2472-DDD6CACF3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5ABDA-5CB9-4EBC-862E-C159AD13A9FE}" type="datetime1">
              <a:rPr lang="en-IN" smtClean="0"/>
              <a:t>26-08-2026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01BD4F-77A2-A04C-6A51-EEEEAEA32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Dissertation Review - I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B308E5-A2DF-EAC0-6E22-5A24BF629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64766-4797-42BE-B733-A21DC585C1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0780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7F164-C78F-6D93-A1C4-B1DF3F40D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EE39F-7F69-245C-9AE2-E38BF1E58D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11ADE3-8C08-20D7-647D-5556F696C7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C88E7A-211F-0E92-7800-D11B0DBEC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35F5C-0758-4EA5-BCA4-BAC644E0417A}" type="datetime1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02094-B5BD-0310-307C-E15FB4B20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Dissertation Review - I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5F7A57-A934-BAFA-AED3-35EFF29DA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64766-4797-42BE-B733-A21DC585C1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7204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E963F-A05F-E265-9D50-400D00D54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C41C37-ECFC-F40A-A325-890ECD97E0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394B33-7677-49D2-D405-286E0848F2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4DE411-F5CC-C96B-2791-05A4C1154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7CF40-0EC4-47AB-B15A-E12E7E5A0113}" type="datetime1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7CF78B-043D-F97F-CF7B-D6E1F27A5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Dissertation Review - I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8E6A64-AD79-F7F9-92F4-3AD2FC353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64766-4797-42BE-B733-A21DC585C1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1157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513F5-1DBF-030B-A528-6414CC2BD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860C0F-BD66-2AB9-07CC-7D23AA3D66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E575D7-6FAD-C461-8A18-624D003B3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BC563-C10A-47C6-96AF-04759A854A50}" type="datetime1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9A57B-D3C3-EBF7-50B4-3D9BF13C6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Dissertation Review - I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DD204-9968-FEB8-9421-A981645B0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64766-4797-42BE-B733-A21DC585C1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3726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115FA0-E092-A965-0A9C-51F7CF7BE1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A0AB13-CC1A-EA55-03E6-7DC1741750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EEA1BA-2B87-D3F2-B902-37D17F318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1BBED-785C-454F-A1AA-616F43D2BD84}" type="datetime1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CD6AB7-82B6-A252-891B-54FEB34D4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Dissertation Review - I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C3DBA1-6CEA-5835-6DA4-723717A54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64766-4797-42BE-B733-A21DC585C1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5506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C93E84-1257-D4A3-36F6-4C664A906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961B78-01EC-6FF6-223C-8DE06A8C8E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03B1DE-6EE4-A991-A159-C7D78C8117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DC1388-9B49-4040-B967-ACF192E02F90}" type="datetime1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78D453-1BA6-5C26-0D4C-9DAB2F178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Dissertation Review - I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58498E-B159-9660-C98D-4C465C9FE9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C64766-4797-42BE-B733-A21DC585C1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1913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Jawaharlal Nehru Technological University, Hyderabad | LeARN | Pupilfirst">
            <a:extLst>
              <a:ext uri="{FF2B5EF4-FFF2-40B4-BE49-F238E27FC236}">
                <a16:creationId xmlns:a16="http://schemas.microsoft.com/office/drawing/2014/main" id="{7B98DD00-D1D3-8F69-A23C-63357B2A0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443" y="482346"/>
            <a:ext cx="1336509" cy="10843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03181BC-B530-52ED-1297-D3B4111629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5333" y="259384"/>
            <a:ext cx="1411224" cy="15302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6D427E-C61E-8997-47EA-6BE9C254091A}"/>
              </a:ext>
            </a:extLst>
          </p:cNvPr>
          <p:cNvSpPr txBox="1"/>
          <p:nvPr/>
        </p:nvSpPr>
        <p:spPr>
          <a:xfrm>
            <a:off x="1816608" y="397115"/>
            <a:ext cx="85587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Department of Computer Science and Engineering</a:t>
            </a:r>
          </a:p>
          <a:p>
            <a:pPr lvl="0" algn="ctr"/>
            <a:r>
              <a:rPr lang="en-IN" b="1" cap="all" dirty="0">
                <a:solidFill>
                  <a:srgbClr val="DD127C"/>
                </a:solidFill>
              </a:rPr>
              <a:t>Jawaharlal Nehru Technological University Hyderabad</a:t>
            </a:r>
            <a:br>
              <a:rPr lang="en-IN" dirty="0"/>
            </a:br>
            <a:r>
              <a:rPr lang="en-IN" b="1" dirty="0">
                <a:solidFill>
                  <a:srgbClr val="545088"/>
                </a:solidFill>
              </a:rPr>
              <a:t>University College of Engineering , Science &amp; Technology Hyderabad</a:t>
            </a:r>
            <a:br>
              <a:rPr lang="en-IN" dirty="0"/>
            </a:br>
            <a:r>
              <a:rPr lang="en-IN" dirty="0"/>
              <a:t>(</a:t>
            </a:r>
            <a:r>
              <a:rPr lang="en-IN" sz="1600" dirty="0"/>
              <a:t>Kukatpally, Hyderabad - 500 085, Telangana, India)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9A1941-0FF4-324B-00D7-C674009FD20E}"/>
              </a:ext>
            </a:extLst>
          </p:cNvPr>
          <p:cNvSpPr txBox="1"/>
          <p:nvPr/>
        </p:nvSpPr>
        <p:spPr>
          <a:xfrm>
            <a:off x="2397252" y="2110740"/>
            <a:ext cx="739749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rgbClr val="FF0000"/>
                </a:solidFill>
              </a:rPr>
              <a:t>Presentation For Dissertation Review – I at Stage – I</a:t>
            </a:r>
          </a:p>
          <a:p>
            <a:pPr algn="ctr"/>
            <a:endParaRPr lang="en-IN" sz="2000" dirty="0">
              <a:solidFill>
                <a:srgbClr val="FF0000"/>
              </a:solidFill>
            </a:endParaRPr>
          </a:p>
          <a:p>
            <a:pPr algn="ctr"/>
            <a:r>
              <a:rPr lang="en-IN" sz="2000" b="1" dirty="0"/>
              <a:t>Title</a:t>
            </a:r>
            <a:r>
              <a:rPr lang="en-IN" sz="2400" dirty="0"/>
              <a:t>: </a:t>
            </a:r>
            <a:r>
              <a:rPr lang="en-IN" sz="2000" b="1" dirty="0"/>
              <a:t>Learning-Enhanced Behaviour Trees for Adaptive Non-Player Characters (NPCs)</a:t>
            </a:r>
            <a:endParaRPr lang="en-IN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FCC3A0-08A2-B430-80CD-AFEAE1728A75}"/>
              </a:ext>
            </a:extLst>
          </p:cNvPr>
          <p:cNvSpPr txBox="1"/>
          <p:nvPr/>
        </p:nvSpPr>
        <p:spPr>
          <a:xfrm>
            <a:off x="1152144" y="4202507"/>
            <a:ext cx="427200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Presented By:</a:t>
            </a:r>
          </a:p>
          <a:p>
            <a:r>
              <a:rPr lang="en-GB" dirty="0"/>
              <a:t>Talatam Venkata Sandeep</a:t>
            </a:r>
          </a:p>
          <a:p>
            <a:r>
              <a:rPr lang="en-GB" dirty="0"/>
              <a:t>22011P0528</a:t>
            </a:r>
          </a:p>
          <a:p>
            <a:r>
              <a:rPr lang="en-GB" dirty="0"/>
              <a:t>5th Year Integrated Dual Degree (IDP) </a:t>
            </a:r>
          </a:p>
          <a:p>
            <a:r>
              <a:rPr lang="en-GB" dirty="0"/>
              <a:t>Dept. of Computer Science and Engineering</a:t>
            </a:r>
          </a:p>
          <a:p>
            <a:r>
              <a:rPr lang="en-GB" dirty="0"/>
              <a:t>JNTUH UCEST 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B620C1-820E-99B4-8F48-28C147378D3A}"/>
              </a:ext>
            </a:extLst>
          </p:cNvPr>
          <p:cNvSpPr txBox="1"/>
          <p:nvPr/>
        </p:nvSpPr>
        <p:spPr>
          <a:xfrm>
            <a:off x="7605614" y="4202507"/>
            <a:ext cx="331533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Mentored By:</a:t>
            </a:r>
          </a:p>
          <a:p>
            <a:r>
              <a:rPr lang="en-GB" dirty="0"/>
              <a:t>Dr. A. Govardhan </a:t>
            </a:r>
          </a:p>
          <a:p>
            <a:r>
              <a:rPr lang="en-GB" dirty="0"/>
              <a:t>Senior Professor of CSE JNTUH </a:t>
            </a:r>
          </a:p>
          <a:p>
            <a:r>
              <a:rPr lang="en-GB" dirty="0"/>
              <a:t>UCESTH and Vice-Chancellor I/c., </a:t>
            </a:r>
          </a:p>
          <a:p>
            <a:r>
              <a:rPr lang="en-GB" dirty="0"/>
              <a:t>RGUKT Basar.</a:t>
            </a:r>
            <a:endParaRPr lang="en-IN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2F482B26-6584-19EF-DD96-757C9712E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Dissertation Review - I</a:t>
            </a:r>
            <a:endParaRPr lang="en-GB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F04E9C4-7510-29C2-897F-F47D85542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64766-4797-42BE-B733-A21DC585C1DD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0650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D05649-00C9-60E0-972C-D08CD39D8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Dissertation Review - I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7BCFFD-20E4-B604-5C27-7BBFB5A66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64766-4797-42BE-B733-A21DC585C1DD}" type="slidenum">
              <a:rPr lang="en-IN" smtClean="0"/>
              <a:t>2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E7AD5C-25A7-267E-7159-D2ABC072312A}"/>
              </a:ext>
            </a:extLst>
          </p:cNvPr>
          <p:cNvSpPr txBox="1"/>
          <p:nvPr/>
        </p:nvSpPr>
        <p:spPr>
          <a:xfrm>
            <a:off x="1060704" y="429768"/>
            <a:ext cx="25269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5400" dirty="0"/>
              <a:t>Abstract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804FDC-8919-37CF-A054-6423F733ADC2}"/>
              </a:ext>
            </a:extLst>
          </p:cNvPr>
          <p:cNvSpPr txBox="1"/>
          <p:nvPr/>
        </p:nvSpPr>
        <p:spPr>
          <a:xfrm>
            <a:off x="1060703" y="1920240"/>
            <a:ext cx="98454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1. </a:t>
            </a:r>
            <a:r>
              <a:rPr lang="en-IN" b="1" dirty="0"/>
              <a:t>Behaviour Trees (BTs)</a:t>
            </a:r>
            <a:r>
              <a:rPr lang="en-IN" dirty="0"/>
              <a:t> are widely used for NPC decision-making because they are modular, reactive, and interpretable, but conventional BTs have limited ability to adapt to changing game environments and player strategies.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8F2698-F2FC-D967-EF88-D30A1B502072}"/>
              </a:ext>
            </a:extLst>
          </p:cNvPr>
          <p:cNvSpPr txBox="1"/>
          <p:nvPr/>
        </p:nvSpPr>
        <p:spPr>
          <a:xfrm>
            <a:off x="1060704" y="3214965"/>
            <a:ext cx="98454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2. </a:t>
            </a:r>
            <a:r>
              <a:rPr lang="en-IN" b="1" dirty="0"/>
              <a:t>Learning-enhanced BTs</a:t>
            </a:r>
            <a:r>
              <a:rPr lang="en-IN" dirty="0"/>
              <a:t> can improve NPC adaptability by learning which behaviours are more effective based on gameplay experience while retaining the hierarchical structure and designer-defined constraints.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6466C8-CD69-9C8B-245D-D29359303B79}"/>
              </a:ext>
            </a:extLst>
          </p:cNvPr>
          <p:cNvSpPr txBox="1"/>
          <p:nvPr/>
        </p:nvSpPr>
        <p:spPr>
          <a:xfrm>
            <a:off x="1060703" y="4509690"/>
            <a:ext cx="984541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3. This research proposes a </a:t>
            </a:r>
            <a:r>
              <a:rPr lang="en-IN" b="1" dirty="0"/>
              <a:t>lightweight learning-enhanced BT architecture for game NPCs</a:t>
            </a:r>
            <a:r>
              <a:rPr lang="en-IN" dirty="0"/>
              <a:t>, implemented using </a:t>
            </a:r>
            <a:r>
              <a:rPr lang="en-IN" b="1" dirty="0"/>
              <a:t>C++ </a:t>
            </a:r>
            <a:r>
              <a:rPr lang="en-IN" dirty="0"/>
              <a:t>and</a:t>
            </a:r>
            <a:r>
              <a:rPr lang="en-IN" b="1" dirty="0"/>
              <a:t> </a:t>
            </a:r>
            <a:r>
              <a:rPr lang="en-IN" b="1" dirty="0" err="1"/>
              <a:t>Raylib</a:t>
            </a:r>
            <a:r>
              <a:rPr lang="en-IN" dirty="0"/>
              <a:t>, and evaluates it against conventional BTs in terms of adaptability, performance, behavioural diversity, and computational overhead.</a:t>
            </a:r>
          </a:p>
        </p:txBody>
      </p:sp>
    </p:spTree>
    <p:extLst>
      <p:ext uri="{BB962C8B-B14F-4D97-AF65-F5344CB8AC3E}">
        <p14:creationId xmlns:p14="http://schemas.microsoft.com/office/powerpoint/2010/main" val="2576516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E2002-220C-E206-E39C-8BD139166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85CDB1-A9FB-9F4D-0424-943317226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Dissertation Review - I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253B10-B99D-8419-B39F-50DC5A64D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64766-4797-42BE-B733-A21DC585C1DD}" type="slidenum">
              <a:rPr lang="en-IN" smtClean="0"/>
              <a:t>3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4C5D0E-3015-BE3F-25C5-77441056E318}"/>
              </a:ext>
            </a:extLst>
          </p:cNvPr>
          <p:cNvSpPr txBox="1"/>
          <p:nvPr/>
        </p:nvSpPr>
        <p:spPr>
          <a:xfrm>
            <a:off x="1060704" y="429768"/>
            <a:ext cx="55194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5400" dirty="0"/>
              <a:t>Why?</a:t>
            </a:r>
            <a:r>
              <a:rPr lang="en-IN" sz="3200" dirty="0"/>
              <a:t> - Finite State Machine</a:t>
            </a:r>
            <a:endParaRPr lang="en-IN" sz="5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A08B68-CC43-0E76-9E42-84675EC672EA}"/>
              </a:ext>
            </a:extLst>
          </p:cNvPr>
          <p:cNvSpPr txBox="1"/>
          <p:nvPr/>
        </p:nvSpPr>
        <p:spPr>
          <a:xfrm>
            <a:off x="1428750" y="1917070"/>
            <a:ext cx="609447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NPC behaviour is represented using a set of </a:t>
            </a:r>
            <a:r>
              <a:rPr lang="en-IN" b="1" dirty="0"/>
              <a:t>predefined states</a:t>
            </a:r>
            <a:r>
              <a:rPr lang="en-IN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NPC transitions between states based on </a:t>
            </a:r>
            <a:r>
              <a:rPr lang="en-IN" b="1" dirty="0"/>
              <a:t>explicit conditions/events</a:t>
            </a:r>
            <a:r>
              <a:rPr lang="en-IN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Behaviour is primarily </a:t>
            </a:r>
            <a:r>
              <a:rPr lang="en-IN" b="1" dirty="0"/>
              <a:t>rule-driven and manually defined</a:t>
            </a:r>
            <a:r>
              <a:rPr lang="en-IN" dirty="0"/>
              <a:t>, providing limited adaptation to changing player strategies. 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77B9B6C-B4AD-B9EE-7D46-F787B7379068}"/>
              </a:ext>
            </a:extLst>
          </p:cNvPr>
          <p:cNvGrpSpPr/>
          <p:nvPr/>
        </p:nvGrpSpPr>
        <p:grpSpPr>
          <a:xfrm>
            <a:off x="5093208" y="2770991"/>
            <a:ext cx="6947916" cy="4087009"/>
            <a:chOff x="5093208" y="2770991"/>
            <a:chExt cx="6947916" cy="4087009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D3A51BD2-BB36-BD6F-B07B-9B3CAA9B0F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93208" y="2770991"/>
              <a:ext cx="6947916" cy="4087009"/>
            </a:xfrm>
            <a:prstGeom prst="rect">
              <a:avLst/>
            </a:prstGeom>
          </p:spPr>
        </p:pic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E04BDA5-EFAD-1442-2CFE-30E9DF00E5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14816" y="3688556"/>
              <a:ext cx="293465" cy="115348"/>
            </a:xfrm>
            <a:prstGeom prst="straightConnector1">
              <a:avLst/>
            </a:prstGeom>
            <a:ln>
              <a:solidFill>
                <a:srgbClr val="8E8C86"/>
              </a:solidFill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83695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33072-D0C2-223B-AC6F-9F83A1C94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3870E2-CE09-C36D-83EA-E42ABCB9E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Dissertation Review - I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031DEA-0349-E4D8-12DB-176948EC1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64766-4797-42BE-B733-A21DC585C1DD}" type="slidenum">
              <a:rPr lang="en-IN" smtClean="0"/>
              <a:t>4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F71E58-4A4E-0CDE-27F9-9440402F62CE}"/>
              </a:ext>
            </a:extLst>
          </p:cNvPr>
          <p:cNvSpPr txBox="1"/>
          <p:nvPr/>
        </p:nvSpPr>
        <p:spPr>
          <a:xfrm>
            <a:off x="534317" y="429768"/>
            <a:ext cx="689227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5400" dirty="0"/>
              <a:t>Why?</a:t>
            </a:r>
            <a:r>
              <a:rPr lang="en-IN" sz="3200" dirty="0"/>
              <a:t> - Conventional Behaviour Tree</a:t>
            </a:r>
            <a:endParaRPr lang="en-IN" sz="5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5B2C3D-6BFA-216C-90BA-D490B1BEC23C}"/>
              </a:ext>
            </a:extLst>
          </p:cNvPr>
          <p:cNvSpPr txBox="1"/>
          <p:nvPr/>
        </p:nvSpPr>
        <p:spPr>
          <a:xfrm>
            <a:off x="1332112" y="1635084"/>
            <a:ext cx="476388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Behaviour Trees organize NPC decisions into a </a:t>
            </a:r>
            <a:r>
              <a:rPr lang="en-IN" b="1" dirty="0"/>
              <a:t>hierarchical structure</a:t>
            </a:r>
            <a:r>
              <a:rPr lang="en-IN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Common nodes include: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b="1" dirty="0"/>
              <a:t>Selector</a:t>
            </a:r>
            <a:r>
              <a:rPr lang="en-IN" dirty="0"/>
              <a:t> — chooses an alternative behaviour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b="1" dirty="0"/>
              <a:t>Sequence</a:t>
            </a:r>
            <a:r>
              <a:rPr lang="en-IN" dirty="0"/>
              <a:t> — executes behaviours in order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b="1" dirty="0"/>
              <a:t>Condition</a:t>
            </a:r>
            <a:r>
              <a:rPr lang="en-IN" dirty="0"/>
              <a:t> — checks the game state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b="1" dirty="0"/>
              <a:t>Action</a:t>
            </a:r>
            <a:r>
              <a:rPr lang="en-IN" dirty="0"/>
              <a:t> — performs an NPC behaviour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More </a:t>
            </a:r>
            <a:r>
              <a:rPr lang="en-IN" b="1" dirty="0"/>
              <a:t>modular, reactive, and interpretable</a:t>
            </a:r>
            <a:r>
              <a:rPr lang="en-IN" dirty="0"/>
              <a:t> than large FSMs. 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0707C09-C152-DCD5-386A-C8E5E6A57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075" y="2204150"/>
            <a:ext cx="5876925" cy="2555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613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4FF44-58E6-E556-27B5-753444EFF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5334AF-3EB8-F239-F110-9CECBCD62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Dissertation Review - I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6B3795-D601-B109-A27A-F80CBD9A9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64766-4797-42BE-B733-A21DC585C1DD}" type="slidenum">
              <a:rPr lang="en-IN" smtClean="0"/>
              <a:t>5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808F84-F065-BC0E-9333-515FEC960D8F}"/>
              </a:ext>
            </a:extLst>
          </p:cNvPr>
          <p:cNvSpPr txBox="1"/>
          <p:nvPr/>
        </p:nvSpPr>
        <p:spPr>
          <a:xfrm>
            <a:off x="1060704" y="429768"/>
            <a:ext cx="39901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5400" dirty="0"/>
              <a:t>Existing Work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D5FF99-5461-4F68-032E-57C40560BF58}"/>
              </a:ext>
            </a:extLst>
          </p:cNvPr>
          <p:cNvSpPr txBox="1"/>
          <p:nvPr/>
        </p:nvSpPr>
        <p:spPr>
          <a:xfrm>
            <a:off x="1929122" y="1810512"/>
            <a:ext cx="83337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Selector Adaptation in Behaviour Trees — Hannaford et al. (2016)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8EAE79-C744-1648-9E4C-7F8EDC0F763D}"/>
              </a:ext>
            </a:extLst>
          </p:cNvPr>
          <p:cNvSpPr txBox="1"/>
          <p:nvPr/>
        </p:nvSpPr>
        <p:spPr>
          <a:xfrm>
            <a:off x="1291252" y="2979900"/>
            <a:ext cx="100625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Proposed </a:t>
            </a:r>
            <a:r>
              <a:rPr lang="en-IN" b="1" dirty="0"/>
              <a:t>adaptive Behaviour Tree selectors</a:t>
            </a:r>
            <a:r>
              <a:rPr lang="en-IN" dirty="0"/>
              <a:t> that learn from the outcomes of previously executed behaviours.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The selector </a:t>
            </a:r>
            <a:r>
              <a:rPr lang="en-IN" b="1" dirty="0"/>
              <a:t>changes the execution order of child behaviours</a:t>
            </a:r>
            <a:r>
              <a:rPr lang="en-IN" dirty="0"/>
              <a:t> based on their observed performance.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Demonstrated that learning-based selector adaptation can </a:t>
            </a:r>
            <a:r>
              <a:rPr lang="en-IN" b="1" dirty="0"/>
              <a:t>improve task performance</a:t>
            </a:r>
            <a:r>
              <a:rPr lang="en-IN" dirty="0"/>
              <a:t> compared with a fixed behaviour ordering.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5813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9DA8D-386B-66A4-37BE-846C3BEEE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FF4390-88A9-2D59-F439-435DF92C0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Dissertation Review - I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F46D7C-13B5-3342-5FA2-F9611D72B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64766-4797-42BE-B733-A21DC585C1DD}" type="slidenum">
              <a:rPr lang="en-IN" smtClean="0"/>
              <a:t>6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AD3300-4476-019F-3449-09B0DBEB1A60}"/>
              </a:ext>
            </a:extLst>
          </p:cNvPr>
          <p:cNvSpPr txBox="1"/>
          <p:nvPr/>
        </p:nvSpPr>
        <p:spPr>
          <a:xfrm>
            <a:off x="1060704" y="429768"/>
            <a:ext cx="39901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5400" dirty="0"/>
              <a:t>Existing Work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A21A43-321D-1384-A924-F6CD268A152F}"/>
              </a:ext>
            </a:extLst>
          </p:cNvPr>
          <p:cNvSpPr txBox="1"/>
          <p:nvPr/>
        </p:nvSpPr>
        <p:spPr>
          <a:xfrm>
            <a:off x="1238163" y="1828800"/>
            <a:ext cx="97156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Constrained and Adaptive Behaviour-Based Agents — Pereira &amp; Engel (2015)</a:t>
            </a:r>
            <a:endParaRPr lang="en-IN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609748-1DD2-DF31-AE65-3156378E4BD6}"/>
              </a:ext>
            </a:extLst>
          </p:cNvPr>
          <p:cNvSpPr txBox="1"/>
          <p:nvPr/>
        </p:nvSpPr>
        <p:spPr>
          <a:xfrm>
            <a:off x="1291252" y="2979900"/>
            <a:ext cx="100625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Proposed integrating </a:t>
            </a:r>
            <a:r>
              <a:rPr lang="en-GB" b="1" dirty="0"/>
              <a:t>Reinforcement Learning (RL) into Behaviour Trees </a:t>
            </a:r>
            <a:r>
              <a:rPr lang="en-GB" dirty="0"/>
              <a:t>to enable adaptive </a:t>
            </a:r>
            <a:br>
              <a:rPr lang="en-GB" dirty="0"/>
            </a:br>
            <a:r>
              <a:rPr lang="en-GB" dirty="0"/>
              <a:t>decision-making.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Learning is performed within the manually designed behaviour structure, rather than completely replacing it.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The approach maintains designer-defined constraints, providing control over the learned behaviour.</a:t>
            </a:r>
          </a:p>
        </p:txBody>
      </p:sp>
    </p:spTree>
    <p:extLst>
      <p:ext uri="{BB962C8B-B14F-4D97-AF65-F5344CB8AC3E}">
        <p14:creationId xmlns:p14="http://schemas.microsoft.com/office/powerpoint/2010/main" val="1740521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7A360-D375-7DC6-6779-AAE32796A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F8266B-5F3D-DC90-5902-660FCE8C8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Dissertation Review - I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F5E79E-5802-9D75-D011-0EB1AA262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64766-4797-42BE-B733-A21DC585C1DD}" type="slidenum">
              <a:rPr lang="en-IN" smtClean="0"/>
              <a:t>7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3017DE-18BD-8834-0FD3-5FD257FB0FEB}"/>
              </a:ext>
            </a:extLst>
          </p:cNvPr>
          <p:cNvSpPr txBox="1"/>
          <p:nvPr/>
        </p:nvSpPr>
        <p:spPr>
          <a:xfrm>
            <a:off x="1060704" y="429768"/>
            <a:ext cx="39901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5400" dirty="0"/>
              <a:t>Existing Work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9A2834-F280-6D96-9622-9AC7E65AACF6}"/>
              </a:ext>
            </a:extLst>
          </p:cNvPr>
          <p:cNvSpPr txBox="1"/>
          <p:nvPr/>
        </p:nvSpPr>
        <p:spPr>
          <a:xfrm>
            <a:off x="1464689" y="1840993"/>
            <a:ext cx="97156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Multi-Agent Reinforcement Learning with Behaviour Trees — Li et al. (2024)</a:t>
            </a:r>
            <a:endParaRPr lang="en-IN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69A456-68AF-EB8D-BA9F-E8B1243CBF36}"/>
              </a:ext>
            </a:extLst>
          </p:cNvPr>
          <p:cNvSpPr txBox="1"/>
          <p:nvPr/>
        </p:nvSpPr>
        <p:spPr>
          <a:xfrm>
            <a:off x="1291252" y="2979900"/>
            <a:ext cx="100625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Integrated </a:t>
            </a:r>
            <a:r>
              <a:rPr lang="en-GB" b="1" dirty="0"/>
              <a:t>Multi-Agent Reinforcement Learning (MARL) </a:t>
            </a:r>
            <a:r>
              <a:rPr lang="en-GB" dirty="0"/>
              <a:t>into Behaviour Trees.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Addressed decision-making in complex and dynamic environments involving multiple agents.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Demonstrated that combining MARL with BTs can improve performance while handling unexpected interruptions.</a:t>
            </a:r>
          </a:p>
        </p:txBody>
      </p:sp>
    </p:spTree>
    <p:extLst>
      <p:ext uri="{BB962C8B-B14F-4D97-AF65-F5344CB8AC3E}">
        <p14:creationId xmlns:p14="http://schemas.microsoft.com/office/powerpoint/2010/main" val="4230730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7F1B0-B749-FCB1-3436-60A3B5ECB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ADFB20-AFDD-BF3D-9E25-377E0FB24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Dissertation Review - I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AB4A5B-E7E2-4F31-532F-A113009B3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64766-4797-42BE-B733-A21DC585C1DD}" type="slidenum">
              <a:rPr lang="en-IN" smtClean="0"/>
              <a:t>8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40D42B-02DD-DF0A-D97B-048FD84722E8}"/>
              </a:ext>
            </a:extLst>
          </p:cNvPr>
          <p:cNvSpPr txBox="1"/>
          <p:nvPr/>
        </p:nvSpPr>
        <p:spPr>
          <a:xfrm>
            <a:off x="1060704" y="429768"/>
            <a:ext cx="40207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5400" dirty="0"/>
              <a:t>Research Gap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E6FB7D-E773-EF48-31A8-3A4B46ED0DDC}"/>
              </a:ext>
            </a:extLst>
          </p:cNvPr>
          <p:cNvSpPr txBox="1"/>
          <p:nvPr/>
        </p:nvSpPr>
        <p:spPr>
          <a:xfrm>
            <a:off x="1060703" y="1920240"/>
            <a:ext cx="101025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1. </a:t>
            </a:r>
            <a:r>
              <a:rPr lang="en-IN" b="1" dirty="0"/>
              <a:t>Limited focus on game NPCs:</a:t>
            </a:r>
            <a:r>
              <a:rPr lang="en-IN" dirty="0"/>
              <a:t> Existing learning-enhanced Behaviour Tree approaches largely address robotics and complex multi-agent environments rather than lightweight game NPC applications.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DEB870-A257-9D3B-2E90-768B17AE8AF5}"/>
              </a:ext>
            </a:extLst>
          </p:cNvPr>
          <p:cNvSpPr txBox="1"/>
          <p:nvPr/>
        </p:nvSpPr>
        <p:spPr>
          <a:xfrm>
            <a:off x="1060704" y="3076465"/>
            <a:ext cx="101025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2. </a:t>
            </a:r>
            <a:r>
              <a:rPr lang="en-IN" b="1" dirty="0"/>
              <a:t>Computational overhead:</a:t>
            </a:r>
            <a:r>
              <a:rPr lang="en-IN" dirty="0"/>
              <a:t> Reinforcement Learning and multi-agent learning can introduce additional training and computational requirements, making them less suitable for resource-constrained game environments.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0899A4-747E-B641-8E41-249EDAED28BB}"/>
              </a:ext>
            </a:extLst>
          </p:cNvPr>
          <p:cNvSpPr txBox="1"/>
          <p:nvPr/>
        </p:nvSpPr>
        <p:spPr>
          <a:xfrm>
            <a:off x="1060704" y="4509690"/>
            <a:ext cx="101025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3. </a:t>
            </a:r>
            <a:r>
              <a:rPr lang="en-IN" b="1" dirty="0"/>
              <a:t>Need for a lightweight adaptive approach:</a:t>
            </a:r>
            <a:r>
              <a:rPr lang="en-IN" dirty="0"/>
              <a:t> There is a need for a method that improves NPC adaptability while preserving the interpretability, designer control, hierarchical structure, and computational efficiency of conventional Behaviour Trees.</a:t>
            </a:r>
          </a:p>
        </p:txBody>
      </p:sp>
    </p:spTree>
    <p:extLst>
      <p:ext uri="{BB962C8B-B14F-4D97-AF65-F5344CB8AC3E}">
        <p14:creationId xmlns:p14="http://schemas.microsoft.com/office/powerpoint/2010/main" val="454597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3463A-4833-A304-8E1F-E3B95EB20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1FF36D-0BDC-D691-1D3D-0C070B99F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Dissertation Review - I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5ADD6C-8973-815E-DAD3-39D716E4E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64766-4797-42BE-B733-A21DC585C1DD}" type="slidenum">
              <a:rPr lang="en-IN" smtClean="0"/>
              <a:t>9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592924-0CBE-2D4F-BA54-D11063F0BDF6}"/>
              </a:ext>
            </a:extLst>
          </p:cNvPr>
          <p:cNvSpPr txBox="1"/>
          <p:nvPr/>
        </p:nvSpPr>
        <p:spPr>
          <a:xfrm>
            <a:off x="621853" y="410914"/>
            <a:ext cx="109482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dirty="0"/>
              <a:t>Proposed Work </a:t>
            </a:r>
            <a:r>
              <a:rPr lang="en-IN" sz="3200" dirty="0"/>
              <a:t>- Learning-Enhanced Behaviour Tree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1BDDE6-48ED-AD98-5874-9AB51E338066}"/>
              </a:ext>
            </a:extLst>
          </p:cNvPr>
          <p:cNvSpPr txBox="1"/>
          <p:nvPr/>
        </p:nvSpPr>
        <p:spPr>
          <a:xfrm>
            <a:off x="1114720" y="1997839"/>
            <a:ext cx="609442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Develop a </a:t>
            </a:r>
            <a:r>
              <a:rPr lang="en-IN" b="1" dirty="0"/>
              <a:t>Learning-Enhanced Behaviour Tree (LEBT) architecture</a:t>
            </a:r>
            <a:r>
              <a:rPr lang="en-IN" dirty="0"/>
              <a:t> for adaptive NPC decision-making.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Start with a conventional BT containing behaviours such as Exploration, Pursuit, Evasion, and Combat.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Incorporate a </a:t>
            </a:r>
            <a:r>
              <a:rPr lang="en-IN" b="1" dirty="0"/>
              <a:t>lightweight learning mechanism into selected Selector nodes</a:t>
            </a:r>
            <a:r>
              <a:rPr lang="en-IN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Use </a:t>
            </a:r>
            <a:r>
              <a:rPr lang="en-IN" b="1" dirty="0"/>
              <a:t>environmental and player-state features</a:t>
            </a:r>
            <a:r>
              <a:rPr lang="en-IN" dirty="0"/>
              <a:t> to estimate which behaviour is more effective in the current situation.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Maintain </a:t>
            </a:r>
            <a:r>
              <a:rPr lang="en-IN" b="1" dirty="0"/>
              <a:t>designer-defined constraints and the hierarchical structure</a:t>
            </a:r>
            <a:r>
              <a:rPr lang="en-IN" dirty="0"/>
              <a:t> of the BT.</a:t>
            </a: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152C6431-307D-7860-05BC-3DC0A69BFB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155417"/>
              </p:ext>
            </p:extLst>
          </p:nvPr>
        </p:nvGraphicFramePr>
        <p:xfrm>
          <a:off x="7503735" y="1480008"/>
          <a:ext cx="3968685" cy="46583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216744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EC398-1DBD-87E4-AC38-2C5A89C85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33E2BB-795E-FB46-56E6-3DEAF62D2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Dissertation Review - I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72E0FA-9818-87C3-0DF5-1BED34B28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64766-4797-42BE-B733-A21DC585C1DD}" type="slidenum">
              <a:rPr lang="en-IN" smtClean="0"/>
              <a:t>10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901B7C-B925-92F2-1184-D7F4619BC419}"/>
              </a:ext>
            </a:extLst>
          </p:cNvPr>
          <p:cNvSpPr txBox="1"/>
          <p:nvPr/>
        </p:nvSpPr>
        <p:spPr>
          <a:xfrm>
            <a:off x="621853" y="410914"/>
            <a:ext cx="109482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dirty="0"/>
              <a:t>Proposed Work </a:t>
            </a:r>
            <a:r>
              <a:rPr lang="en-IN" sz="3200" dirty="0"/>
              <a:t>- Implementation &amp; Evaluation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D7B64E-F9F3-05D6-8013-62B1F7CC8D06}"/>
              </a:ext>
            </a:extLst>
          </p:cNvPr>
          <p:cNvSpPr txBox="1"/>
          <p:nvPr/>
        </p:nvSpPr>
        <p:spPr>
          <a:xfrm>
            <a:off x="949071" y="1720840"/>
            <a:ext cx="923315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Develop a </a:t>
            </a:r>
            <a:r>
              <a:rPr lang="en-IN" b="1" dirty="0"/>
              <a:t>controlled game environment using C++ and </a:t>
            </a:r>
            <a:r>
              <a:rPr lang="en-IN" b="1" dirty="0" err="1"/>
              <a:t>Raylib</a:t>
            </a:r>
            <a:r>
              <a:rPr lang="en-IN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Implement a </a:t>
            </a:r>
            <a:r>
              <a:rPr lang="en-IN" b="1" dirty="0"/>
              <a:t>conventional BT as the baseline</a:t>
            </a:r>
            <a:r>
              <a:rPr lang="en-IN" dirty="0"/>
              <a:t> and compare it with the </a:t>
            </a:r>
            <a:r>
              <a:rPr lang="en-IN" b="1" dirty="0"/>
              <a:t>learning-enhanced BT</a:t>
            </a:r>
            <a:r>
              <a:rPr lang="en-IN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Allow the NPC to learn behaviour effectiveness from </a:t>
            </a:r>
            <a:r>
              <a:rPr lang="en-IN" b="1" dirty="0"/>
              <a:t>gameplay experience</a:t>
            </a:r>
            <a:r>
              <a:rPr lang="en-IN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Evaluate both approaches using: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Task Success Rate</a:t>
            </a:r>
            <a:r>
              <a:rPr lang="en-IN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Adaptation Rate</a:t>
            </a:r>
            <a:r>
              <a:rPr lang="en-IN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Behavioural Diversity</a:t>
            </a:r>
            <a:r>
              <a:rPr lang="en-IN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Decision Latency</a:t>
            </a:r>
            <a:r>
              <a:rPr lang="en-IN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CPU Usage</a:t>
            </a:r>
            <a:r>
              <a:rPr lang="en-IN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Robustness to Different Player Strategies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Determine whether lightweight learning can improve NPC adaptability </a:t>
            </a:r>
            <a:r>
              <a:rPr lang="en-IN" b="1" dirty="0"/>
              <a:t>without requiring a fully learning-based controller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810211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A871A-38AE-F613-0E45-D6B39B1C8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CE22D3-06E4-3BC6-CD98-535AFE146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Dissertation Review - I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D3683D-4A2B-2206-F4ED-68795ABC8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64766-4797-42BE-B733-A21DC585C1DD}" type="slidenum">
              <a:rPr lang="en-IN" smtClean="0"/>
              <a:t>11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75E69E-6F0C-0D87-44A3-1ECDF974FA85}"/>
              </a:ext>
            </a:extLst>
          </p:cNvPr>
          <p:cNvSpPr txBox="1"/>
          <p:nvPr/>
        </p:nvSpPr>
        <p:spPr>
          <a:xfrm>
            <a:off x="621853" y="410914"/>
            <a:ext cx="109482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dirty="0"/>
              <a:t>Methodology</a:t>
            </a:r>
            <a:endParaRPr lang="en-IN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8CDEC9-5758-07ED-3D5C-9DED5E60238B}"/>
              </a:ext>
            </a:extLst>
          </p:cNvPr>
          <p:cNvSpPr txBox="1"/>
          <p:nvPr/>
        </p:nvSpPr>
        <p:spPr>
          <a:xfrm>
            <a:off x="949071" y="1720840"/>
            <a:ext cx="923315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IN" dirty="0"/>
              <a:t>Environment Development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Develop a </a:t>
            </a:r>
            <a:r>
              <a:rPr lang="en-IN" b="1" dirty="0"/>
              <a:t>controlled game environment using C++ and </a:t>
            </a:r>
            <a:r>
              <a:rPr lang="en-IN" b="1" dirty="0" err="1"/>
              <a:t>Raylib</a:t>
            </a:r>
            <a:r>
              <a:rPr lang="en-IN" dirty="0"/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Create NPC scenarios involving such as </a:t>
            </a:r>
            <a:r>
              <a:rPr lang="en-IN" b="1" dirty="0"/>
              <a:t>exploration, pursuit, evasion, and combat</a:t>
            </a:r>
            <a:r>
              <a:rPr lang="en-IN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Baseline Behaviour Tree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Implement a </a:t>
            </a:r>
            <a:r>
              <a:rPr lang="en-IN" b="1" dirty="0"/>
              <a:t>conventional designed Behaviour Tree</a:t>
            </a:r>
            <a:r>
              <a:rPr lang="en-IN" dirty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Use it as the </a:t>
            </a:r>
            <a:r>
              <a:rPr lang="en-IN" b="1" dirty="0"/>
              <a:t>baseline for comparison</a:t>
            </a:r>
            <a:r>
              <a:rPr lang="en-IN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Learning Integration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Add a </a:t>
            </a:r>
            <a:r>
              <a:rPr lang="en-IN" b="1" dirty="0"/>
              <a:t>lightweight learning mechanism</a:t>
            </a:r>
            <a:r>
              <a:rPr lang="en-IN" dirty="0"/>
              <a:t> to selected </a:t>
            </a:r>
            <a:r>
              <a:rPr lang="en-IN" b="1" dirty="0"/>
              <a:t>Selector nodes</a:t>
            </a:r>
            <a:r>
              <a:rPr lang="en-IN" dirty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Use </a:t>
            </a:r>
            <a:r>
              <a:rPr lang="en-IN" b="1" dirty="0"/>
              <a:t>environmental and player-state features</a:t>
            </a:r>
            <a:r>
              <a:rPr lang="en-IN" dirty="0"/>
              <a:t> to guide behaviour selection. </a:t>
            </a:r>
            <a:br>
              <a:rPr lang="en-IN" dirty="0"/>
            </a:br>
            <a:r>
              <a:rPr lang="en-IN" dirty="0"/>
              <a:t>(Develop another </a:t>
            </a:r>
            <a:r>
              <a:rPr lang="en-IN" b="1" dirty="0"/>
              <a:t>Behaviour Tree </a:t>
            </a:r>
            <a:r>
              <a:rPr lang="en-IN" dirty="0"/>
              <a:t>of Player for automation)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Constrained Adaptation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Update behaviour selection based on learned experience. 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Experimental Evaluation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Measure success rate, adaptation rate, behavioural diversity, decision latency, CPU overhead, and robustness.</a:t>
            </a:r>
          </a:p>
        </p:txBody>
      </p:sp>
    </p:spTree>
    <p:extLst>
      <p:ext uri="{BB962C8B-B14F-4D97-AF65-F5344CB8AC3E}">
        <p14:creationId xmlns:p14="http://schemas.microsoft.com/office/powerpoint/2010/main" val="35468303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B499C-4EC5-87B4-6B35-66E66F4B9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4F40D0-9637-0F46-F16F-072679ADD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Dissertation Review - I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2BFAE7-913B-01C6-71B4-6AE14E8E2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64766-4797-42BE-B733-A21DC585C1DD}" type="slidenum">
              <a:rPr lang="en-IN" smtClean="0"/>
              <a:t>12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D1432C-6062-022B-8398-15A811EF75BF}"/>
              </a:ext>
            </a:extLst>
          </p:cNvPr>
          <p:cNvSpPr txBox="1"/>
          <p:nvPr/>
        </p:nvSpPr>
        <p:spPr>
          <a:xfrm>
            <a:off x="621853" y="410914"/>
            <a:ext cx="109482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dirty="0"/>
              <a:t>Evaluation Metrics &amp; Formulas</a:t>
            </a:r>
            <a:endParaRPr lang="en-IN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B119FA28-66D6-D52F-13A9-8E36A65DBED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38285865"/>
                  </p:ext>
                </p:extLst>
              </p:nvPr>
            </p:nvGraphicFramePr>
            <p:xfrm>
              <a:off x="933451" y="1669627"/>
              <a:ext cx="10420350" cy="4351339"/>
            </p:xfrm>
            <a:graphic>
              <a:graphicData uri="http://schemas.openxmlformats.org/drawingml/2006/table">
                <a:tbl>
                  <a:tblPr>
                    <a:tableStyleId>{073A0DAA-6AF3-43AB-8588-CEC1D06C72B9}</a:tableStyleId>
                  </a:tblPr>
                  <a:tblGrid>
                    <a:gridCol w="2611783">
                      <a:extLst>
                        <a:ext uri="{9D8B030D-6E8A-4147-A177-3AD203B41FA5}">
                          <a16:colId xmlns:a16="http://schemas.microsoft.com/office/drawing/2014/main" val="4248378397"/>
                        </a:ext>
                      </a:extLst>
                    </a:gridCol>
                    <a:gridCol w="4303307">
                      <a:extLst>
                        <a:ext uri="{9D8B030D-6E8A-4147-A177-3AD203B41FA5}">
                          <a16:colId xmlns:a16="http://schemas.microsoft.com/office/drawing/2014/main" val="132678946"/>
                        </a:ext>
                      </a:extLst>
                    </a:gridCol>
                    <a:gridCol w="3505260">
                      <a:extLst>
                        <a:ext uri="{9D8B030D-6E8A-4147-A177-3AD203B41FA5}">
                          <a16:colId xmlns:a16="http://schemas.microsoft.com/office/drawing/2014/main" val="59203738"/>
                        </a:ext>
                      </a:extLst>
                    </a:gridCol>
                  </a:tblGrid>
                  <a:tr h="34982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700" dirty="0"/>
                            <a:t>Metric</a:t>
                          </a:r>
                        </a:p>
                      </a:txBody>
                      <a:tcPr marL="87456" marR="87456" marT="43728" marB="43728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700" dirty="0"/>
                            <a:t>Formula</a:t>
                          </a:r>
                        </a:p>
                      </a:txBody>
                      <a:tcPr marL="87456" marR="87456" marT="43728" marB="43728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700" dirty="0"/>
                            <a:t>Purpose</a:t>
                          </a:r>
                        </a:p>
                      </a:txBody>
                      <a:tcPr marL="87456" marR="87456" marT="43728" marB="43728" anchor="ctr"/>
                    </a:tc>
                    <a:extLst>
                      <a:ext uri="{0D108BD9-81ED-4DB2-BD59-A6C34878D82A}">
                        <a16:rowId xmlns:a16="http://schemas.microsoft.com/office/drawing/2014/main" val="3138772888"/>
                      </a:ext>
                    </a:extLst>
                  </a:tr>
                  <a:tr h="63040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700"/>
                            <a:t>Task Success Rate (TSR)</a:t>
                          </a:r>
                        </a:p>
                      </a:txBody>
                      <a:tcPr marL="87456" marR="87456" marT="43728" marB="43728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sz="1700"/>
                                  <m:t>𝑇𝑆𝑅</m:t>
                                </m:r>
                                <m:r>
                                  <a:rPr lang="en-IN" sz="1700"/>
                                  <m:t>=</m:t>
                                </m:r>
                                <m:f>
                                  <m:fPr>
                                    <m:ctrlPr>
                                      <a:rPr lang="en-IN" sz="1700"/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IN" sz="1700"/>
                                        </m:ctrlPr>
                                      </m:sSubPr>
                                      <m:e>
                                        <m:r>
                                          <a:rPr lang="en-IN" sz="1700"/>
                                          <m:t>𝑁</m:t>
                                        </m:r>
                                      </m:e>
                                      <m:sub>
                                        <m:r>
                                          <a:rPr lang="en-IN" sz="1700"/>
                                          <m:t>𝑠𝑢𝑐𝑐𝑒𝑠𝑠𝑓𝑢𝑙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IN" sz="1700"/>
                                        </m:ctrlPr>
                                      </m:sSubPr>
                                      <m:e>
                                        <m:r>
                                          <a:rPr lang="en-IN" sz="1700"/>
                                          <m:t>𝑁</m:t>
                                        </m:r>
                                      </m:e>
                                      <m:sub>
                                        <m:r>
                                          <a:rPr lang="en-IN" sz="1700"/>
                                          <m:t>𝑡𝑜𝑡𝑎𝑙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IN" sz="1700"/>
                                  <m:t>×100%</m:t>
                                </m:r>
                              </m:oMath>
                            </m:oMathPara>
                          </a14:m>
                          <a:endParaRPr lang="en-IN" sz="1700"/>
                        </a:p>
                      </a:txBody>
                      <a:tcPr marL="87456" marR="87456" marT="43728" marB="43728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700"/>
                            <a:t>Measures how many tasks the NPC successfully completes</a:t>
                          </a:r>
                        </a:p>
                      </a:txBody>
                      <a:tcPr marL="87456" marR="87456" marT="43728" marB="43728" anchor="ctr"/>
                    </a:tc>
                    <a:extLst>
                      <a:ext uri="{0D108BD9-81ED-4DB2-BD59-A6C34878D82A}">
                        <a16:rowId xmlns:a16="http://schemas.microsoft.com/office/drawing/2014/main" val="3545344271"/>
                      </a:ext>
                    </a:extLst>
                  </a:tr>
                  <a:tr h="87455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700"/>
                            <a:t>Adaptation Rate (AR)</a:t>
                          </a:r>
                        </a:p>
                      </a:txBody>
                      <a:tcPr marL="87456" marR="87456" marT="43728" marB="43728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sz="1700"/>
                                  <m:t>𝐴𝑅</m:t>
                                </m:r>
                                <m:r>
                                  <a:rPr lang="en-IN" sz="1700"/>
                                  <m:t>=</m:t>
                                </m:r>
                                <m:f>
                                  <m:fPr>
                                    <m:ctrlPr>
                                      <a:rPr lang="en-IN" sz="1700"/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IN" sz="1700"/>
                                        </m:ctrlPr>
                                      </m:sSubPr>
                                      <m:e>
                                        <m:r>
                                          <a:rPr lang="en-IN" sz="1700"/>
                                          <m:t>𝑁</m:t>
                                        </m:r>
                                      </m:e>
                                      <m:sub>
                                        <m:r>
                                          <a:rPr lang="en-IN" sz="1700"/>
                                          <m:t>𝑎𝑑𝑎𝑝𝑡𝑒𝑑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IN" sz="1700"/>
                                        </m:ctrlPr>
                                      </m:sSubPr>
                                      <m:e>
                                        <m:r>
                                          <a:rPr lang="en-IN" sz="1700"/>
                                          <m:t>𝑁</m:t>
                                        </m:r>
                                      </m:e>
                                      <m:sub>
                                        <m:r>
                                          <a:rPr lang="en-IN" sz="1700"/>
                                          <m:t>𝑠𝑖𝑡𝑢𝑎𝑡𝑖𝑜𝑛𝑠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IN" sz="1700"/>
                                  <m:t>×100%</m:t>
                                </m:r>
                              </m:oMath>
                            </m:oMathPara>
                          </a14:m>
                          <a:endParaRPr lang="en-IN" sz="1700" dirty="0"/>
                        </a:p>
                      </a:txBody>
                      <a:tcPr marL="87456" marR="87456" marT="43728" marB="43728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700"/>
                            <a:t>Measures the NPC's ability to adjust behaviour to changed situations</a:t>
                          </a:r>
                        </a:p>
                      </a:txBody>
                      <a:tcPr marL="87456" marR="87456" marT="43728" marB="43728" anchor="ctr"/>
                    </a:tc>
                    <a:extLst>
                      <a:ext uri="{0D108BD9-81ED-4DB2-BD59-A6C34878D82A}">
                        <a16:rowId xmlns:a16="http://schemas.microsoft.com/office/drawing/2014/main" val="1118743208"/>
                      </a:ext>
                    </a:extLst>
                  </a:tr>
                  <a:tr h="6296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700" dirty="0"/>
                            <a:t>Behavioural Diversity (BD)</a:t>
                          </a:r>
                        </a:p>
                      </a:txBody>
                      <a:tcPr marL="87456" marR="87456" marT="43728" marB="43728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sz="1700"/>
                                  <m:t>𝐵𝐷</m:t>
                                </m:r>
                                <m:r>
                                  <a:rPr lang="en-IN" sz="1700"/>
                                  <m:t>=</m:t>
                                </m:r>
                                <m:f>
                                  <m:fPr>
                                    <m:ctrlPr>
                                      <a:rPr lang="en-IN" sz="1700"/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IN" sz="1700"/>
                                        </m:ctrlPr>
                                      </m:sSubPr>
                                      <m:e>
                                        <m:r>
                                          <a:rPr lang="en-IN" sz="1700"/>
                                          <m:t>𝑁</m:t>
                                        </m:r>
                                      </m:e>
                                      <m:sub>
                                        <m:r>
                                          <a:rPr lang="en-IN" sz="1700"/>
                                          <m:t>𝑢𝑛𝑖𝑞𝑢𝑒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IN" sz="1700"/>
                                          <m:t> </m:t>
                                        </m:r>
                                        <m:r>
                                          <a:rPr lang="en-IN" sz="1700"/>
                                          <m:t>𝑏𝑒ℎ𝑎𝑣𝑖𝑜𝑢𝑟𝑠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IN" sz="1700"/>
                                        </m:ctrlPr>
                                      </m:sSubPr>
                                      <m:e>
                                        <m:r>
                                          <a:rPr lang="en-IN" sz="1700"/>
                                          <m:t>𝑁</m:t>
                                        </m:r>
                                      </m:e>
                                      <m:sub>
                                        <m:r>
                                          <a:rPr lang="en-IN" sz="1700"/>
                                          <m:t>𝑠𝑖𝑡𝑢𝑎𝑡𝑖𝑜𝑛𝑠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en-IN" sz="1700"/>
                        </a:p>
                      </a:txBody>
                      <a:tcPr marL="87456" marR="87456" marT="43728" marB="43728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700"/>
                            <a:t>Measures the variety of behaviours exhibited</a:t>
                          </a:r>
                        </a:p>
                      </a:txBody>
                      <a:tcPr marL="87456" marR="87456" marT="43728" marB="43728" anchor="ctr"/>
                    </a:tc>
                    <a:extLst>
                      <a:ext uri="{0D108BD9-81ED-4DB2-BD59-A6C34878D82A}">
                        <a16:rowId xmlns:a16="http://schemas.microsoft.com/office/drawing/2014/main" val="3898639150"/>
                      </a:ext>
                    </a:extLst>
                  </a:tr>
                  <a:tr h="62105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700"/>
                            <a:t>Decision Latency (DL)</a:t>
                          </a:r>
                        </a:p>
                      </a:txBody>
                      <a:tcPr marL="87456" marR="87456" marT="43728" marB="43728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sz="1700"/>
                                  <m:t>𝐷𝐿</m:t>
                                </m:r>
                                <m:r>
                                  <a:rPr lang="en-IN" sz="1700"/>
                                  <m:t>=</m:t>
                                </m:r>
                                <m:f>
                                  <m:fPr>
                                    <m:ctrlPr>
                                      <a:rPr lang="en-IN" sz="1700"/>
                                    </m:ctrlPr>
                                  </m:fPr>
                                  <m:num>
                                    <m:nary>
                                      <m:naryPr>
                                        <m:chr m:val="∑"/>
                                        <m:grow m:val="on"/>
                                        <m:ctrlPr>
                                          <a:rPr lang="en-IN" sz="1700"/>
                                        </m:ctrlPr>
                                      </m:naryPr>
                                      <m:sub>
                                        <m:r>
                                          <a:rPr lang="en-IN" sz="1700"/>
                                          <m:t>𝑖</m:t>
                                        </m:r>
                                        <m:r>
                                          <a:rPr lang="en-IN" sz="1700"/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n-IN" sz="1700"/>
                                          <m:t>𝑁</m:t>
                                        </m:r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lang="en-IN" sz="1700"/>
                                            </m:ctrlPr>
                                          </m:sSubPr>
                                          <m:e>
                                            <m:r>
                                              <a:rPr lang="en-IN" sz="1700"/>
                                              <m:t>𝑡</m:t>
                                            </m:r>
                                          </m:e>
                                          <m:sub>
                                            <m:r>
                                              <a:rPr lang="en-IN" sz="1700"/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num>
                                  <m:den>
                                    <m:r>
                                      <a:rPr lang="en-IN" sz="1700"/>
                                      <m:t>𝑁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IN" sz="1700"/>
                        </a:p>
                      </a:txBody>
                      <a:tcPr marL="87456" marR="87456" marT="43728" marB="43728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700"/>
                            <a:t>Average time required to make a behaviour decision</a:t>
                          </a:r>
                        </a:p>
                      </a:txBody>
                      <a:tcPr marL="87456" marR="87456" marT="43728" marB="43728" anchor="ctr"/>
                    </a:tc>
                    <a:extLst>
                      <a:ext uri="{0D108BD9-81ED-4DB2-BD59-A6C34878D82A}">
                        <a16:rowId xmlns:a16="http://schemas.microsoft.com/office/drawing/2014/main" val="4194137092"/>
                      </a:ext>
                    </a:extLst>
                  </a:tr>
                  <a:tr h="62105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700" dirty="0"/>
                            <a:t>CPU Overhead</a:t>
                          </a:r>
                        </a:p>
                      </a:txBody>
                      <a:tcPr marL="87456" marR="87456" marT="43728" marB="43728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sz="1700" smtClean="0"/>
                                  <m:t>𝐶𝑃</m:t>
                                </m:r>
                                <m:sSub>
                                  <m:sSubPr>
                                    <m:ctrlPr>
                                      <a:rPr lang="en-IN" sz="1700"/>
                                    </m:ctrlPr>
                                  </m:sSubPr>
                                  <m:e>
                                    <m:r>
                                      <a:rPr lang="en-IN" sz="1700"/>
                                      <m:t>𝑈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IN" sz="1700" b="0" i="0" smtClean="0">
                                        <a:latin typeface="Cambria Math" panose="02040503050406030204" pitchFamily="18" charset="0"/>
                                      </a:rPr>
                                      <m:t>overhead</m:t>
                                    </m:r>
                                  </m:sub>
                                </m:sSub>
                                <m:r>
                                  <a:rPr lang="en-IN" sz="1700"/>
                                  <m:t>=</m:t>
                                </m:r>
                                <m:f>
                                  <m:fPr>
                                    <m:ctrlPr>
                                      <a:rPr lang="en-IN" sz="17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17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en-IN" sz="1700" i="1"/>
                                      <m:t>𝑃</m:t>
                                    </m:r>
                                    <m:sSub>
                                      <m:sSubPr>
                                        <m:ctrlPr>
                                          <a:rPr lang="en-IN" sz="1700" i="1"/>
                                        </m:ctrlPr>
                                      </m:sSubPr>
                                      <m:e>
                                        <m:r>
                                          <a:rPr lang="en-IN" sz="1700" i="1"/>
                                          <m:t>𝑈</m:t>
                                        </m:r>
                                      </m:e>
                                      <m:sub>
                                        <m:r>
                                          <a:rPr lang="en-IN" sz="1700" b="0" i="1" smtClean="0">
                                            <a:latin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  <m:r>
                                          <a:rPr lang="en-GB" sz="1700" b="0" i="1" smtClean="0">
                                            <a:latin typeface="Cambria Math" panose="02040503050406030204" pitchFamily="18" charset="0"/>
                                          </a:rPr>
                                          <m:t>𝐸𝑅𝑇</m:t>
                                        </m:r>
                                      </m:sub>
                                    </m:sSub>
                                    <m:r>
                                      <a:rPr lang="en-IN" sz="17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17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en-IN" sz="17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  <m:sSub>
                                      <m:sSubPr>
                                        <m:ctrlPr>
                                          <a:rPr lang="en-IN" sz="17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1700" i="1">
                                            <a:latin typeface="Cambria Math" panose="02040503050406030204" pitchFamily="18" charset="0"/>
                                          </a:rPr>
                                          <m:t>𝑈</m:t>
                                        </m:r>
                                      </m:e>
                                      <m:sub>
                                        <m:r>
                                          <a:rPr lang="en-GB" sz="1700" b="0" i="1" smtClean="0">
                                            <a:latin typeface="Cambria Math" panose="02040503050406030204" pitchFamily="18" charset="0"/>
                                          </a:rPr>
                                          <m:t>𝐵𝑇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IN" sz="17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en-IN" sz="17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  <m:sSub>
                                      <m:sSubPr>
                                        <m:ctrlPr>
                                          <a:rPr lang="en-IN" sz="17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1700" i="1">
                                            <a:latin typeface="Cambria Math" panose="02040503050406030204" pitchFamily="18" charset="0"/>
                                          </a:rPr>
                                          <m:t>𝑈</m:t>
                                        </m:r>
                                      </m:e>
                                      <m:sub>
                                        <m:r>
                                          <a:rPr lang="en-GB" sz="1700" b="0" i="1" smtClean="0">
                                            <a:latin typeface="Cambria Math" panose="02040503050406030204" pitchFamily="18" charset="0"/>
                                          </a:rPr>
                                          <m:t>𝐵𝑇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IN" sz="17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17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100%</m:t>
                                </m:r>
                              </m:oMath>
                            </m:oMathPara>
                          </a14:m>
                          <a:endParaRPr lang="en-IN" sz="1700" dirty="0"/>
                        </a:p>
                      </a:txBody>
                      <a:tcPr marL="87456" marR="87456" marT="43728" marB="43728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700"/>
                            <a:t>Measures computational overhead</a:t>
                          </a:r>
                        </a:p>
                      </a:txBody>
                      <a:tcPr marL="87456" marR="87456" marT="43728" marB="43728" anchor="ctr"/>
                    </a:tc>
                    <a:extLst>
                      <a:ext uri="{0D108BD9-81ED-4DB2-BD59-A6C34878D82A}">
                        <a16:rowId xmlns:a16="http://schemas.microsoft.com/office/drawing/2014/main" val="4185676636"/>
                      </a:ext>
                    </a:extLst>
                  </a:tr>
                  <a:tr h="62476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700"/>
                            <a:t>Robustness (R)</a:t>
                          </a:r>
                        </a:p>
                      </a:txBody>
                      <a:tcPr marL="87456" marR="87456" marT="43728" marB="43728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sz="1700"/>
                                  <m:t>𝑅</m:t>
                                </m:r>
                                <m:r>
                                  <a:rPr lang="en-IN" sz="1700"/>
                                  <m:t>=</m:t>
                                </m:r>
                                <m:f>
                                  <m:fPr>
                                    <m:ctrlPr>
                                      <a:rPr lang="en-IN" sz="1700"/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IN" sz="1700"/>
                                        </m:ctrlPr>
                                      </m:sSubPr>
                                      <m:e>
                                        <m:r>
                                          <a:rPr lang="en-IN" sz="1700"/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IN" sz="1700"/>
                                          <m:t>𝑣𝑎𝑟𝑖𝑒𝑑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IN" sz="1700"/>
                                        </m:ctrlPr>
                                      </m:sSubPr>
                                      <m:e>
                                        <m:r>
                                          <a:rPr lang="en-IN" sz="1700"/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IN" sz="1700"/>
                                          <m:t>𝑏𝑎𝑠𝑒𝑙𝑖𝑛𝑒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IN" sz="1700"/>
                                  <m:t>×100%</m:t>
                                </m:r>
                              </m:oMath>
                            </m:oMathPara>
                          </a14:m>
                          <a:endParaRPr lang="en-IN" sz="1700"/>
                        </a:p>
                      </a:txBody>
                      <a:tcPr marL="87456" marR="87456" marT="43728" marB="43728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700" dirty="0"/>
                            <a:t>Measures performance consistency under different player strategies</a:t>
                          </a:r>
                        </a:p>
                      </a:txBody>
                      <a:tcPr marL="87456" marR="87456" marT="43728" marB="43728" anchor="ctr"/>
                    </a:tc>
                    <a:extLst>
                      <a:ext uri="{0D108BD9-81ED-4DB2-BD59-A6C34878D82A}">
                        <a16:rowId xmlns:a16="http://schemas.microsoft.com/office/drawing/2014/main" val="307392761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B119FA28-66D6-D52F-13A9-8E36A65DBED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38285865"/>
                  </p:ext>
                </p:extLst>
              </p:nvPr>
            </p:nvGraphicFramePr>
            <p:xfrm>
              <a:off x="933451" y="1669627"/>
              <a:ext cx="10420350" cy="4351339"/>
            </p:xfrm>
            <a:graphic>
              <a:graphicData uri="http://schemas.openxmlformats.org/drawingml/2006/table">
                <a:tbl>
                  <a:tblPr>
                    <a:tableStyleId>{073A0DAA-6AF3-43AB-8588-CEC1D06C72B9}</a:tableStyleId>
                  </a:tblPr>
                  <a:tblGrid>
                    <a:gridCol w="2611783">
                      <a:extLst>
                        <a:ext uri="{9D8B030D-6E8A-4147-A177-3AD203B41FA5}">
                          <a16:colId xmlns:a16="http://schemas.microsoft.com/office/drawing/2014/main" val="4248378397"/>
                        </a:ext>
                      </a:extLst>
                    </a:gridCol>
                    <a:gridCol w="4303307">
                      <a:extLst>
                        <a:ext uri="{9D8B030D-6E8A-4147-A177-3AD203B41FA5}">
                          <a16:colId xmlns:a16="http://schemas.microsoft.com/office/drawing/2014/main" val="132678946"/>
                        </a:ext>
                      </a:extLst>
                    </a:gridCol>
                    <a:gridCol w="3505260">
                      <a:extLst>
                        <a:ext uri="{9D8B030D-6E8A-4147-A177-3AD203B41FA5}">
                          <a16:colId xmlns:a16="http://schemas.microsoft.com/office/drawing/2014/main" val="59203738"/>
                        </a:ext>
                      </a:extLst>
                    </a:gridCol>
                  </a:tblGrid>
                  <a:tr h="34982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700" dirty="0"/>
                            <a:t>Metric</a:t>
                          </a:r>
                        </a:p>
                      </a:txBody>
                      <a:tcPr marL="87456" marR="87456" marT="43728" marB="43728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700" dirty="0"/>
                            <a:t>Formula</a:t>
                          </a:r>
                        </a:p>
                      </a:txBody>
                      <a:tcPr marL="87456" marR="87456" marT="43728" marB="43728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700" dirty="0"/>
                            <a:t>Purpose</a:t>
                          </a:r>
                        </a:p>
                      </a:txBody>
                      <a:tcPr marL="87456" marR="87456" marT="43728" marB="43728" anchor="ctr"/>
                    </a:tc>
                    <a:extLst>
                      <a:ext uri="{0D108BD9-81ED-4DB2-BD59-A6C34878D82A}">
                        <a16:rowId xmlns:a16="http://schemas.microsoft.com/office/drawing/2014/main" val="3138772888"/>
                      </a:ext>
                    </a:extLst>
                  </a:tr>
                  <a:tr h="63040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700"/>
                            <a:t>Task Success Rate (TSR)</a:t>
                          </a:r>
                        </a:p>
                      </a:txBody>
                      <a:tcPr marL="87456" marR="87456" marT="43728" marB="43728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7456" marR="87456" marT="43728" marB="43728" anchor="ctr">
                        <a:blipFill>
                          <a:blip r:embed="rId2"/>
                          <a:stretch>
                            <a:fillRect l="-60907" t="-57692" r="-81728" b="-544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700"/>
                            <a:t>Measures how many tasks the NPC successfully completes</a:t>
                          </a:r>
                        </a:p>
                      </a:txBody>
                      <a:tcPr marL="87456" marR="87456" marT="43728" marB="43728" anchor="ctr"/>
                    </a:tc>
                    <a:extLst>
                      <a:ext uri="{0D108BD9-81ED-4DB2-BD59-A6C34878D82A}">
                        <a16:rowId xmlns:a16="http://schemas.microsoft.com/office/drawing/2014/main" val="3545344271"/>
                      </a:ext>
                    </a:extLst>
                  </a:tr>
                  <a:tr h="87455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700"/>
                            <a:t>Adaptation Rate (AR)</a:t>
                          </a:r>
                        </a:p>
                      </a:txBody>
                      <a:tcPr marL="87456" marR="87456" marT="43728" marB="43728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7456" marR="87456" marT="43728" marB="43728" anchor="ctr">
                        <a:blipFill>
                          <a:blip r:embed="rId2"/>
                          <a:stretch>
                            <a:fillRect l="-60907" t="-113889" r="-81728" b="-2930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700"/>
                            <a:t>Measures the NPC's ability to adjust behaviour to changed situations</a:t>
                          </a:r>
                        </a:p>
                      </a:txBody>
                      <a:tcPr marL="87456" marR="87456" marT="43728" marB="43728" anchor="ctr"/>
                    </a:tc>
                    <a:extLst>
                      <a:ext uri="{0D108BD9-81ED-4DB2-BD59-A6C34878D82A}">
                        <a16:rowId xmlns:a16="http://schemas.microsoft.com/office/drawing/2014/main" val="1118743208"/>
                      </a:ext>
                    </a:extLst>
                  </a:tr>
                  <a:tr h="6296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700" dirty="0"/>
                            <a:t>Behavioural Diversity (BD)</a:t>
                          </a:r>
                        </a:p>
                      </a:txBody>
                      <a:tcPr marL="87456" marR="87456" marT="43728" marB="43728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7456" marR="87456" marT="43728" marB="43728" anchor="ctr">
                        <a:blipFill>
                          <a:blip r:embed="rId2"/>
                          <a:stretch>
                            <a:fillRect l="-60907" t="-299029" r="-81728" b="-3097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700"/>
                            <a:t>Measures the variety of behaviours exhibited</a:t>
                          </a:r>
                        </a:p>
                      </a:txBody>
                      <a:tcPr marL="87456" marR="87456" marT="43728" marB="43728" anchor="ctr"/>
                    </a:tc>
                    <a:extLst>
                      <a:ext uri="{0D108BD9-81ED-4DB2-BD59-A6C34878D82A}">
                        <a16:rowId xmlns:a16="http://schemas.microsoft.com/office/drawing/2014/main" val="3898639150"/>
                      </a:ext>
                    </a:extLst>
                  </a:tr>
                  <a:tr h="62105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700"/>
                            <a:t>Decision Latency (DL)</a:t>
                          </a:r>
                        </a:p>
                      </a:txBody>
                      <a:tcPr marL="87456" marR="87456" marT="43728" marB="43728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7456" marR="87456" marT="43728" marB="43728" anchor="ctr">
                        <a:blipFill>
                          <a:blip r:embed="rId2"/>
                          <a:stretch>
                            <a:fillRect l="-60907" t="-402941" r="-81728" b="-2127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700"/>
                            <a:t>Average time required to make a behaviour decision</a:t>
                          </a:r>
                        </a:p>
                      </a:txBody>
                      <a:tcPr marL="87456" marR="87456" marT="43728" marB="43728" anchor="ctr"/>
                    </a:tc>
                    <a:extLst>
                      <a:ext uri="{0D108BD9-81ED-4DB2-BD59-A6C34878D82A}">
                        <a16:rowId xmlns:a16="http://schemas.microsoft.com/office/drawing/2014/main" val="4194137092"/>
                      </a:ext>
                    </a:extLst>
                  </a:tr>
                  <a:tr h="62105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700" dirty="0"/>
                            <a:t>CPU Overhead</a:t>
                          </a:r>
                        </a:p>
                      </a:txBody>
                      <a:tcPr marL="87456" marR="87456" marT="43728" marB="43728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7456" marR="87456" marT="43728" marB="43728" anchor="ctr">
                        <a:blipFill>
                          <a:blip r:embed="rId2"/>
                          <a:stretch>
                            <a:fillRect l="-60907" t="-502941" r="-81728" b="-1127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700"/>
                            <a:t>Measures computational overhead</a:t>
                          </a:r>
                        </a:p>
                      </a:txBody>
                      <a:tcPr marL="87456" marR="87456" marT="43728" marB="43728" anchor="ctr"/>
                    </a:tc>
                    <a:extLst>
                      <a:ext uri="{0D108BD9-81ED-4DB2-BD59-A6C34878D82A}">
                        <a16:rowId xmlns:a16="http://schemas.microsoft.com/office/drawing/2014/main" val="4185676636"/>
                      </a:ext>
                    </a:extLst>
                  </a:tr>
                  <a:tr h="62476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700"/>
                            <a:t>Robustness (R)</a:t>
                          </a:r>
                        </a:p>
                      </a:txBody>
                      <a:tcPr marL="87456" marR="87456" marT="43728" marB="43728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7456" marR="87456" marT="43728" marB="43728" anchor="ctr">
                        <a:blipFill>
                          <a:blip r:embed="rId2"/>
                          <a:stretch>
                            <a:fillRect l="-60907" t="-597087" r="-81728" b="-116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700" dirty="0"/>
                            <a:t>Measures performance consistency under different player strategies</a:t>
                          </a:r>
                        </a:p>
                      </a:txBody>
                      <a:tcPr marL="87456" marR="87456" marT="43728" marB="43728" anchor="ctr"/>
                    </a:tc>
                    <a:extLst>
                      <a:ext uri="{0D108BD9-81ED-4DB2-BD59-A6C34878D82A}">
                        <a16:rowId xmlns:a16="http://schemas.microsoft.com/office/drawing/2014/main" val="307392761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472793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4B1E2-5CE9-3586-1A64-A314EE5A4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FF660B-980E-6FE6-2167-80CB79C0D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Dissertation Review - I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795E01-A98E-E6D4-D42E-77378899B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64766-4797-42BE-B733-A21DC585C1DD}" type="slidenum">
              <a:rPr lang="en-IN" smtClean="0"/>
              <a:t>13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3D819D-B394-5153-8BE2-FACFA94C3E16}"/>
              </a:ext>
            </a:extLst>
          </p:cNvPr>
          <p:cNvSpPr txBox="1"/>
          <p:nvPr/>
        </p:nvSpPr>
        <p:spPr>
          <a:xfrm>
            <a:off x="1222629" y="857329"/>
            <a:ext cx="373499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5400" dirty="0"/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F2D442-E5E2-676C-D0FD-FEC153AA6D69}"/>
              </a:ext>
            </a:extLst>
          </p:cNvPr>
          <p:cNvSpPr txBox="1"/>
          <p:nvPr/>
        </p:nvSpPr>
        <p:spPr>
          <a:xfrm>
            <a:off x="2066925" y="2364938"/>
            <a:ext cx="805815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/>
              <a:t>[1] B. Hannaford, D. Hu, D. Zhang, and Y. Li, “</a:t>
            </a:r>
            <a:r>
              <a:rPr lang="en-GB" i="1" dirty="0"/>
              <a:t>Simulation results on selector adaptation in </a:t>
            </a:r>
            <a:r>
              <a:rPr lang="en-GB" i="1" dirty="0" err="1"/>
              <a:t>behavior</a:t>
            </a:r>
            <a:r>
              <a:rPr lang="en-GB" i="1" dirty="0"/>
              <a:t> trees</a:t>
            </a:r>
            <a:r>
              <a:rPr lang="en-GB" dirty="0"/>
              <a:t>,” </a:t>
            </a:r>
            <a:r>
              <a:rPr lang="en-IN" i="1" dirty="0" err="1"/>
              <a:t>arXiv</a:t>
            </a:r>
            <a:r>
              <a:rPr lang="en-GB" dirty="0"/>
              <a:t> </a:t>
            </a:r>
            <a:r>
              <a:rPr lang="en-IN" i="1" dirty="0"/>
              <a:t>preprint</a:t>
            </a:r>
            <a:r>
              <a:rPr lang="en-GB" dirty="0"/>
              <a:t> </a:t>
            </a:r>
            <a:r>
              <a:rPr lang="en-IN" i="1" dirty="0" err="1"/>
              <a:t>arXiv</a:t>
            </a:r>
            <a:r>
              <a:rPr lang="en-GB" dirty="0"/>
              <a:t>:1606.09219, 2016. </a:t>
            </a:r>
          </a:p>
          <a:p>
            <a:pPr>
              <a:buNone/>
            </a:pPr>
            <a:endParaRPr lang="en-GB" dirty="0"/>
          </a:p>
          <a:p>
            <a:r>
              <a:rPr lang="en-IN" dirty="0"/>
              <a:t>[2] R. P. Pereira and P. M. Engel, “</a:t>
            </a:r>
            <a:r>
              <a:rPr lang="en-IN" i="1" dirty="0"/>
              <a:t>A framework for constrained and adaptive </a:t>
            </a:r>
            <a:br>
              <a:rPr lang="en-IN" i="1" dirty="0"/>
            </a:br>
            <a:r>
              <a:rPr lang="en-IN" i="1" dirty="0" err="1"/>
              <a:t>behavior</a:t>
            </a:r>
            <a:r>
              <a:rPr lang="en-IN" i="1" dirty="0"/>
              <a:t>-based agents</a:t>
            </a:r>
            <a:r>
              <a:rPr lang="en-IN" dirty="0"/>
              <a:t>,” </a:t>
            </a:r>
            <a:r>
              <a:rPr lang="en-IN" i="1" dirty="0" err="1"/>
              <a:t>arXiv</a:t>
            </a:r>
            <a:r>
              <a:rPr lang="en-IN" i="1" dirty="0"/>
              <a:t> preprint arXiv:1506.02312</a:t>
            </a:r>
            <a:r>
              <a:rPr lang="en-IN" dirty="0"/>
              <a:t>, 2015.</a:t>
            </a:r>
          </a:p>
          <a:p>
            <a:endParaRPr lang="en-IN" dirty="0"/>
          </a:p>
          <a:p>
            <a:r>
              <a:rPr lang="en-IN" dirty="0"/>
              <a:t>[3] X. Li, Y. Li, J. Zhang, </a:t>
            </a:r>
            <a:r>
              <a:rPr lang="en-IN" i="1" dirty="0"/>
              <a:t>et al.</a:t>
            </a:r>
            <a:r>
              <a:rPr lang="en-IN" dirty="0"/>
              <a:t>, “</a:t>
            </a:r>
            <a:r>
              <a:rPr lang="en-IN" i="1" dirty="0"/>
              <a:t>Embedding multi-agent reinforcement learning into </a:t>
            </a:r>
            <a:r>
              <a:rPr lang="en-IN" i="1" dirty="0" err="1"/>
              <a:t>behavior</a:t>
            </a:r>
            <a:r>
              <a:rPr lang="en-IN" i="1" dirty="0"/>
              <a:t> trees with unexpected interruptions</a:t>
            </a:r>
            <a:r>
              <a:rPr lang="en-IN" dirty="0"/>
              <a:t>,” </a:t>
            </a:r>
            <a:r>
              <a:rPr lang="en-IN" i="1" dirty="0"/>
              <a:t>Complex Intelligence Systems</a:t>
            </a:r>
            <a:r>
              <a:rPr lang="en-IN" dirty="0"/>
              <a:t>, vol. 10, pp. 3273–3282, 2024, </a:t>
            </a:r>
            <a:r>
              <a:rPr lang="en-IN" dirty="0" err="1"/>
              <a:t>doi</a:t>
            </a:r>
            <a:r>
              <a:rPr lang="en-IN" dirty="0"/>
              <a:t>: 10.1007/s40747-023-01326-7.</a:t>
            </a:r>
          </a:p>
        </p:txBody>
      </p:sp>
    </p:spTree>
    <p:extLst>
      <p:ext uri="{BB962C8B-B14F-4D97-AF65-F5344CB8AC3E}">
        <p14:creationId xmlns:p14="http://schemas.microsoft.com/office/powerpoint/2010/main" val="21692468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B4F0C1F-E461-E12E-7E49-95143D1D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Dissertation Review - I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208FDF-551C-323E-527F-4856DF6DD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64766-4797-42BE-B733-A21DC585C1DD}" type="slidenum">
              <a:rPr lang="en-IN" smtClean="0"/>
              <a:t>14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73BA3B-700C-B1B3-30BC-F38BAC9DF369}"/>
              </a:ext>
            </a:extLst>
          </p:cNvPr>
          <p:cNvSpPr txBox="1"/>
          <p:nvPr/>
        </p:nvSpPr>
        <p:spPr>
          <a:xfrm>
            <a:off x="4589658" y="3044279"/>
            <a:ext cx="301268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b="1" dirty="0">
                <a:latin typeface="Arial Rounded MT Bold" panose="020F0704030504030204" pitchFamily="34" charset="0"/>
              </a:rPr>
              <a:t>Thank You</a:t>
            </a:r>
            <a:endParaRPr lang="en-IN" sz="4400" b="1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7705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406</TotalTime>
  <Words>1165</Words>
  <Application>Microsoft Office PowerPoint</Application>
  <PresentationFormat>Widescreen</PresentationFormat>
  <Paragraphs>149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Arial Rounded MT Bold</vt:lpstr>
      <vt:lpstr>Calibri</vt:lpstr>
      <vt:lpstr>Calibri Light</vt:lpstr>
      <vt:lpstr>Cambria Math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Venkata Sandeep Talatam</dc:creator>
  <cp:lastModifiedBy>Venkata Sandeep Talatam</cp:lastModifiedBy>
  <cp:revision>1</cp:revision>
  <dcterms:created xsi:type="dcterms:W3CDTF">2026-08-26T12:59:30Z</dcterms:created>
  <dcterms:modified xsi:type="dcterms:W3CDTF">2026-08-26T19:45:51Z</dcterms:modified>
</cp:coreProperties>
</file>