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embeddedFontLst>
    <p:embeddedFont>
      <p:font typeface="Caveat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AS6lps2m4gM9xQ+zULW7tZkKk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aveat-bold.fntdata"/><Relationship Id="rId16" Type="http://schemas.openxmlformats.org/officeDocument/2006/relationships/font" Target="fonts/Cave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86be5747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86be5747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86be5747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f86be574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16136"/>
            <a:ext cx="12191700" cy="685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685800" y="320040"/>
            <a:ext cx="10835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AA191E"/>
                </a:solidFill>
                <a:latin typeface="Arial"/>
                <a:ea typeface="Arial"/>
                <a:cs typeface="Arial"/>
                <a:sym typeface="Arial"/>
              </a:rPr>
              <a:t>JAWAHARLAL NEHRU TECHNOLOGICAL UNIVERSITY HYDERABAD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749808"/>
            <a:ext cx="10835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A191E"/>
                </a:solidFill>
                <a:latin typeface="Arial"/>
                <a:ea typeface="Arial"/>
                <a:cs typeface="Arial"/>
                <a:sym typeface="Arial"/>
              </a:rPr>
              <a:t>UNIVERSITY COLLEGE OF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078992"/>
            <a:ext cx="10835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AA191E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097280" y="1536192"/>
            <a:ext cx="9966960" cy="10972"/>
          </a:xfrm>
          <a:prstGeom prst="rect">
            <a:avLst/>
          </a:prstGeom>
          <a:solidFill>
            <a:srgbClr val="969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22960" y="1783080"/>
            <a:ext cx="1051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  <a:t>DISSERTATION REVIEW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2267712"/>
            <a:ext cx="10332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  <a:t>Efficient Deep Learning Framework for Concrete Surface Defect Detection,</a:t>
            </a:r>
            <a:br>
              <a:rPr b="1" i="0" lang="en-US" sz="24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  <a:t>Localization, Severity Assessment, and Maintenance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22960" y="3902336"/>
            <a:ext cx="105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Mallidi Vijaya Sree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22960" y="427939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22011P0505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22960" y="48006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22960" y="510235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Dr. K. P. Supreethi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22950" y="5440716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Prof of 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513" y="137475"/>
            <a:ext cx="1409700" cy="140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A19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1155680" y="356616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EBEE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914400" y="1325876"/>
            <a:ext cx="10241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Concrete infrastructure is prone to cracks, peeling, scaling, spalling, corrosion stains, and exposed reinforcement; early detection is important for structural safety and maintenance.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The proposed framework uses EfficientNetV2 for feature extraction and defect classification, DeepLabV3+ for precise semantic segmentation, and Mask R-CNN for individual defect delineation when required.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Grad-CAM provides visual explanations, while segmented defect characteristics are used for severity assessment and maintenance support.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A19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  <a:t>Introduction – Concrete Infrastructure Inspection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1155680" y="356616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EBEE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914400" y="1234440"/>
            <a:ext cx="10241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Concrete is widely used in bridges, buildings, tunnels, pavements, dams, and other civil infrastructure.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Surface deterioration can appear as cracks, peeling, scaling, spalling, corrosion stains, and exposed reinforcement.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Inspection is required to identify damaged areas early and support decisions related to repair and maintenance.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914400" y="544068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6F78"/>
                </a:solidFill>
                <a:latin typeface="Arial"/>
                <a:ea typeface="Arial"/>
                <a:cs typeface="Arial"/>
                <a:sym typeface="Arial"/>
              </a:rPr>
              <a:t>Domain: Civil Infrastructure + Computer Vision + Deep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A19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  <a:t>Introduction – Deep Learning for Defect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1155680" y="356616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EBEE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914400" y="1188720"/>
            <a:ext cx="10241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Image-based deep learning can learn visual features directly from concrete surface images.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Classification identifies the type of defect, while segmentation identifies the exact damaged region.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Explainable AI can help show which image regions contributed to a prediction, improving transparency.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  <a:t>Classification  →  Localization  →  Severity Assessment  →  Maintenance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A19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11155680" y="356616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EBEE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868680" y="1097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AA191E"/>
                </a:solidFill>
                <a:latin typeface="Arial"/>
                <a:ea typeface="Arial"/>
                <a:cs typeface="Arial"/>
                <a:sym typeface="Arial"/>
              </a:rPr>
              <a:t>Problems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914400" y="1554480"/>
            <a:ext cx="50292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Concrete surfaces contain multiple types of defects with different visual patterns.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Manual inspection of large structures can be time-consuming and difficult to scale.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Detecting only the defect type does not tell us the exact damaged area.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 useful inspection system should also provide severity information and understandable model predictions.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6172200" y="10972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A6F78"/>
                </a:solidFill>
                <a:latin typeface="Arial"/>
                <a:ea typeface="Arial"/>
                <a:cs typeface="Arial"/>
                <a:sym typeface="Arial"/>
              </a:rPr>
              <a:t>How we solve them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6217920" y="1554480"/>
            <a:ext cx="50292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EfficientNetV2 → classify the concrete defect.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DeepLabV3+ → segment the damaged region.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Mask R-CNN → delineate individual defects when required.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Grad-CAM → visualize important regions behind the prediction.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Segmented defect characteristics → severity assessment and maintenance support.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142" name="Google Shape;142;g3f86be57470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800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A19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  <a:t>Implementation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11155680" y="356616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EBEE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868680" y="1051560"/>
            <a:ext cx="10424100" cy="3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Dataset preparation: collect/organize concrete surface images and prepare labels for the target defect categories.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Pre-processing: resize and normalize images and prepare suitable inputs for classification and segmentation.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Classification: train EfficientNetV2 to learn features and classify cracks, peeling, scaling, spalling, corrosion stains, and exposed reinforcement.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Localization: train DeepLabV3+ to obtain pixel-level damaged regions; use Mask R-CNN for individual object delineation where required.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Explainability: apply Grad-CAM to visualize image regions influencing classification decisions.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Severity and output: derive severity information from segmented defect characteristics and present results for maintenance support.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A19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11155680" y="356616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EBEE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914400" y="1234440"/>
            <a:ext cx="102414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The proposed framework addresses automated analysis of multiple concrete surface defects.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EfficientNetV2 is used for classification, while DeepLabV3+ and Mask R-CNN address precise localization requirements.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Grad-CAM adds visual interpretability to the deep-learning predictions.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Severity assessment based on segmented defect characteristics connects image analysis with maintenance support.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The overall approach aims to provide accurate, localized, explainable, and useful concrete defect inspection.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A19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92D48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11155680" y="356616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EBEE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685800" y="1051560"/>
            <a:ext cx="108813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[1] D. Alvani, G. Akbarizadeh, K. Gheisari, and A. Kosarian, “Corrosion detection, localization, and severity estimation on gas pipeline surfaces using transfer learning and image processing,” Array, vol. 29, Art. no. 100698, Mar. 2026, doi: 10.1016/j.array.2026.100698.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[2] M. Tan and Q. V. Le, “EfficientNetV2: Smaller models and faster training,” in Proc. 38th Int. Conf. Machine Learning (ICML), vol. 139, 2021, pp. 10096–10106.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[3] L.-C. Chen, Y. Zhu, G. Papandreou, F. Schroff, and H. Adam, “Encoder-decoder with atrous separable convolution for semantic image segmentation,” in Proc. Eur. Conf. Computer Vision (ECCV), 2018.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[4] K. He, G. Gkioxari, P. Dollár, and R. Girshick, “Mask R-CNN,” in Proc. IEEE Int. Conf. Computer Vision (ICCV), 2017, pp. 2961–2969.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[5] R. R. Selvaraju, M. Cogswell, A. Das, R. Vedantam, D. Parikh, and D. Batra, “Grad-CAM: Visual explanations from deep networks via gradient-based localization,” in Proc. IEEE Int. Conf. Computer Vision (ICCV), 2017, pp. 618–626, doi: 10.1109/ICCV.2017.74.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86be57470_0_0"/>
          <p:cNvSpPr txBox="1"/>
          <p:nvPr/>
        </p:nvSpPr>
        <p:spPr>
          <a:xfrm>
            <a:off x="727850" y="1948650"/>
            <a:ext cx="10801800" cy="26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i="0" lang="en-US" sz="10000" u="none" cap="none" strike="noStrike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THANK YOU</a:t>
            </a:r>
            <a:endParaRPr b="1" i="0" sz="10000" u="none" cap="none" strike="noStrike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