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99677" y="625862"/>
            <a:ext cx="999232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   </a:t>
            </a:r>
            <a:r>
              <a:rPr lang="en-US" dirty="0">
                <a:latin typeface="Times New Roman"/>
                <a:cs typeface="Times New Roman"/>
              </a:rPr>
              <a:t>JAWAHARLAL NEHRU TECHNOLOGICAL UNIVERSITY HYDERABAD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</a:rPr>
              <a:t>UNIVERSITY COLLEGE OF ENGINEERING SCIENCE AND TECHNOLOGY</a:t>
            </a:r>
          </a:p>
          <a:p>
            <a:r>
              <a:rPr lang="en-US" dirty="0">
                <a:latin typeface="Times New Roman"/>
                <a:cs typeface="Times New Roman"/>
              </a:rPr>
              <a:t>		DEPARTMENT OF COMPUTER SCIENCE</a:t>
            </a:r>
            <a:br>
              <a:rPr lang="en-US" dirty="0">
                <a:latin typeface="Times New Roman"/>
                <a:cs typeface="Times New Roman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28761" y="4906693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2031" y="4849259"/>
            <a:ext cx="44715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</a:p>
          <a:p>
            <a:pPr>
              <a:defRPr sz="18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Dhanalakshmi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Professor of CSE Department </a:t>
            </a:r>
          </a:p>
          <a:p>
            <a:pPr>
              <a:defRPr sz="18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&amp; Coordinator DAP</a:t>
            </a:r>
          </a:p>
          <a:p>
            <a:pPr>
              <a:defRPr sz="1800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JNTUH-UCESTH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Jntu Hyderabad Logo JNTUH Syllabus Books JNTU Hyderabad Syllabus For">
            <a:extLst>
              <a:ext uri="{FF2B5EF4-FFF2-40B4-BE49-F238E27FC236}">
                <a16:creationId xmlns:a16="http://schemas.microsoft.com/office/drawing/2014/main" id="{03D83218-01CB-5D30-1CFC-C622B0F78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42" t="-841" r="26518" b="841"/>
          <a:stretch>
            <a:fillRect/>
          </a:stretch>
        </p:blipFill>
        <p:spPr>
          <a:xfrm>
            <a:off x="50242" y="531413"/>
            <a:ext cx="1716833" cy="9576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13FB66-894C-6DE3-78E9-E3F3D7C6F6E4}"/>
              </a:ext>
            </a:extLst>
          </p:cNvPr>
          <p:cNvSpPr txBox="1"/>
          <p:nvPr/>
        </p:nvSpPr>
        <p:spPr>
          <a:xfrm>
            <a:off x="783772" y="2273169"/>
            <a:ext cx="110732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ORCHESTRATION FOR AUTONOMOUS   SOFTWARE     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ENGINEERING WORKFLOWS </a:t>
            </a:r>
            <a:endParaRPr lang="en-IN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243B9-25DE-8488-0019-3F88005B7405}"/>
              </a:ext>
            </a:extLst>
          </p:cNvPr>
          <p:cNvSpPr txBox="1"/>
          <p:nvPr/>
        </p:nvSpPr>
        <p:spPr>
          <a:xfrm>
            <a:off x="3461256" y="3351196"/>
            <a:ext cx="6094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WORK REVIEW – 1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AUGUST-2026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672A28-0FFB-2609-AB92-90095657C0A7}"/>
              </a:ext>
            </a:extLst>
          </p:cNvPr>
          <p:cNvSpPr txBox="1"/>
          <p:nvPr/>
        </p:nvSpPr>
        <p:spPr>
          <a:xfrm>
            <a:off x="8634887" y="4849259"/>
            <a:ext cx="24785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R. Rajasri</a:t>
            </a:r>
          </a:p>
          <a:p>
            <a:pPr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22011P0526</a:t>
            </a:r>
          </a:p>
          <a:p>
            <a:pPr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5th Year - 1st Sem</a:t>
            </a:r>
          </a:p>
          <a:p>
            <a:pPr>
              <a:defRPr sz="180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CSE-IDP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C485F-9C6B-B2BD-4F92-7890EA1F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C52A8-D535-93CE-BE3B-4ECE390E9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7543"/>
            <a:ext cx="11430000" cy="45586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automation remains limited, as existing AI tools mainly handle isolated tasks such as code generation and still require human intervention for integration, testing, and deployment.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automates the software lifecycle from natural-language requirements to deployment using specialized agents for coding, testing, debugging, and deployment, supported by vector-based knowledge retention and risk-aware human intervention for uncertain or high-risk decisions.</a:t>
            </a:r>
          </a:p>
        </p:txBody>
      </p:sp>
    </p:spTree>
    <p:extLst>
      <p:ext uri="{BB962C8B-B14F-4D97-AF65-F5344CB8AC3E}">
        <p14:creationId xmlns:p14="http://schemas.microsoft.com/office/powerpoint/2010/main" val="797096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9EED-1B16-FC67-3D3F-DC29ACF5D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EBE65-0721-AF9D-707D-3ECFFBD4D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349613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growing adoption of AI in software engineering, achieving reliable end-to-end automation with minimal human intervention remains a significant challenge.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 addresses dynamic planning, specialized agents, knowledge retention, and tool integration, enhanced by a risk-aware human-in-the-loop mechanism that enables intervention for  high-risk tasks.</a:t>
            </a:r>
          </a:p>
        </p:txBody>
      </p:sp>
    </p:spTree>
    <p:extLst>
      <p:ext uri="{BB962C8B-B14F-4D97-AF65-F5344CB8AC3E}">
        <p14:creationId xmlns:p14="http://schemas.microsoft.com/office/powerpoint/2010/main" val="41612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E8E3-C6E3-3AB6-CCEC-105F0659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94FED-E1CE-A59F-6FA8-6458E0788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626" y="1316334"/>
            <a:ext cx="11438374" cy="51514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multi-agent software development system that automatically manages the complete software lifecycle through dynamic task planning, specialized agents for coding, testing, debugging, and deployment, vector-based knowledge retention, and risk-aware human intervention.</a:t>
            </a:r>
          </a:p>
        </p:txBody>
      </p:sp>
    </p:spTree>
    <p:extLst>
      <p:ext uri="{BB962C8B-B14F-4D97-AF65-F5344CB8AC3E}">
        <p14:creationId xmlns:p14="http://schemas.microsoft.com/office/powerpoint/2010/main" val="28027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4BDB7-2B2A-ED69-2891-68E57CE53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AE70F-1A41-8200-F4BC-E84AE0EE1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857244" cy="4525963"/>
          </a:xfrm>
        </p:spPr>
        <p:txBody>
          <a:bodyPr>
            <a:norm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multi-agent architecture for end-to-end SDLC automation.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dynamic task planning and coordination among specialized agents.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vector-based knowledge retention for cross-project learning.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industry-standard tools for automated testing, version control, and deployment.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risk-aware decision mechanism with confidence scoring and human intervention for high-risk tasks.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automation performance, reliability, and risk-handling across different software projects.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6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01D52-3C22-397D-0F58-FDEB955A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510" y="576475"/>
            <a:ext cx="8010093" cy="104212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B24BE475-86C5-5FB1-ACC3-7AC99A7EDE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4933976"/>
              </p:ext>
            </p:extLst>
          </p:nvPr>
        </p:nvGraphicFramePr>
        <p:xfrm>
          <a:off x="974689" y="2027169"/>
          <a:ext cx="10319658" cy="4305575"/>
        </p:xfrm>
        <a:graphic>
          <a:graphicData uri="http://schemas.openxmlformats.org/drawingml/2006/table">
            <a:tbl>
              <a:tblPr/>
              <a:tblGrid>
                <a:gridCol w="3439886">
                  <a:extLst>
                    <a:ext uri="{9D8B030D-6E8A-4147-A177-3AD203B41FA5}">
                      <a16:colId xmlns:a16="http://schemas.microsoft.com/office/drawing/2014/main" val="345592256"/>
                    </a:ext>
                  </a:extLst>
                </a:gridCol>
                <a:gridCol w="3439886">
                  <a:extLst>
                    <a:ext uri="{9D8B030D-6E8A-4147-A177-3AD203B41FA5}">
                      <a16:colId xmlns:a16="http://schemas.microsoft.com/office/drawing/2014/main" val="3848473591"/>
                    </a:ext>
                  </a:extLst>
                </a:gridCol>
                <a:gridCol w="3439886">
                  <a:extLst>
                    <a:ext uri="{9D8B030D-6E8A-4147-A177-3AD203B41FA5}">
                      <a16:colId xmlns:a16="http://schemas.microsoft.com/office/drawing/2014/main" val="4285874318"/>
                    </a:ext>
                  </a:extLst>
                </a:gridCol>
              </a:tblGrid>
              <a:tr h="358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/ PAPER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805017"/>
                  </a:ext>
                </a:extLst>
              </a:tr>
              <a:tr h="1166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ChatDev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software development using role-specialized agents for design, coding, and testing.</a:t>
                      </a: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focus on risk-aware decisions, reliable human intervention, and chat-based interaction.</a:t>
                      </a: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240627"/>
                  </a:ext>
                </a:extLst>
              </a:tr>
              <a:tr h="1166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AutoGPT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agent that decomposes goals into subtasks and executes them using tools.</a:t>
                      </a: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General-purpose autonomy; lacks structured role-based SDLC coordination.</a:t>
                      </a: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914353"/>
                  </a:ext>
                </a:extLst>
              </a:tr>
              <a:tr h="14356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AgentCoder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programmer, test-designer, and test-executor agents with iterative feedback for code generation.</a:t>
                      </a: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focuses on code generation and testing rather than the complete SDLC.</a:t>
                      </a:r>
                    </a:p>
                  </a:txBody>
                  <a:tcPr marL="89728" marR="89728" marT="44864" marB="448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871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72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4B42-F7B7-B95C-E19B-E56932FB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ADD8FE-F3E7-967C-25AA-C703E9200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960" y="1708220"/>
            <a:ext cx="8375748" cy="44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3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FEBA-E154-F0C5-FC54-C5CFA9A4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0C78-5D6F-F68B-81C8-09ABA322C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orchestration: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/ RAG: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Gemini, Sentence Transformers, RAG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DB: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engine: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Rule-based risk scoring + confidence thresholds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checkpointing/interrupts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Git, GitHub, Docker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7207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9D83-5E09-118D-F5E3-3093CB530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F111-EE81-6E5D-4803-A13A51BD3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399855" cy="452596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Success Rate: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percentage of software development tasks successfully completed from natural-language requirements through testing and deployment.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Intervention Rate: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percentage of development tasks requiring human intervention, including manual approval, code modification, or failure resolution.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Time: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time taken from requirement submission to successful completion and deployment, averaged across all benchmark tasks.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Re-planning Success Rate: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percentage of failed tasks successfully resolved after the system dynamically changes the task decomposition or execution plan rather than repeating the same approach. </a:t>
            </a:r>
          </a:p>
          <a:p>
            <a:pPr lvl="0"/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Risk-Decision Accuracy: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percentage of risk-based decisions correctly classified as safe for autonomous execution or requiring human escalation, measured against manually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ground truth.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33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C0E24-10F1-5B0B-D4B5-3037A83D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F2226-5322-FC66-99DA-B7AFA48E7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4" y="1710732"/>
            <a:ext cx="11424976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multi-agent framework integrates dynamic planning, specialized coding, testing, debugging, and deployment agents with RAG-based knowledge retention and risk-aware human intervention. This enables more reliable end-to-end software automation while reducing development time and unnecessary human involvement.</a:t>
            </a:r>
          </a:p>
        </p:txBody>
      </p:sp>
    </p:spTree>
    <p:extLst>
      <p:ext uri="{BB962C8B-B14F-4D97-AF65-F5344CB8AC3E}">
        <p14:creationId xmlns:p14="http://schemas.microsoft.com/office/powerpoint/2010/main" val="2508120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37792-2CAB-8460-CE30-3C83C70D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DC4C0-5062-30D1-99A5-E3D062615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7495"/>
            <a:ext cx="11734800" cy="456866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Qian et al., “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ChatDev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Communicative Agents for Software Development,” Proceedings of the 62nd Annual Meeting of the Association for Computational Linguistics (ACL), pp. 1517415186, 2024 Paper – ACL Anthology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S. Hong et al., “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MetaGPT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Meta Programming for A Multi-Agent Collaborative Framework,” International Conference on Learning Representations (ICLR), 2024 Paper – ICLR Proceedings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J. He, C.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Treude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D. Lo, “LLM-Based Multi-Agent Systems for Software Engineering: Literature Review, Vision, and the Road Ahead,” ACM Transactions on Software Engineering and Methodology, vol. 34, no. 5, pp. 1–30, 2025,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10.1145/3712003.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Q. Wu et al., “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AutoGen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Enabling Next-Gen LLM Applications via Multi-Agent Conversation,” ICLR 2024 Workshop on Large Language Model Agents, 2024.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C. E. Jimenez et al., “SWE-bench: Can Language Models Resolve Real-World GitHub Issues?” International Conference on Learning Representations (ICLR), 2024. </a:t>
            </a:r>
          </a:p>
        </p:txBody>
      </p:sp>
    </p:spTree>
    <p:extLst>
      <p:ext uri="{BB962C8B-B14F-4D97-AF65-F5344CB8AC3E}">
        <p14:creationId xmlns:p14="http://schemas.microsoft.com/office/powerpoint/2010/main" val="384670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3CB8-27FB-80F9-3C6F-76C6DDAB7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552617"/>
            <a:ext cx="8229600" cy="11430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20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