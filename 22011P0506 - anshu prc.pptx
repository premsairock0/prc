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1" r:id="rId5"/>
    <p:sldId id="260" r:id="rId6"/>
    <p:sldId id="259" r:id="rId7"/>
    <p:sldId id="258" r:id="rId8"/>
    <p:sldId id="263" r:id="rId9"/>
    <p:sldId id="264" r:id="rId10"/>
    <p:sldId id="268"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2" d="100"/>
          <a:sy n="82" d="100"/>
        </p:scale>
        <p:origin x="67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presProps" Target="pres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0A67E-9881-4068-9AD2-B8CC5659E2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A53F41C-E069-40C2-ACE2-9A4F3F5FB2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C797DF5-A018-430C-A54C-F7672A709F74}"/>
              </a:ext>
            </a:extLst>
          </p:cNvPr>
          <p:cNvSpPr>
            <a:spLocks noGrp="1"/>
          </p:cNvSpPr>
          <p:nvPr>
            <p:ph type="dt" sz="half" idx="10"/>
          </p:nvPr>
        </p:nvSpPr>
        <p:spPr/>
        <p:txBody>
          <a:bodyPr/>
          <a:lstStyle/>
          <a:p>
            <a:fld id="{F640C243-03BA-4FAC-A841-4B62364592DB}" type="datetimeFigureOut">
              <a:rPr lang="en-IN" smtClean="0"/>
              <a:t>26-08-2026</a:t>
            </a:fld>
            <a:endParaRPr lang="en-IN"/>
          </a:p>
        </p:txBody>
      </p:sp>
      <p:sp>
        <p:nvSpPr>
          <p:cNvPr id="5" name="Footer Placeholder 4">
            <a:extLst>
              <a:ext uri="{FF2B5EF4-FFF2-40B4-BE49-F238E27FC236}">
                <a16:creationId xmlns:a16="http://schemas.microsoft.com/office/drawing/2014/main" id="{546017C2-3397-4360-BC11-628C0968FC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D24966-92EE-4242-BB77-1383CA113A19}"/>
              </a:ext>
            </a:extLst>
          </p:cNvPr>
          <p:cNvSpPr>
            <a:spLocks noGrp="1"/>
          </p:cNvSpPr>
          <p:nvPr>
            <p:ph type="sldNum" sz="quarter" idx="12"/>
          </p:nvPr>
        </p:nvSpPr>
        <p:spPr/>
        <p:txBody>
          <a:bodyPr/>
          <a:lstStyle/>
          <a:p>
            <a:fld id="{4E17D85E-FAF1-4741-AC2D-8C70B1A739A7}" type="slidenum">
              <a:rPr lang="en-IN" smtClean="0"/>
              <a:t>‹#›</a:t>
            </a:fld>
            <a:endParaRPr lang="en-IN"/>
          </a:p>
        </p:txBody>
      </p:sp>
    </p:spTree>
    <p:extLst>
      <p:ext uri="{BB962C8B-B14F-4D97-AF65-F5344CB8AC3E}">
        <p14:creationId xmlns:p14="http://schemas.microsoft.com/office/powerpoint/2010/main" val="3603697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50D4E-4E85-4B77-B598-A89540A293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8734C88-09CC-4C79-94FD-F5EAB9A02A9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8A1B28-CB20-4BEE-8523-0F34F40ED50A}"/>
              </a:ext>
            </a:extLst>
          </p:cNvPr>
          <p:cNvSpPr>
            <a:spLocks noGrp="1"/>
          </p:cNvSpPr>
          <p:nvPr>
            <p:ph type="dt" sz="half" idx="10"/>
          </p:nvPr>
        </p:nvSpPr>
        <p:spPr/>
        <p:txBody>
          <a:bodyPr/>
          <a:lstStyle/>
          <a:p>
            <a:fld id="{F640C243-03BA-4FAC-A841-4B62364592DB}" type="datetimeFigureOut">
              <a:rPr lang="en-IN" smtClean="0"/>
              <a:t>26-08-2026</a:t>
            </a:fld>
            <a:endParaRPr lang="en-IN"/>
          </a:p>
        </p:txBody>
      </p:sp>
      <p:sp>
        <p:nvSpPr>
          <p:cNvPr id="5" name="Footer Placeholder 4">
            <a:extLst>
              <a:ext uri="{FF2B5EF4-FFF2-40B4-BE49-F238E27FC236}">
                <a16:creationId xmlns:a16="http://schemas.microsoft.com/office/drawing/2014/main" id="{4CCE4381-EC74-46B2-9E0C-211AA47AEC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25B8AF-59B7-45D3-95FD-941EB4A7DB6E}"/>
              </a:ext>
            </a:extLst>
          </p:cNvPr>
          <p:cNvSpPr>
            <a:spLocks noGrp="1"/>
          </p:cNvSpPr>
          <p:nvPr>
            <p:ph type="sldNum" sz="quarter" idx="12"/>
          </p:nvPr>
        </p:nvSpPr>
        <p:spPr/>
        <p:txBody>
          <a:bodyPr/>
          <a:lstStyle/>
          <a:p>
            <a:fld id="{4E17D85E-FAF1-4741-AC2D-8C70B1A739A7}" type="slidenum">
              <a:rPr lang="en-IN" smtClean="0"/>
              <a:t>‹#›</a:t>
            </a:fld>
            <a:endParaRPr lang="en-IN"/>
          </a:p>
        </p:txBody>
      </p:sp>
    </p:spTree>
    <p:extLst>
      <p:ext uri="{BB962C8B-B14F-4D97-AF65-F5344CB8AC3E}">
        <p14:creationId xmlns:p14="http://schemas.microsoft.com/office/powerpoint/2010/main" val="3923742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C418C-638D-4176-9814-C9A0DF9F38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CA414F3-BC76-4337-9F25-0ACFA6A063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9C3E781-E8CB-4425-8BB1-BE027CB1BAA2}"/>
              </a:ext>
            </a:extLst>
          </p:cNvPr>
          <p:cNvSpPr>
            <a:spLocks noGrp="1"/>
          </p:cNvSpPr>
          <p:nvPr>
            <p:ph type="dt" sz="half" idx="10"/>
          </p:nvPr>
        </p:nvSpPr>
        <p:spPr/>
        <p:txBody>
          <a:bodyPr/>
          <a:lstStyle/>
          <a:p>
            <a:fld id="{F640C243-03BA-4FAC-A841-4B62364592DB}" type="datetimeFigureOut">
              <a:rPr lang="en-IN" smtClean="0"/>
              <a:t>26-08-2026</a:t>
            </a:fld>
            <a:endParaRPr lang="en-IN"/>
          </a:p>
        </p:txBody>
      </p:sp>
      <p:sp>
        <p:nvSpPr>
          <p:cNvPr id="5" name="Footer Placeholder 4">
            <a:extLst>
              <a:ext uri="{FF2B5EF4-FFF2-40B4-BE49-F238E27FC236}">
                <a16:creationId xmlns:a16="http://schemas.microsoft.com/office/drawing/2014/main" id="{BFFC658D-D6FC-46F6-BD61-B34F0A761A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68C054-D9AD-484A-A740-5BFCBD072C79}"/>
              </a:ext>
            </a:extLst>
          </p:cNvPr>
          <p:cNvSpPr>
            <a:spLocks noGrp="1"/>
          </p:cNvSpPr>
          <p:nvPr>
            <p:ph type="sldNum" sz="quarter" idx="12"/>
          </p:nvPr>
        </p:nvSpPr>
        <p:spPr/>
        <p:txBody>
          <a:bodyPr/>
          <a:lstStyle/>
          <a:p>
            <a:fld id="{4E17D85E-FAF1-4741-AC2D-8C70B1A739A7}" type="slidenum">
              <a:rPr lang="en-IN" smtClean="0"/>
              <a:t>‹#›</a:t>
            </a:fld>
            <a:endParaRPr lang="en-IN"/>
          </a:p>
        </p:txBody>
      </p:sp>
    </p:spTree>
    <p:extLst>
      <p:ext uri="{BB962C8B-B14F-4D97-AF65-F5344CB8AC3E}">
        <p14:creationId xmlns:p14="http://schemas.microsoft.com/office/powerpoint/2010/main" val="4251869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970CC-7142-4AD4-92D9-522F3942B5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A408000-0107-4DE4-BB07-E4F22CDA396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FBE54F0-1116-4379-A336-F1A4836F30F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67E5949-B60A-4285-B889-148CD5DBF0D1}"/>
              </a:ext>
            </a:extLst>
          </p:cNvPr>
          <p:cNvSpPr>
            <a:spLocks noGrp="1"/>
          </p:cNvSpPr>
          <p:nvPr>
            <p:ph type="dt" sz="half" idx="10"/>
          </p:nvPr>
        </p:nvSpPr>
        <p:spPr/>
        <p:txBody>
          <a:bodyPr/>
          <a:lstStyle/>
          <a:p>
            <a:fld id="{F640C243-03BA-4FAC-A841-4B62364592DB}" type="datetimeFigureOut">
              <a:rPr lang="en-IN" smtClean="0"/>
              <a:t>26-08-2026</a:t>
            </a:fld>
            <a:endParaRPr lang="en-IN"/>
          </a:p>
        </p:txBody>
      </p:sp>
      <p:sp>
        <p:nvSpPr>
          <p:cNvPr id="6" name="Footer Placeholder 5">
            <a:extLst>
              <a:ext uri="{FF2B5EF4-FFF2-40B4-BE49-F238E27FC236}">
                <a16:creationId xmlns:a16="http://schemas.microsoft.com/office/drawing/2014/main" id="{05FC640F-54C1-4FDE-A18D-29FDF0A1AF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657F89-9005-49B8-AAA8-C3FFA8EA8122}"/>
              </a:ext>
            </a:extLst>
          </p:cNvPr>
          <p:cNvSpPr>
            <a:spLocks noGrp="1"/>
          </p:cNvSpPr>
          <p:nvPr>
            <p:ph type="sldNum" sz="quarter" idx="12"/>
          </p:nvPr>
        </p:nvSpPr>
        <p:spPr/>
        <p:txBody>
          <a:bodyPr/>
          <a:lstStyle/>
          <a:p>
            <a:fld id="{4E17D85E-FAF1-4741-AC2D-8C70B1A739A7}" type="slidenum">
              <a:rPr lang="en-IN" smtClean="0"/>
              <a:t>‹#›</a:t>
            </a:fld>
            <a:endParaRPr lang="en-IN"/>
          </a:p>
        </p:txBody>
      </p:sp>
    </p:spTree>
    <p:extLst>
      <p:ext uri="{BB962C8B-B14F-4D97-AF65-F5344CB8AC3E}">
        <p14:creationId xmlns:p14="http://schemas.microsoft.com/office/powerpoint/2010/main" val="2804740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F831B-5C69-4EF8-9E3C-1A4A35B9CCB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355FB1D-1378-498D-98C6-1807246BF3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4161BAE-2704-445F-9261-27BE2D7046A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DAFABD3-2134-4947-8FF5-0F2214B786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4983BFD-462F-41DF-84ED-BF3641AE9AF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F9C617C-4D48-498D-87B4-F1D9827C32A2}"/>
              </a:ext>
            </a:extLst>
          </p:cNvPr>
          <p:cNvSpPr>
            <a:spLocks noGrp="1"/>
          </p:cNvSpPr>
          <p:nvPr>
            <p:ph type="dt" sz="half" idx="10"/>
          </p:nvPr>
        </p:nvSpPr>
        <p:spPr/>
        <p:txBody>
          <a:bodyPr/>
          <a:lstStyle/>
          <a:p>
            <a:fld id="{F640C243-03BA-4FAC-A841-4B62364592DB}" type="datetimeFigureOut">
              <a:rPr lang="en-IN" smtClean="0"/>
              <a:t>26-08-2026</a:t>
            </a:fld>
            <a:endParaRPr lang="en-IN"/>
          </a:p>
        </p:txBody>
      </p:sp>
      <p:sp>
        <p:nvSpPr>
          <p:cNvPr id="8" name="Footer Placeholder 7">
            <a:extLst>
              <a:ext uri="{FF2B5EF4-FFF2-40B4-BE49-F238E27FC236}">
                <a16:creationId xmlns:a16="http://schemas.microsoft.com/office/drawing/2014/main" id="{7B53A0C3-937B-47A5-85AA-94F29073D2E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E6D31E5-B356-4007-BE44-5154352E9DE3}"/>
              </a:ext>
            </a:extLst>
          </p:cNvPr>
          <p:cNvSpPr>
            <a:spLocks noGrp="1"/>
          </p:cNvSpPr>
          <p:nvPr>
            <p:ph type="sldNum" sz="quarter" idx="12"/>
          </p:nvPr>
        </p:nvSpPr>
        <p:spPr/>
        <p:txBody>
          <a:bodyPr/>
          <a:lstStyle/>
          <a:p>
            <a:fld id="{4E17D85E-FAF1-4741-AC2D-8C70B1A739A7}" type="slidenum">
              <a:rPr lang="en-IN" smtClean="0"/>
              <a:t>‹#›</a:t>
            </a:fld>
            <a:endParaRPr lang="en-IN"/>
          </a:p>
        </p:txBody>
      </p:sp>
    </p:spTree>
    <p:extLst>
      <p:ext uri="{BB962C8B-B14F-4D97-AF65-F5344CB8AC3E}">
        <p14:creationId xmlns:p14="http://schemas.microsoft.com/office/powerpoint/2010/main" val="2521116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65114-AC5F-4A5A-A633-0CB9E70AFA5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1E69E5F-14CF-4754-9AF3-7546A6B132DE}"/>
              </a:ext>
            </a:extLst>
          </p:cNvPr>
          <p:cNvSpPr>
            <a:spLocks noGrp="1"/>
          </p:cNvSpPr>
          <p:nvPr>
            <p:ph type="dt" sz="half" idx="10"/>
          </p:nvPr>
        </p:nvSpPr>
        <p:spPr/>
        <p:txBody>
          <a:bodyPr/>
          <a:lstStyle/>
          <a:p>
            <a:fld id="{F640C243-03BA-4FAC-A841-4B62364592DB}" type="datetimeFigureOut">
              <a:rPr lang="en-IN" smtClean="0"/>
              <a:t>26-08-2026</a:t>
            </a:fld>
            <a:endParaRPr lang="en-IN"/>
          </a:p>
        </p:txBody>
      </p:sp>
      <p:sp>
        <p:nvSpPr>
          <p:cNvPr id="4" name="Footer Placeholder 3">
            <a:extLst>
              <a:ext uri="{FF2B5EF4-FFF2-40B4-BE49-F238E27FC236}">
                <a16:creationId xmlns:a16="http://schemas.microsoft.com/office/drawing/2014/main" id="{2A8893F0-7BCF-4A9B-81A7-51F3FBC3D0A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9F6C84F-699B-400F-B804-A3A1E1E474D8}"/>
              </a:ext>
            </a:extLst>
          </p:cNvPr>
          <p:cNvSpPr>
            <a:spLocks noGrp="1"/>
          </p:cNvSpPr>
          <p:nvPr>
            <p:ph type="sldNum" sz="quarter" idx="12"/>
          </p:nvPr>
        </p:nvSpPr>
        <p:spPr/>
        <p:txBody>
          <a:bodyPr/>
          <a:lstStyle/>
          <a:p>
            <a:fld id="{4E17D85E-FAF1-4741-AC2D-8C70B1A739A7}" type="slidenum">
              <a:rPr lang="en-IN" smtClean="0"/>
              <a:t>‹#›</a:t>
            </a:fld>
            <a:endParaRPr lang="en-IN"/>
          </a:p>
        </p:txBody>
      </p:sp>
    </p:spTree>
    <p:extLst>
      <p:ext uri="{BB962C8B-B14F-4D97-AF65-F5344CB8AC3E}">
        <p14:creationId xmlns:p14="http://schemas.microsoft.com/office/powerpoint/2010/main" val="1065841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3A053F-F273-47A8-A2DB-CF56B65B9D46}"/>
              </a:ext>
            </a:extLst>
          </p:cNvPr>
          <p:cNvSpPr>
            <a:spLocks noGrp="1"/>
          </p:cNvSpPr>
          <p:nvPr>
            <p:ph type="dt" sz="half" idx="10"/>
          </p:nvPr>
        </p:nvSpPr>
        <p:spPr/>
        <p:txBody>
          <a:bodyPr/>
          <a:lstStyle/>
          <a:p>
            <a:fld id="{F640C243-03BA-4FAC-A841-4B62364592DB}" type="datetimeFigureOut">
              <a:rPr lang="en-IN" smtClean="0"/>
              <a:t>26-08-2026</a:t>
            </a:fld>
            <a:endParaRPr lang="en-IN"/>
          </a:p>
        </p:txBody>
      </p:sp>
      <p:sp>
        <p:nvSpPr>
          <p:cNvPr id="3" name="Footer Placeholder 2">
            <a:extLst>
              <a:ext uri="{FF2B5EF4-FFF2-40B4-BE49-F238E27FC236}">
                <a16:creationId xmlns:a16="http://schemas.microsoft.com/office/drawing/2014/main" id="{2112CF72-DA0A-488A-A852-17D10E534FD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93E361F-F7BF-4B6E-A6F2-446041FFA337}"/>
              </a:ext>
            </a:extLst>
          </p:cNvPr>
          <p:cNvSpPr>
            <a:spLocks noGrp="1"/>
          </p:cNvSpPr>
          <p:nvPr>
            <p:ph type="sldNum" sz="quarter" idx="12"/>
          </p:nvPr>
        </p:nvSpPr>
        <p:spPr/>
        <p:txBody>
          <a:bodyPr/>
          <a:lstStyle/>
          <a:p>
            <a:fld id="{4E17D85E-FAF1-4741-AC2D-8C70B1A739A7}" type="slidenum">
              <a:rPr lang="en-IN" smtClean="0"/>
              <a:t>‹#›</a:t>
            </a:fld>
            <a:endParaRPr lang="en-IN"/>
          </a:p>
        </p:txBody>
      </p:sp>
    </p:spTree>
    <p:extLst>
      <p:ext uri="{BB962C8B-B14F-4D97-AF65-F5344CB8AC3E}">
        <p14:creationId xmlns:p14="http://schemas.microsoft.com/office/powerpoint/2010/main" val="3246822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7109D-34CD-46F3-8D73-10BF058223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D127E2E-7EC8-43C4-B98C-F0467158E8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962635D-B3E0-4A44-B2AB-0D987DE2BC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063F3E7-6648-4FAD-B6A9-7C87195E8299}"/>
              </a:ext>
            </a:extLst>
          </p:cNvPr>
          <p:cNvSpPr>
            <a:spLocks noGrp="1"/>
          </p:cNvSpPr>
          <p:nvPr>
            <p:ph type="dt" sz="half" idx="10"/>
          </p:nvPr>
        </p:nvSpPr>
        <p:spPr/>
        <p:txBody>
          <a:bodyPr/>
          <a:lstStyle/>
          <a:p>
            <a:fld id="{F640C243-03BA-4FAC-A841-4B62364592DB}" type="datetimeFigureOut">
              <a:rPr lang="en-IN" smtClean="0"/>
              <a:t>26-08-2026</a:t>
            </a:fld>
            <a:endParaRPr lang="en-IN"/>
          </a:p>
        </p:txBody>
      </p:sp>
      <p:sp>
        <p:nvSpPr>
          <p:cNvPr id="6" name="Footer Placeholder 5">
            <a:extLst>
              <a:ext uri="{FF2B5EF4-FFF2-40B4-BE49-F238E27FC236}">
                <a16:creationId xmlns:a16="http://schemas.microsoft.com/office/drawing/2014/main" id="{A36ED865-E508-4332-9EB5-9618980140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388FDB4-8031-4ADC-88D7-F0EE3FFA6806}"/>
              </a:ext>
            </a:extLst>
          </p:cNvPr>
          <p:cNvSpPr>
            <a:spLocks noGrp="1"/>
          </p:cNvSpPr>
          <p:nvPr>
            <p:ph type="sldNum" sz="quarter" idx="12"/>
          </p:nvPr>
        </p:nvSpPr>
        <p:spPr/>
        <p:txBody>
          <a:bodyPr/>
          <a:lstStyle/>
          <a:p>
            <a:fld id="{4E17D85E-FAF1-4741-AC2D-8C70B1A739A7}" type="slidenum">
              <a:rPr lang="en-IN" smtClean="0"/>
              <a:t>‹#›</a:t>
            </a:fld>
            <a:endParaRPr lang="en-IN"/>
          </a:p>
        </p:txBody>
      </p:sp>
    </p:spTree>
    <p:extLst>
      <p:ext uri="{BB962C8B-B14F-4D97-AF65-F5344CB8AC3E}">
        <p14:creationId xmlns:p14="http://schemas.microsoft.com/office/powerpoint/2010/main" val="463330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8FE04-F4B8-47E2-9B05-1C5EB91A08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AEC1076-B92B-4A03-B533-7E16FD75D0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42C722B-BEA7-44AB-A14F-7FED2A3C15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2AAFDC2-C38E-4BB2-85DE-7C7BB2A7C809}"/>
              </a:ext>
            </a:extLst>
          </p:cNvPr>
          <p:cNvSpPr>
            <a:spLocks noGrp="1"/>
          </p:cNvSpPr>
          <p:nvPr>
            <p:ph type="dt" sz="half" idx="10"/>
          </p:nvPr>
        </p:nvSpPr>
        <p:spPr/>
        <p:txBody>
          <a:bodyPr/>
          <a:lstStyle/>
          <a:p>
            <a:fld id="{F640C243-03BA-4FAC-A841-4B62364592DB}" type="datetimeFigureOut">
              <a:rPr lang="en-IN" smtClean="0"/>
              <a:t>26-08-2026</a:t>
            </a:fld>
            <a:endParaRPr lang="en-IN"/>
          </a:p>
        </p:txBody>
      </p:sp>
      <p:sp>
        <p:nvSpPr>
          <p:cNvPr id="6" name="Footer Placeholder 5">
            <a:extLst>
              <a:ext uri="{FF2B5EF4-FFF2-40B4-BE49-F238E27FC236}">
                <a16:creationId xmlns:a16="http://schemas.microsoft.com/office/drawing/2014/main" id="{32FFA472-FFCE-48D4-9123-4F9DBF2FC1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8B20DF-252B-4A81-95CA-2784A1801F0D}"/>
              </a:ext>
            </a:extLst>
          </p:cNvPr>
          <p:cNvSpPr>
            <a:spLocks noGrp="1"/>
          </p:cNvSpPr>
          <p:nvPr>
            <p:ph type="sldNum" sz="quarter" idx="12"/>
          </p:nvPr>
        </p:nvSpPr>
        <p:spPr/>
        <p:txBody>
          <a:bodyPr/>
          <a:lstStyle/>
          <a:p>
            <a:fld id="{4E17D85E-FAF1-4741-AC2D-8C70B1A739A7}" type="slidenum">
              <a:rPr lang="en-IN" smtClean="0"/>
              <a:t>‹#›</a:t>
            </a:fld>
            <a:endParaRPr lang="en-IN"/>
          </a:p>
        </p:txBody>
      </p:sp>
    </p:spTree>
    <p:extLst>
      <p:ext uri="{BB962C8B-B14F-4D97-AF65-F5344CB8AC3E}">
        <p14:creationId xmlns:p14="http://schemas.microsoft.com/office/powerpoint/2010/main" val="2407568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C149-E9F9-42C3-9B6F-7612775CC29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72C813A-1341-4655-B4F1-82FE9AE7AD5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29D81E-7F10-4B63-88E3-E968D30522CE}"/>
              </a:ext>
            </a:extLst>
          </p:cNvPr>
          <p:cNvSpPr>
            <a:spLocks noGrp="1"/>
          </p:cNvSpPr>
          <p:nvPr>
            <p:ph type="dt" sz="half" idx="10"/>
          </p:nvPr>
        </p:nvSpPr>
        <p:spPr/>
        <p:txBody>
          <a:bodyPr/>
          <a:lstStyle/>
          <a:p>
            <a:fld id="{F640C243-03BA-4FAC-A841-4B62364592DB}" type="datetimeFigureOut">
              <a:rPr lang="en-IN" smtClean="0"/>
              <a:t>26-08-2026</a:t>
            </a:fld>
            <a:endParaRPr lang="en-IN"/>
          </a:p>
        </p:txBody>
      </p:sp>
      <p:sp>
        <p:nvSpPr>
          <p:cNvPr id="5" name="Footer Placeholder 4">
            <a:extLst>
              <a:ext uri="{FF2B5EF4-FFF2-40B4-BE49-F238E27FC236}">
                <a16:creationId xmlns:a16="http://schemas.microsoft.com/office/drawing/2014/main" id="{B9CEF48E-6369-49B0-B3B7-7889F14521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3CB41C-6E89-482E-A871-06BBCCEE4BE1}"/>
              </a:ext>
            </a:extLst>
          </p:cNvPr>
          <p:cNvSpPr>
            <a:spLocks noGrp="1"/>
          </p:cNvSpPr>
          <p:nvPr>
            <p:ph type="sldNum" sz="quarter" idx="12"/>
          </p:nvPr>
        </p:nvSpPr>
        <p:spPr/>
        <p:txBody>
          <a:bodyPr/>
          <a:lstStyle/>
          <a:p>
            <a:fld id="{4E17D85E-FAF1-4741-AC2D-8C70B1A739A7}" type="slidenum">
              <a:rPr lang="en-IN" smtClean="0"/>
              <a:t>‹#›</a:t>
            </a:fld>
            <a:endParaRPr lang="en-IN"/>
          </a:p>
        </p:txBody>
      </p:sp>
    </p:spTree>
    <p:extLst>
      <p:ext uri="{BB962C8B-B14F-4D97-AF65-F5344CB8AC3E}">
        <p14:creationId xmlns:p14="http://schemas.microsoft.com/office/powerpoint/2010/main" val="3666761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C65688-7FBA-466F-9755-BEC131381D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540AC6-34F6-46FA-9CF1-5698E9347F9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740289-5639-4DA9-A313-D3602B20AB68}"/>
              </a:ext>
            </a:extLst>
          </p:cNvPr>
          <p:cNvSpPr>
            <a:spLocks noGrp="1"/>
          </p:cNvSpPr>
          <p:nvPr>
            <p:ph type="dt" sz="half" idx="10"/>
          </p:nvPr>
        </p:nvSpPr>
        <p:spPr/>
        <p:txBody>
          <a:bodyPr/>
          <a:lstStyle/>
          <a:p>
            <a:fld id="{F640C243-03BA-4FAC-A841-4B62364592DB}" type="datetimeFigureOut">
              <a:rPr lang="en-IN" smtClean="0"/>
              <a:t>26-08-2026</a:t>
            </a:fld>
            <a:endParaRPr lang="en-IN"/>
          </a:p>
        </p:txBody>
      </p:sp>
      <p:sp>
        <p:nvSpPr>
          <p:cNvPr id="5" name="Footer Placeholder 4">
            <a:extLst>
              <a:ext uri="{FF2B5EF4-FFF2-40B4-BE49-F238E27FC236}">
                <a16:creationId xmlns:a16="http://schemas.microsoft.com/office/drawing/2014/main" id="{A1C3CA10-06E7-49D4-B79A-F77D454400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826FB2-FE48-464C-904B-023BF667E11C}"/>
              </a:ext>
            </a:extLst>
          </p:cNvPr>
          <p:cNvSpPr>
            <a:spLocks noGrp="1"/>
          </p:cNvSpPr>
          <p:nvPr>
            <p:ph type="sldNum" sz="quarter" idx="12"/>
          </p:nvPr>
        </p:nvSpPr>
        <p:spPr/>
        <p:txBody>
          <a:bodyPr/>
          <a:lstStyle/>
          <a:p>
            <a:fld id="{4E17D85E-FAF1-4741-AC2D-8C70B1A739A7}" type="slidenum">
              <a:rPr lang="en-IN" smtClean="0"/>
              <a:t>‹#›</a:t>
            </a:fld>
            <a:endParaRPr lang="en-IN"/>
          </a:p>
        </p:txBody>
      </p:sp>
    </p:spTree>
    <p:extLst>
      <p:ext uri="{BB962C8B-B14F-4D97-AF65-F5344CB8AC3E}">
        <p14:creationId xmlns:p14="http://schemas.microsoft.com/office/powerpoint/2010/main" val="2999492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66A9CE-EC4C-4AC4-9CFE-77B4818F3C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E67CA7C-176F-4E03-86E5-8D22A7E196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A4DA96-7A47-4D94-B534-87A666F364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40C243-03BA-4FAC-A841-4B62364592DB}" type="datetimeFigureOut">
              <a:rPr lang="en-IN" smtClean="0"/>
              <a:t>26-08-2026</a:t>
            </a:fld>
            <a:endParaRPr lang="en-IN"/>
          </a:p>
        </p:txBody>
      </p:sp>
      <p:sp>
        <p:nvSpPr>
          <p:cNvPr id="5" name="Footer Placeholder 4">
            <a:extLst>
              <a:ext uri="{FF2B5EF4-FFF2-40B4-BE49-F238E27FC236}">
                <a16:creationId xmlns:a16="http://schemas.microsoft.com/office/drawing/2014/main" id="{CE83661C-E1E0-49B2-8A7D-E9FC1C24CD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EC04CD2-F4D4-4227-A77E-920B58FBDC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17D85E-FAF1-4741-AC2D-8C70B1A739A7}" type="slidenum">
              <a:rPr lang="en-IN" smtClean="0"/>
              <a:t>‹#›</a:t>
            </a:fld>
            <a:endParaRPr lang="en-IN"/>
          </a:p>
        </p:txBody>
      </p:sp>
    </p:spTree>
    <p:extLst>
      <p:ext uri="{BB962C8B-B14F-4D97-AF65-F5344CB8AC3E}">
        <p14:creationId xmlns:p14="http://schemas.microsoft.com/office/powerpoint/2010/main" val="31870964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12B4B-818E-4187-987C-FDACBB7708FB}"/>
              </a:ext>
            </a:extLst>
          </p:cNvPr>
          <p:cNvSpPr>
            <a:spLocks noGrp="1"/>
          </p:cNvSpPr>
          <p:nvPr>
            <p:ph type="ctrTitle"/>
          </p:nvPr>
        </p:nvSpPr>
        <p:spPr>
          <a:xfrm>
            <a:off x="1313411" y="2364622"/>
            <a:ext cx="9584575" cy="725198"/>
          </a:xfrm>
        </p:spPr>
        <p:txBody>
          <a:bodyPr>
            <a:normAutofit/>
          </a:bodyPr>
          <a:lstStyle/>
          <a:p>
            <a:r>
              <a:rPr lang="en-IN" sz="4000" dirty="0">
                <a:latin typeface="Times New Roman" panose="02020603050405020304" pitchFamily="18" charset="0"/>
                <a:cs typeface="Times New Roman" panose="02020603050405020304" pitchFamily="18" charset="0"/>
              </a:rPr>
              <a:t>AGENTIC  PRIVACY CONTROL SYSTEM</a:t>
            </a:r>
          </a:p>
        </p:txBody>
      </p:sp>
      <p:sp>
        <p:nvSpPr>
          <p:cNvPr id="3" name="Subtitle 2">
            <a:extLst>
              <a:ext uri="{FF2B5EF4-FFF2-40B4-BE49-F238E27FC236}">
                <a16:creationId xmlns:a16="http://schemas.microsoft.com/office/drawing/2014/main" id="{7C28F7C5-766C-45E3-A559-E74949096515}"/>
              </a:ext>
            </a:extLst>
          </p:cNvPr>
          <p:cNvSpPr>
            <a:spLocks noGrp="1"/>
          </p:cNvSpPr>
          <p:nvPr>
            <p:ph type="subTitle" idx="1"/>
          </p:nvPr>
        </p:nvSpPr>
        <p:spPr>
          <a:xfrm>
            <a:off x="2914630" y="3296193"/>
            <a:ext cx="5922817" cy="787082"/>
          </a:xfrm>
        </p:spPr>
        <p:txBody>
          <a:bodyPr>
            <a:normAutofit fontScale="92500" lnSpcReduction="10000"/>
          </a:bodyPr>
          <a:lstStyle/>
          <a:p>
            <a:r>
              <a:rPr lang="en-IN" dirty="0">
                <a:latin typeface="Times New Roman" panose="02020603050405020304" pitchFamily="18" charset="0"/>
                <a:cs typeface="Times New Roman" panose="02020603050405020304" pitchFamily="18" charset="0"/>
              </a:rPr>
              <a:t>DISSERTATION WORK REVIEW – 1</a:t>
            </a:r>
          </a:p>
          <a:p>
            <a:r>
              <a:rPr lang="en-IN" dirty="0">
                <a:latin typeface="Times New Roman" panose="02020603050405020304" pitchFamily="18" charset="0"/>
                <a:cs typeface="Times New Roman" panose="02020603050405020304" pitchFamily="18" charset="0"/>
              </a:rPr>
              <a:t>AUGUST-2026</a:t>
            </a:r>
          </a:p>
        </p:txBody>
      </p:sp>
      <p:sp>
        <p:nvSpPr>
          <p:cNvPr id="4" name="Rectangle 3">
            <a:extLst>
              <a:ext uri="{FF2B5EF4-FFF2-40B4-BE49-F238E27FC236}">
                <a16:creationId xmlns:a16="http://schemas.microsoft.com/office/drawing/2014/main" id="{A5F6BC66-F7B8-42D1-A519-EF51E5A2D871}"/>
              </a:ext>
            </a:extLst>
          </p:cNvPr>
          <p:cNvSpPr/>
          <p:nvPr/>
        </p:nvSpPr>
        <p:spPr>
          <a:xfrm>
            <a:off x="349136" y="440575"/>
            <a:ext cx="11513126" cy="609322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0CDFC36-8FCD-4AB2-9000-D1948A2E32B6}"/>
              </a:ext>
            </a:extLst>
          </p:cNvPr>
          <p:cNvSpPr txBox="1"/>
          <p:nvPr/>
        </p:nvSpPr>
        <p:spPr>
          <a:xfrm>
            <a:off x="814647" y="4367855"/>
            <a:ext cx="4422371" cy="1337546"/>
          </a:xfrm>
          <a:prstGeom prst="rect">
            <a:avLst/>
          </a:prstGeom>
          <a:noFill/>
        </p:spPr>
        <p:txBody>
          <a:bodyPr wrap="square" rtlCol="0">
            <a:spAutoFit/>
          </a:bodyPr>
          <a:lstStyle/>
          <a:p>
            <a:r>
              <a:rPr lang="en-IN" u="sng" dirty="0">
                <a:latin typeface="Times New Roman" panose="02020603050405020304" pitchFamily="18" charset="0"/>
                <a:cs typeface="Times New Roman" panose="02020603050405020304" pitchFamily="18" charset="0"/>
              </a:rPr>
              <a:t>GUIDE:</a:t>
            </a:r>
          </a:p>
          <a:p>
            <a:pPr>
              <a:lnSpc>
                <a:spcPct val="120000"/>
              </a:lnSpc>
            </a:pPr>
            <a:r>
              <a:rPr lang="en-US" dirty="0">
                <a:solidFill>
                  <a:srgbClr val="000000"/>
                </a:solidFill>
                <a:latin typeface="Times New Roman" panose="02020603050405020304" pitchFamily="18" charset="0"/>
                <a:ea typeface="Calibri" pitchFamily="34" charset="-122"/>
                <a:cs typeface="Times New Roman" panose="02020603050405020304" pitchFamily="18" charset="0"/>
              </a:rPr>
              <a:t>Dr. I. Lakshmi </a:t>
            </a:r>
            <a:r>
              <a:rPr lang="en-US" dirty="0" err="1">
                <a:solidFill>
                  <a:srgbClr val="000000"/>
                </a:solidFill>
                <a:latin typeface="Times New Roman" panose="02020603050405020304" pitchFamily="18" charset="0"/>
                <a:ea typeface="Calibri" pitchFamily="34" charset="-122"/>
                <a:cs typeface="Times New Roman" panose="02020603050405020304" pitchFamily="18" charset="0"/>
              </a:rPr>
              <a:t>Manikyamba</a:t>
            </a:r>
            <a:endParaRPr lang="en-US" dirty="0">
              <a:latin typeface="Times New Roman" panose="02020603050405020304" pitchFamily="18" charset="0"/>
              <a:cs typeface="Times New Roman" panose="02020603050405020304" pitchFamily="18" charset="0"/>
            </a:endParaRPr>
          </a:p>
          <a:p>
            <a:pPr>
              <a:lnSpc>
                <a:spcPct val="120000"/>
              </a:lnSpc>
            </a:pPr>
            <a:r>
              <a:rPr lang="en-US" dirty="0">
                <a:solidFill>
                  <a:srgbClr val="000000"/>
                </a:solidFill>
                <a:latin typeface="Times New Roman" panose="02020603050405020304" pitchFamily="18" charset="0"/>
                <a:ea typeface="Calibri" pitchFamily="34" charset="-122"/>
                <a:cs typeface="Times New Roman" panose="02020603050405020304" pitchFamily="18" charset="0"/>
              </a:rPr>
              <a:t>Professor, Department of CSE</a:t>
            </a:r>
          </a:p>
          <a:p>
            <a:pPr>
              <a:lnSpc>
                <a:spcPct val="120000"/>
              </a:lnSpc>
            </a:pPr>
            <a:r>
              <a:rPr lang="en-US" dirty="0">
                <a:solidFill>
                  <a:srgbClr val="000000"/>
                </a:solidFill>
                <a:latin typeface="Times New Roman" panose="02020603050405020304" pitchFamily="18" charset="0"/>
                <a:ea typeface="Calibri" pitchFamily="34" charset="-122"/>
                <a:cs typeface="Times New Roman" panose="02020603050405020304" pitchFamily="18" charset="0"/>
              </a:rPr>
              <a:t>JNTUH UCESTH</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AF6705C-23BF-4577-AECA-5E32BF822CFF}"/>
              </a:ext>
            </a:extLst>
          </p:cNvPr>
          <p:cNvSpPr txBox="1"/>
          <p:nvPr/>
        </p:nvSpPr>
        <p:spPr>
          <a:xfrm>
            <a:off x="8104909" y="4367855"/>
            <a:ext cx="3350029" cy="1200329"/>
          </a:xfrm>
          <a:prstGeom prst="rect">
            <a:avLst/>
          </a:prstGeom>
          <a:noFill/>
        </p:spPr>
        <p:txBody>
          <a:bodyPr wrap="square" rtlCol="0">
            <a:spAutoFit/>
          </a:bodyPr>
          <a:lstStyle/>
          <a:p>
            <a:r>
              <a:rPr lang="en-IN" u="sng" dirty="0">
                <a:latin typeface="Times New Roman" panose="02020603050405020304" pitchFamily="18" charset="0"/>
                <a:cs typeface="Times New Roman" panose="02020603050405020304" pitchFamily="18" charset="0"/>
              </a:rPr>
              <a:t>PRESENTED BY</a:t>
            </a:r>
            <a:r>
              <a:rPr lang="en-IN" dirty="0">
                <a:latin typeface="Times New Roman" panose="02020603050405020304" pitchFamily="18" charset="0"/>
                <a:cs typeface="Times New Roman" panose="02020603050405020304" pitchFamily="18" charset="0"/>
              </a:rPr>
              <a:t>:</a:t>
            </a:r>
          </a:p>
          <a:p>
            <a:r>
              <a:rPr lang="en-IN" dirty="0" err="1">
                <a:latin typeface="Times New Roman" panose="02020603050405020304" pitchFamily="18" charset="0"/>
                <a:cs typeface="Times New Roman" panose="02020603050405020304" pitchFamily="18" charset="0"/>
              </a:rPr>
              <a:t>Billa</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Anshu</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22011P0506</a:t>
            </a:r>
          </a:p>
          <a:p>
            <a:r>
              <a:rPr lang="en-IN" dirty="0">
                <a:latin typeface="Times New Roman" panose="02020603050405020304" pitchFamily="18" charset="0"/>
                <a:cs typeface="Times New Roman" panose="02020603050405020304" pitchFamily="18" charset="0"/>
              </a:rPr>
              <a:t>CSE IDP 5</a:t>
            </a:r>
            <a:r>
              <a:rPr lang="en-IN" baseline="30000" dirty="0">
                <a:latin typeface="Times New Roman" panose="02020603050405020304" pitchFamily="18" charset="0"/>
                <a:cs typeface="Times New Roman" panose="02020603050405020304" pitchFamily="18" charset="0"/>
              </a:rPr>
              <a:t>th</a:t>
            </a:r>
            <a:r>
              <a:rPr lang="en-IN" dirty="0">
                <a:latin typeface="Times New Roman" panose="02020603050405020304" pitchFamily="18" charset="0"/>
                <a:cs typeface="Times New Roman" panose="02020603050405020304" pitchFamily="18" charset="0"/>
              </a:rPr>
              <a:t> YEAR</a:t>
            </a:r>
          </a:p>
        </p:txBody>
      </p:sp>
      <p:sp>
        <p:nvSpPr>
          <p:cNvPr id="7" name="TextBox 6">
            <a:extLst>
              <a:ext uri="{FF2B5EF4-FFF2-40B4-BE49-F238E27FC236}">
                <a16:creationId xmlns:a16="http://schemas.microsoft.com/office/drawing/2014/main" id="{0DBF5C63-C348-68FC-025B-9F8ACB5A7B49}"/>
              </a:ext>
            </a:extLst>
          </p:cNvPr>
          <p:cNvSpPr txBox="1"/>
          <p:nvPr/>
        </p:nvSpPr>
        <p:spPr>
          <a:xfrm>
            <a:off x="2239347" y="845664"/>
            <a:ext cx="8201608" cy="2031325"/>
          </a:xfrm>
          <a:prstGeom prst="rect">
            <a:avLst/>
          </a:prstGeom>
          <a:noFill/>
        </p:spPr>
        <p:txBody>
          <a:bodyPr wrap="square" rtlCol="0">
            <a:spAutoFit/>
          </a:bodyPr>
          <a:lstStyle/>
          <a:p>
            <a:pPr algn="ctr"/>
            <a:r>
              <a:rPr lang="en-US" dirty="0">
                <a:latin typeface="Times New Roman"/>
                <a:cs typeface="Times New Roman"/>
              </a:rPr>
              <a:t>DEPARTMENT OF COMPUTER SCIENCE</a:t>
            </a:r>
          </a:p>
          <a:p>
            <a:pPr algn="ctr"/>
            <a:r>
              <a:rPr lang="en-US" dirty="0">
                <a:latin typeface="Times New Roman"/>
                <a:cs typeface="Times New Roman"/>
              </a:rPr>
              <a:t>JAWAHARLAL NEHRU TECHNOLOGICAL UNIVERSITY HYDERABAD</a:t>
            </a:r>
            <a:br>
              <a:rPr lang="en-US" dirty="0">
                <a:latin typeface="Times New Roman"/>
                <a:cs typeface="Times New Roman"/>
              </a:rPr>
            </a:br>
            <a:r>
              <a:rPr lang="en-US" dirty="0">
                <a:latin typeface="Times New Roman"/>
                <a:cs typeface="Times New Roman"/>
              </a:rPr>
              <a:t>UNIVERSITY COLLEGE OF ENGINEERING SCIENCE AND TECHNOLOGY</a:t>
            </a:r>
          </a:p>
          <a:p>
            <a:pPr algn="ctr"/>
            <a:r>
              <a:rPr lang="en-IN" dirty="0">
                <a:latin typeface="Times New Roman" panose="02020603050405020304" pitchFamily="18" charset="0"/>
                <a:cs typeface="Times New Roman" panose="02020603050405020304" pitchFamily="18" charset="0"/>
              </a:rPr>
              <a:t>Kukatpally, Hyderabad </a:t>
            </a:r>
            <a:endParaRPr lang="en-US" dirty="0">
              <a:latin typeface="Times New Roman" panose="02020603050405020304" pitchFamily="18" charset="0"/>
              <a:cs typeface="Times New Roman" panose="02020603050405020304" pitchFamily="18" charset="0"/>
            </a:endParaRPr>
          </a:p>
          <a:p>
            <a:pPr algn="ctr"/>
            <a:br>
              <a:rPr lang="en-US" dirty="0">
                <a:latin typeface="Times New Roman"/>
                <a:cs typeface="Times New Roman"/>
              </a:rPr>
            </a:br>
            <a:br>
              <a:rPr lang="en-US" dirty="0">
                <a:latin typeface="Times New Roman"/>
                <a:cs typeface="Times New Roman"/>
              </a:rPr>
            </a:br>
            <a:endParaRPr lang="en-IN" dirty="0"/>
          </a:p>
        </p:txBody>
      </p:sp>
      <p:pic>
        <p:nvPicPr>
          <p:cNvPr id="9" name="Picture 8" descr="Jntuh University _ Jawaharlal Nehru Technological University Hyderabad ...">
            <a:extLst>
              <a:ext uri="{FF2B5EF4-FFF2-40B4-BE49-F238E27FC236}">
                <a16:creationId xmlns:a16="http://schemas.microsoft.com/office/drawing/2014/main" id="{1C89BB0C-74F4-20E7-7D41-310F7E7C1CC9}"/>
              </a:ext>
            </a:extLst>
          </p:cNvPr>
          <p:cNvPicPr>
            <a:picLocks noChangeAspect="1"/>
          </p:cNvPicPr>
          <p:nvPr/>
        </p:nvPicPr>
        <p:blipFill>
          <a:blip r:embed="rId2"/>
          <a:stretch>
            <a:fillRect/>
          </a:stretch>
        </p:blipFill>
        <p:spPr>
          <a:xfrm>
            <a:off x="314470" y="568456"/>
            <a:ext cx="1959544" cy="1589793"/>
          </a:xfrm>
          <a:prstGeom prst="rect">
            <a:avLst/>
          </a:prstGeom>
        </p:spPr>
      </p:pic>
    </p:spTree>
    <p:extLst>
      <p:ext uri="{BB962C8B-B14F-4D97-AF65-F5344CB8AC3E}">
        <p14:creationId xmlns:p14="http://schemas.microsoft.com/office/powerpoint/2010/main" val="747664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9BC5A-2189-4720-BA06-AA886FEAB80D}"/>
              </a:ext>
            </a:extLst>
          </p:cNvPr>
          <p:cNvSpPr>
            <a:spLocks noGrp="1"/>
          </p:cNvSpPr>
          <p:nvPr>
            <p:ph type="title"/>
          </p:nvPr>
        </p:nvSpPr>
        <p:spPr>
          <a:xfrm>
            <a:off x="4175068" y="590204"/>
            <a:ext cx="3509356" cy="840509"/>
          </a:xfrm>
        </p:spPr>
        <p:txBody>
          <a:bodyPr/>
          <a:lstStyle/>
          <a:p>
            <a:r>
              <a:rPr lang="en-IN"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BA82D1DD-6C0F-4652-9390-8D70F918918F}"/>
              </a:ext>
            </a:extLst>
          </p:cNvPr>
          <p:cNvSpPr>
            <a:spLocks noGrp="1"/>
          </p:cNvSpPr>
          <p:nvPr>
            <p:ph idx="1"/>
          </p:nvPr>
        </p:nvSpPr>
        <p:spPr>
          <a:xfrm>
            <a:off x="800395" y="1227636"/>
            <a:ext cx="10823171" cy="4936836"/>
          </a:xfrm>
        </p:spPr>
        <p:txBody>
          <a:bodyPr>
            <a:noAutofit/>
          </a:bodyPr>
          <a:lstStyle/>
          <a:p>
            <a:pPr marL="0" indent="0" algn="just">
              <a:lnSpc>
                <a:spcPct val="100000"/>
              </a:lnSpc>
              <a:buNone/>
            </a:pPr>
            <a:endParaRPr lang="en-US" sz="2400" dirty="0">
              <a:latin typeface="Times New Roman" panose="02020603050405020304" pitchFamily="18" charset="0"/>
              <a:cs typeface="Times New Roman" panose="02020603050405020304" pitchFamily="18" charset="0"/>
            </a:endParaRPr>
          </a:p>
          <a:p>
            <a:pPr algn="just">
              <a:lnSpc>
                <a:spcPct val="100000"/>
              </a:lnSpc>
            </a:pPr>
            <a:r>
              <a:rPr lang="en-US" sz="2400" dirty="0">
                <a:latin typeface="Times New Roman" panose="02020603050405020304" pitchFamily="18" charset="0"/>
                <a:cs typeface="Times New Roman" panose="02020603050405020304" pitchFamily="18" charset="0"/>
              </a:rPr>
              <a:t>Users encounter consent banners on nearly every website but rarely have time to read lengthy privacy policies, leading to reflexive "Accept All" clicks that undermine genuine consent. Existing tools address this only partially: rule-based tools like Consent-O-Matic fail on unknown consent platforms, while policy analyzers like </a:t>
            </a:r>
            <a:r>
              <a:rPr lang="en-US" sz="2400" dirty="0" err="1">
                <a:latin typeface="Times New Roman" panose="02020603050405020304" pitchFamily="18" charset="0"/>
                <a:cs typeface="Times New Roman" panose="02020603050405020304" pitchFamily="18" charset="0"/>
              </a:rPr>
              <a:t>Polisis</a:t>
            </a:r>
            <a:r>
              <a:rPr lang="en-US" sz="2400" dirty="0">
                <a:latin typeface="Times New Roman" panose="02020603050405020304" pitchFamily="18" charset="0"/>
                <a:cs typeface="Times New Roman" panose="02020603050405020304" pitchFamily="18" charset="0"/>
              </a:rPr>
              <a:t> classify text but never act on the user's behalf.</a:t>
            </a:r>
          </a:p>
          <a:p>
            <a:pPr algn="just">
              <a:lnSpc>
                <a:spcPct val="100000"/>
              </a:lnSpc>
            </a:pPr>
            <a:endParaRPr lang="en-US" sz="2400" dirty="0">
              <a:latin typeface="Times New Roman" panose="02020603050405020304" pitchFamily="18" charset="0"/>
              <a:cs typeface="Times New Roman" panose="02020603050405020304" pitchFamily="18" charset="0"/>
            </a:endParaRPr>
          </a:p>
          <a:p>
            <a:pPr algn="just">
              <a:lnSpc>
                <a:spcPct val="100000"/>
              </a:lnSpc>
            </a:pPr>
            <a:r>
              <a:rPr lang="en-US" sz="2400" dirty="0">
                <a:latin typeface="Times New Roman" panose="02020603050405020304" pitchFamily="18" charset="0"/>
                <a:cs typeface="Times New Roman" panose="02020603050405020304" pitchFamily="18" charset="0"/>
              </a:rPr>
              <a:t>This system proposes a hybrid agentic system combining rule-based template matching for known CMPs with LLM-based generalization for unrecognized banners. The system supports three privacy levels, logs every decision with its triggering rule, and escalates uncertain cases to the user—providing a practical, transparent alternative to existing partial solutions.</a:t>
            </a:r>
          </a:p>
          <a:p>
            <a:pPr marL="0" indent="0" algn="just">
              <a:lnSpc>
                <a:spcPct val="100000"/>
              </a:lnSpc>
              <a:buNone/>
            </a:pPr>
            <a:endParaRPr lang="en-US"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49E30A8-FB69-4BC6-A95E-9072BB2ABAEB}"/>
              </a:ext>
            </a:extLst>
          </p:cNvPr>
          <p:cNvSpPr/>
          <p:nvPr/>
        </p:nvSpPr>
        <p:spPr>
          <a:xfrm>
            <a:off x="349136" y="440575"/>
            <a:ext cx="11513126" cy="609322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F8C50C0B-6B20-E148-B5CB-BFAA73A47875}"/>
              </a:ext>
            </a:extLst>
          </p:cNvPr>
          <p:cNvSpPr txBox="1"/>
          <p:nvPr/>
        </p:nvSpPr>
        <p:spPr>
          <a:xfrm>
            <a:off x="5766318" y="6190518"/>
            <a:ext cx="643813" cy="307777"/>
          </a:xfrm>
          <a:prstGeom prst="rect">
            <a:avLst/>
          </a:prstGeom>
          <a:noFill/>
        </p:spPr>
        <p:txBody>
          <a:bodyPr wrap="square" rtlCol="0">
            <a:spAutoFit/>
          </a:bodyPr>
          <a:lstStyle/>
          <a:p>
            <a:r>
              <a:rPr lang="en-US" sz="1400" dirty="0"/>
              <a:t>2</a:t>
            </a:r>
            <a:endParaRPr lang="en-IN" sz="1400" dirty="0"/>
          </a:p>
        </p:txBody>
      </p:sp>
    </p:spTree>
    <p:extLst>
      <p:ext uri="{BB962C8B-B14F-4D97-AF65-F5344CB8AC3E}">
        <p14:creationId xmlns:p14="http://schemas.microsoft.com/office/powerpoint/2010/main" val="1267148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9BC5A-2189-4720-BA06-AA886FEAB80D}"/>
              </a:ext>
            </a:extLst>
          </p:cNvPr>
          <p:cNvSpPr>
            <a:spLocks noGrp="1"/>
          </p:cNvSpPr>
          <p:nvPr>
            <p:ph type="title"/>
          </p:nvPr>
        </p:nvSpPr>
        <p:spPr>
          <a:xfrm>
            <a:off x="3713711" y="828068"/>
            <a:ext cx="4764578" cy="865159"/>
          </a:xfrm>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BA82D1DD-6C0F-4652-9390-8D70F918918F}"/>
              </a:ext>
            </a:extLst>
          </p:cNvPr>
          <p:cNvSpPr>
            <a:spLocks noGrp="1"/>
          </p:cNvSpPr>
          <p:nvPr>
            <p:ph idx="1"/>
          </p:nvPr>
        </p:nvSpPr>
        <p:spPr>
          <a:xfrm>
            <a:off x="772886" y="1922100"/>
            <a:ext cx="10515600" cy="3949212"/>
          </a:xfrm>
        </p:spPr>
        <p:txBody>
          <a:bodyPr>
            <a:normAutofit/>
          </a:bodyPr>
          <a:lstStyle/>
          <a:p>
            <a:pPr algn="just">
              <a:lnSpc>
                <a:spcPct val="100000"/>
              </a:lnSpc>
            </a:pPr>
            <a:endParaRPr lang="en-US" sz="2400" dirty="0">
              <a:latin typeface="Times New Roman" panose="02020603050405020304" pitchFamily="18" charset="0"/>
              <a:cs typeface="Times New Roman" panose="02020603050405020304" pitchFamily="18" charset="0"/>
            </a:endParaRPr>
          </a:p>
          <a:p>
            <a:pPr algn="just">
              <a:lnSpc>
                <a:spcPct val="100000"/>
              </a:lnSpc>
            </a:pPr>
            <a:r>
              <a:rPr lang="en-US" sz="2400" dirty="0">
                <a:latin typeface="Times New Roman" panose="02020603050405020304" pitchFamily="18" charset="0"/>
                <a:cs typeface="Times New Roman" panose="02020603050405020304" pitchFamily="18" charset="0"/>
              </a:rPr>
              <a:t>Consent banners create decision fatigue and interrupt user experience, yet privacy choices carry significant data consequences</a:t>
            </a:r>
          </a:p>
          <a:p>
            <a:pPr algn="just">
              <a:lnSpc>
                <a:spcPct val="100000"/>
              </a:lnSpc>
            </a:pPr>
            <a:r>
              <a:rPr lang="en-US" sz="2400" dirty="0">
                <a:latin typeface="Times New Roman" panose="02020603050405020304" pitchFamily="18" charset="0"/>
                <a:cs typeface="Times New Roman" panose="02020603050405020304" pitchFamily="18" charset="0"/>
              </a:rPr>
              <a:t>This work designs an intelligent assistant that automates consent decisions based on user-defined privacy preferences</a:t>
            </a:r>
          </a:p>
          <a:p>
            <a:pPr algn="just">
              <a:lnSpc>
                <a:spcPct val="100000"/>
              </a:lnSpc>
            </a:pPr>
            <a:r>
              <a:rPr lang="en-US" sz="2400" dirty="0">
                <a:latin typeface="Times New Roman" panose="02020603050405020304" pitchFamily="18" charset="0"/>
                <a:cs typeface="Times New Roman" panose="02020603050405020304" pitchFamily="18" charset="0"/>
              </a:rPr>
              <a:t>System ensures transparency via logging and maintains user agency through selective escalation of uncertain cases</a:t>
            </a:r>
          </a:p>
          <a:p>
            <a:pPr algn="just">
              <a:lnSpc>
                <a:spcPct val="100000"/>
              </a:lnSpc>
            </a:pPr>
            <a:endParaRPr lang="en-US"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49E30A8-FB69-4BC6-A95E-9072BB2ABAEB}"/>
              </a:ext>
            </a:extLst>
          </p:cNvPr>
          <p:cNvSpPr/>
          <p:nvPr/>
        </p:nvSpPr>
        <p:spPr>
          <a:xfrm>
            <a:off x="349136" y="440575"/>
            <a:ext cx="11513126" cy="609322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D0A076D4-B93F-6CBA-0C3C-CDFD41AEE216}"/>
              </a:ext>
            </a:extLst>
          </p:cNvPr>
          <p:cNvSpPr txBox="1"/>
          <p:nvPr/>
        </p:nvSpPr>
        <p:spPr>
          <a:xfrm>
            <a:off x="5766318" y="6190518"/>
            <a:ext cx="643813" cy="307777"/>
          </a:xfrm>
          <a:prstGeom prst="rect">
            <a:avLst/>
          </a:prstGeom>
          <a:noFill/>
        </p:spPr>
        <p:txBody>
          <a:bodyPr wrap="square" rtlCol="0">
            <a:spAutoFit/>
          </a:bodyPr>
          <a:lstStyle/>
          <a:p>
            <a:r>
              <a:rPr lang="en-US" sz="1400" dirty="0"/>
              <a:t>3</a:t>
            </a:r>
            <a:endParaRPr lang="en-IN" sz="1400" dirty="0"/>
          </a:p>
        </p:txBody>
      </p:sp>
    </p:spTree>
    <p:extLst>
      <p:ext uri="{BB962C8B-B14F-4D97-AF65-F5344CB8AC3E}">
        <p14:creationId xmlns:p14="http://schemas.microsoft.com/office/powerpoint/2010/main" val="3409033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9BC5A-2189-4720-BA06-AA886FEAB80D}"/>
              </a:ext>
            </a:extLst>
          </p:cNvPr>
          <p:cNvSpPr>
            <a:spLocks noGrp="1"/>
          </p:cNvSpPr>
          <p:nvPr>
            <p:ph type="title"/>
          </p:nvPr>
        </p:nvSpPr>
        <p:spPr>
          <a:xfrm>
            <a:off x="2808317" y="1043970"/>
            <a:ext cx="6310745" cy="757093"/>
          </a:xfrm>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BA82D1DD-6C0F-4652-9390-8D70F918918F}"/>
              </a:ext>
            </a:extLst>
          </p:cNvPr>
          <p:cNvSpPr>
            <a:spLocks noGrp="1"/>
          </p:cNvSpPr>
          <p:nvPr>
            <p:ph idx="1"/>
          </p:nvPr>
        </p:nvSpPr>
        <p:spPr>
          <a:xfrm>
            <a:off x="937953" y="2404457"/>
            <a:ext cx="10515600" cy="1467748"/>
          </a:xfrm>
        </p:spPr>
        <p:txBody>
          <a:bodyPr>
            <a:normAutofit/>
          </a:bodyPr>
          <a:lstStyle/>
          <a:p>
            <a:pPr marL="0" indent="0" algn="just">
              <a:lnSpc>
                <a:spcPct val="100000"/>
              </a:lnSpc>
              <a:buNone/>
            </a:pPr>
            <a:r>
              <a:rPr lang="en-US" sz="2400" dirty="0">
                <a:latin typeface="Times New Roman" panose="02020603050405020304" pitchFamily="18" charset="0"/>
                <a:cs typeface="Times New Roman" panose="02020603050405020304" pitchFamily="18" charset="0"/>
              </a:rPr>
              <a:t>To build a hybrid agentic system that automatically manages website consent decisions by combining rule-based template matching for known consent platforms with LLM-based policy reading for unrecognized banners.</a:t>
            </a:r>
          </a:p>
        </p:txBody>
      </p:sp>
      <p:sp>
        <p:nvSpPr>
          <p:cNvPr id="4" name="Rectangle 3">
            <a:extLst>
              <a:ext uri="{FF2B5EF4-FFF2-40B4-BE49-F238E27FC236}">
                <a16:creationId xmlns:a16="http://schemas.microsoft.com/office/drawing/2014/main" id="{149E30A8-FB69-4BC6-A95E-9072BB2ABAEB}"/>
              </a:ext>
            </a:extLst>
          </p:cNvPr>
          <p:cNvSpPr/>
          <p:nvPr/>
        </p:nvSpPr>
        <p:spPr>
          <a:xfrm>
            <a:off x="349136" y="440575"/>
            <a:ext cx="11513126" cy="609322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2FFA54F-6A20-5E19-76B9-7FA05D26E5B4}"/>
              </a:ext>
            </a:extLst>
          </p:cNvPr>
          <p:cNvSpPr txBox="1"/>
          <p:nvPr/>
        </p:nvSpPr>
        <p:spPr>
          <a:xfrm>
            <a:off x="5766318" y="6190518"/>
            <a:ext cx="643813" cy="307777"/>
          </a:xfrm>
          <a:prstGeom prst="rect">
            <a:avLst/>
          </a:prstGeom>
          <a:noFill/>
        </p:spPr>
        <p:txBody>
          <a:bodyPr wrap="square" rtlCol="0">
            <a:spAutoFit/>
          </a:bodyPr>
          <a:lstStyle/>
          <a:p>
            <a:r>
              <a:rPr lang="en-US" sz="1400" dirty="0"/>
              <a:t>4</a:t>
            </a:r>
            <a:endParaRPr lang="en-IN" sz="1400" dirty="0"/>
          </a:p>
        </p:txBody>
      </p:sp>
    </p:spTree>
    <p:extLst>
      <p:ext uri="{BB962C8B-B14F-4D97-AF65-F5344CB8AC3E}">
        <p14:creationId xmlns:p14="http://schemas.microsoft.com/office/powerpoint/2010/main" val="1960922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9BC5A-2189-4720-BA06-AA886FEAB80D}"/>
              </a:ext>
            </a:extLst>
          </p:cNvPr>
          <p:cNvSpPr>
            <a:spLocks noGrp="1"/>
          </p:cNvSpPr>
          <p:nvPr>
            <p:ph type="title"/>
          </p:nvPr>
        </p:nvSpPr>
        <p:spPr>
          <a:xfrm>
            <a:off x="3905597" y="856212"/>
            <a:ext cx="3858491" cy="673966"/>
          </a:xfrm>
        </p:spPr>
        <p:txBody>
          <a:bodyPr>
            <a:normAutofit fontScale="90000"/>
          </a:bodyPr>
          <a:lstStyle/>
          <a:p>
            <a:r>
              <a:rPr lang="en-IN"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BA82D1DD-6C0F-4652-9390-8D70F918918F}"/>
              </a:ext>
            </a:extLst>
          </p:cNvPr>
          <p:cNvSpPr>
            <a:spLocks noGrp="1"/>
          </p:cNvSpPr>
          <p:nvPr>
            <p:ph idx="1"/>
          </p:nvPr>
        </p:nvSpPr>
        <p:spPr>
          <a:xfrm>
            <a:off x="847899" y="2016818"/>
            <a:ext cx="10515600" cy="3827030"/>
          </a:xfrm>
        </p:spPr>
        <p:txBody>
          <a:bodyPr>
            <a:normAutofit/>
          </a:bodyPr>
          <a:lstStyle/>
          <a:p>
            <a:pPr marL="342900" indent="-342900" algn="just">
              <a:lnSpc>
                <a:spcPct val="100000"/>
              </a:lnSpc>
              <a:spcAft>
                <a:spcPts val="800"/>
              </a:spcAft>
              <a:buSzPct val="100000"/>
            </a:pP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Design a privacy-level abstraction (Strict / Balanced / Permissive )</a:t>
            </a:r>
            <a:endParaRPr lang="en-US" sz="2400" dirty="0">
              <a:latin typeface="Times New Roman" panose="02020603050405020304" pitchFamily="18" charset="0"/>
              <a:cs typeface="Times New Roman" panose="02020603050405020304" pitchFamily="18" charset="0"/>
            </a:endParaRPr>
          </a:p>
          <a:p>
            <a:pPr marL="342900" indent="-342900" algn="just">
              <a:lnSpc>
                <a:spcPct val="100000"/>
              </a:lnSpc>
              <a:spcAft>
                <a:spcPts val="800"/>
              </a:spcAft>
              <a:buSzPct val="100000"/>
            </a:pP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Build a hybrid decision engine: rule-based fast path + LLM-based fallback</a:t>
            </a:r>
            <a:endParaRPr lang="en-US" sz="2400" dirty="0">
              <a:latin typeface="Times New Roman" panose="02020603050405020304" pitchFamily="18" charset="0"/>
              <a:cs typeface="Times New Roman" panose="02020603050405020304" pitchFamily="18" charset="0"/>
            </a:endParaRPr>
          </a:p>
          <a:p>
            <a:pPr marL="342900" indent="-342900" algn="just">
              <a:lnSpc>
                <a:spcPct val="100000"/>
              </a:lnSpc>
              <a:spcAft>
                <a:spcPts val="800"/>
              </a:spcAft>
              <a:buSzPct val="100000"/>
            </a:pP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Attach a confidence score to every LLM-derived decision; escalate low-confidence / high-risk cases</a:t>
            </a:r>
            <a:endParaRPr lang="en-US" sz="2400" dirty="0">
              <a:latin typeface="Times New Roman" panose="02020603050405020304" pitchFamily="18" charset="0"/>
              <a:cs typeface="Times New Roman" panose="02020603050405020304" pitchFamily="18" charset="0"/>
            </a:endParaRPr>
          </a:p>
          <a:p>
            <a:pPr marL="342900" indent="-342900" algn="just">
              <a:lnSpc>
                <a:spcPct val="100000"/>
              </a:lnSpc>
              <a:spcAft>
                <a:spcPts val="800"/>
              </a:spcAft>
              <a:buSzPct val="100000"/>
            </a:pP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Log every decision with the specific rule or policy clause that produced it</a:t>
            </a:r>
            <a:endParaRPr lang="en-US" sz="2400" dirty="0">
              <a:latin typeface="Times New Roman" panose="02020603050405020304" pitchFamily="18" charset="0"/>
              <a:cs typeface="Times New Roman" panose="02020603050405020304" pitchFamily="18" charset="0"/>
            </a:endParaRPr>
          </a:p>
          <a:p>
            <a:pPr marL="342900" indent="-342900" algn="just">
              <a:lnSpc>
                <a:spcPct val="100000"/>
              </a:lnSpc>
              <a:spcAft>
                <a:spcPts val="800"/>
              </a:spcAft>
              <a:buSzPct val="100000"/>
            </a:pP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Evaluate decision accuracy and coverage across known and unknown consent platforms</a:t>
            </a:r>
            <a:endParaRPr lang="en-US" sz="2400" dirty="0">
              <a:latin typeface="Times New Roman" panose="02020603050405020304" pitchFamily="18" charset="0"/>
              <a:cs typeface="Times New Roman" panose="02020603050405020304" pitchFamily="18" charset="0"/>
            </a:endParaRPr>
          </a:p>
          <a:p>
            <a:pPr algn="just">
              <a:lnSpc>
                <a:spcPct val="100000"/>
              </a:lnSpc>
            </a:pPr>
            <a:endParaRPr lang="en-IN"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49E30A8-FB69-4BC6-A95E-9072BB2ABAEB}"/>
              </a:ext>
            </a:extLst>
          </p:cNvPr>
          <p:cNvSpPr/>
          <p:nvPr/>
        </p:nvSpPr>
        <p:spPr>
          <a:xfrm>
            <a:off x="349136" y="440575"/>
            <a:ext cx="11513126" cy="609322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3E34EA9-37AE-840C-BB71-3000B78BDBE8}"/>
              </a:ext>
            </a:extLst>
          </p:cNvPr>
          <p:cNvSpPr txBox="1"/>
          <p:nvPr/>
        </p:nvSpPr>
        <p:spPr>
          <a:xfrm>
            <a:off x="5766318" y="6190518"/>
            <a:ext cx="643813" cy="307777"/>
          </a:xfrm>
          <a:prstGeom prst="rect">
            <a:avLst/>
          </a:prstGeom>
          <a:noFill/>
        </p:spPr>
        <p:txBody>
          <a:bodyPr wrap="square" rtlCol="0">
            <a:spAutoFit/>
          </a:bodyPr>
          <a:lstStyle/>
          <a:p>
            <a:r>
              <a:rPr lang="en-US" sz="1400" dirty="0"/>
              <a:t>5</a:t>
            </a:r>
            <a:endParaRPr lang="en-IN" sz="1400" dirty="0"/>
          </a:p>
        </p:txBody>
      </p:sp>
    </p:spTree>
    <p:extLst>
      <p:ext uri="{BB962C8B-B14F-4D97-AF65-F5344CB8AC3E}">
        <p14:creationId xmlns:p14="http://schemas.microsoft.com/office/powerpoint/2010/main" val="2798996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9BC5A-2189-4720-BA06-AA886FEAB80D}"/>
              </a:ext>
            </a:extLst>
          </p:cNvPr>
          <p:cNvSpPr>
            <a:spLocks noGrp="1"/>
          </p:cNvSpPr>
          <p:nvPr>
            <p:ph type="title"/>
          </p:nvPr>
        </p:nvSpPr>
        <p:spPr>
          <a:xfrm>
            <a:off x="3148445" y="779810"/>
            <a:ext cx="5895109" cy="706581"/>
          </a:xfrm>
        </p:spPr>
        <p:txBody>
          <a:bodyPr/>
          <a:lstStyle/>
          <a:p>
            <a:r>
              <a:rPr lang="en-IN" dirty="0">
                <a:latin typeface="Times New Roman" panose="02020603050405020304" pitchFamily="18" charset="0"/>
                <a:cs typeface="Times New Roman" panose="02020603050405020304" pitchFamily="18" charset="0"/>
              </a:rPr>
              <a:t>LITERATURE REVIEW</a:t>
            </a:r>
          </a:p>
        </p:txBody>
      </p:sp>
      <p:sp>
        <p:nvSpPr>
          <p:cNvPr id="4" name="Rectangle 3">
            <a:extLst>
              <a:ext uri="{FF2B5EF4-FFF2-40B4-BE49-F238E27FC236}">
                <a16:creationId xmlns:a16="http://schemas.microsoft.com/office/drawing/2014/main" id="{149E30A8-FB69-4BC6-A95E-9072BB2ABAEB}"/>
              </a:ext>
            </a:extLst>
          </p:cNvPr>
          <p:cNvSpPr/>
          <p:nvPr/>
        </p:nvSpPr>
        <p:spPr>
          <a:xfrm>
            <a:off x="349136" y="440575"/>
            <a:ext cx="11513126" cy="609322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7" name="Content Placeholder 16">
            <a:extLst>
              <a:ext uri="{FF2B5EF4-FFF2-40B4-BE49-F238E27FC236}">
                <a16:creationId xmlns:a16="http://schemas.microsoft.com/office/drawing/2014/main" id="{B660E7B9-B410-4BB9-B37D-8810FCD7B75F}"/>
              </a:ext>
            </a:extLst>
          </p:cNvPr>
          <p:cNvGraphicFramePr>
            <a:graphicFrameLocks noGrp="1"/>
          </p:cNvGraphicFramePr>
          <p:nvPr>
            <p:ph idx="1"/>
            <p:extLst>
              <p:ext uri="{D42A27DB-BD31-4B8C-83A1-F6EECF244321}">
                <p14:modId xmlns:p14="http://schemas.microsoft.com/office/powerpoint/2010/main" val="2802739422"/>
              </p:ext>
            </p:extLst>
          </p:nvPr>
        </p:nvGraphicFramePr>
        <p:xfrm>
          <a:off x="606829" y="1825625"/>
          <a:ext cx="11140163" cy="4069484"/>
        </p:xfrm>
        <a:graphic>
          <a:graphicData uri="http://schemas.openxmlformats.org/drawingml/2006/table">
            <a:tbl>
              <a:tblPr/>
              <a:tblGrid>
                <a:gridCol w="2200076">
                  <a:extLst>
                    <a:ext uri="{9D8B030D-6E8A-4147-A177-3AD203B41FA5}">
                      <a16:colId xmlns:a16="http://schemas.microsoft.com/office/drawing/2014/main" val="3979653695"/>
                    </a:ext>
                  </a:extLst>
                </a:gridCol>
                <a:gridCol w="4982120">
                  <a:extLst>
                    <a:ext uri="{9D8B030D-6E8A-4147-A177-3AD203B41FA5}">
                      <a16:colId xmlns:a16="http://schemas.microsoft.com/office/drawing/2014/main" val="1195726917"/>
                    </a:ext>
                  </a:extLst>
                </a:gridCol>
                <a:gridCol w="3957967">
                  <a:extLst>
                    <a:ext uri="{9D8B030D-6E8A-4147-A177-3AD203B41FA5}">
                      <a16:colId xmlns:a16="http://schemas.microsoft.com/office/drawing/2014/main" val="2589053564"/>
                    </a:ext>
                  </a:extLst>
                </a:gridCol>
              </a:tblGrid>
              <a:tr h="427124">
                <a:tc>
                  <a:txBody>
                    <a:bodyPr/>
                    <a:lstStyle/>
                    <a:p>
                      <a:pPr marL="0" indent="0">
                        <a:buNone/>
                      </a:pPr>
                      <a:r>
                        <a:rPr lang="en-US" sz="1800" b="1" dirty="0">
                          <a:latin typeface="Times New Roman" panose="02020603050405020304" pitchFamily="18" charset="0"/>
                          <a:ea typeface="Calibri" charset="0"/>
                          <a:cs typeface="Times New Roman" panose="02020603050405020304" pitchFamily="18" charset="0"/>
                        </a:rPr>
                        <a:t>      SYSTEM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800" b="1" dirty="0">
                          <a:latin typeface="Times New Roman" panose="02020603050405020304" pitchFamily="18" charset="0"/>
                          <a:ea typeface="Calibri" charset="0"/>
                          <a:cs typeface="Times New Roman" panose="02020603050405020304" pitchFamily="18" charset="0"/>
                        </a:rPr>
                        <a:t>                       APPROACH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800" b="1" dirty="0">
                          <a:latin typeface="Times New Roman" panose="02020603050405020304" pitchFamily="18" charset="0"/>
                          <a:ea typeface="Calibri" charset="0"/>
                          <a:cs typeface="Times New Roman" panose="02020603050405020304" pitchFamily="18" charset="0"/>
                        </a:rPr>
                        <a:t>LIMITATIONS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78668897"/>
                  </a:ext>
                </a:extLst>
              </a:tr>
              <a:tr h="427124">
                <a:tc>
                  <a:txBody>
                    <a:bodyPr/>
                    <a:lstStyle/>
                    <a:p>
                      <a:pPr marL="0" indent="0">
                        <a:buNone/>
                      </a:pPr>
                      <a:r>
                        <a:rPr lang="en-US" sz="1800" dirty="0">
                          <a:solidFill>
                            <a:srgbClr val="000000"/>
                          </a:solidFill>
                          <a:latin typeface="Times New Roman" panose="02020603050405020304" pitchFamily="18" charset="0"/>
                          <a:ea typeface="Calibri" pitchFamily="34" charset="-122"/>
                          <a:cs typeface="Times New Roman" panose="02020603050405020304" pitchFamily="18" charset="0"/>
                        </a:rPr>
                        <a:t>Privacy Guardian Agent (2026)   (Base Paper)</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800" dirty="0">
                          <a:solidFill>
                            <a:srgbClr val="000000"/>
                          </a:solidFill>
                          <a:latin typeface="Times New Roman" panose="02020603050405020304" pitchFamily="18" charset="0"/>
                          <a:ea typeface="Calibri" pitchFamily="34" charset="-122"/>
                          <a:cs typeface="Times New Roman" panose="02020603050405020304" pitchFamily="18" charset="0"/>
                        </a:rPr>
                        <a:t>Position paper proposing an LLM agent with escalation</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800" dirty="0">
                          <a:solidFill>
                            <a:srgbClr val="000000"/>
                          </a:solidFill>
                          <a:latin typeface="Times New Roman" panose="02020603050405020304" pitchFamily="18" charset="0"/>
                          <a:ea typeface="Calibri" pitchFamily="34" charset="-122"/>
                          <a:cs typeface="Times New Roman" panose="02020603050405020304" pitchFamily="18" charset="0"/>
                        </a:rPr>
                        <a:t>Conceptual only — no implementation or evaluation</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686496045"/>
                  </a:ext>
                </a:extLst>
              </a:tr>
              <a:tr h="565266">
                <a:tc>
                  <a:txBody>
                    <a:bodyPr/>
                    <a:lstStyle/>
                    <a:p>
                      <a:pPr marL="0" indent="0">
                        <a:buNone/>
                      </a:pPr>
                      <a:r>
                        <a:rPr lang="en-US" sz="1800" dirty="0" err="1">
                          <a:solidFill>
                            <a:srgbClr val="000000"/>
                          </a:solidFill>
                          <a:latin typeface="Times New Roman" panose="02020603050405020304" pitchFamily="18" charset="0"/>
                          <a:ea typeface="Calibri" pitchFamily="34" charset="-122"/>
                          <a:cs typeface="Times New Roman" panose="02020603050405020304" pitchFamily="18" charset="0"/>
                        </a:rPr>
                        <a:t>Polisis</a:t>
                      </a:r>
                      <a:r>
                        <a:rPr lang="en-US" sz="1800" dirty="0">
                          <a:solidFill>
                            <a:srgbClr val="000000"/>
                          </a:solidFill>
                          <a:latin typeface="Times New Roman" panose="02020603050405020304" pitchFamily="18" charset="0"/>
                          <a:ea typeface="Calibri" pitchFamily="34" charset="-122"/>
                          <a:cs typeface="Times New Roman" panose="02020603050405020304" pitchFamily="18" charset="0"/>
                        </a:rPr>
                        <a:t> (2018)</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800" dirty="0">
                          <a:solidFill>
                            <a:srgbClr val="000000"/>
                          </a:solidFill>
                          <a:latin typeface="Times New Roman" panose="02020603050405020304" pitchFamily="18" charset="0"/>
                          <a:ea typeface="Calibri" pitchFamily="34" charset="-122"/>
                          <a:cs typeface="Times New Roman" panose="02020603050405020304" pitchFamily="18" charset="0"/>
                        </a:rPr>
                        <a:t>Deep-learning classifier mapping policy text to a data-practice taxonomy</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800" dirty="0">
                          <a:solidFill>
                            <a:srgbClr val="000000"/>
                          </a:solidFill>
                          <a:latin typeface="Times New Roman" panose="02020603050405020304" pitchFamily="18" charset="0"/>
                          <a:ea typeface="Calibri" pitchFamily="34" charset="-122"/>
                          <a:cs typeface="Times New Roman" panose="02020603050405020304" pitchFamily="18" charset="0"/>
                        </a:rPr>
                        <a:t>Classifies policy text but does not act on the classification</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87485863"/>
                  </a:ext>
                </a:extLst>
              </a:tr>
              <a:tr h="399010">
                <a:tc>
                  <a:txBody>
                    <a:bodyPr/>
                    <a:lstStyle/>
                    <a:p>
                      <a:pPr marL="0" indent="0">
                        <a:buNone/>
                      </a:pPr>
                      <a:r>
                        <a:rPr lang="en-US" sz="1800" dirty="0">
                          <a:solidFill>
                            <a:srgbClr val="000000"/>
                          </a:solidFill>
                          <a:latin typeface="Times New Roman" panose="02020603050405020304" pitchFamily="18" charset="0"/>
                          <a:ea typeface="Calibri" pitchFamily="34" charset="-122"/>
                          <a:cs typeface="Times New Roman" panose="02020603050405020304" pitchFamily="18" charset="0"/>
                        </a:rPr>
                        <a:t>PriBots (2016)</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800" dirty="0">
                          <a:solidFill>
                            <a:srgbClr val="000000"/>
                          </a:solidFill>
                          <a:latin typeface="Times New Roman" panose="02020603050405020304" pitchFamily="18" charset="0"/>
                          <a:ea typeface="Calibri" pitchFamily="34" charset="-122"/>
                          <a:cs typeface="Times New Roman" panose="02020603050405020304" pitchFamily="18" charset="0"/>
                        </a:rPr>
                        <a:t>Conversational chatbot over Polisis classifications</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800" dirty="0">
                          <a:solidFill>
                            <a:srgbClr val="000000"/>
                          </a:solidFill>
                          <a:latin typeface="Times New Roman" panose="02020603050405020304" pitchFamily="18" charset="0"/>
                          <a:ea typeface="Calibri" pitchFamily="34" charset="-122"/>
                          <a:cs typeface="Times New Roman" panose="02020603050405020304" pitchFamily="18" charset="0"/>
                        </a:rPr>
                        <a:t>Answers user questions; does not automate consent decisions</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51425849"/>
                  </a:ext>
                </a:extLst>
              </a:tr>
              <a:tr h="472440">
                <a:tc>
                  <a:txBody>
                    <a:bodyPr/>
                    <a:lstStyle/>
                    <a:p>
                      <a:pPr marL="0" indent="0">
                        <a:buNone/>
                      </a:pPr>
                      <a:r>
                        <a:rPr lang="en-US" sz="1800" dirty="0">
                          <a:solidFill>
                            <a:srgbClr val="000000"/>
                          </a:solidFill>
                          <a:latin typeface="Times New Roman" panose="02020603050405020304" pitchFamily="18" charset="0"/>
                          <a:ea typeface="Calibri" pitchFamily="34" charset="-122"/>
                          <a:cs typeface="Times New Roman" panose="02020603050405020304" pitchFamily="18" charset="0"/>
                        </a:rPr>
                        <a:t>Consent-O-Matic (2020)</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800" dirty="0">
                          <a:solidFill>
                            <a:srgbClr val="000000"/>
                          </a:solidFill>
                          <a:latin typeface="Times New Roman" panose="02020603050405020304" pitchFamily="18" charset="0"/>
                          <a:ea typeface="Calibri" pitchFamily="34" charset="-122"/>
                          <a:cs typeface="Times New Roman" panose="02020603050405020304" pitchFamily="18" charset="0"/>
                        </a:rPr>
                        <a:t>Rule-based templates auto-answering banners for ~150–200+ cataloged CMPs</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800" dirty="0">
                          <a:solidFill>
                            <a:srgbClr val="000000"/>
                          </a:solidFill>
                          <a:latin typeface="Times New Roman" panose="02020603050405020304" pitchFamily="18" charset="0"/>
                          <a:ea typeface="Calibri" pitchFamily="34" charset="-122"/>
                          <a:cs typeface="Times New Roman" panose="02020603050405020304" pitchFamily="18" charset="0"/>
                        </a:rPr>
                        <a:t>Purely rule-based; fails outside its template catalogue</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726856234"/>
                  </a:ext>
                </a:extLst>
              </a:tr>
              <a:tr h="807720">
                <a:tc>
                  <a:txBody>
                    <a:bodyPr/>
                    <a:lstStyle/>
                    <a:p>
                      <a:pPr marL="0" indent="0">
                        <a:buNone/>
                      </a:pPr>
                      <a:r>
                        <a:rPr lang="en-US" sz="1800" dirty="0">
                          <a:solidFill>
                            <a:srgbClr val="000000"/>
                          </a:solidFill>
                          <a:latin typeface="Times New Roman" panose="02020603050405020304" pitchFamily="18" charset="0"/>
                          <a:ea typeface="Calibri" pitchFamily="34" charset="-122"/>
                          <a:cs typeface="Times New Roman" panose="02020603050405020304" pitchFamily="18" charset="0"/>
                        </a:rPr>
                        <a:t>AudAgent (2025)</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800" dirty="0">
                          <a:solidFill>
                            <a:srgbClr val="000000"/>
                          </a:solidFill>
                          <a:latin typeface="Times New Roman" panose="02020603050405020304" pitchFamily="18" charset="0"/>
                          <a:ea typeface="Calibri" pitchFamily="34" charset="-122"/>
                          <a:cs typeface="Times New Roman" panose="02020603050405020304" pitchFamily="18" charset="0"/>
                        </a:rPr>
                        <a:t>Formalizes privacy policies for runtime auditing of AI agents</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800" dirty="0">
                          <a:solidFill>
                            <a:srgbClr val="000000"/>
                          </a:solidFill>
                          <a:latin typeface="Times New Roman" panose="02020603050405020304" pitchFamily="18" charset="0"/>
                          <a:ea typeface="Calibri" pitchFamily="34" charset="-122"/>
                          <a:cs typeface="Times New Roman" panose="02020603050405020304" pitchFamily="18" charset="0"/>
                        </a:rPr>
                        <a:t>Targets AI-agent auditing, not consumer consent management</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89236832"/>
                  </a:ext>
                </a:extLst>
              </a:tr>
            </a:tbl>
          </a:graphicData>
        </a:graphic>
      </p:graphicFrame>
      <p:sp>
        <p:nvSpPr>
          <p:cNvPr id="5" name="TextBox 4">
            <a:extLst>
              <a:ext uri="{FF2B5EF4-FFF2-40B4-BE49-F238E27FC236}">
                <a16:creationId xmlns:a16="http://schemas.microsoft.com/office/drawing/2014/main" id="{C42277A4-8E6A-2559-52DF-C8A603AEBD14}"/>
              </a:ext>
            </a:extLst>
          </p:cNvPr>
          <p:cNvSpPr txBox="1"/>
          <p:nvPr/>
        </p:nvSpPr>
        <p:spPr>
          <a:xfrm>
            <a:off x="5766318" y="6190518"/>
            <a:ext cx="643813" cy="307777"/>
          </a:xfrm>
          <a:prstGeom prst="rect">
            <a:avLst/>
          </a:prstGeom>
          <a:noFill/>
        </p:spPr>
        <p:txBody>
          <a:bodyPr wrap="square" rtlCol="0">
            <a:spAutoFit/>
          </a:bodyPr>
          <a:lstStyle/>
          <a:p>
            <a:r>
              <a:rPr lang="en-US" sz="1400" dirty="0"/>
              <a:t>6</a:t>
            </a:r>
            <a:endParaRPr lang="en-IN" sz="1400" dirty="0"/>
          </a:p>
        </p:txBody>
      </p:sp>
    </p:spTree>
    <p:extLst>
      <p:ext uri="{BB962C8B-B14F-4D97-AF65-F5344CB8AC3E}">
        <p14:creationId xmlns:p14="http://schemas.microsoft.com/office/powerpoint/2010/main" val="530631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9BC5A-2189-4720-BA06-AA886FEAB80D}"/>
              </a:ext>
            </a:extLst>
          </p:cNvPr>
          <p:cNvSpPr>
            <a:spLocks noGrp="1"/>
          </p:cNvSpPr>
          <p:nvPr>
            <p:ph type="title"/>
          </p:nvPr>
        </p:nvSpPr>
        <p:spPr>
          <a:xfrm>
            <a:off x="3697778" y="588617"/>
            <a:ext cx="4972396" cy="665018"/>
          </a:xfrm>
        </p:spPr>
        <p:txBody>
          <a:bodyPr>
            <a:normAutofit fontScale="90000"/>
          </a:bodyPr>
          <a:lstStyle/>
          <a:p>
            <a:r>
              <a:rPr lang="en-IN" dirty="0">
                <a:latin typeface="Times New Roman" panose="02020603050405020304" pitchFamily="18" charset="0"/>
                <a:cs typeface="Times New Roman" panose="02020603050405020304" pitchFamily="18" charset="0"/>
              </a:rPr>
              <a:t>PROPOSED WORK</a:t>
            </a:r>
          </a:p>
        </p:txBody>
      </p:sp>
      <p:sp>
        <p:nvSpPr>
          <p:cNvPr id="4" name="Rectangle 3">
            <a:extLst>
              <a:ext uri="{FF2B5EF4-FFF2-40B4-BE49-F238E27FC236}">
                <a16:creationId xmlns:a16="http://schemas.microsoft.com/office/drawing/2014/main" id="{149E30A8-FB69-4BC6-A95E-9072BB2ABAEB}"/>
              </a:ext>
            </a:extLst>
          </p:cNvPr>
          <p:cNvSpPr/>
          <p:nvPr/>
        </p:nvSpPr>
        <p:spPr>
          <a:xfrm>
            <a:off x="349136" y="440575"/>
            <a:ext cx="11513126" cy="609322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5" name="Content Placeholder 24">
            <a:extLst>
              <a:ext uri="{FF2B5EF4-FFF2-40B4-BE49-F238E27FC236}">
                <a16:creationId xmlns:a16="http://schemas.microsoft.com/office/drawing/2014/main" id="{F11B0652-6C93-493F-AF05-DA7898A5C3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85505" y="1537855"/>
            <a:ext cx="6633557" cy="4879570"/>
          </a:xfrm>
        </p:spPr>
      </p:pic>
      <p:sp>
        <p:nvSpPr>
          <p:cNvPr id="5" name="TextBox 4">
            <a:extLst>
              <a:ext uri="{FF2B5EF4-FFF2-40B4-BE49-F238E27FC236}">
                <a16:creationId xmlns:a16="http://schemas.microsoft.com/office/drawing/2014/main" id="{326387E0-7112-C5A8-97CB-92844AB16930}"/>
              </a:ext>
            </a:extLst>
          </p:cNvPr>
          <p:cNvSpPr txBox="1"/>
          <p:nvPr/>
        </p:nvSpPr>
        <p:spPr>
          <a:xfrm>
            <a:off x="5774093" y="6226027"/>
            <a:ext cx="643813" cy="307777"/>
          </a:xfrm>
          <a:prstGeom prst="rect">
            <a:avLst/>
          </a:prstGeom>
          <a:noFill/>
        </p:spPr>
        <p:txBody>
          <a:bodyPr wrap="square" rtlCol="0">
            <a:spAutoFit/>
          </a:bodyPr>
          <a:lstStyle/>
          <a:p>
            <a:r>
              <a:rPr lang="en-US" sz="1400" dirty="0"/>
              <a:t>7</a:t>
            </a:r>
            <a:endParaRPr lang="en-IN" sz="1400" dirty="0"/>
          </a:p>
        </p:txBody>
      </p:sp>
    </p:spTree>
    <p:extLst>
      <p:ext uri="{BB962C8B-B14F-4D97-AF65-F5344CB8AC3E}">
        <p14:creationId xmlns:p14="http://schemas.microsoft.com/office/powerpoint/2010/main" val="1455258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9BC5A-2189-4720-BA06-AA886FEAB80D}"/>
              </a:ext>
            </a:extLst>
          </p:cNvPr>
          <p:cNvSpPr>
            <a:spLocks noGrp="1"/>
          </p:cNvSpPr>
          <p:nvPr>
            <p:ph type="title"/>
          </p:nvPr>
        </p:nvSpPr>
        <p:spPr>
          <a:xfrm>
            <a:off x="2921925" y="560520"/>
            <a:ext cx="6367548" cy="665018"/>
          </a:xfrm>
        </p:spPr>
        <p:txBody>
          <a:bodyPr>
            <a:normAutofit fontScale="90000"/>
          </a:bodyPr>
          <a:lstStyle/>
          <a:p>
            <a:r>
              <a:rPr lang="en-IN" dirty="0">
                <a:latin typeface="Times New Roman" panose="02020603050405020304" pitchFamily="18" charset="0"/>
                <a:cs typeface="Times New Roman" panose="02020603050405020304" pitchFamily="18" charset="0"/>
              </a:rPr>
              <a:t>TECHNOLOGY STACK</a:t>
            </a:r>
          </a:p>
        </p:txBody>
      </p:sp>
      <p:sp>
        <p:nvSpPr>
          <p:cNvPr id="4" name="Rectangle 3">
            <a:extLst>
              <a:ext uri="{FF2B5EF4-FFF2-40B4-BE49-F238E27FC236}">
                <a16:creationId xmlns:a16="http://schemas.microsoft.com/office/drawing/2014/main" id="{149E30A8-FB69-4BC6-A95E-9072BB2ABAEB}"/>
              </a:ext>
            </a:extLst>
          </p:cNvPr>
          <p:cNvSpPr/>
          <p:nvPr/>
        </p:nvSpPr>
        <p:spPr>
          <a:xfrm>
            <a:off x="349136" y="440575"/>
            <a:ext cx="11513126" cy="609322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1">
            <a:extLst>
              <a:ext uri="{FF2B5EF4-FFF2-40B4-BE49-F238E27FC236}">
                <a16:creationId xmlns:a16="http://schemas.microsoft.com/office/drawing/2014/main" id="{3D74AAC6-26A8-4CAA-B64D-D4F70435FC71}"/>
              </a:ext>
            </a:extLst>
          </p:cNvPr>
          <p:cNvSpPr>
            <a:spLocks noGrp="1" noChangeArrowheads="1"/>
          </p:cNvSpPr>
          <p:nvPr>
            <p:ph idx="1"/>
          </p:nvPr>
        </p:nvSpPr>
        <p:spPr bwMode="auto">
          <a:xfrm>
            <a:off x="939338" y="1281816"/>
            <a:ext cx="8661863" cy="5784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lnSpc>
                <a:spcPct val="100000"/>
              </a:lnSpc>
              <a:spcAft>
                <a:spcPts val="800"/>
              </a:spcAft>
              <a:buSzPct val="100000"/>
            </a:pP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Extension framework: Chrome / Firefox </a:t>
            </a:r>
            <a:r>
              <a:rPr lang="en-US" sz="2400" dirty="0" err="1">
                <a:solidFill>
                  <a:srgbClr val="000000"/>
                </a:solidFill>
                <a:latin typeface="Times New Roman" panose="02020603050405020304" pitchFamily="18" charset="0"/>
                <a:ea typeface="Calibri" pitchFamily="34" charset="-122"/>
                <a:cs typeface="Times New Roman" panose="02020603050405020304" pitchFamily="18" charset="0"/>
              </a:rPr>
              <a:t>WebExtensions</a:t>
            </a: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 API </a:t>
            </a:r>
          </a:p>
          <a:p>
            <a:pPr marL="342900" indent="-342900" algn="just">
              <a:lnSpc>
                <a:spcPct val="100000"/>
              </a:lnSpc>
              <a:spcAft>
                <a:spcPts val="800"/>
              </a:spcAft>
              <a:buSzPct val="100000"/>
            </a:pP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Languages: JavaScript (extension), Python (backend) </a:t>
            </a:r>
          </a:p>
          <a:p>
            <a:pPr marL="342900" indent="-342900" algn="just">
              <a:lnSpc>
                <a:spcPct val="100000"/>
              </a:lnSpc>
              <a:spcAft>
                <a:spcPts val="800"/>
              </a:spcAft>
              <a:buSzPct val="100000"/>
            </a:pP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Agent orchestration: </a:t>
            </a:r>
            <a:r>
              <a:rPr lang="en-US" sz="2400" dirty="0" err="1">
                <a:solidFill>
                  <a:srgbClr val="000000"/>
                </a:solidFill>
                <a:latin typeface="Times New Roman" panose="02020603050405020304" pitchFamily="18" charset="0"/>
                <a:ea typeface="Calibri" pitchFamily="34" charset="-122"/>
                <a:cs typeface="Times New Roman" panose="02020603050405020304" pitchFamily="18" charset="0"/>
              </a:rPr>
              <a:t>LangGraph</a:t>
            </a: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 , </a:t>
            </a:r>
            <a:r>
              <a:rPr lang="en-US" sz="2400" dirty="0" err="1">
                <a:solidFill>
                  <a:srgbClr val="000000"/>
                </a:solidFill>
                <a:latin typeface="Times New Roman" panose="02020603050405020304" pitchFamily="18" charset="0"/>
                <a:ea typeface="Calibri" pitchFamily="34" charset="-122"/>
                <a:cs typeface="Times New Roman" panose="02020603050405020304" pitchFamily="18" charset="0"/>
              </a:rPr>
              <a:t>LangChain</a:t>
            </a: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 </a:t>
            </a:r>
          </a:p>
          <a:p>
            <a:pPr marL="342900" indent="-342900" algn="just">
              <a:lnSpc>
                <a:spcPct val="100000"/>
              </a:lnSpc>
              <a:spcAft>
                <a:spcPts val="800"/>
              </a:spcAft>
              <a:buSzPct val="100000"/>
            </a:pP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LLM / RAG: GPT-4, Sentence Transformers, RAG </a:t>
            </a:r>
          </a:p>
          <a:p>
            <a:pPr marL="342900" indent="-342900" algn="just">
              <a:lnSpc>
                <a:spcPct val="100000"/>
              </a:lnSpc>
              <a:spcAft>
                <a:spcPts val="800"/>
              </a:spcAft>
              <a:buSzPct val="100000"/>
            </a:pP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Vector DB: </a:t>
            </a:r>
            <a:r>
              <a:rPr lang="en-US" sz="2400" dirty="0" err="1">
                <a:solidFill>
                  <a:srgbClr val="000000"/>
                </a:solidFill>
                <a:latin typeface="Times New Roman" panose="02020603050405020304" pitchFamily="18" charset="0"/>
                <a:ea typeface="Calibri" pitchFamily="34" charset="-122"/>
                <a:cs typeface="Times New Roman" panose="02020603050405020304" pitchFamily="18" charset="0"/>
              </a:rPr>
              <a:t>ChromaDB</a:t>
            </a: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 </a:t>
            </a:r>
          </a:p>
          <a:p>
            <a:pPr marL="342900" indent="-342900" algn="just">
              <a:lnSpc>
                <a:spcPct val="100000"/>
              </a:lnSpc>
              <a:spcAft>
                <a:spcPts val="800"/>
              </a:spcAft>
              <a:buSzPct val="100000"/>
            </a:pP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Rule engine: Consent-O-Matic rules, IAB TCF v2.0 </a:t>
            </a:r>
          </a:p>
          <a:p>
            <a:pPr marL="342900" indent="-342900" algn="just">
              <a:lnSpc>
                <a:spcPct val="100000"/>
              </a:lnSpc>
              <a:spcAft>
                <a:spcPts val="800"/>
              </a:spcAft>
              <a:buSzPct val="100000"/>
            </a:pP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Frontend: React + Bootstrap </a:t>
            </a:r>
          </a:p>
          <a:p>
            <a:pPr marL="342900" indent="-342900" algn="just">
              <a:lnSpc>
                <a:spcPct val="100000"/>
              </a:lnSpc>
              <a:spcAft>
                <a:spcPts val="800"/>
              </a:spcAft>
              <a:buSzPct val="100000"/>
            </a:pP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Storage: local storage for </a:t>
            </a:r>
            <a:r>
              <a:rPr lang="en-US" sz="2400" dirty="0" err="1">
                <a:solidFill>
                  <a:srgbClr val="000000"/>
                </a:solidFill>
                <a:latin typeface="Times New Roman" panose="02020603050405020304" pitchFamily="18" charset="0"/>
                <a:ea typeface="Calibri" pitchFamily="34" charset="-122"/>
                <a:cs typeface="Times New Roman" panose="02020603050405020304" pitchFamily="18" charset="0"/>
              </a:rPr>
              <a:t>explainability</a:t>
            </a: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 log &amp; preferences </a:t>
            </a:r>
          </a:p>
          <a:p>
            <a:pPr marL="342900" indent="-342900" algn="just">
              <a:lnSpc>
                <a:spcPct val="100000"/>
              </a:lnSpc>
              <a:spcAft>
                <a:spcPts val="800"/>
              </a:spcAft>
              <a:buSzPct val="100000"/>
            </a:pPr>
            <a:endParaRPr lang="en-US" sz="2400" dirty="0">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None/>
            </a:pPr>
            <a:endParaRPr lang="en-US" altLang="en-US"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FF4B3BC-32D9-2E13-5AF9-F0E37D5EEB90}"/>
              </a:ext>
            </a:extLst>
          </p:cNvPr>
          <p:cNvSpPr txBox="1"/>
          <p:nvPr/>
        </p:nvSpPr>
        <p:spPr>
          <a:xfrm>
            <a:off x="5766318" y="6190518"/>
            <a:ext cx="643813" cy="307777"/>
          </a:xfrm>
          <a:prstGeom prst="rect">
            <a:avLst/>
          </a:prstGeom>
          <a:noFill/>
        </p:spPr>
        <p:txBody>
          <a:bodyPr wrap="square" rtlCol="0">
            <a:spAutoFit/>
          </a:bodyPr>
          <a:lstStyle/>
          <a:p>
            <a:r>
              <a:rPr lang="en-US" sz="1400" dirty="0"/>
              <a:t>8</a:t>
            </a:r>
            <a:endParaRPr lang="en-IN" sz="1400" dirty="0"/>
          </a:p>
        </p:txBody>
      </p:sp>
    </p:spTree>
    <p:extLst>
      <p:ext uri="{BB962C8B-B14F-4D97-AF65-F5344CB8AC3E}">
        <p14:creationId xmlns:p14="http://schemas.microsoft.com/office/powerpoint/2010/main" val="2817653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9BC5A-2189-4720-BA06-AA886FEAB80D}"/>
              </a:ext>
            </a:extLst>
          </p:cNvPr>
          <p:cNvSpPr>
            <a:spLocks noGrp="1"/>
          </p:cNvSpPr>
          <p:nvPr>
            <p:ph type="title"/>
          </p:nvPr>
        </p:nvSpPr>
        <p:spPr>
          <a:xfrm>
            <a:off x="4921134" y="803766"/>
            <a:ext cx="2851266" cy="665018"/>
          </a:xfrm>
        </p:spPr>
        <p:txBody>
          <a:bodyPr>
            <a:normAutofit fontScale="90000"/>
          </a:bodyPr>
          <a:lstStyle/>
          <a:p>
            <a:r>
              <a:rPr lang="en-IN" dirty="0">
                <a:latin typeface="Times New Roman" panose="02020603050405020304" pitchFamily="18" charset="0"/>
                <a:cs typeface="Times New Roman" panose="02020603050405020304" pitchFamily="18" charset="0"/>
              </a:rPr>
              <a:t>DATASET </a:t>
            </a:r>
          </a:p>
        </p:txBody>
      </p:sp>
      <p:sp>
        <p:nvSpPr>
          <p:cNvPr id="3" name="Content Placeholder 2">
            <a:extLst>
              <a:ext uri="{FF2B5EF4-FFF2-40B4-BE49-F238E27FC236}">
                <a16:creationId xmlns:a16="http://schemas.microsoft.com/office/drawing/2014/main" id="{BA82D1DD-6C0F-4652-9390-8D70F918918F}"/>
              </a:ext>
            </a:extLst>
          </p:cNvPr>
          <p:cNvSpPr>
            <a:spLocks noGrp="1"/>
          </p:cNvSpPr>
          <p:nvPr>
            <p:ph idx="1"/>
          </p:nvPr>
        </p:nvSpPr>
        <p:spPr/>
        <p:txBody>
          <a:bodyPr>
            <a:normAutofit/>
          </a:bodyPr>
          <a:lstStyle/>
          <a:p>
            <a:pPr algn="just">
              <a:lnSpc>
                <a:spcPct val="100000"/>
              </a:lnSpc>
            </a:pPr>
            <a:r>
              <a:rPr lang="en-US" sz="2400" dirty="0">
                <a:latin typeface="Times New Roman" panose="02020603050405020304" pitchFamily="18" charset="0"/>
                <a:cs typeface="Times New Roman" panose="02020603050405020304" pitchFamily="18" charset="0"/>
              </a:rPr>
              <a:t>A curated set of real websites split into known-CMP sites (</a:t>
            </a:r>
            <a:r>
              <a:rPr lang="en-US" sz="2400" dirty="0" err="1">
                <a:latin typeface="Times New Roman" panose="02020603050405020304" pitchFamily="18" charset="0"/>
                <a:cs typeface="Times New Roman" panose="02020603050405020304" pitchFamily="18" charset="0"/>
              </a:rPr>
              <a:t>OneTrust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Cookiebot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Didomi</a:t>
            </a:r>
            <a:r>
              <a:rPr lang="en-US" sz="2400" dirty="0">
                <a:latin typeface="Times New Roman" panose="02020603050405020304" pitchFamily="18" charset="0"/>
                <a:cs typeface="Times New Roman" panose="02020603050405020304" pitchFamily="18" charset="0"/>
              </a:rPr>
              <a:t>) and unknown/custom-banner sites, across e-commerce, news, and SaaS categories</a:t>
            </a:r>
          </a:p>
          <a:p>
            <a:pPr algn="just">
              <a:lnSpc>
                <a:spcPct val="100000"/>
              </a:lnSpc>
            </a:pPr>
            <a:r>
              <a:rPr lang="en-US" sz="2400" dirty="0">
                <a:latin typeface="Times New Roman" panose="02020603050405020304" pitchFamily="18" charset="0"/>
                <a:cs typeface="Times New Roman" panose="02020603050405020304" pitchFamily="18" charset="0"/>
              </a:rPr>
              <a:t>Ground truth is created manually — under a fixed "Strict" preset, the actual banner/policy is read and the correct accept/reject decision is recorded per category (Analytics, Functional, Advertising, Third-Party Sharing)</a:t>
            </a:r>
            <a:endParaRPr lang="en-IN"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49E30A8-FB69-4BC6-A95E-9072BB2ABAEB}"/>
              </a:ext>
            </a:extLst>
          </p:cNvPr>
          <p:cNvSpPr/>
          <p:nvPr/>
        </p:nvSpPr>
        <p:spPr>
          <a:xfrm>
            <a:off x="349136" y="440575"/>
            <a:ext cx="11513126" cy="609322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FED2752C-E624-74BF-DB4E-1773DBA83A4E}"/>
              </a:ext>
            </a:extLst>
          </p:cNvPr>
          <p:cNvSpPr txBox="1"/>
          <p:nvPr/>
        </p:nvSpPr>
        <p:spPr>
          <a:xfrm>
            <a:off x="5766318" y="6190518"/>
            <a:ext cx="643813" cy="307777"/>
          </a:xfrm>
          <a:prstGeom prst="rect">
            <a:avLst/>
          </a:prstGeom>
          <a:noFill/>
        </p:spPr>
        <p:txBody>
          <a:bodyPr wrap="square" rtlCol="0">
            <a:spAutoFit/>
          </a:bodyPr>
          <a:lstStyle/>
          <a:p>
            <a:r>
              <a:rPr lang="en-US" sz="1400" dirty="0"/>
              <a:t>9</a:t>
            </a:r>
            <a:endParaRPr lang="en-IN" sz="1400" dirty="0"/>
          </a:p>
        </p:txBody>
      </p:sp>
    </p:spTree>
    <p:extLst>
      <p:ext uri="{BB962C8B-B14F-4D97-AF65-F5344CB8AC3E}">
        <p14:creationId xmlns:p14="http://schemas.microsoft.com/office/powerpoint/2010/main" val="2197167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9BC5A-2189-4720-BA06-AA886FEAB80D}"/>
              </a:ext>
            </a:extLst>
          </p:cNvPr>
          <p:cNvSpPr>
            <a:spLocks noGrp="1"/>
          </p:cNvSpPr>
          <p:nvPr>
            <p:ph type="title"/>
          </p:nvPr>
        </p:nvSpPr>
        <p:spPr>
          <a:xfrm>
            <a:off x="4098174" y="789709"/>
            <a:ext cx="3773979" cy="665018"/>
          </a:xfrm>
        </p:spPr>
        <p:txBody>
          <a:bodyPr>
            <a:normAutofit fontScale="90000"/>
          </a:bodyPr>
          <a:lstStyle/>
          <a:p>
            <a:r>
              <a:rPr lang="en-IN" dirty="0">
                <a:latin typeface="Times New Roman" panose="02020603050405020304" pitchFamily="18" charset="0"/>
                <a:cs typeface="Times New Roman" panose="02020603050405020304" pitchFamily="18" charset="0"/>
              </a:rPr>
              <a:t>EVALUATION</a:t>
            </a:r>
          </a:p>
        </p:txBody>
      </p:sp>
      <p:sp>
        <p:nvSpPr>
          <p:cNvPr id="3" name="Content Placeholder 2">
            <a:extLst>
              <a:ext uri="{FF2B5EF4-FFF2-40B4-BE49-F238E27FC236}">
                <a16:creationId xmlns:a16="http://schemas.microsoft.com/office/drawing/2014/main" id="{BA82D1DD-6C0F-4652-9390-8D70F918918F}"/>
              </a:ext>
            </a:extLst>
          </p:cNvPr>
          <p:cNvSpPr>
            <a:spLocks noGrp="1"/>
          </p:cNvSpPr>
          <p:nvPr>
            <p:ph idx="1"/>
          </p:nvPr>
        </p:nvSpPr>
        <p:spPr>
          <a:xfrm>
            <a:off x="954578" y="2316076"/>
            <a:ext cx="10515600" cy="3278390"/>
          </a:xfrm>
        </p:spPr>
        <p:txBody>
          <a:bodyPr>
            <a:normAutofit/>
          </a:bodyPr>
          <a:lstStyle/>
          <a:p>
            <a:pPr algn="just">
              <a:lnSpc>
                <a:spcPct val="100000"/>
              </a:lnSpc>
            </a:pPr>
            <a:r>
              <a:rPr lang="en-US" sz="2400" dirty="0">
                <a:latin typeface="Times New Roman" panose="02020603050405020304" pitchFamily="18" charset="0"/>
                <a:cs typeface="Times New Roman" panose="02020603050405020304" pitchFamily="18" charset="0"/>
              </a:rPr>
              <a:t>Decision Accuracy: system's per-category decisions compared to manual ground truth, reported separately for known-CMP vs. unknown-CMP subsets </a:t>
            </a:r>
          </a:p>
          <a:p>
            <a:pPr algn="just">
              <a:lnSpc>
                <a:spcPct val="100000"/>
              </a:lnSpc>
            </a:pPr>
            <a:r>
              <a:rPr lang="en-US" sz="2400" dirty="0">
                <a:latin typeface="Times New Roman" panose="02020603050405020304" pitchFamily="18" charset="0"/>
                <a:cs typeface="Times New Roman" panose="02020603050405020304" pitchFamily="18" charset="0"/>
              </a:rPr>
              <a:t>Escalation Correctness: system's escalation flags checked against a separate "should this have been escalated" label, prioritizing recall since a missed escalation means a wrong decision applied silently</a:t>
            </a:r>
            <a:endParaRPr lang="en-IN"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49E30A8-FB69-4BC6-A95E-9072BB2ABAEB}"/>
              </a:ext>
            </a:extLst>
          </p:cNvPr>
          <p:cNvSpPr/>
          <p:nvPr/>
        </p:nvSpPr>
        <p:spPr>
          <a:xfrm>
            <a:off x="349136" y="440575"/>
            <a:ext cx="11513126" cy="609322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B3081A67-5756-8B47-AF9F-B0D21AC0909F}"/>
              </a:ext>
            </a:extLst>
          </p:cNvPr>
          <p:cNvSpPr txBox="1"/>
          <p:nvPr/>
        </p:nvSpPr>
        <p:spPr>
          <a:xfrm>
            <a:off x="5766318" y="6190518"/>
            <a:ext cx="643813" cy="307777"/>
          </a:xfrm>
          <a:prstGeom prst="rect">
            <a:avLst/>
          </a:prstGeom>
          <a:noFill/>
        </p:spPr>
        <p:txBody>
          <a:bodyPr wrap="square" rtlCol="0">
            <a:spAutoFit/>
          </a:bodyPr>
          <a:lstStyle/>
          <a:p>
            <a:r>
              <a:rPr lang="en-US" sz="1400" dirty="0"/>
              <a:t>10</a:t>
            </a:r>
            <a:endParaRPr lang="en-IN" sz="1400" dirty="0"/>
          </a:p>
        </p:txBody>
      </p:sp>
    </p:spTree>
    <p:extLst>
      <p:ext uri="{BB962C8B-B14F-4D97-AF65-F5344CB8AC3E}">
        <p14:creationId xmlns:p14="http://schemas.microsoft.com/office/powerpoint/2010/main" val="3530006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9BC5A-2189-4720-BA06-AA886FEAB80D}"/>
              </a:ext>
            </a:extLst>
          </p:cNvPr>
          <p:cNvSpPr>
            <a:spLocks noGrp="1"/>
          </p:cNvSpPr>
          <p:nvPr>
            <p:ph type="title"/>
          </p:nvPr>
        </p:nvSpPr>
        <p:spPr>
          <a:xfrm>
            <a:off x="4106487" y="881150"/>
            <a:ext cx="3516284" cy="665018"/>
          </a:xfrm>
        </p:spPr>
        <p:txBody>
          <a:bodyPr>
            <a:normAutofit fontScale="90000"/>
          </a:bodyPr>
          <a:lstStyle/>
          <a:p>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BA82D1DD-6C0F-4652-9390-8D70F918918F}"/>
              </a:ext>
            </a:extLst>
          </p:cNvPr>
          <p:cNvSpPr>
            <a:spLocks noGrp="1"/>
          </p:cNvSpPr>
          <p:nvPr>
            <p:ph idx="1"/>
          </p:nvPr>
        </p:nvSpPr>
        <p:spPr/>
        <p:txBody>
          <a:bodyPr>
            <a:normAutofit/>
          </a:bodyPr>
          <a:lstStyle/>
          <a:p>
            <a:pPr marL="0" indent="0" algn="just">
              <a:lnSpc>
                <a:spcPct val="100000"/>
              </a:lnSpc>
              <a:buNone/>
            </a:pPr>
            <a:r>
              <a:rPr lang="en-US" sz="2400" dirty="0">
                <a:latin typeface="Times New Roman" panose="02020603050405020304" pitchFamily="18" charset="0"/>
                <a:cs typeface="Times New Roman" panose="02020603050405020304" pitchFamily="18" charset="0"/>
              </a:rPr>
              <a:t>The proposed hybrid agentic privacy control system combines the reliability of rule-based automation with the generality of LLM-based policy reading, applying a user-defined privacy level consistently across known and unknown consent platforms. Confidence-based escalation and an </a:t>
            </a:r>
            <a:r>
              <a:rPr lang="en-US" sz="2400" dirty="0" err="1">
                <a:latin typeface="Times New Roman" panose="02020603050405020304" pitchFamily="18" charset="0"/>
                <a:cs typeface="Times New Roman" panose="02020603050405020304" pitchFamily="18" charset="0"/>
              </a:rPr>
              <a:t>explainability</a:t>
            </a:r>
            <a:r>
              <a:rPr lang="en-US" sz="2400" dirty="0">
                <a:latin typeface="Times New Roman" panose="02020603050405020304" pitchFamily="18" charset="0"/>
                <a:cs typeface="Times New Roman" panose="02020603050405020304" pitchFamily="18" charset="0"/>
              </a:rPr>
              <a:t> log keep the agent's behavior transparent and auditable rather than a silent black box. Once implemented, the system will be evaluated on decision accuracy and escalation correctness — positioning it as a practical, working alternative to both purely rule-based and purely conceptual prior approaches.</a:t>
            </a:r>
          </a:p>
          <a:p>
            <a:pPr marL="0" indent="0" algn="just">
              <a:lnSpc>
                <a:spcPct val="100000"/>
              </a:lnSpc>
              <a:buNone/>
            </a:pPr>
            <a:endParaRPr lang="en-IN"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49E30A8-FB69-4BC6-A95E-9072BB2ABAEB}"/>
              </a:ext>
            </a:extLst>
          </p:cNvPr>
          <p:cNvSpPr/>
          <p:nvPr/>
        </p:nvSpPr>
        <p:spPr>
          <a:xfrm>
            <a:off x="349136" y="440575"/>
            <a:ext cx="11513126" cy="609322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FCB0749D-E4C7-1F93-732C-30E26E3431D3}"/>
              </a:ext>
            </a:extLst>
          </p:cNvPr>
          <p:cNvSpPr txBox="1"/>
          <p:nvPr/>
        </p:nvSpPr>
        <p:spPr>
          <a:xfrm>
            <a:off x="5766318" y="6190518"/>
            <a:ext cx="643813" cy="307777"/>
          </a:xfrm>
          <a:prstGeom prst="rect">
            <a:avLst/>
          </a:prstGeom>
          <a:noFill/>
        </p:spPr>
        <p:txBody>
          <a:bodyPr wrap="square" rtlCol="0">
            <a:spAutoFit/>
          </a:bodyPr>
          <a:lstStyle/>
          <a:p>
            <a:r>
              <a:rPr lang="en-US" sz="1400" dirty="0"/>
              <a:t>11</a:t>
            </a:r>
            <a:endParaRPr lang="en-IN" sz="1400" dirty="0"/>
          </a:p>
        </p:txBody>
      </p:sp>
    </p:spTree>
    <p:extLst>
      <p:ext uri="{BB962C8B-B14F-4D97-AF65-F5344CB8AC3E}">
        <p14:creationId xmlns:p14="http://schemas.microsoft.com/office/powerpoint/2010/main" val="2316019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9BC5A-2189-4720-BA06-AA886FEAB80D}"/>
              </a:ext>
            </a:extLst>
          </p:cNvPr>
          <p:cNvSpPr>
            <a:spLocks noGrp="1"/>
          </p:cNvSpPr>
          <p:nvPr>
            <p:ph type="title"/>
          </p:nvPr>
        </p:nvSpPr>
        <p:spPr>
          <a:xfrm>
            <a:off x="4522123" y="440575"/>
            <a:ext cx="3524597" cy="665018"/>
          </a:xfrm>
        </p:spPr>
        <p:txBody>
          <a:bodyPr>
            <a:normAutofit fontScale="90000"/>
          </a:bodyPr>
          <a:lstStyle/>
          <a:p>
            <a:r>
              <a:rPr lang="en-IN"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BA82D1DD-6C0F-4652-9390-8D70F918918F}"/>
              </a:ext>
            </a:extLst>
          </p:cNvPr>
          <p:cNvSpPr>
            <a:spLocks noGrp="1"/>
          </p:cNvSpPr>
          <p:nvPr>
            <p:ph idx="1"/>
          </p:nvPr>
        </p:nvSpPr>
        <p:spPr>
          <a:xfrm>
            <a:off x="590204" y="1263535"/>
            <a:ext cx="11105803" cy="5062450"/>
          </a:xfrm>
        </p:spPr>
        <p:txBody>
          <a:bodyPr>
            <a:noAutofit/>
          </a:bodyPr>
          <a:lstStyle/>
          <a:p>
            <a:pPr marL="0" indent="0">
              <a:lnSpc>
                <a:spcPct val="120000"/>
              </a:lnSpc>
              <a:buNone/>
            </a:pPr>
            <a:r>
              <a:rPr lang="en-IN" sz="1400" dirty="0">
                <a:latin typeface="Times New Roman" panose="02020603050405020304" pitchFamily="18" charset="0"/>
                <a:cs typeface="Times New Roman" panose="02020603050405020304" pitchFamily="18" charset="0"/>
              </a:rPr>
              <a:t>[1] H. </a:t>
            </a:r>
            <a:r>
              <a:rPr lang="en-IN" sz="1400" dirty="0" err="1">
                <a:latin typeface="Times New Roman" panose="02020603050405020304" pitchFamily="18" charset="0"/>
                <a:cs typeface="Times New Roman" panose="02020603050405020304" pitchFamily="18" charset="0"/>
              </a:rPr>
              <a:t>Harkous</a:t>
            </a:r>
            <a:r>
              <a:rPr lang="en-IN" sz="1400" dirty="0">
                <a:latin typeface="Times New Roman" panose="02020603050405020304" pitchFamily="18" charset="0"/>
                <a:cs typeface="Times New Roman" panose="02020603050405020304" pitchFamily="18" charset="0"/>
              </a:rPr>
              <a:t>, K. Fawaz, R. </a:t>
            </a:r>
            <a:r>
              <a:rPr lang="en-IN" sz="1400" dirty="0" err="1">
                <a:latin typeface="Times New Roman" panose="02020603050405020304" pitchFamily="18" charset="0"/>
                <a:cs typeface="Times New Roman" panose="02020603050405020304" pitchFamily="18" charset="0"/>
              </a:rPr>
              <a:t>Lebret</a:t>
            </a:r>
            <a:r>
              <a:rPr lang="en-IN" sz="1400" dirty="0">
                <a:latin typeface="Times New Roman" panose="02020603050405020304" pitchFamily="18" charset="0"/>
                <a:cs typeface="Times New Roman" panose="02020603050405020304" pitchFamily="18" charset="0"/>
              </a:rPr>
              <a:t>, F. Schaub, K. G. Shin, and K. </a:t>
            </a:r>
            <a:r>
              <a:rPr lang="en-IN" sz="1400" dirty="0" err="1">
                <a:latin typeface="Times New Roman" panose="02020603050405020304" pitchFamily="18" charset="0"/>
                <a:cs typeface="Times New Roman" panose="02020603050405020304" pitchFamily="18" charset="0"/>
              </a:rPr>
              <a:t>Aberer</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Polisis</a:t>
            </a:r>
            <a:r>
              <a:rPr lang="en-IN" sz="1400" dirty="0">
                <a:latin typeface="Times New Roman" panose="02020603050405020304" pitchFamily="18" charset="0"/>
                <a:cs typeface="Times New Roman" panose="02020603050405020304" pitchFamily="18" charset="0"/>
              </a:rPr>
              <a:t>: Automated Analysis and Presentation of Privacy Policies Using Deep Learning," in </a:t>
            </a:r>
            <a:r>
              <a:rPr lang="en-IN" sz="1400" i="1" dirty="0">
                <a:latin typeface="Times New Roman" panose="02020603050405020304" pitchFamily="18" charset="0"/>
                <a:cs typeface="Times New Roman" panose="02020603050405020304" pitchFamily="18" charset="0"/>
              </a:rPr>
              <a:t>Proc. USENIX Security </a:t>
            </a:r>
            <a:r>
              <a:rPr lang="en-IN" sz="1400" i="1" dirty="0" err="1">
                <a:latin typeface="Times New Roman" panose="02020603050405020304" pitchFamily="18" charset="0"/>
                <a:cs typeface="Times New Roman" panose="02020603050405020304" pitchFamily="18" charset="0"/>
              </a:rPr>
              <a:t>Symp</a:t>
            </a:r>
            <a:r>
              <a:rPr lang="en-IN" sz="1400" i="1" dirty="0">
                <a:latin typeface="Times New Roman" panose="02020603050405020304" pitchFamily="18" charset="0"/>
                <a:cs typeface="Times New Roman" panose="02020603050405020304" pitchFamily="18" charset="0"/>
              </a:rPr>
              <a:t>.</a:t>
            </a:r>
            <a:r>
              <a:rPr lang="en-IN" sz="1400" dirty="0">
                <a:latin typeface="Times New Roman" panose="02020603050405020304" pitchFamily="18" charset="0"/>
                <a:cs typeface="Times New Roman" panose="02020603050405020304" pitchFamily="18" charset="0"/>
              </a:rPr>
              <a:t>, 2018, pp. 531–548. </a:t>
            </a:r>
          </a:p>
          <a:p>
            <a:pPr marL="0" indent="0">
              <a:lnSpc>
                <a:spcPct val="120000"/>
              </a:lnSpc>
              <a:buNone/>
            </a:pPr>
            <a:r>
              <a:rPr lang="en-IN" sz="1400" dirty="0">
                <a:latin typeface="Times New Roman" panose="02020603050405020304" pitchFamily="18" charset="0"/>
                <a:cs typeface="Times New Roman" panose="02020603050405020304" pitchFamily="18" charset="0"/>
              </a:rPr>
              <a:t>[2] H. </a:t>
            </a:r>
            <a:r>
              <a:rPr lang="en-IN" sz="1400" dirty="0" err="1">
                <a:latin typeface="Times New Roman" panose="02020603050405020304" pitchFamily="18" charset="0"/>
                <a:cs typeface="Times New Roman" panose="02020603050405020304" pitchFamily="18" charset="0"/>
              </a:rPr>
              <a:t>Harkous</a:t>
            </a:r>
            <a:r>
              <a:rPr lang="en-IN" sz="1400" dirty="0">
                <a:latin typeface="Times New Roman" panose="02020603050405020304" pitchFamily="18" charset="0"/>
                <a:cs typeface="Times New Roman" panose="02020603050405020304" pitchFamily="18" charset="0"/>
              </a:rPr>
              <a:t> et al., "</a:t>
            </a:r>
            <a:r>
              <a:rPr lang="en-IN" sz="1400" dirty="0" err="1">
                <a:latin typeface="Times New Roman" panose="02020603050405020304" pitchFamily="18" charset="0"/>
                <a:cs typeface="Times New Roman" panose="02020603050405020304" pitchFamily="18" charset="0"/>
              </a:rPr>
              <a:t>PriBots</a:t>
            </a:r>
            <a:r>
              <a:rPr lang="en-IN" sz="1400" dirty="0">
                <a:latin typeface="Times New Roman" panose="02020603050405020304" pitchFamily="18" charset="0"/>
                <a:cs typeface="Times New Roman" panose="02020603050405020304" pitchFamily="18" charset="0"/>
              </a:rPr>
              <a:t>: Conversational Privacy with Chatbots," in </a:t>
            </a:r>
            <a:r>
              <a:rPr lang="en-IN" sz="1400" i="1" dirty="0">
                <a:latin typeface="Times New Roman" panose="02020603050405020304" pitchFamily="18" charset="0"/>
                <a:cs typeface="Times New Roman" panose="02020603050405020304" pitchFamily="18" charset="0"/>
              </a:rPr>
              <a:t>Workshop on the Future of Privacy Indicators, SOUPS</a:t>
            </a:r>
            <a:r>
              <a:rPr lang="en-IN" sz="1400" dirty="0">
                <a:latin typeface="Times New Roman" panose="02020603050405020304" pitchFamily="18" charset="0"/>
                <a:cs typeface="Times New Roman" panose="02020603050405020304" pitchFamily="18" charset="0"/>
              </a:rPr>
              <a:t>, 2016.</a:t>
            </a:r>
          </a:p>
          <a:p>
            <a:pPr marL="0" indent="0">
              <a:lnSpc>
                <a:spcPct val="120000"/>
              </a:lnSpc>
              <a:buNone/>
            </a:pPr>
            <a:r>
              <a:rPr lang="en-IN" sz="1400" dirty="0">
                <a:latin typeface="Times New Roman" panose="02020603050405020304" pitchFamily="18" charset="0"/>
                <a:cs typeface="Times New Roman" panose="02020603050405020304" pitchFamily="18" charset="0"/>
              </a:rPr>
              <a:t>[3] CAVI, Aarhus University, "Consent-O-Matic: Automatically Answering Consent Pop-ups Using Adversarial Interoperability," in </a:t>
            </a:r>
            <a:r>
              <a:rPr lang="en-IN" sz="1400" i="1" dirty="0">
                <a:latin typeface="Times New Roman" panose="02020603050405020304" pitchFamily="18" charset="0"/>
                <a:cs typeface="Times New Roman" panose="02020603050405020304" pitchFamily="18" charset="0"/>
              </a:rPr>
              <a:t>Proc. ACM CHI Conf. Hum. Factors </a:t>
            </a:r>
            <a:r>
              <a:rPr lang="en-IN" sz="1400" i="1" dirty="0" err="1">
                <a:latin typeface="Times New Roman" panose="02020603050405020304" pitchFamily="18" charset="0"/>
                <a:cs typeface="Times New Roman" panose="02020603050405020304" pitchFamily="18" charset="0"/>
              </a:rPr>
              <a:t>Comput</a:t>
            </a:r>
            <a:r>
              <a:rPr lang="en-IN" sz="1400" i="1" dirty="0">
                <a:latin typeface="Times New Roman" panose="02020603050405020304" pitchFamily="18" charset="0"/>
                <a:cs typeface="Times New Roman" panose="02020603050405020304" pitchFamily="18" charset="0"/>
              </a:rPr>
              <a:t>. Syst.</a:t>
            </a:r>
            <a:r>
              <a:rPr lang="en-IN" sz="1400" dirty="0">
                <a:latin typeface="Times New Roman" panose="02020603050405020304" pitchFamily="18" charset="0"/>
                <a:cs typeface="Times New Roman" panose="02020603050405020304" pitchFamily="18" charset="0"/>
              </a:rPr>
              <a:t>, 2022.</a:t>
            </a:r>
          </a:p>
          <a:p>
            <a:pPr marL="0" indent="0">
              <a:lnSpc>
                <a:spcPct val="120000"/>
              </a:lnSpc>
              <a:buNone/>
            </a:pPr>
            <a:r>
              <a:rPr lang="en-IN" sz="1400" dirty="0">
                <a:latin typeface="Times New Roman" panose="02020603050405020304" pitchFamily="18" charset="0"/>
                <a:cs typeface="Times New Roman" panose="02020603050405020304" pitchFamily="18" charset="0"/>
              </a:rPr>
              <a:t>[4] V. </a:t>
            </a:r>
            <a:r>
              <a:rPr lang="en-IN" sz="1400" dirty="0" err="1">
                <a:latin typeface="Times New Roman" panose="02020603050405020304" pitchFamily="18" charset="0"/>
                <a:cs typeface="Times New Roman" panose="02020603050405020304" pitchFamily="18" charset="0"/>
              </a:rPr>
              <a:t>Freiberger</a:t>
            </a:r>
            <a:r>
              <a:rPr lang="en-IN" sz="1400" dirty="0">
                <a:latin typeface="Times New Roman" panose="02020603050405020304" pitchFamily="18" charset="0"/>
                <a:cs typeface="Times New Roman" panose="02020603050405020304" pitchFamily="18" charset="0"/>
              </a:rPr>
              <a:t>, "The Privacy Guardian Agent: Towards Trustworthy AI Privacy Agents," </a:t>
            </a:r>
            <a:r>
              <a:rPr lang="en-IN" sz="1400" i="1" dirty="0" err="1">
                <a:latin typeface="Times New Roman" panose="02020603050405020304" pitchFamily="18" charset="0"/>
                <a:cs typeface="Times New Roman" panose="02020603050405020304" pitchFamily="18" charset="0"/>
              </a:rPr>
              <a:t>arXiv</a:t>
            </a:r>
            <a:r>
              <a:rPr lang="en-IN" sz="1400" i="1" dirty="0">
                <a:latin typeface="Times New Roman" panose="02020603050405020304" pitchFamily="18" charset="0"/>
                <a:cs typeface="Times New Roman" panose="02020603050405020304" pitchFamily="18" charset="0"/>
              </a:rPr>
              <a:t> preprint arXiv:2604.21455</a:t>
            </a:r>
            <a:r>
              <a:rPr lang="en-IN" sz="1400" dirty="0">
                <a:latin typeface="Times New Roman" panose="02020603050405020304" pitchFamily="18" charset="0"/>
                <a:cs typeface="Times New Roman" panose="02020603050405020304" pitchFamily="18" charset="0"/>
              </a:rPr>
              <a:t>, 2026. </a:t>
            </a:r>
          </a:p>
          <a:p>
            <a:pPr marL="0" indent="0">
              <a:lnSpc>
                <a:spcPct val="120000"/>
              </a:lnSpc>
              <a:buNone/>
            </a:pPr>
            <a:r>
              <a:rPr lang="en-IN" sz="1400" dirty="0">
                <a:latin typeface="Times New Roman" panose="02020603050405020304" pitchFamily="18" charset="0"/>
                <a:cs typeface="Times New Roman" panose="02020603050405020304" pitchFamily="18" charset="0"/>
              </a:rPr>
              <a:t>[5] Y. Zheng et al., "</a:t>
            </a:r>
            <a:r>
              <a:rPr lang="en-IN" sz="1400" dirty="0" err="1">
                <a:latin typeface="Times New Roman" panose="02020603050405020304" pitchFamily="18" charset="0"/>
                <a:cs typeface="Times New Roman" panose="02020603050405020304" pitchFamily="18" charset="0"/>
              </a:rPr>
              <a:t>AudAgent</a:t>
            </a:r>
            <a:r>
              <a:rPr lang="en-IN" sz="1400" dirty="0">
                <a:latin typeface="Times New Roman" panose="02020603050405020304" pitchFamily="18" charset="0"/>
                <a:cs typeface="Times New Roman" panose="02020603050405020304" pitchFamily="18" charset="0"/>
              </a:rPr>
              <a:t>: Automated Auditing of Privacy Policy Compliance in AI Agents," </a:t>
            </a:r>
            <a:r>
              <a:rPr lang="en-IN" sz="1400" i="1" dirty="0" err="1">
                <a:latin typeface="Times New Roman" panose="02020603050405020304" pitchFamily="18" charset="0"/>
                <a:cs typeface="Times New Roman" panose="02020603050405020304" pitchFamily="18" charset="0"/>
              </a:rPr>
              <a:t>arXiv</a:t>
            </a:r>
            <a:r>
              <a:rPr lang="en-IN" sz="1400" i="1" dirty="0">
                <a:latin typeface="Times New Roman" panose="02020603050405020304" pitchFamily="18" charset="0"/>
                <a:cs typeface="Times New Roman" panose="02020603050405020304" pitchFamily="18" charset="0"/>
              </a:rPr>
              <a:t> preprint arXiv:2511.07441</a:t>
            </a:r>
            <a:r>
              <a:rPr lang="en-IN" sz="1400" dirty="0">
                <a:latin typeface="Times New Roman" panose="02020603050405020304" pitchFamily="18" charset="0"/>
                <a:cs typeface="Times New Roman" panose="02020603050405020304" pitchFamily="18" charset="0"/>
              </a:rPr>
              <a:t>, 2025.</a:t>
            </a:r>
          </a:p>
          <a:p>
            <a:pPr marL="0" indent="0">
              <a:lnSpc>
                <a:spcPct val="120000"/>
              </a:lnSpc>
              <a:buNone/>
            </a:pPr>
            <a:r>
              <a:rPr lang="en-IN" sz="1400" dirty="0">
                <a:latin typeface="Times New Roman" panose="02020603050405020304" pitchFamily="18" charset="0"/>
                <a:cs typeface="Times New Roman" panose="02020603050405020304" pitchFamily="18" charset="0"/>
              </a:rPr>
              <a:t>[6] IAB Europe, "Transparency &amp; Consent Framework (TCF) v2.2 Specification," iabeurope.eu</a:t>
            </a:r>
          </a:p>
          <a:p>
            <a:pPr marL="0" indent="0">
              <a:lnSpc>
                <a:spcPct val="120000"/>
              </a:lnSpc>
              <a:buNone/>
            </a:pPr>
            <a:r>
              <a:rPr lang="en-IN" sz="1400" dirty="0">
                <a:latin typeface="Times New Roman" panose="02020603050405020304" pitchFamily="18" charset="0"/>
                <a:cs typeface="Times New Roman" panose="02020603050405020304" pitchFamily="18" charset="0"/>
              </a:rPr>
              <a:t>[7] T. Ma, T. Tang, Y. </a:t>
            </a:r>
            <a:r>
              <a:rPr lang="en-IN" sz="1400" dirty="0" err="1">
                <a:latin typeface="Times New Roman" panose="02020603050405020304" pitchFamily="18" charset="0"/>
                <a:cs typeface="Times New Roman" panose="02020603050405020304" pitchFamily="18" charset="0"/>
              </a:rPr>
              <a:t>Lyu</a:t>
            </a:r>
            <a:r>
              <a:rPr lang="en-IN" sz="1400" dirty="0">
                <a:latin typeface="Times New Roman" panose="02020603050405020304" pitchFamily="18" charset="0"/>
                <a:cs typeface="Times New Roman" panose="02020603050405020304" pitchFamily="18" charset="0"/>
              </a:rPr>
              <a:t>, H. Yin, Y. Ong, and I. Tsang, "</a:t>
            </a:r>
            <a:r>
              <a:rPr lang="en-IN" sz="1400" dirty="0" err="1">
                <a:latin typeface="Times New Roman" panose="02020603050405020304" pitchFamily="18" charset="0"/>
                <a:cs typeface="Times New Roman" panose="02020603050405020304" pitchFamily="18" charset="0"/>
              </a:rPr>
              <a:t>PrivAgentFlow</a:t>
            </a:r>
            <a:r>
              <a:rPr lang="en-IN" sz="1400" dirty="0">
                <a:latin typeface="Times New Roman" panose="02020603050405020304" pitchFamily="18" charset="0"/>
                <a:cs typeface="Times New Roman" panose="02020603050405020304" pitchFamily="18" charset="0"/>
              </a:rPr>
              <a:t>: Agentic Workflow for Distributed Privacy Control in Web Agents," in </a:t>
            </a:r>
            <a:r>
              <a:rPr lang="en-IN" sz="1400" i="1" dirty="0" err="1">
                <a:latin typeface="Times New Roman" panose="02020603050405020304" pitchFamily="18" charset="0"/>
                <a:cs typeface="Times New Roman" panose="02020603050405020304" pitchFamily="18" charset="0"/>
              </a:rPr>
              <a:t>NeurIPS</a:t>
            </a:r>
            <a:r>
              <a:rPr lang="en-IN" sz="1400" i="1" dirty="0">
                <a:latin typeface="Times New Roman" panose="02020603050405020304" pitchFamily="18" charset="0"/>
                <a:cs typeface="Times New Roman" panose="02020603050405020304" pitchFamily="18" charset="0"/>
              </a:rPr>
              <a:t> Workshop Soc. Responsible Trustworthy Found. Models</a:t>
            </a:r>
            <a:r>
              <a:rPr lang="en-IN" sz="1400" dirty="0">
                <a:latin typeface="Times New Roman" panose="02020603050405020304" pitchFamily="18" charset="0"/>
                <a:cs typeface="Times New Roman" panose="02020603050405020304" pitchFamily="18" charset="0"/>
              </a:rPr>
              <a:t>, 2025. </a:t>
            </a:r>
          </a:p>
          <a:p>
            <a:pPr marL="0" indent="0">
              <a:lnSpc>
                <a:spcPct val="120000"/>
              </a:lnSpc>
              <a:buNone/>
            </a:pPr>
            <a:r>
              <a:rPr lang="en-IN" sz="1400" dirty="0">
                <a:latin typeface="Times New Roman" panose="02020603050405020304" pitchFamily="18" charset="0"/>
                <a:cs typeface="Times New Roman" panose="02020603050405020304" pitchFamily="18" charset="0"/>
              </a:rPr>
              <a:t>[8] "Towards Smart and User-Centric Privacy-Aware Consent Systems," in </a:t>
            </a:r>
            <a:r>
              <a:rPr lang="en-IN" sz="1400" i="1" dirty="0">
                <a:latin typeface="Times New Roman" panose="02020603050405020304" pitchFamily="18" charset="0"/>
                <a:cs typeface="Times New Roman" panose="02020603050405020304" pitchFamily="18" charset="0"/>
              </a:rPr>
              <a:t>Proc. IEEE Int. Conf. </a:t>
            </a:r>
            <a:r>
              <a:rPr lang="en-IN" sz="1400" i="1" dirty="0" err="1">
                <a:latin typeface="Times New Roman" panose="02020603050405020304" pitchFamily="18" charset="0"/>
                <a:cs typeface="Times New Roman" panose="02020603050405020304" pitchFamily="18" charset="0"/>
              </a:rPr>
              <a:t>Consum</a:t>
            </a:r>
            <a:r>
              <a:rPr lang="en-IN" sz="1400" i="1" dirty="0">
                <a:latin typeface="Times New Roman" panose="02020603050405020304" pitchFamily="18" charset="0"/>
                <a:cs typeface="Times New Roman" panose="02020603050405020304" pitchFamily="18" charset="0"/>
              </a:rPr>
              <a:t>. Electron. (ICCE)</a:t>
            </a:r>
            <a:r>
              <a:rPr lang="en-IN" sz="1400" dirty="0">
                <a:latin typeface="Times New Roman" panose="02020603050405020304" pitchFamily="18" charset="0"/>
                <a:cs typeface="Times New Roman" panose="02020603050405020304" pitchFamily="18" charset="0"/>
              </a:rPr>
              <a:t>, Las Vegas, NV, USA, Jan. 2026. </a:t>
            </a:r>
          </a:p>
          <a:p>
            <a:pPr marL="0" indent="0">
              <a:lnSpc>
                <a:spcPct val="120000"/>
              </a:lnSpc>
              <a:buNone/>
            </a:pPr>
            <a:r>
              <a:rPr lang="en-IN" sz="1400" dirty="0">
                <a:latin typeface="Times New Roman" panose="02020603050405020304" pitchFamily="18" charset="0"/>
                <a:cs typeface="Times New Roman" panose="02020603050405020304" pitchFamily="18" charset="0"/>
              </a:rPr>
              <a:t>[9] Y. Cheng, H. Ye, H. Li, J. Sun, and Y. Chen, "</a:t>
            </a:r>
            <a:r>
              <a:rPr lang="en-IN" sz="1400" dirty="0" err="1">
                <a:latin typeface="Times New Roman" panose="02020603050405020304" pitchFamily="18" charset="0"/>
                <a:cs typeface="Times New Roman" panose="02020603050405020304" pitchFamily="18" charset="0"/>
              </a:rPr>
              <a:t>PrivAct</a:t>
            </a:r>
            <a:r>
              <a:rPr lang="en-IN" sz="1400" dirty="0">
                <a:latin typeface="Times New Roman" panose="02020603050405020304" pitchFamily="18" charset="0"/>
                <a:cs typeface="Times New Roman" panose="02020603050405020304" pitchFamily="18" charset="0"/>
              </a:rPr>
              <a:t>: Internalizing Contextual Privacy Preservation via Multi-Agent Preference Training," in </a:t>
            </a:r>
            <a:r>
              <a:rPr lang="en-IN" sz="1400" i="1" dirty="0">
                <a:latin typeface="Times New Roman" panose="02020603050405020304" pitchFamily="18" charset="0"/>
                <a:cs typeface="Times New Roman" panose="02020603050405020304" pitchFamily="18" charset="0"/>
              </a:rPr>
              <a:t>Proc. Int. Conf. Mach. Learn. (ICML)</a:t>
            </a:r>
            <a:r>
              <a:rPr lang="en-IN" sz="1400" dirty="0">
                <a:latin typeface="Times New Roman" panose="02020603050405020304" pitchFamily="18" charset="0"/>
                <a:cs typeface="Times New Roman" panose="02020603050405020304" pitchFamily="18" charset="0"/>
              </a:rPr>
              <a:t>, 2026. </a:t>
            </a:r>
          </a:p>
          <a:p>
            <a:pPr marL="0" indent="0">
              <a:lnSpc>
                <a:spcPct val="120000"/>
              </a:lnSpc>
              <a:buNone/>
            </a:pPr>
            <a:r>
              <a:rPr lang="en-IN" sz="1400" dirty="0">
                <a:latin typeface="Times New Roman" panose="02020603050405020304" pitchFamily="18" charset="0"/>
                <a:cs typeface="Times New Roman" panose="02020603050405020304" pitchFamily="18" charset="0"/>
              </a:rPr>
              <a:t>[10] H. Guo, "</a:t>
            </a:r>
            <a:r>
              <a:rPr lang="en-IN" sz="1400" dirty="0" err="1">
                <a:latin typeface="Times New Roman" panose="02020603050405020304" pitchFamily="18" charset="0"/>
                <a:cs typeface="Times New Roman" panose="02020603050405020304" pitchFamily="18" charset="0"/>
              </a:rPr>
              <a:t>ConsentDiff</a:t>
            </a:r>
            <a:r>
              <a:rPr lang="en-IN" sz="1400" dirty="0">
                <a:latin typeface="Times New Roman" panose="02020603050405020304" pitchFamily="18" charset="0"/>
                <a:cs typeface="Times New Roman" panose="02020603050405020304" pitchFamily="18" charset="0"/>
              </a:rPr>
              <a:t> at Scale: Longitudinal Audits of Web Privacy Policy Changes and UI Frictions," </a:t>
            </a:r>
            <a:r>
              <a:rPr lang="en-IN" sz="1400" i="1" dirty="0" err="1">
                <a:latin typeface="Times New Roman" panose="02020603050405020304" pitchFamily="18" charset="0"/>
                <a:cs typeface="Times New Roman" panose="02020603050405020304" pitchFamily="18" charset="0"/>
              </a:rPr>
              <a:t>arXiv</a:t>
            </a:r>
            <a:r>
              <a:rPr lang="en-IN" sz="1400" i="1" dirty="0">
                <a:latin typeface="Times New Roman" panose="02020603050405020304" pitchFamily="18" charset="0"/>
                <a:cs typeface="Times New Roman" panose="02020603050405020304" pitchFamily="18" charset="0"/>
              </a:rPr>
              <a:t> preprint arXiv:2512.04316</a:t>
            </a:r>
            <a:r>
              <a:rPr lang="en-IN" sz="1400" dirty="0">
                <a:latin typeface="Times New Roman" panose="02020603050405020304" pitchFamily="18" charset="0"/>
                <a:cs typeface="Times New Roman" panose="02020603050405020304" pitchFamily="18" charset="0"/>
              </a:rPr>
              <a:t>, 2025</a:t>
            </a:r>
          </a:p>
          <a:p>
            <a:pPr>
              <a:lnSpc>
                <a:spcPct val="120000"/>
              </a:lnSpc>
            </a:pPr>
            <a:endParaRPr lang="en-IN" sz="1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49E30A8-FB69-4BC6-A95E-9072BB2ABAEB}"/>
              </a:ext>
            </a:extLst>
          </p:cNvPr>
          <p:cNvSpPr/>
          <p:nvPr/>
        </p:nvSpPr>
        <p:spPr>
          <a:xfrm>
            <a:off x="349136" y="440575"/>
            <a:ext cx="11513126" cy="609322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78024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82D1DD-6C0F-4652-9390-8D70F918918F}"/>
              </a:ext>
            </a:extLst>
          </p:cNvPr>
          <p:cNvSpPr>
            <a:spLocks noGrp="1"/>
          </p:cNvSpPr>
          <p:nvPr>
            <p:ph idx="1"/>
          </p:nvPr>
        </p:nvSpPr>
        <p:spPr>
          <a:xfrm>
            <a:off x="838200" y="5636029"/>
            <a:ext cx="10134600" cy="540934"/>
          </a:xfrm>
        </p:spPr>
        <p:txBody>
          <a:bodyPr/>
          <a:lstStyle/>
          <a:p>
            <a:endParaRPr lang="en-IN" dirty="0"/>
          </a:p>
        </p:txBody>
      </p:sp>
      <p:sp>
        <p:nvSpPr>
          <p:cNvPr id="4" name="Rectangle 3">
            <a:extLst>
              <a:ext uri="{FF2B5EF4-FFF2-40B4-BE49-F238E27FC236}">
                <a16:creationId xmlns:a16="http://schemas.microsoft.com/office/drawing/2014/main" id="{149E30A8-FB69-4BC6-A95E-9072BB2ABAEB}"/>
              </a:ext>
            </a:extLst>
          </p:cNvPr>
          <p:cNvSpPr/>
          <p:nvPr/>
        </p:nvSpPr>
        <p:spPr>
          <a:xfrm>
            <a:off x="349136" y="440575"/>
            <a:ext cx="11513126" cy="609322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itle 5">
            <a:extLst>
              <a:ext uri="{FF2B5EF4-FFF2-40B4-BE49-F238E27FC236}">
                <a16:creationId xmlns:a16="http://schemas.microsoft.com/office/drawing/2014/main" id="{B63BC3B5-349C-491F-9E5C-8696E4282E13}"/>
              </a:ext>
            </a:extLst>
          </p:cNvPr>
          <p:cNvSpPr>
            <a:spLocks noGrp="1"/>
          </p:cNvSpPr>
          <p:nvPr>
            <p:ph type="title"/>
          </p:nvPr>
        </p:nvSpPr>
        <p:spPr>
          <a:xfrm>
            <a:off x="4329545" y="2766218"/>
            <a:ext cx="4091247" cy="1325563"/>
          </a:xfrm>
        </p:spPr>
        <p:txBody>
          <a:bodyPr/>
          <a:lstStyle/>
          <a:p>
            <a:r>
              <a:rPr lang="en-IN" dirty="0">
                <a:latin typeface="Times New Roman" panose="02020603050405020304" pitchFamily="18" charset="0"/>
                <a:cs typeface="Times New Roman" panose="02020603050405020304" pitchFamily="18" charset="0"/>
              </a:rPr>
              <a:t>THANK YOU</a:t>
            </a:r>
          </a:p>
        </p:txBody>
      </p:sp>
      <p:sp>
        <p:nvSpPr>
          <p:cNvPr id="5" name="TextBox 4">
            <a:extLst>
              <a:ext uri="{FF2B5EF4-FFF2-40B4-BE49-F238E27FC236}">
                <a16:creationId xmlns:a16="http://schemas.microsoft.com/office/drawing/2014/main" id="{671B4A61-982A-E336-B518-72556F202333}"/>
              </a:ext>
            </a:extLst>
          </p:cNvPr>
          <p:cNvSpPr txBox="1"/>
          <p:nvPr/>
        </p:nvSpPr>
        <p:spPr>
          <a:xfrm>
            <a:off x="5766318" y="6190518"/>
            <a:ext cx="643813" cy="307777"/>
          </a:xfrm>
          <a:prstGeom prst="rect">
            <a:avLst/>
          </a:prstGeom>
          <a:noFill/>
        </p:spPr>
        <p:txBody>
          <a:bodyPr wrap="square" rtlCol="0">
            <a:spAutoFit/>
          </a:bodyPr>
          <a:lstStyle/>
          <a:p>
            <a:r>
              <a:rPr lang="en-US" sz="1400" dirty="0"/>
              <a:t>13</a:t>
            </a:r>
            <a:endParaRPr lang="en-IN" sz="1400" dirty="0"/>
          </a:p>
        </p:txBody>
      </p:sp>
    </p:spTree>
    <p:extLst>
      <p:ext uri="{BB962C8B-B14F-4D97-AF65-F5344CB8AC3E}">
        <p14:creationId xmlns:p14="http://schemas.microsoft.com/office/powerpoint/2010/main" val="36193878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1338</TotalTime>
  <Words>1099</Words>
  <Application>Microsoft Office PowerPoint</Application>
  <PresentationFormat>Widescreen</PresentationFormat>
  <Paragraphs>93</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AGENTIC  PRIVACY CONTROL SYSTEM</vt:lpstr>
      <vt:lpstr>ABSTRACT</vt:lpstr>
      <vt:lpstr>INTRODUCTION</vt:lpstr>
      <vt:lpstr>PROBLEM STATEMENT</vt:lpstr>
      <vt:lpstr>OBJECTIVES</vt:lpstr>
      <vt:lpstr>LITERATURE REVIEW</vt:lpstr>
      <vt:lpstr>PROPOSED WORK</vt:lpstr>
      <vt:lpstr>TECHNOLOGY STACK</vt:lpstr>
      <vt:lpstr>DATASET </vt:lpstr>
      <vt:lpstr>EVALUATION</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PRIVACY CONTROL SYSTEM</dc:title>
  <dc:creator>MAHESH</dc:creator>
  <cp:lastModifiedBy>Anshu Billa</cp:lastModifiedBy>
  <cp:revision>21</cp:revision>
  <dcterms:created xsi:type="dcterms:W3CDTF">2026-08-24T14:47:07Z</dcterms:created>
  <dcterms:modified xsi:type="dcterms:W3CDTF">2026-08-26T16:54:44Z</dcterms:modified>
</cp:coreProperties>
</file>