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7" r:id="rId2"/>
    <p:sldId id="288" r:id="rId3"/>
    <p:sldId id="275" r:id="rId4"/>
    <p:sldId id="274" r:id="rId5"/>
    <p:sldId id="261" r:id="rId6"/>
    <p:sldId id="289" r:id="rId7"/>
    <p:sldId id="280" r:id="rId8"/>
    <p:sldId id="286" r:id="rId9"/>
    <p:sldId id="282" r:id="rId10"/>
    <p:sldId id="278" r:id="rId11"/>
    <p:sldId id="279" r:id="rId12"/>
    <p:sldId id="283" r:id="rId13"/>
    <p:sldId id="284" r:id="rId14"/>
    <p:sldId id="28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26DA"/>
    <a:srgbClr val="3A0E52"/>
    <a:srgbClr val="140F51"/>
    <a:srgbClr val="2DC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462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_logo_mini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61" y="320039"/>
            <a:ext cx="814495" cy="8144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49640" y="429767"/>
            <a:ext cx="3185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0E7C86"/>
                </a:solidFill>
                <a:latin typeface="Calibri"/>
              </a:rPr>
              <a:t>V YEAR IDP-B.TECH DISSERTATION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69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i="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EXPLAINABLE AI FOR MUSCULAR DYSTROPHY</a:t>
            </a:r>
            <a:br>
              <a:rPr lang="en-IN" sz="36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36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SUBTYPE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2400" y="2707475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937260" y="3610864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1" i="0" dirty="0">
                <a:solidFill>
                  <a:srgbClr val="002060"/>
                </a:solidFill>
                <a:latin typeface="Cambria"/>
              </a:rPr>
              <a:t>UNIVERSITY COLLEGE OF ENGINEERING, SCIENCE AND TECHNOLOGY, JNTUH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33856" y="4454953"/>
            <a:ext cx="4581144" cy="1170432"/>
          </a:xfrm>
          <a:prstGeom prst="roundRect">
            <a:avLst/>
          </a:prstGeom>
          <a:solidFill>
            <a:srgbClr val="FCFD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82512" y="4453536"/>
            <a:ext cx="4983480" cy="1170432"/>
          </a:xfrm>
          <a:prstGeom prst="roundRect">
            <a:avLst/>
          </a:prstGeom>
          <a:solidFill>
            <a:srgbClr val="FCFD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503905"/>
            <a:ext cx="4526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E7C86"/>
                </a:solidFill>
                <a:latin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3717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F1B3C"/>
                </a:solidFill>
                <a:latin typeface="Cambria"/>
              </a:rPr>
              <a:t>D. Vaishnavi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180772"/>
            <a:ext cx="4526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677184"/>
                </a:solidFill>
                <a:latin typeface="Calibri"/>
              </a:rPr>
              <a:t>Roll No: 22011P0552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4530078"/>
            <a:ext cx="4526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E7C86"/>
                </a:solidFill>
                <a:latin typeface="Calibri"/>
              </a:rPr>
              <a:t>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4829970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F1B3C"/>
                </a:solidFill>
                <a:latin typeface="Cambria"/>
              </a:rPr>
              <a:t>Dr. B. Kranthi Kiran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5196160"/>
            <a:ext cx="4526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solidFill>
                  <a:srgbClr val="677184"/>
                </a:solidFill>
                <a:latin typeface="Calibri"/>
              </a:rPr>
              <a:t>Professor &amp; Coordinator – SC / ST Cell ,JNTUH </a:t>
            </a:r>
            <a:endParaRPr sz="1600" b="0" i="0" dirty="0">
              <a:solidFill>
                <a:srgbClr val="677184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8680" y="5989320"/>
            <a:ext cx="10469880" cy="18288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" y="3140964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i="0" dirty="0">
                <a:solidFill>
                  <a:srgbClr val="0F1B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Jawaharlal Nehru Technological University Hyderabad</a:t>
            </a:r>
          </a:p>
        </p:txBody>
      </p:sp>
      <p:pic>
        <p:nvPicPr>
          <p:cNvPr id="22" name="Image 0" descr="/home/claude/work/icons/dna_helix_corner.png">
            <a:extLst>
              <a:ext uri="{FF2B5EF4-FFF2-40B4-BE49-F238E27FC236}">
                <a16:creationId xmlns:a16="http://schemas.microsoft.com/office/drawing/2014/main" id="{31BA09E8-4352-6D66-34C6-4FBDA088EE3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303991">
            <a:off x="1639082" y="666345"/>
            <a:ext cx="566928" cy="5257800"/>
          </a:xfrm>
          <a:prstGeom prst="rect">
            <a:avLst/>
          </a:prstGeom>
        </p:spPr>
      </p:pic>
      <p:pic>
        <p:nvPicPr>
          <p:cNvPr id="24" name="Image 0" descr="/home/claude/work/icons/dna_helix_corner.png">
            <a:extLst>
              <a:ext uri="{FF2B5EF4-FFF2-40B4-BE49-F238E27FC236}">
                <a16:creationId xmlns:a16="http://schemas.microsoft.com/office/drawing/2014/main" id="{EA8EA0D1-1DE2-67D7-B0B2-67E6F17755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19343448">
            <a:off x="9893705" y="697077"/>
            <a:ext cx="566928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502920" y="42062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0F1B3C"/>
                </a:solidFill>
                <a:latin typeface="Cambria"/>
              </a:rPr>
              <a:t>Table of Contents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9418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478"/>
                </a:solidFill>
                <a:latin typeface="Calibri"/>
              </a:rPr>
              <a:t>A quick map of the sections covered in this presentation</a:t>
            </a:r>
          </a:p>
        </p:txBody>
      </p:sp>
      <p:sp>
        <p:nvSpPr>
          <p:cNvPr id="13" name="Rounded Rectangle 13"/>
          <p:cNvSpPr/>
          <p:nvPr/>
        </p:nvSpPr>
        <p:spPr>
          <a:xfrm>
            <a:off x="502920" y="1417320"/>
            <a:ext cx="5468112" cy="62000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4"/>
          <p:cNvSpPr/>
          <p:nvPr/>
        </p:nvSpPr>
        <p:spPr>
          <a:xfrm>
            <a:off x="667512" y="1590160"/>
            <a:ext cx="43891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667512" y="164959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6424" y="1603876"/>
            <a:ext cx="4564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F1B3C"/>
                </a:solidFill>
                <a:latin typeface="Cambria"/>
              </a:rPr>
              <a:t>Abstract</a:t>
            </a:r>
          </a:p>
        </p:txBody>
      </p:sp>
      <p:sp>
        <p:nvSpPr>
          <p:cNvPr id="17" name="Rounded Rectangle 17"/>
          <p:cNvSpPr/>
          <p:nvPr/>
        </p:nvSpPr>
        <p:spPr>
          <a:xfrm>
            <a:off x="502920" y="2147320"/>
            <a:ext cx="5468112" cy="62000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8"/>
          <p:cNvSpPr/>
          <p:nvPr/>
        </p:nvSpPr>
        <p:spPr>
          <a:xfrm>
            <a:off x="667512" y="2320160"/>
            <a:ext cx="43891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667512" y="237959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6424" y="2333876"/>
            <a:ext cx="4564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F1B3C"/>
                </a:solidFill>
                <a:latin typeface="Cambria"/>
              </a:rPr>
              <a:t>Introduction</a:t>
            </a:r>
          </a:p>
        </p:txBody>
      </p:sp>
      <p:sp>
        <p:nvSpPr>
          <p:cNvPr id="21" name="Rounded Rectangle 21"/>
          <p:cNvSpPr/>
          <p:nvPr/>
        </p:nvSpPr>
        <p:spPr>
          <a:xfrm>
            <a:off x="502920" y="2877320"/>
            <a:ext cx="5468112" cy="62000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2"/>
          <p:cNvSpPr/>
          <p:nvPr/>
        </p:nvSpPr>
        <p:spPr>
          <a:xfrm>
            <a:off x="667512" y="3050160"/>
            <a:ext cx="43891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67512" y="310959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6424" y="3063876"/>
            <a:ext cx="4564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F1B3C"/>
                </a:solidFill>
                <a:latin typeface="Cambria"/>
              </a:rPr>
              <a:t>Existing Work &amp; Base Papers</a:t>
            </a:r>
          </a:p>
        </p:txBody>
      </p:sp>
      <p:sp>
        <p:nvSpPr>
          <p:cNvPr id="25" name="Rounded Rectangle 25"/>
          <p:cNvSpPr/>
          <p:nvPr/>
        </p:nvSpPr>
        <p:spPr>
          <a:xfrm>
            <a:off x="502920" y="3607320"/>
            <a:ext cx="5468112" cy="62000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6"/>
          <p:cNvSpPr/>
          <p:nvPr/>
        </p:nvSpPr>
        <p:spPr>
          <a:xfrm>
            <a:off x="667512" y="3780160"/>
            <a:ext cx="43891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667512" y="383959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56424" y="3793876"/>
            <a:ext cx="4564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F1B3C"/>
                </a:solidFill>
                <a:latin typeface="Cambria"/>
              </a:rPr>
              <a:t>Problem Statement</a:t>
            </a:r>
          </a:p>
        </p:txBody>
      </p:sp>
      <p:sp>
        <p:nvSpPr>
          <p:cNvPr id="29" name="Rounded Rectangle 29"/>
          <p:cNvSpPr/>
          <p:nvPr/>
        </p:nvSpPr>
        <p:spPr>
          <a:xfrm>
            <a:off x="502920" y="4337320"/>
            <a:ext cx="5468112" cy="62000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30"/>
          <p:cNvSpPr/>
          <p:nvPr/>
        </p:nvSpPr>
        <p:spPr>
          <a:xfrm>
            <a:off x="667512" y="4510160"/>
            <a:ext cx="43891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667512" y="456959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6424" y="4523876"/>
            <a:ext cx="4564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F1B3C"/>
                </a:solidFill>
                <a:latin typeface="Cambria"/>
              </a:rPr>
              <a:t>Dataset Overview</a:t>
            </a:r>
          </a:p>
        </p:txBody>
      </p:sp>
      <p:sp>
        <p:nvSpPr>
          <p:cNvPr id="33" name="Rounded Rectangle 33"/>
          <p:cNvSpPr/>
          <p:nvPr/>
        </p:nvSpPr>
        <p:spPr>
          <a:xfrm>
            <a:off x="502920" y="5067320"/>
            <a:ext cx="5468112" cy="62000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4"/>
          <p:cNvSpPr/>
          <p:nvPr/>
        </p:nvSpPr>
        <p:spPr>
          <a:xfrm>
            <a:off x="667512" y="5240160"/>
            <a:ext cx="43891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667512" y="529959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56424" y="5253876"/>
            <a:ext cx="4564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F1B3C"/>
                </a:solidFill>
                <a:latin typeface="Cambria"/>
              </a:rPr>
              <a:t>System Architecture</a:t>
            </a:r>
          </a:p>
        </p:txBody>
      </p:sp>
      <p:sp>
        <p:nvSpPr>
          <p:cNvPr id="37" name="Rounded Rectangle 37"/>
          <p:cNvSpPr/>
          <p:nvPr/>
        </p:nvSpPr>
        <p:spPr>
          <a:xfrm>
            <a:off x="6099048" y="1417320"/>
            <a:ext cx="5468112" cy="62000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8"/>
          <p:cNvSpPr/>
          <p:nvPr/>
        </p:nvSpPr>
        <p:spPr>
          <a:xfrm>
            <a:off x="6263640" y="1590160"/>
            <a:ext cx="43891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6263640" y="164959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52552" y="1603876"/>
            <a:ext cx="4564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F1B3C"/>
                </a:solidFill>
                <a:latin typeface="Cambria"/>
              </a:rPr>
              <a:t>Methodology</a:t>
            </a:r>
          </a:p>
        </p:txBody>
      </p:sp>
      <p:sp>
        <p:nvSpPr>
          <p:cNvPr id="41" name="Rounded Rectangle 41"/>
          <p:cNvSpPr/>
          <p:nvPr/>
        </p:nvSpPr>
        <p:spPr>
          <a:xfrm>
            <a:off x="6099048" y="2147320"/>
            <a:ext cx="5468112" cy="62000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2"/>
          <p:cNvSpPr/>
          <p:nvPr/>
        </p:nvSpPr>
        <p:spPr>
          <a:xfrm>
            <a:off x="6263640" y="2320160"/>
            <a:ext cx="43891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6263640" y="237959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852552" y="2333876"/>
            <a:ext cx="4564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F1B3C"/>
                </a:solidFill>
                <a:latin typeface="Cambria"/>
              </a:rPr>
              <a:t>Algorithms Used</a:t>
            </a:r>
          </a:p>
        </p:txBody>
      </p:sp>
      <p:sp>
        <p:nvSpPr>
          <p:cNvPr id="45" name="Rounded Rectangle 45"/>
          <p:cNvSpPr/>
          <p:nvPr/>
        </p:nvSpPr>
        <p:spPr>
          <a:xfrm>
            <a:off x="6099048" y="2877320"/>
            <a:ext cx="5468112" cy="62000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6"/>
          <p:cNvSpPr/>
          <p:nvPr/>
        </p:nvSpPr>
        <p:spPr>
          <a:xfrm>
            <a:off x="6263640" y="3050160"/>
            <a:ext cx="43891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7"/>
          <p:cNvSpPr txBox="1"/>
          <p:nvPr/>
        </p:nvSpPr>
        <p:spPr>
          <a:xfrm>
            <a:off x="6263640" y="310959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852552" y="3063876"/>
            <a:ext cx="4564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F1B3C"/>
                </a:solidFill>
                <a:latin typeface="Cambria"/>
              </a:rPr>
              <a:t>Model Evaluation &amp; Metrics</a:t>
            </a:r>
          </a:p>
        </p:txBody>
      </p:sp>
      <p:sp>
        <p:nvSpPr>
          <p:cNvPr id="49" name="Rounded Rectangle 49"/>
          <p:cNvSpPr/>
          <p:nvPr/>
        </p:nvSpPr>
        <p:spPr>
          <a:xfrm>
            <a:off x="6099048" y="3607320"/>
            <a:ext cx="5468112" cy="62000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50"/>
          <p:cNvSpPr/>
          <p:nvPr/>
        </p:nvSpPr>
        <p:spPr>
          <a:xfrm>
            <a:off x="6263640" y="3780160"/>
            <a:ext cx="43891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6263640" y="383959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852552" y="3793876"/>
            <a:ext cx="4564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F1B3C"/>
                </a:solidFill>
                <a:latin typeface="Cambria"/>
              </a:rPr>
              <a:t>Expected Outcomes &amp; Conclusion</a:t>
            </a:r>
          </a:p>
        </p:txBody>
      </p:sp>
      <p:sp>
        <p:nvSpPr>
          <p:cNvPr id="53" name="Rounded Rectangle 53"/>
          <p:cNvSpPr/>
          <p:nvPr/>
        </p:nvSpPr>
        <p:spPr>
          <a:xfrm>
            <a:off x="6099048" y="4337320"/>
            <a:ext cx="5468112" cy="62000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4"/>
          <p:cNvSpPr/>
          <p:nvPr/>
        </p:nvSpPr>
        <p:spPr>
          <a:xfrm>
            <a:off x="6263640" y="4510160"/>
            <a:ext cx="43891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5"/>
          <p:cNvSpPr txBox="1"/>
          <p:nvPr/>
        </p:nvSpPr>
        <p:spPr>
          <a:xfrm>
            <a:off x="6263640" y="456959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52552" y="4523876"/>
            <a:ext cx="4564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F1B3C"/>
                </a:solidFill>
                <a:latin typeface="Cambria"/>
              </a:rPr>
              <a:t>References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064240" y="6510528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4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1666" y="754727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3" name="TextBox 43"/>
          <p:cNvSpPr txBox="1"/>
          <p:nvPr/>
        </p:nvSpPr>
        <p:spPr>
          <a:xfrm>
            <a:off x="541666" y="1250554"/>
            <a:ext cx="9692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B6478"/>
                </a:solidFill>
                <a:latin typeface="Calibri"/>
              </a:rPr>
              <a:t>A snapshot of the problem, data, method, and explainability behind the project</a:t>
            </a:r>
          </a:p>
        </p:txBody>
      </p:sp>
      <p:sp>
        <p:nvSpPr>
          <p:cNvPr id="4" name="Shape 2"/>
          <p:cNvSpPr/>
          <p:nvPr/>
        </p:nvSpPr>
        <p:spPr>
          <a:xfrm>
            <a:off x="489204" y="1689354"/>
            <a:ext cx="5454396" cy="1656907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701516" y="2152712"/>
            <a:ext cx="566928" cy="566928"/>
          </a:xfrm>
          <a:prstGeom prst="ellipse">
            <a:avLst/>
          </a:prstGeom>
          <a:solidFill>
            <a:srgbClr val="6C4FA1"/>
          </a:solidFill>
          <a:ln/>
        </p:spPr>
      </p:sp>
      <p:pic>
        <p:nvPicPr>
          <p:cNvPr id="6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45" y="226013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5191" y="1943100"/>
            <a:ext cx="4265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6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26464" y="2242566"/>
            <a:ext cx="4265676" cy="864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Muscular-dystrophy subtypes show overlapping clinical and molecular features, making subtype classification difficult.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48402" y="1689354"/>
            <a:ext cx="5454396" cy="1667043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7"/>
          <p:cNvSpPr/>
          <p:nvPr/>
        </p:nvSpPr>
        <p:spPr>
          <a:xfrm>
            <a:off x="6450447" y="2062743"/>
            <a:ext cx="566928" cy="566928"/>
          </a:xfrm>
          <a:prstGeom prst="ellipse">
            <a:avLst/>
          </a:prstGeom>
          <a:solidFill>
            <a:srgbClr val="0E6E7A"/>
          </a:solidFill>
          <a:ln/>
        </p:spPr>
      </p:sp>
      <p:pic>
        <p:nvPicPr>
          <p:cNvPr id="11" name="Image 1" descr="icons/databas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510" y="2185488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518" y="1939478"/>
            <a:ext cx="4265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0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44334" y="2235708"/>
            <a:ext cx="4265676" cy="864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GEO GSE3307 skeletal-muscle transcriptomic dataset, integrating verified GPL96 and GPL97 measurements.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02920" y="3839292"/>
            <a:ext cx="5454396" cy="160596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1"/>
          <p:cNvSpPr/>
          <p:nvPr/>
        </p:nvSpPr>
        <p:spPr>
          <a:xfrm>
            <a:off x="656806" y="4190238"/>
            <a:ext cx="566928" cy="566928"/>
          </a:xfrm>
          <a:prstGeom prst="ellipse">
            <a:avLst/>
          </a:prstGeom>
          <a:solidFill>
            <a:srgbClr val="3E6FBF"/>
          </a:solidFill>
          <a:ln/>
        </p:spPr>
      </p:sp>
      <p:pic>
        <p:nvPicPr>
          <p:cNvPr id="16" name="Image 2" descr="icons/filt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21" y="4331708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4073209"/>
            <a:ext cx="4265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3E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53312" y="4397025"/>
            <a:ext cx="4265676" cy="864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Elastic-Net feature selection, followed by comparative classification: Elastic-Net • XGBoost • CatBoost • LightGBM • TabNet.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6198304" y="3839292"/>
            <a:ext cx="5454396" cy="160596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50447" y="4082353"/>
            <a:ext cx="566928" cy="566928"/>
          </a:xfrm>
          <a:prstGeom prst="ellipse">
            <a:avLst/>
          </a:prstGeom>
          <a:solidFill>
            <a:srgbClr val="0B1F3D"/>
          </a:solidFill>
          <a:ln/>
        </p:spPr>
      </p:sp>
      <p:pic>
        <p:nvPicPr>
          <p:cNvPr id="21" name="Image 3" descr="icons/shield_navy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6586510" y="4228657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4334" y="4064362"/>
            <a:ext cx="4265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69518" y="4370296"/>
            <a:ext cx="4265676" cy="864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interpreted using TreeSHAP, DiCE counterfactuals, and biological pathway mapping via KEGG and Reactome.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502920" y="5554980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Transcriptomic</a:t>
            </a:r>
            <a:endParaRPr lang="en-US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2761488" y="5445252"/>
            <a:ext cx="189738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2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5170932" y="5650992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Subtype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7530084" y="5445252"/>
            <a:ext cx="1847088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9889236" y="5650992"/>
            <a:ext cx="18470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dna_helix_corner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11567160" y="1371600"/>
            <a:ext cx="50292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66554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8" name="TextBox 48"/>
          <p:cNvSpPr txBox="1"/>
          <p:nvPr/>
        </p:nvSpPr>
        <p:spPr>
          <a:xfrm>
            <a:off x="502920" y="112471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B6478"/>
                </a:solidFill>
                <a:latin typeface="Calibri"/>
              </a:rPr>
              <a:t>Why muscular-dystrophy subtypes are hard to tell apart, and how explainable AI can help</a:t>
            </a:r>
          </a:p>
        </p:txBody>
      </p:sp>
      <p:sp>
        <p:nvSpPr>
          <p:cNvPr id="6" name="Text 3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591328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F7FAFD"/>
          </a:solidFill>
          <a:ln w="12700">
            <a:solidFill>
              <a:srgbClr val="E3EAF3"/>
            </a:solidFill>
            <a:prstDash val="solid"/>
          </a:ln>
          <a:effectLst>
            <a:outerShdw blurRad="114300" dist="38100" dir="5400000" algn="bl" rotWithShape="0">
              <a:srgbClr val="8697B5">
                <a:alpha val="2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5"/>
          <p:cNvSpPr/>
          <p:nvPr/>
        </p:nvSpPr>
        <p:spPr>
          <a:xfrm>
            <a:off x="758952" y="1810784"/>
            <a:ext cx="512064" cy="310896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18107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10" name="Image 1" descr="/home/claude/work/icons/circle_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1664208"/>
            <a:ext cx="658368" cy="6583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" y="227712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Muscular Dystrophy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758952" y="2878388"/>
            <a:ext cx="118872" cy="118872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13" name="Text 9"/>
          <p:cNvSpPr/>
          <p:nvPr/>
        </p:nvSpPr>
        <p:spPr>
          <a:xfrm>
            <a:off x="987552" y="2780048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disorders that gradually damage muscles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758952" y="3547396"/>
            <a:ext cx="118872" cy="118872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15" name="Text 11"/>
          <p:cNvSpPr/>
          <p:nvPr/>
        </p:nvSpPr>
        <p:spPr>
          <a:xfrm>
            <a:off x="987552" y="3447561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subtypes often look similar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758952" y="4179080"/>
            <a:ext cx="118872" cy="118872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17" name="Text 13"/>
          <p:cNvSpPr/>
          <p:nvPr/>
        </p:nvSpPr>
        <p:spPr>
          <a:xfrm>
            <a:off x="987552" y="4078496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tell subtypes apart</a:t>
            </a:r>
            <a:endParaRPr lang="en-US" dirty="0"/>
          </a:p>
        </p:txBody>
      </p:sp>
      <p:sp>
        <p:nvSpPr>
          <p:cNvPr id="18" name="Shape 14"/>
          <p:cNvSpPr/>
          <p:nvPr/>
        </p:nvSpPr>
        <p:spPr>
          <a:xfrm rot="5400000">
            <a:off x="4046220" y="3013220"/>
            <a:ext cx="175565" cy="219456"/>
          </a:xfrm>
          <a:prstGeom prst="triangle">
            <a:avLst/>
          </a:prstGeom>
          <a:solidFill>
            <a:srgbClr val="1FA9B8"/>
          </a:solidFill>
          <a:ln/>
        </p:spPr>
      </p:sp>
      <p:sp>
        <p:nvSpPr>
          <p:cNvPr id="19" name="Shape 15"/>
          <p:cNvSpPr/>
          <p:nvPr/>
        </p:nvSpPr>
        <p:spPr>
          <a:xfrm>
            <a:off x="4311396" y="1591328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EAF6F6"/>
          </a:solidFill>
          <a:ln w="12700">
            <a:solidFill>
              <a:srgbClr val="BFE2E2"/>
            </a:solidFill>
            <a:prstDash val="solid"/>
          </a:ln>
          <a:effectLst>
            <a:outerShdw blurRad="114300" dist="38100" dir="5400000" algn="bl" rotWithShape="0">
              <a:srgbClr val="8697B5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67428" y="1810784"/>
            <a:ext cx="512064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1" name="Text 17"/>
          <p:cNvSpPr/>
          <p:nvPr/>
        </p:nvSpPr>
        <p:spPr>
          <a:xfrm>
            <a:off x="4567428" y="18107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22" name="Image 2" descr="/home/claude/work/icons/circle_dna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428" y="1664208"/>
            <a:ext cx="658368" cy="6583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67428" y="227712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Gene-Expression Data</a:t>
            </a:r>
            <a:endParaRPr lang="en-US" sz="1900" dirty="0"/>
          </a:p>
        </p:txBody>
      </p:sp>
      <p:sp>
        <p:nvSpPr>
          <p:cNvPr id="24" name="Shape 19"/>
          <p:cNvSpPr/>
          <p:nvPr/>
        </p:nvSpPr>
        <p:spPr>
          <a:xfrm>
            <a:off x="4567428" y="2822405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20"/>
          <p:cNvSpPr/>
          <p:nvPr/>
        </p:nvSpPr>
        <p:spPr>
          <a:xfrm>
            <a:off x="4750308" y="2722380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behave differently in each disease</a:t>
            </a:r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4567428" y="3463420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Text 22"/>
          <p:cNvSpPr/>
          <p:nvPr/>
        </p:nvSpPr>
        <p:spPr>
          <a:xfrm>
            <a:off x="4753107" y="3360692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are called transcriptomic data</a:t>
            </a:r>
            <a:endParaRPr lang="en-US" dirty="0"/>
          </a:p>
        </p:txBody>
      </p:sp>
      <p:sp>
        <p:nvSpPr>
          <p:cNvPr id="28" name="Shape 23"/>
          <p:cNvSpPr/>
          <p:nvPr/>
        </p:nvSpPr>
        <p:spPr>
          <a:xfrm>
            <a:off x="4567428" y="4123094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9" name="Text 24"/>
          <p:cNvSpPr/>
          <p:nvPr/>
        </p:nvSpPr>
        <p:spPr>
          <a:xfrm>
            <a:off x="4753107" y="4023632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help distinguish subtypes</a:t>
            </a:r>
            <a:endParaRPr lang="en-US" dirty="0"/>
          </a:p>
        </p:txBody>
      </p:sp>
      <p:sp>
        <p:nvSpPr>
          <p:cNvPr id="30" name="Shape 25"/>
          <p:cNvSpPr/>
          <p:nvPr/>
        </p:nvSpPr>
        <p:spPr>
          <a:xfrm rot="5400000">
            <a:off x="7854696" y="3013220"/>
            <a:ext cx="175565" cy="219456"/>
          </a:xfrm>
          <a:prstGeom prst="triangle">
            <a:avLst/>
          </a:prstGeom>
          <a:solidFill>
            <a:srgbClr val="1FA9B8"/>
          </a:solidFill>
          <a:ln/>
        </p:spPr>
      </p:sp>
      <p:sp>
        <p:nvSpPr>
          <p:cNvPr id="31" name="Shape 26"/>
          <p:cNvSpPr/>
          <p:nvPr/>
        </p:nvSpPr>
        <p:spPr>
          <a:xfrm>
            <a:off x="8119872" y="1591328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F6F4FB"/>
          </a:solidFill>
          <a:ln w="12700">
            <a:solidFill>
              <a:srgbClr val="DAD3EE"/>
            </a:solidFill>
            <a:prstDash val="solid"/>
          </a:ln>
          <a:effectLst>
            <a:outerShdw blurRad="114300" dist="38100" dir="5400000" algn="bl" rotWithShape="0">
              <a:srgbClr val="8697B5">
                <a:alpha val="2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375904" y="1810784"/>
            <a:ext cx="512064" cy="310896"/>
          </a:xfrm>
          <a:prstGeom prst="roundRect">
            <a:avLst>
              <a:gd name="adj" fmla="val 50000"/>
            </a:avLst>
          </a:prstGeom>
          <a:solidFill>
            <a:srgbClr val="5B4E9E"/>
          </a:solidFill>
          <a:ln/>
        </p:spPr>
      </p:sp>
      <p:sp>
        <p:nvSpPr>
          <p:cNvPr id="33" name="Text 28"/>
          <p:cNvSpPr/>
          <p:nvPr/>
        </p:nvSpPr>
        <p:spPr>
          <a:xfrm>
            <a:off x="8375904" y="1810784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34" name="Image 3" descr="/home/claude/work/icons/circle_brain_indi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1904" y="1664208"/>
            <a:ext cx="658368" cy="6583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375904" y="227712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Explainability</a:t>
            </a:r>
            <a:endParaRPr lang="en-US" sz="1900" dirty="0"/>
          </a:p>
        </p:txBody>
      </p:sp>
      <p:sp>
        <p:nvSpPr>
          <p:cNvPr id="36" name="Shape 30"/>
          <p:cNvSpPr/>
          <p:nvPr/>
        </p:nvSpPr>
        <p:spPr>
          <a:xfrm>
            <a:off x="8375904" y="2878389"/>
            <a:ext cx="118872" cy="118872"/>
          </a:xfrm>
          <a:prstGeom prst="ellipse">
            <a:avLst/>
          </a:prstGeom>
          <a:solidFill>
            <a:srgbClr val="5B4E9E"/>
          </a:solidFill>
          <a:ln/>
        </p:spPr>
      </p:sp>
      <p:sp>
        <p:nvSpPr>
          <p:cNvPr id="37" name="Text 31"/>
          <p:cNvSpPr/>
          <p:nvPr/>
        </p:nvSpPr>
        <p:spPr>
          <a:xfrm>
            <a:off x="8604504" y="2749814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patterns from gene-expression data</a:t>
            </a:r>
            <a:endParaRPr lang="en-US" dirty="0"/>
          </a:p>
        </p:txBody>
      </p:sp>
      <p:sp>
        <p:nvSpPr>
          <p:cNvPr id="38" name="Shape 32"/>
          <p:cNvSpPr/>
          <p:nvPr/>
        </p:nvSpPr>
        <p:spPr>
          <a:xfrm>
            <a:off x="8375904" y="3538065"/>
            <a:ext cx="118872" cy="118872"/>
          </a:xfrm>
          <a:prstGeom prst="ellipse">
            <a:avLst/>
          </a:prstGeom>
          <a:solidFill>
            <a:srgbClr val="5B4E9E"/>
          </a:solidFill>
          <a:ln/>
        </p:spPr>
      </p:sp>
      <p:sp>
        <p:nvSpPr>
          <p:cNvPr id="39" name="Text 33"/>
          <p:cNvSpPr/>
          <p:nvPr/>
        </p:nvSpPr>
        <p:spPr>
          <a:xfrm>
            <a:off x="8595173" y="3409489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shows which genes mattered</a:t>
            </a:r>
            <a:endParaRPr lang="en-US" dirty="0"/>
          </a:p>
        </p:txBody>
      </p:sp>
      <p:sp>
        <p:nvSpPr>
          <p:cNvPr id="40" name="Shape 34"/>
          <p:cNvSpPr/>
          <p:nvPr/>
        </p:nvSpPr>
        <p:spPr>
          <a:xfrm>
            <a:off x="8375904" y="4151087"/>
            <a:ext cx="118872" cy="118872"/>
          </a:xfrm>
          <a:prstGeom prst="ellipse">
            <a:avLst/>
          </a:prstGeom>
          <a:solidFill>
            <a:srgbClr val="5B4E9E"/>
          </a:solidFill>
          <a:ln/>
        </p:spPr>
      </p:sp>
      <p:sp>
        <p:nvSpPr>
          <p:cNvPr id="41" name="Text 35"/>
          <p:cNvSpPr/>
          <p:nvPr/>
        </p:nvSpPr>
        <p:spPr>
          <a:xfrm>
            <a:off x="8585842" y="4059834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prediction easier to understand</a:t>
            </a:r>
            <a:endParaRPr lang="en-US" dirty="0"/>
          </a:p>
        </p:txBody>
      </p:sp>
      <p:sp>
        <p:nvSpPr>
          <p:cNvPr id="42" name="Shape 36"/>
          <p:cNvSpPr/>
          <p:nvPr/>
        </p:nvSpPr>
        <p:spPr>
          <a:xfrm>
            <a:off x="502920" y="4837176"/>
            <a:ext cx="11155680" cy="896112"/>
          </a:xfrm>
          <a:prstGeom prst="roundRect">
            <a:avLst>
              <a:gd name="adj" fmla="val 9184"/>
            </a:avLst>
          </a:prstGeom>
          <a:solidFill>
            <a:srgbClr val="0F1B3C"/>
          </a:solidFill>
          <a:ln w="12700">
            <a:solidFill>
              <a:srgbClr val="0F1B3C"/>
            </a:solidFill>
            <a:prstDash val="solid"/>
          </a:ln>
          <a:effectLst>
            <a:outerShdw blurRad="114300" dist="38100" dir="5400000" algn="bl" rotWithShape="0">
              <a:srgbClr val="8697B5">
                <a:alpha val="28000"/>
              </a:srgbClr>
            </a:outerShdw>
          </a:effectLst>
        </p:spPr>
      </p:sp>
      <p:pic>
        <p:nvPicPr>
          <p:cNvPr id="43" name="Image 4" descr="/home/claude/work/icons/circle_magnify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010912"/>
            <a:ext cx="548640" cy="54864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554480" y="4837176"/>
            <a:ext cx="9738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“Use muscle gene-expression patterns with AI to classify muscular-dystrophy subtypes — and explain why the model made its prediction.”</a:t>
            </a:r>
            <a:endParaRPr lang="en-US" sz="1700" dirty="0"/>
          </a:p>
        </p:txBody>
      </p:sp>
      <p:sp>
        <p:nvSpPr>
          <p:cNvPr id="45" name="Shape 38"/>
          <p:cNvSpPr/>
          <p:nvPr/>
        </p:nvSpPr>
        <p:spPr>
          <a:xfrm>
            <a:off x="502920" y="5989320"/>
            <a:ext cx="11155680" cy="566928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822960" y="598932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1874520" y="598932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subtype and understand the important gene patterns behind the prediction.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34709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Work &amp; Base Papers</a:t>
            </a:r>
            <a:endParaRPr lang="en-US" sz="3200" dirty="0"/>
          </a:p>
        </p:txBody>
      </p:sp>
      <p:sp>
        <p:nvSpPr>
          <p:cNvPr id="47" name="TextBox 47"/>
          <p:cNvSpPr txBox="1"/>
          <p:nvPr/>
        </p:nvSpPr>
        <p:spPr>
          <a:xfrm>
            <a:off x="502920" y="983349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5B6478"/>
                </a:solidFill>
                <a:latin typeface="Calibri"/>
              </a:rPr>
              <a:t>Prior work this project builds on, and what we extend</a:t>
            </a:r>
          </a:p>
        </p:txBody>
      </p:sp>
      <p:sp>
        <p:nvSpPr>
          <p:cNvPr id="5" name="Text 3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7"/>
            <a:ext cx="3502152" cy="50749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  <a:effectLst>
            <a:outerShdw blurRad="114300" dist="38100" dir="5400000" algn="bl" rotWithShape="0">
              <a:srgbClr val="8697B5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65506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6550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" y="207568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Bakay et al. (2006)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950" y="2420687"/>
            <a:ext cx="3094591" cy="949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500" i="1" dirty="0"/>
              <a:t>Established the transcriptomic foundation </a:t>
            </a: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GSE3307 </a:t>
            </a:r>
            <a:r>
              <a:rPr lang="en-IN" sz="1500" i="1" dirty="0"/>
              <a:t>by studying gene-expression patterns associated with muscular dystrophies.</a:t>
            </a:r>
            <a:endParaRPr lang="en-US" sz="1500" i="1" dirty="0"/>
          </a:p>
        </p:txBody>
      </p:sp>
      <p:sp>
        <p:nvSpPr>
          <p:cNvPr id="11" name="Text 9"/>
          <p:cNvSpPr/>
          <p:nvPr/>
        </p:nvSpPr>
        <p:spPr>
          <a:xfrm>
            <a:off x="758950" y="3356501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TAKE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0" y="3603389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Skeletal-muscle transcriptomic profiles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" y="3905141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Disease-group structure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" y="427024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Biological basis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8952" y="4773168"/>
            <a:ext cx="2990088" cy="0"/>
          </a:xfrm>
          <a:prstGeom prst="line">
            <a:avLst/>
          </a:prstGeom>
          <a:noFill/>
          <a:ln w="12700">
            <a:solidFill>
              <a:srgbClr val="E3EAF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758952" y="4846320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" y="51206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Patient-level subtype classification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" y="5541264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Cross-platform fusion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952" y="596188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Explainable ML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11396" y="1417320"/>
            <a:ext cx="3502152" cy="50749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  <a:effectLst>
            <a:outerShdw blurRad="114300" dist="38100" dir="5400000" algn="bl" rotWithShape="0">
              <a:srgbClr val="8697B5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67428" y="165506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4567428" y="16550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67428" y="207568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Verdú-Díaz et al. (2025)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67428" y="2416629"/>
            <a:ext cx="2990088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500" i="1" dirty="0">
                <a:solidFill>
                  <a:srgbClr val="1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Myo-Guide: a machine-learning web app for neuromuscular disease diagnosis using MRI.  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00804" y="3331589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TAKE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67428" y="361412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ML diagnostic-support concept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67428" y="3932855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SHAP-based interpretation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67428" y="427024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Clinician-oriented visualization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67428" y="4773168"/>
            <a:ext cx="2990088" cy="0"/>
          </a:xfrm>
          <a:prstGeom prst="line">
            <a:avLst/>
          </a:prstGeom>
          <a:noFill/>
          <a:ln w="12700">
            <a:solidFill>
              <a:srgbClr val="E3EA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67428" y="4846320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67428" y="51206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Transcriptomic rather than MRI input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67428" y="5541264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Pathway validation with DiCE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67428" y="5961888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 + React + Plotly prototype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19872" y="1417320"/>
            <a:ext cx="3502152" cy="50749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3EAF3"/>
            </a:solidFill>
            <a:prstDash val="solid"/>
          </a:ln>
          <a:effectLst>
            <a:outerShdw blurRad="114300" dist="38100" dir="5400000" algn="bl" rotWithShape="0">
              <a:srgbClr val="8697B5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75904" y="165506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5B4E9E"/>
          </a:solidFill>
          <a:ln/>
        </p:spPr>
      </p:sp>
      <p:sp>
        <p:nvSpPr>
          <p:cNvPr id="36" name="Text 34"/>
          <p:cNvSpPr/>
          <p:nvPr/>
        </p:nvSpPr>
        <p:spPr>
          <a:xfrm>
            <a:off x="8375904" y="16550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375904" y="207568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Ayyappadas et al. (2026)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375904" y="2416629"/>
            <a:ext cx="3057144" cy="820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500" i="1" dirty="0">
                <a:solidFill>
                  <a:srgbClr val="1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1500" i="1" dirty="0" err="1">
                <a:solidFill>
                  <a:srgbClr val="1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500" i="1" dirty="0">
                <a:solidFill>
                  <a:srgbClr val="18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with SHAP explainability for muscular-dystrophy classification on synthetic clinical data.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75904" y="3310128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TAKE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75904" y="3652003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XGBoost classification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75904" y="399817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SHAP explanations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375904" y="4773168"/>
            <a:ext cx="2990088" cy="0"/>
          </a:xfrm>
          <a:prstGeom prst="line">
            <a:avLst/>
          </a:prstGeom>
          <a:noFill/>
          <a:ln w="12700">
            <a:solidFill>
              <a:srgbClr val="E3EA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75904" y="4846320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75904" y="51206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GSE3307 transcriptomic data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375904" y="5541264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Elastic Net + multi-model comparison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75903" y="5961888"/>
            <a:ext cx="32461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KEGG/Reactome + patient-level explanation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B3C"/>
                </a:solidFill>
                <a:latin typeface="Cambria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3940" y="2308860"/>
            <a:ext cx="10104120" cy="2240280"/>
          </a:xfrm>
          <a:prstGeom prst="roundRect">
            <a:avLst/>
          </a:prstGeom>
          <a:solidFill>
            <a:srgbClr val="F6F9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08760" y="2640277"/>
            <a:ext cx="9189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1" dirty="0"/>
              <a:t>Develop a machine-learning framework to classify selected muscular-dystrophy subtypes using skeletal-muscle transcriptomic data from the NCBI GEO GSE3307 dataset.</a:t>
            </a:r>
            <a:endParaRPr sz="2800" b="1" i="1" dirty="0">
              <a:solidFill>
                <a:srgbClr val="1A223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18520" y="649224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478"/>
                </a:solidFill>
                <a:latin typeface="Calibri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32AEB-52BA-A144-7E20-E9CC9FB0032E}"/>
              </a:ext>
            </a:extLst>
          </p:cNvPr>
          <p:cNvSpPr txBox="1"/>
          <p:nvPr/>
        </p:nvSpPr>
        <p:spPr>
          <a:xfrm>
            <a:off x="502920" y="1011639"/>
            <a:ext cx="7648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rgbClr val="5B6478"/>
                </a:solidFill>
                <a:latin typeface="Calibri"/>
              </a:rPr>
              <a:t>Why overlapping subtypes and high-dimensional data make classification challenging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B3C"/>
                </a:solidFill>
                <a:latin typeface="Cambria"/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478"/>
                </a:solidFill>
                <a:latin typeface="Calibri"/>
              </a:rPr>
              <a:t>NCBI GEO GSE3307 • Skeletal-muscle transcriptomic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137392" cy="1078992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62763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C86"/>
                </a:solidFill>
                <a:latin typeface="Calibri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155448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B3C"/>
                </a:solidFill>
                <a:latin typeface="Calibri"/>
              </a:rPr>
              <a:t>NCBI Gene Expression Omnibus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5544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B4E9E"/>
                </a:solidFill>
                <a:latin typeface="Cambria"/>
              </a:rPr>
              <a:t>GSE3307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1591056"/>
            <a:ext cx="3383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1A2233"/>
                </a:solidFill>
                <a:latin typeface="Calibri"/>
              </a:rPr>
              <a:t>Human skeletal-muscle expression profiling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24912"/>
            <a:ext cx="2578608" cy="1234440"/>
          </a:xfrm>
          <a:prstGeom prst="roundRect">
            <a:avLst/>
          </a:prstGeom>
          <a:solidFill>
            <a:srgbClr val="EBF7F7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28895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E7C86"/>
                </a:solidFill>
                <a:latin typeface="Cambria"/>
              </a:rPr>
              <a:t>242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291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B3C"/>
                </a:solidFill>
                <a:latin typeface="Calibri"/>
              </a:rPr>
              <a:t>Expression arrays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575304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5B6478"/>
                </a:solidFill>
                <a:latin typeface="Calibri"/>
              </a:rPr>
              <a:t>Verified GEO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2724912"/>
            <a:ext cx="2578608" cy="1234440"/>
          </a:xfrm>
          <a:prstGeom prst="roundRect">
            <a:avLst/>
          </a:prstGeom>
          <a:solidFill>
            <a:srgbClr val="F6F4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38144" y="28895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5B4E9E"/>
                </a:solidFill>
                <a:latin typeface="Cambria"/>
              </a:rPr>
              <a:t>121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3291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B3C"/>
                </a:solidFill>
                <a:latin typeface="Calibri"/>
              </a:rPr>
              <a:t>GPL96–GPL97 pairs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3575304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5B6478"/>
                </a:solidFill>
                <a:latin typeface="Calibri"/>
              </a:rPr>
              <a:t>Verified paired samples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59" y="2724912"/>
            <a:ext cx="2578608" cy="1234440"/>
          </a:xfrm>
          <a:prstGeom prst="roundRect">
            <a:avLst/>
          </a:prstGeom>
          <a:solidFill>
            <a:srgbClr val="F2F7FC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7064" y="28895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E7C86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291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B3C"/>
                </a:solidFill>
                <a:latin typeface="Calibri"/>
              </a:rPr>
              <a:t>Platforms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575304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5B6478"/>
                </a:solidFill>
                <a:latin typeface="Calibri"/>
              </a:rPr>
              <a:t>GPL96 + GPL97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2724912"/>
            <a:ext cx="2578608" cy="1234440"/>
          </a:xfrm>
          <a:prstGeom prst="roundRect">
            <a:avLst/>
          </a:prstGeom>
          <a:solidFill>
            <a:srgbClr val="F6F4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15984" y="28895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5B4E9E"/>
                </a:solidFill>
                <a:latin typeface="Cambria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3291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B3C"/>
                </a:solidFill>
                <a:latin typeface="Calibri"/>
              </a:rPr>
              <a:t>Target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3575304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5B6478"/>
                </a:solidFill>
                <a:latin typeface="Calibri"/>
              </a:rPr>
              <a:t>Healthy + 5 disease groups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224528"/>
            <a:ext cx="5394960" cy="1444752"/>
          </a:xfrm>
          <a:prstGeom prst="roundRect">
            <a:avLst/>
          </a:prstGeom>
          <a:solidFill>
            <a:srgbClr val="EBF7F7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PLATFORMS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782312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B3C"/>
                </a:solidFill>
                <a:latin typeface="Calibri"/>
              </a:rPr>
              <a:t>GPL96  •  Affymetrix HG-U133A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175504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B3C"/>
                </a:solidFill>
                <a:latin typeface="Calibri"/>
              </a:rPr>
              <a:t>GPL97  •  Affymetrix HG-U133B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224528"/>
            <a:ext cx="5513832" cy="1444752"/>
          </a:xfrm>
          <a:prstGeom prst="roundRect">
            <a:avLst/>
          </a:prstGeom>
          <a:solidFill>
            <a:srgbClr val="F6F4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3368" y="44439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4E9E"/>
                </a:solidFill>
                <a:latin typeface="Calibri"/>
              </a:rPr>
              <a:t>DATA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7914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6478"/>
                </a:solidFill>
                <a:latin typeface="Calibri"/>
              </a:rPr>
              <a:t>ROWS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47548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B3C"/>
                </a:solidFill>
                <a:latin typeface="Calibri"/>
              </a:rPr>
              <a:t>242 arrays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479145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6478"/>
                </a:solidFill>
                <a:latin typeface="Calibri"/>
              </a:rPr>
              <a:t>COLUMNS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0592" y="4732017"/>
            <a:ext cx="158496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>
                <a:solidFill>
                  <a:srgbClr val="0F1B3C"/>
                </a:solidFill>
                <a:latin typeface="Calibri"/>
              </a:rPr>
              <a:t>Gene / probe</a:t>
            </a:r>
            <a:br>
              <a:rPr dirty="0"/>
            </a:br>
            <a:r>
              <a:rPr dirty="0"/>
              <a:t>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852160"/>
            <a:ext cx="7589520" cy="475488"/>
          </a:xfrm>
          <a:prstGeom prst="roundRect">
            <a:avLst/>
          </a:prstGeom>
          <a:solidFill>
            <a:srgbClr val="F9FBFD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" y="5971032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E7C86"/>
                </a:solidFill>
                <a:latin typeface="Calibri"/>
              </a:rPr>
              <a:t>TARGET CLASSES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65960" y="5925312"/>
            <a:ext cx="1143000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65960" y="5893062"/>
            <a:ext cx="1143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Healthy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82112" y="5925312"/>
            <a:ext cx="89611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82112" y="5912728"/>
            <a:ext cx="896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DMD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51376" y="5925312"/>
            <a:ext cx="89611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51376" y="5912728"/>
            <a:ext cx="896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BMD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20640" y="5925312"/>
            <a:ext cx="117043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20640" y="5912728"/>
            <a:ext cx="11704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LGMD2A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64224" y="5925312"/>
            <a:ext cx="117043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64224" y="5902892"/>
            <a:ext cx="11704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LGMD2B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07808" y="5925312"/>
            <a:ext cx="117043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07808" y="5902896"/>
            <a:ext cx="11704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LGMD2I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5653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4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CA372D-687F-9555-F84B-5129239B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13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20624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B3C"/>
                </a:solidFill>
                <a:latin typeface="Cambria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Calibri"/>
              </a:rPr>
              <a:t>Step-by-step approach used to build and evaluate the proposed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374448" cy="804672"/>
          </a:xfrm>
          <a:prstGeom prst="roundRect">
            <a:avLst/>
          </a:prstGeom>
          <a:solidFill>
            <a:srgbClr val="FBFCFD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591056"/>
            <a:ext cx="530352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7023" y="1617406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0F1B3C"/>
                </a:solidFill>
                <a:latin typeface="Cambria"/>
              </a:rPr>
              <a:t>Data Collection &amp;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8037" y="1539085"/>
            <a:ext cx="70772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1A2233"/>
                </a:solidFill>
                <a:latin typeface="Calibri"/>
              </a:rPr>
              <a:t>Collect GSE3307 skeletal-muscle expression data and verify disease labels, GPL96/GPL97 platforms, sample IDs, and biological-unit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22576"/>
            <a:ext cx="11374448" cy="804672"/>
          </a:xfrm>
          <a:prstGeom prst="roundRect">
            <a:avLst/>
          </a:prstGeom>
          <a:solidFill>
            <a:srgbClr val="ECF7F7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8368" y="2496312"/>
            <a:ext cx="530352" cy="384048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52374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023" y="2404640"/>
            <a:ext cx="3589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0F1B3C"/>
                </a:solidFill>
                <a:latin typeface="Cambria"/>
              </a:rPr>
              <a:t>Preprocessing &amp; Cross-Platform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8037" y="2401746"/>
            <a:ext cx="6979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1A2233"/>
                </a:solidFill>
                <a:latin typeface="Calibri"/>
              </a:rPr>
              <a:t>Map probes to genes, perform quality control and normalization, resolve replicates, and integrate compatible GPL96 and GPL97 measurements.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27832"/>
            <a:ext cx="11374448" cy="804672"/>
          </a:xfrm>
          <a:prstGeom prst="roundRect">
            <a:avLst/>
          </a:prstGeom>
          <a:solidFill>
            <a:srgbClr val="FBFCFD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3401568"/>
            <a:ext cx="530352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429000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7023" y="3356143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0F1B3C"/>
                </a:solidFill>
                <a:latin typeface="Cambria"/>
              </a:rPr>
              <a:t>Feature Selection &amp; Model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8037" y="3328416"/>
            <a:ext cx="6979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1A2233"/>
                </a:solidFill>
                <a:latin typeface="Calibri"/>
              </a:rPr>
              <a:t>Use Elastic-Net to select informative genes, then train and compare </a:t>
            </a:r>
            <a:r>
              <a:rPr sz="1800" b="0" i="0" dirty="0" err="1">
                <a:solidFill>
                  <a:srgbClr val="1A2233"/>
                </a:solidFill>
                <a:latin typeface="Calibri"/>
              </a:rPr>
              <a:t>XGBoost</a:t>
            </a:r>
            <a:r>
              <a:rPr sz="1800" b="0" i="0" dirty="0">
                <a:solidFill>
                  <a:srgbClr val="1A2233"/>
                </a:solidFill>
                <a:latin typeface="Calibri"/>
              </a:rPr>
              <a:t>, </a:t>
            </a:r>
            <a:r>
              <a:rPr sz="1800" b="0" i="0" dirty="0" err="1">
                <a:solidFill>
                  <a:srgbClr val="1A2233"/>
                </a:solidFill>
                <a:latin typeface="Calibri"/>
              </a:rPr>
              <a:t>CatBoost</a:t>
            </a:r>
            <a:r>
              <a:rPr sz="1800" b="0" i="0" dirty="0">
                <a:solidFill>
                  <a:srgbClr val="1A2233"/>
                </a:solidFill>
                <a:latin typeface="Calibri"/>
              </a:rPr>
              <a:t>, </a:t>
            </a:r>
            <a:r>
              <a:rPr sz="1800" b="0" i="0" dirty="0" err="1">
                <a:solidFill>
                  <a:srgbClr val="1A2233"/>
                </a:solidFill>
                <a:latin typeface="Calibri"/>
              </a:rPr>
              <a:t>LightGBM</a:t>
            </a:r>
            <a:r>
              <a:rPr sz="1800" b="0" i="0" dirty="0">
                <a:solidFill>
                  <a:srgbClr val="1A2233"/>
                </a:solidFill>
                <a:latin typeface="Calibri"/>
              </a:rPr>
              <a:t>, and </a:t>
            </a:r>
            <a:r>
              <a:rPr sz="1800" b="0" i="0" dirty="0" err="1">
                <a:solidFill>
                  <a:srgbClr val="1A2233"/>
                </a:solidFill>
                <a:latin typeface="Calibri"/>
              </a:rPr>
              <a:t>TabNet</a:t>
            </a:r>
            <a:r>
              <a:rPr sz="1800" b="0" i="0" dirty="0">
                <a:solidFill>
                  <a:srgbClr val="1A2233"/>
                </a:solidFill>
                <a:latin typeface="Calibri"/>
              </a:rPr>
              <a:t> classifiers.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33088"/>
            <a:ext cx="11374448" cy="804672"/>
          </a:xfrm>
          <a:prstGeom prst="roundRect">
            <a:avLst/>
          </a:prstGeom>
          <a:solidFill>
            <a:srgbClr val="ECF7F7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8368" y="4306824"/>
            <a:ext cx="530352" cy="384048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334256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307807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0F1B3C"/>
                </a:solidFill>
                <a:latin typeface="Cambria"/>
              </a:rPr>
              <a:t>Validation &amp; Explainability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8037" y="4230722"/>
            <a:ext cx="6895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1A2233"/>
                </a:solidFill>
                <a:latin typeface="Calibri"/>
              </a:rPr>
              <a:t>Evaluate using grouped/patient-wise stratified 4-fold cross-validation; explain predictions with </a:t>
            </a:r>
            <a:r>
              <a:rPr sz="1800" b="0" i="0" dirty="0" err="1">
                <a:solidFill>
                  <a:srgbClr val="1A2233"/>
                </a:solidFill>
                <a:latin typeface="Calibri"/>
              </a:rPr>
              <a:t>TreeSHAP</a:t>
            </a:r>
            <a:r>
              <a:rPr sz="1800" b="0" i="0" dirty="0">
                <a:solidFill>
                  <a:srgbClr val="1A2233"/>
                </a:solidFill>
                <a:latin typeface="Calibri"/>
              </a:rPr>
              <a:t> and generate </a:t>
            </a:r>
            <a:r>
              <a:rPr sz="1800" b="0" i="0" dirty="0" err="1">
                <a:solidFill>
                  <a:srgbClr val="1A2233"/>
                </a:solidFill>
                <a:latin typeface="Calibri"/>
              </a:rPr>
              <a:t>DiCE</a:t>
            </a:r>
            <a:r>
              <a:rPr sz="1800" b="0" i="0" dirty="0">
                <a:solidFill>
                  <a:srgbClr val="1A2233"/>
                </a:solidFill>
                <a:latin typeface="Calibri"/>
              </a:rPr>
              <a:t> counterfactuals.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38344"/>
            <a:ext cx="11374448" cy="1033272"/>
          </a:xfrm>
          <a:prstGeom prst="roundRect">
            <a:avLst/>
          </a:prstGeom>
          <a:solidFill>
            <a:srgbClr val="FBFCFD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5212080"/>
            <a:ext cx="530352" cy="38404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5239512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1016" y="5168031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0F1B3C"/>
                </a:solidFill>
                <a:latin typeface="Cambria"/>
              </a:rPr>
              <a:t>Biological Interpretation &amp;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8037" y="5148072"/>
            <a:ext cx="6979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1A2233"/>
                </a:solidFill>
                <a:latin typeface="Calibri"/>
              </a:rPr>
              <a:t>Assess important genes with KEGG/</a:t>
            </a:r>
            <a:r>
              <a:rPr sz="1800" b="0" i="0" dirty="0" err="1">
                <a:solidFill>
                  <a:srgbClr val="1A2233"/>
                </a:solidFill>
                <a:latin typeface="Calibri"/>
              </a:rPr>
              <a:t>Reactome</a:t>
            </a:r>
            <a:r>
              <a:rPr sz="1800" b="0" i="0" dirty="0">
                <a:solidFill>
                  <a:srgbClr val="1A2233"/>
                </a:solidFill>
                <a:latin typeface="Calibri"/>
              </a:rPr>
              <a:t> pathway enrichment and present subtype predictions, gene evidence, and explanations through the research dashboard.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6235818"/>
            <a:ext cx="11137392" cy="420624"/>
          </a:xfrm>
          <a:prstGeom prst="roundRect">
            <a:avLst/>
          </a:prstGeom>
          <a:solidFill>
            <a:srgbClr val="0F1B3C"/>
          </a:solidFill>
          <a:ln>
            <a:solidFill>
              <a:srgbClr val="0F1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808" y="6317423"/>
            <a:ext cx="1234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bg1"/>
                </a:solidFill>
                <a:latin typeface="Calibri"/>
              </a:rPr>
              <a:t>KEY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6280847"/>
            <a:ext cx="9464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Preprocessing and feature selection are fitted within the training fold before evaluating the held-out fold.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4710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B647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38912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B3C"/>
                </a:solidFill>
                <a:latin typeface="Cambria"/>
              </a:rPr>
              <a:t>Algorithms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5B6478"/>
                </a:solidFill>
                <a:latin typeface="Calibri"/>
              </a:rPr>
              <a:t>What each method does and how it contributes to the proposed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40680" cy="1500496"/>
          </a:xfrm>
          <a:prstGeom prst="roundRect">
            <a:avLst/>
          </a:prstGeom>
          <a:solidFill>
            <a:srgbClr val="F7FAFD"/>
          </a:solidFill>
          <a:ln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4088" y="1600200"/>
            <a:ext cx="475488" cy="29260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60477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50463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F1B3C"/>
                </a:solidFill>
                <a:latin typeface="Cambria"/>
              </a:rPr>
              <a:t>Elastic-Net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908344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Selects a sparse set of informative genes.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38" y="2232157"/>
            <a:ext cx="46874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dirty="0">
                <a:solidFill>
                  <a:srgbClr val="1A2233"/>
                </a:solidFill>
                <a:latin typeface="Calibri"/>
              </a:rPr>
              <a:t>C</a:t>
            </a:r>
            <a:r>
              <a:rPr b="0" dirty="0" err="1">
                <a:solidFill>
                  <a:srgbClr val="1A2233"/>
                </a:solidFill>
                <a:latin typeface="Calibri"/>
              </a:rPr>
              <a:t>ombines</a:t>
            </a:r>
            <a:r>
              <a:rPr b="0" dirty="0">
                <a:solidFill>
                  <a:srgbClr val="1A2233"/>
                </a:solidFill>
                <a:latin typeface="Calibri"/>
              </a:rPr>
              <a:t> L1 + L2 regularization to reduce irrelevant features and handle correlated genes.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440680" cy="1461168"/>
          </a:xfrm>
          <a:prstGeom prst="roundRect">
            <a:avLst/>
          </a:prstGeom>
          <a:solidFill>
            <a:srgbClr val="EDF7F7"/>
          </a:solidFill>
          <a:ln>
            <a:solidFill>
              <a:srgbClr val="C4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475488" cy="29260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477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4304" y="15144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0F1B3C"/>
                </a:solidFill>
                <a:latin typeface="Cambria"/>
              </a:rPr>
              <a:t>XGBoost</a:t>
            </a:r>
            <a:endParaRPr sz="2000" b="1" dirty="0">
              <a:solidFill>
                <a:srgbClr val="0F1B3C"/>
              </a:solidFill>
              <a:latin typeface="Cambri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04304" y="1878848"/>
            <a:ext cx="4636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Classifies disease subtypes using decision trees.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304" y="2223565"/>
            <a:ext cx="4517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dirty="0">
                <a:solidFill>
                  <a:srgbClr val="1A2233"/>
                </a:solidFill>
                <a:latin typeface="Calibri"/>
              </a:rPr>
              <a:t>B</a:t>
            </a:r>
            <a:r>
              <a:rPr b="0" dirty="0" err="1">
                <a:solidFill>
                  <a:srgbClr val="1A2233"/>
                </a:solidFill>
                <a:latin typeface="Calibri"/>
              </a:rPr>
              <a:t>uilds</a:t>
            </a:r>
            <a:r>
              <a:rPr b="0" dirty="0">
                <a:solidFill>
                  <a:srgbClr val="1A2233"/>
                </a:solidFill>
                <a:latin typeface="Calibri"/>
              </a:rPr>
              <a:t> trees sequentially, with each new tree correcting previous errors.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86344"/>
            <a:ext cx="5440680" cy="1659392"/>
          </a:xfrm>
          <a:prstGeom prst="roundRect">
            <a:avLst/>
          </a:prstGeom>
          <a:solidFill>
            <a:srgbClr val="F6F4FB"/>
          </a:solidFill>
          <a:ln>
            <a:solidFill>
              <a:srgbClr val="DC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4088" y="3200400"/>
            <a:ext cx="475488" cy="292608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20497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311466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0F1B3C"/>
                </a:solidFill>
                <a:latin typeface="Cambria"/>
              </a:rPr>
              <a:t>CatBoost</a:t>
            </a:r>
            <a:endParaRPr sz="2000" b="1" dirty="0">
              <a:solidFill>
                <a:srgbClr val="0F1B3C"/>
              </a:solidFill>
              <a:latin typeface="Cambri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07592" y="3479047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Comparative gradient-boosting classifier.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813933"/>
            <a:ext cx="4343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dirty="0">
                <a:solidFill>
                  <a:srgbClr val="1A2233"/>
                </a:solidFill>
                <a:latin typeface="Calibri"/>
              </a:rPr>
              <a:t>B</a:t>
            </a:r>
            <a:r>
              <a:rPr b="0" dirty="0" err="1">
                <a:solidFill>
                  <a:srgbClr val="1A2233"/>
                </a:solidFill>
                <a:latin typeface="Calibri"/>
              </a:rPr>
              <a:t>uilds</a:t>
            </a:r>
            <a:r>
              <a:rPr b="0" dirty="0">
                <a:solidFill>
                  <a:srgbClr val="1A2233"/>
                </a:solidFill>
                <a:latin typeface="Calibri"/>
              </a:rPr>
              <a:t> an ensemble of decision trees to learn nonlinear patterns in the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017520"/>
            <a:ext cx="5440680" cy="1728216"/>
          </a:xfrm>
          <a:prstGeom prst="roundRect">
            <a:avLst/>
          </a:prstGeom>
          <a:solidFill>
            <a:srgbClr val="F7FAFD"/>
          </a:solidFill>
          <a:ln>
            <a:solidFill>
              <a:srgbClr val="E5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0" y="3200400"/>
            <a:ext cx="475488" cy="292608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204972"/>
            <a:ext cx="475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304" y="3104831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0F1B3C"/>
                </a:solidFill>
                <a:latin typeface="Cambria"/>
              </a:rPr>
              <a:t>LightGBM</a:t>
            </a:r>
            <a:r>
              <a:rPr sz="2000" b="1" dirty="0">
                <a:solidFill>
                  <a:srgbClr val="0F1B3C"/>
                </a:solidFill>
                <a:latin typeface="Cambria"/>
              </a:rPr>
              <a:t> + </a:t>
            </a:r>
            <a:r>
              <a:rPr sz="2000" b="1" dirty="0" err="1">
                <a:solidFill>
                  <a:srgbClr val="0F1B3C"/>
                </a:solidFill>
                <a:latin typeface="Cambria"/>
              </a:rPr>
              <a:t>TabNet</a:t>
            </a:r>
            <a:endParaRPr sz="2000" b="1" dirty="0">
              <a:solidFill>
                <a:srgbClr val="0F1B3C"/>
              </a:solidFill>
              <a:latin typeface="Cambri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04304" y="3518376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Two additional models for benchmarking.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3813933"/>
            <a:ext cx="47823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dirty="0">
                <a:solidFill>
                  <a:srgbClr val="1A2233"/>
                </a:solidFill>
                <a:latin typeface="Calibri"/>
              </a:rPr>
              <a:t>L</a:t>
            </a:r>
            <a:r>
              <a:rPr b="0" dirty="0" err="1">
                <a:solidFill>
                  <a:srgbClr val="1A2233"/>
                </a:solidFill>
                <a:latin typeface="Calibri"/>
              </a:rPr>
              <a:t>ightGBM</a:t>
            </a:r>
            <a:r>
              <a:rPr b="0" dirty="0">
                <a:solidFill>
                  <a:srgbClr val="1A2233"/>
                </a:solidFill>
                <a:latin typeface="Calibri"/>
              </a:rPr>
              <a:t> uses efficient gradient boosting; </a:t>
            </a:r>
            <a:r>
              <a:rPr b="0" dirty="0" err="1">
                <a:solidFill>
                  <a:srgbClr val="1A2233"/>
                </a:solidFill>
                <a:latin typeface="Calibri"/>
              </a:rPr>
              <a:t>TabNet</a:t>
            </a:r>
            <a:r>
              <a:rPr b="0" dirty="0">
                <a:solidFill>
                  <a:srgbClr val="1A2233"/>
                </a:solidFill>
                <a:latin typeface="Calibri"/>
              </a:rPr>
              <a:t> uses attention to focus on useful tabular features.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0001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B3C"/>
                </a:solidFill>
                <a:latin typeface="Calibri"/>
              </a:rPr>
              <a:t>EXPLAINABILITY METHODS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029200"/>
            <a:ext cx="5440680" cy="1051560"/>
          </a:xfrm>
          <a:prstGeom prst="roundRect">
            <a:avLst/>
          </a:prstGeom>
          <a:solidFill>
            <a:srgbClr val="EDF7F7"/>
          </a:solidFill>
          <a:ln>
            <a:solidFill>
              <a:srgbClr val="C4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906" y="5353705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 err="1">
                <a:solidFill>
                  <a:srgbClr val="0E7C86"/>
                </a:solidFill>
                <a:latin typeface="Cambria"/>
              </a:rPr>
              <a:t>TreeSHAP</a:t>
            </a:r>
            <a:endParaRPr sz="1900" b="1" dirty="0">
              <a:solidFill>
                <a:srgbClr val="0E7C86"/>
              </a:solidFill>
              <a:latin typeface="Cambri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59912" y="5175718"/>
            <a:ext cx="4030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Why did the model make this prediction?</a:t>
            </a:r>
            <a:br>
              <a:rPr dirty="0"/>
            </a:br>
            <a:r>
              <a:rPr dirty="0"/>
              <a:t>Measures each gene's contribution to a tree-model prediction.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5029200"/>
            <a:ext cx="5440680" cy="1051560"/>
          </a:xfrm>
          <a:prstGeom prst="roundRect">
            <a:avLst/>
          </a:prstGeom>
          <a:solidFill>
            <a:srgbClr val="F6F4FB"/>
          </a:solidFill>
          <a:ln>
            <a:solidFill>
              <a:srgbClr val="DC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9308" y="5353705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 err="1">
                <a:solidFill>
                  <a:srgbClr val="5B4E9E"/>
                </a:solidFill>
                <a:latin typeface="Cambria"/>
              </a:rPr>
              <a:t>DiCE</a:t>
            </a:r>
            <a:endParaRPr sz="1900" b="1" dirty="0">
              <a:solidFill>
                <a:srgbClr val="5B4E9E"/>
              </a:solidFill>
              <a:latin typeface="Cambri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07044" y="5184648"/>
            <a:ext cx="4526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What-if explanation?</a:t>
            </a:r>
            <a:br>
              <a:rPr dirty="0"/>
            </a:br>
            <a:r>
              <a:rPr dirty="0"/>
              <a:t>Generates alternative input configurations that could change the model's prediction.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6236208"/>
            <a:ext cx="11137392" cy="393192"/>
          </a:xfrm>
          <a:prstGeom prst="roundRect">
            <a:avLst/>
          </a:prstGeom>
          <a:solidFill>
            <a:srgbClr val="0F1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" y="6309360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chemeClr val="bg1"/>
                </a:solidFill>
                <a:latin typeface="Calibri"/>
              </a:rPr>
              <a:t>BIOLOGICAL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6281928"/>
            <a:ext cx="8869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KEGG +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Reactome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→ map important genes to biological pathways for interpretation.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67512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47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B3C"/>
                </a:solidFill>
                <a:latin typeface="Cambria"/>
              </a:rPr>
              <a:t>Model Evaluation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478"/>
                </a:solidFill>
                <a:latin typeface="Calibri"/>
              </a:rPr>
              <a:t>How the models will be tested and on what basis their performance will be compared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53312"/>
            <a:ext cx="11137392" cy="749808"/>
          </a:xfrm>
          <a:prstGeom prst="roundRect">
            <a:avLst/>
          </a:prstGeom>
          <a:solidFill>
            <a:srgbClr val="0F1B3C"/>
          </a:solidFill>
          <a:ln>
            <a:solidFill>
              <a:srgbClr val="0F1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554480"/>
            <a:ext cx="2057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  <a:latin typeface="Calibri"/>
              </a:rPr>
              <a:t>EVALUATION 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1517904"/>
            <a:ext cx="8458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Grouped / patient-wise stratified 4-fold cross-validation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59152"/>
            <a:ext cx="3657600" cy="1572768"/>
          </a:xfrm>
          <a:prstGeom prst="roundRect">
            <a:avLst/>
          </a:prstGeom>
          <a:solidFill>
            <a:srgbClr val="F7FAFD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7512" y="2523744"/>
            <a:ext cx="493776" cy="310896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551176"/>
            <a:ext cx="493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64714"/>
            <a:ext cx="2578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F1B3C"/>
                </a:solidFill>
                <a:latin typeface="Cambria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152" y="2898648"/>
            <a:ext cx="3371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Overall proportion of predictions that are correct.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136" y="3468249"/>
            <a:ext cx="357294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>
                <a:solidFill>
                  <a:srgbClr val="0E7C86"/>
                </a:solidFill>
                <a:latin typeface="Calibri"/>
              </a:rPr>
              <a:t>Correct predictions / Total predictions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2359152"/>
            <a:ext cx="3493008" cy="1572768"/>
          </a:xfrm>
          <a:prstGeom prst="roundRect">
            <a:avLst/>
          </a:prstGeom>
          <a:solidFill>
            <a:srgbClr val="EAF6F6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17136" y="2523744"/>
            <a:ext cx="493776" cy="310896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551176"/>
            <a:ext cx="493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487168"/>
            <a:ext cx="2578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F1B3C"/>
                </a:solidFill>
                <a:latin typeface="Cambria"/>
              </a:rPr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920728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When the model predicts a subtype, how often is it correct?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488405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E7C86"/>
                </a:solidFill>
                <a:latin typeface="Calibri"/>
              </a:rPr>
              <a:t>TP / (TP + FP)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8" y="2359152"/>
            <a:ext cx="3438144" cy="1572768"/>
          </a:xfrm>
          <a:prstGeom prst="roundRect">
            <a:avLst/>
          </a:prstGeom>
          <a:solidFill>
            <a:srgbClr val="F6F4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66760" y="2523744"/>
            <a:ext cx="493776" cy="310896"/>
          </a:xfrm>
          <a:prstGeom prst="roundRect">
            <a:avLst/>
          </a:prstGeom>
          <a:solidFill>
            <a:srgbClr val="5B4E9E"/>
          </a:solidFill>
          <a:ln>
            <a:solidFill>
              <a:srgbClr val="5B4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2551176"/>
            <a:ext cx="493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2487168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F1B3C"/>
                </a:solidFill>
                <a:latin typeface="Cambria"/>
              </a:rPr>
              <a:t>Recall / Sensitivity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3342" y="2898648"/>
            <a:ext cx="3292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Of the true samples in a subtype, how many are identified?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3488405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>
                <a:solidFill>
                  <a:srgbClr val="5B4E9E"/>
                </a:solidFill>
                <a:latin typeface="Calibri"/>
              </a:rPr>
              <a:t>TP / (TP + FN)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60520"/>
            <a:ext cx="3493008" cy="1572768"/>
          </a:xfrm>
          <a:prstGeom prst="roundRect">
            <a:avLst/>
          </a:prstGeom>
          <a:solidFill>
            <a:srgbClr val="EAF6F6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67512" y="4325112"/>
            <a:ext cx="493776" cy="310896"/>
          </a:xfrm>
          <a:prstGeom prst="roundRect">
            <a:avLst/>
          </a:prstGeom>
          <a:solidFill>
            <a:srgbClr val="5B4E9E"/>
          </a:solidFill>
          <a:ln>
            <a:solidFill>
              <a:srgbClr val="5B4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4352544"/>
            <a:ext cx="493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" y="4288536"/>
            <a:ext cx="2578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F1B3C"/>
                </a:solidFill>
                <a:latin typeface="Cambria"/>
              </a:rPr>
              <a:t>F1-Score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690872"/>
            <a:ext cx="3090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Balances precision and recall.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5060204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>
                <a:solidFill>
                  <a:srgbClr val="5B4E9E"/>
                </a:solidFill>
                <a:latin typeface="Calibri"/>
              </a:rPr>
              <a:t>2 × Precision × Recall / (Precision + Recall)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2544" y="4160520"/>
            <a:ext cx="3493008" cy="1572768"/>
          </a:xfrm>
          <a:prstGeom prst="roundRect">
            <a:avLst/>
          </a:prstGeom>
          <a:solidFill>
            <a:srgbClr val="F6F4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517136" y="4325112"/>
            <a:ext cx="493776" cy="310896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17136" y="4352544"/>
            <a:ext cx="493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4288536"/>
            <a:ext cx="2578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F1B3C"/>
                </a:solidFill>
                <a:latin typeface="Cambria"/>
              </a:rPr>
              <a:t>Macro-F1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4690872"/>
            <a:ext cx="3090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Averages F1 equally across all disease classes.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288182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>
                <a:solidFill>
                  <a:srgbClr val="0E7C86"/>
                </a:solidFill>
                <a:latin typeface="Calibri"/>
              </a:rPr>
              <a:t>(1 / K) × Σ F1ᵢ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02168" y="4160520"/>
            <a:ext cx="3438144" cy="1572768"/>
          </a:xfrm>
          <a:prstGeom prst="roundRect">
            <a:avLst/>
          </a:prstGeom>
          <a:solidFill>
            <a:srgbClr val="F7FAFD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66760" y="4325112"/>
            <a:ext cx="493776" cy="310896"/>
          </a:xfrm>
          <a:prstGeom prst="roundRect">
            <a:avLst/>
          </a:prstGeom>
          <a:solidFill>
            <a:srgbClr val="5B4E9E"/>
          </a:solidFill>
          <a:ln>
            <a:solidFill>
              <a:srgbClr val="5B4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66760" y="4352544"/>
            <a:ext cx="493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1976" y="4288536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F1B3C"/>
                </a:solidFill>
                <a:latin typeface="Cambria"/>
              </a:rPr>
              <a:t>Balanced Accuracy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4690872"/>
            <a:ext cx="30358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2233"/>
                </a:solidFill>
                <a:latin typeface="Calibri"/>
              </a:rPr>
              <a:t>Averages recall across classes; useful for imbalanced data.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5269008"/>
            <a:ext cx="3035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>
                <a:solidFill>
                  <a:srgbClr val="5B4E9E"/>
                </a:solidFill>
                <a:latin typeface="Calibri"/>
              </a:rPr>
              <a:t>(1 / K) × Σ Recallᵢ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943600"/>
            <a:ext cx="11137392" cy="420624"/>
          </a:xfrm>
          <a:prstGeom prst="roundRect">
            <a:avLst/>
          </a:prstGeom>
          <a:solidFill>
            <a:srgbClr val="F1F4F8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60258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Calibri"/>
              </a:rPr>
              <a:t>ALSO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6007608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0F1B3C"/>
                </a:solidFill>
                <a:latin typeface="Calibri"/>
              </a:rPr>
              <a:t>Confusion Matrix  •  Per-class Recall  •  Mean ± SD across folds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49224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47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B3C"/>
                </a:solidFill>
                <a:latin typeface="Cambria"/>
              </a:rPr>
              <a:t>Expected Outcomes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Calibri"/>
              </a:rPr>
              <a:t>The proposed framework, from transcriptomic input to interpretable research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691640" cy="713232"/>
          </a:xfrm>
          <a:prstGeom prst="round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45336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B3C"/>
                </a:solidFill>
                <a:latin typeface="Cambria"/>
              </a:rPr>
              <a:t>GSE3307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810512"/>
            <a:ext cx="1545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E7C86"/>
                </a:solidFill>
                <a:latin typeface="Calibri"/>
              </a:rPr>
              <a:t>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1773936"/>
            <a:ext cx="155448" cy="0"/>
          </a:xfrm>
          <a:prstGeom prst="line">
            <a:avLst/>
          </a:prstGeom>
          <a:ln w="2159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1417320"/>
            <a:ext cx="1691640" cy="713232"/>
          </a:xfrm>
          <a:prstGeom prst="roundRect">
            <a:avLst/>
          </a:prstGeom>
          <a:solidFill>
            <a:srgbClr val="EDF8F7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1545336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B3C"/>
                </a:solidFill>
                <a:latin typeface="Cambria"/>
              </a:rPr>
              <a:t>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1810512"/>
            <a:ext cx="1545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E7C86"/>
                </a:solidFill>
                <a:latin typeface="Calibri"/>
              </a:rPr>
              <a:t>GPL96 + GPL97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1773936"/>
            <a:ext cx="155448" cy="0"/>
          </a:xfrm>
          <a:prstGeom prst="line">
            <a:avLst/>
          </a:prstGeom>
          <a:ln w="2159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60" y="1417320"/>
            <a:ext cx="1691640" cy="713232"/>
          </a:xfrm>
          <a:prstGeom prst="roundRect">
            <a:avLst/>
          </a:prstGeom>
          <a:solidFill>
            <a:srgbClr val="F7F4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545336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B3C"/>
                </a:solidFill>
                <a:latin typeface="Cambria"/>
              </a:rPr>
              <a:t>Elastic-Net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1810512"/>
            <a:ext cx="1545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5B4E9E"/>
                </a:solidFill>
                <a:latin typeface="Calibri"/>
              </a:rPr>
              <a:t>Gene selection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1773936"/>
            <a:ext cx="155448" cy="0"/>
          </a:xfrm>
          <a:prstGeom prst="line">
            <a:avLst/>
          </a:prstGeom>
          <a:ln w="21590">
            <a:solidFill>
              <a:srgbClr val="5B4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26480" y="1417320"/>
            <a:ext cx="1691640" cy="713232"/>
          </a:xfrm>
          <a:prstGeom prst="round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545336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B3C"/>
                </a:solidFill>
                <a:latin typeface="Cambria"/>
              </a:rPr>
              <a:t>ML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1810512"/>
            <a:ext cx="1545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E7C86"/>
                </a:solidFill>
                <a:latin typeface="Calibri"/>
              </a:rPr>
              <a:t>Classification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8120" y="1773936"/>
            <a:ext cx="155448" cy="0"/>
          </a:xfrm>
          <a:prstGeom prst="line">
            <a:avLst/>
          </a:prstGeom>
          <a:ln w="2159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01000" y="1417320"/>
            <a:ext cx="1691640" cy="713232"/>
          </a:xfrm>
          <a:prstGeom prst="roundRect">
            <a:avLst/>
          </a:prstGeom>
          <a:solidFill>
            <a:srgbClr val="EDF8F7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1545336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B3C"/>
                </a:solidFill>
                <a:latin typeface="Cambria"/>
              </a:rPr>
              <a:t>XAI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1810512"/>
            <a:ext cx="1545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5B4E9E"/>
                </a:solidFill>
                <a:latin typeface="Calibri"/>
              </a:rPr>
              <a:t>SHAP + </a:t>
            </a:r>
            <a:r>
              <a:rPr sz="1400" b="1" i="0" dirty="0" err="1">
                <a:solidFill>
                  <a:srgbClr val="5B4E9E"/>
                </a:solidFill>
                <a:latin typeface="Calibri"/>
              </a:rPr>
              <a:t>DiCE</a:t>
            </a:r>
            <a:endParaRPr sz="1400" b="1" i="0" dirty="0">
              <a:solidFill>
                <a:srgbClr val="5B4E9E"/>
              </a:solidFill>
              <a:latin typeface="Calibr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9692640" y="1773936"/>
            <a:ext cx="155448" cy="0"/>
          </a:xfrm>
          <a:prstGeom prst="line">
            <a:avLst/>
          </a:prstGeom>
          <a:ln w="21590">
            <a:solidFill>
              <a:srgbClr val="5B4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75520" y="1417320"/>
            <a:ext cx="1691640" cy="713232"/>
          </a:xfrm>
          <a:prstGeom prst="roundRect">
            <a:avLst/>
          </a:prstGeom>
          <a:solidFill>
            <a:srgbClr val="F7F4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60" y="1545336"/>
            <a:ext cx="1508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B3C"/>
                </a:solidFill>
                <a:latin typeface="Cambria"/>
              </a:rPr>
              <a:t>Biology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1810512"/>
            <a:ext cx="1545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E7C86"/>
                </a:solidFill>
                <a:latin typeface="Calibri"/>
              </a:rPr>
              <a:t>KEGG + </a:t>
            </a:r>
            <a:r>
              <a:rPr sz="1400" b="1" i="0" dirty="0" err="1">
                <a:solidFill>
                  <a:srgbClr val="0E7C86"/>
                </a:solidFill>
                <a:latin typeface="Calibri"/>
              </a:rPr>
              <a:t>Reactome</a:t>
            </a:r>
            <a:endParaRPr sz="1400" b="1" i="0" dirty="0">
              <a:solidFill>
                <a:srgbClr val="0E7C86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24871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7C86"/>
                </a:solidFill>
                <a:latin typeface="Calibri"/>
              </a:rPr>
              <a:t>EXPECTED OUTCOMES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907792"/>
            <a:ext cx="5074920" cy="987552"/>
          </a:xfrm>
          <a:prstGeom prst="roundRect">
            <a:avLst/>
          </a:prstGeom>
          <a:solidFill>
            <a:srgbClr val="EDF8F7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5800" y="3108960"/>
            <a:ext cx="109728" cy="56692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3054096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B3C"/>
                </a:solidFill>
                <a:latin typeface="Cambria"/>
              </a:rPr>
              <a:t>Verified data representation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319273"/>
            <a:ext cx="4251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2233"/>
                </a:solidFill>
                <a:latin typeface="Calibri"/>
              </a:rPr>
              <a:t>Harmonized GSE3307 transcriptomic data at the biological-unit level.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2907792"/>
            <a:ext cx="5074920" cy="987552"/>
          </a:xfrm>
          <a:prstGeom prst="roundRect">
            <a:avLst/>
          </a:prstGeom>
          <a:solidFill>
            <a:srgbClr val="F7F4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63640" y="3108960"/>
            <a:ext cx="109728" cy="566928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3054096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B3C"/>
                </a:solidFill>
                <a:latin typeface="Cambria"/>
              </a:rPr>
              <a:t>Comparative model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312488"/>
            <a:ext cx="4251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2233"/>
                </a:solidFill>
                <a:latin typeface="Calibri"/>
              </a:rPr>
              <a:t>Benchmark multiple classifiers using grouped, leakage-aware validation.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151376"/>
            <a:ext cx="5074920" cy="987552"/>
          </a:xfrm>
          <a:prstGeom prst="roundRect">
            <a:avLst/>
          </a:prstGeom>
          <a:solidFill>
            <a:srgbClr val="F2F7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85800" y="4352544"/>
            <a:ext cx="109728" cy="566928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4297680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B3C"/>
                </a:solidFill>
                <a:latin typeface="Cambria"/>
              </a:rPr>
              <a:t>Explainable predictions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578392"/>
            <a:ext cx="4251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2233"/>
                </a:solidFill>
                <a:latin typeface="Calibri"/>
              </a:rPr>
              <a:t>Identify influential genes with </a:t>
            </a:r>
            <a:r>
              <a:rPr sz="1600" b="0" i="0" dirty="0" err="1">
                <a:solidFill>
                  <a:srgbClr val="1A2233"/>
                </a:solidFill>
                <a:latin typeface="Calibri"/>
              </a:rPr>
              <a:t>TreeSHAP</a:t>
            </a:r>
            <a:r>
              <a:rPr sz="1600" b="0" i="0" dirty="0">
                <a:solidFill>
                  <a:srgbClr val="1A2233"/>
                </a:solidFill>
                <a:latin typeface="Calibri"/>
              </a:rPr>
              <a:t> and generate </a:t>
            </a:r>
            <a:r>
              <a:rPr sz="1600" b="0" i="0" dirty="0" err="1">
                <a:solidFill>
                  <a:srgbClr val="1A2233"/>
                </a:solidFill>
                <a:latin typeface="Calibri"/>
              </a:rPr>
              <a:t>DiCE</a:t>
            </a:r>
            <a:r>
              <a:rPr sz="1600" b="0" i="0" dirty="0">
                <a:solidFill>
                  <a:srgbClr val="1A2233"/>
                </a:solidFill>
                <a:latin typeface="Calibri"/>
              </a:rPr>
              <a:t> counterfactuals.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4151376"/>
            <a:ext cx="5074920" cy="987552"/>
          </a:xfrm>
          <a:prstGeom prst="roundRect">
            <a:avLst/>
          </a:prstGeom>
          <a:solidFill>
            <a:srgbClr val="F7F4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63640" y="4352544"/>
            <a:ext cx="109728" cy="566928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7960" y="4297680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B3C"/>
                </a:solidFill>
                <a:latin typeface="Cambria"/>
              </a:rPr>
              <a:t>Biological interpretation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558728"/>
            <a:ext cx="4251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1A2233"/>
                </a:solidFill>
                <a:latin typeface="Calibri"/>
              </a:rPr>
              <a:t>Relate important genes to pathways through KEGG and </a:t>
            </a:r>
            <a:r>
              <a:rPr sz="1600" b="0" i="0" dirty="0" err="1">
                <a:solidFill>
                  <a:srgbClr val="1A2233"/>
                </a:solidFill>
                <a:latin typeface="Calibri"/>
              </a:rPr>
              <a:t>Reactome</a:t>
            </a:r>
            <a:r>
              <a:rPr sz="1600" b="0" i="0" dirty="0">
                <a:solidFill>
                  <a:srgbClr val="1A2233"/>
                </a:solidFill>
                <a:latin typeface="Calibri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440680"/>
            <a:ext cx="11137392" cy="786384"/>
          </a:xfrm>
          <a:prstGeom prst="roundRect">
            <a:avLst/>
          </a:prstGeom>
          <a:solidFill>
            <a:srgbClr val="0F1B3C"/>
          </a:solidFill>
          <a:ln>
            <a:solidFill>
              <a:srgbClr val="0F1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8952" y="5577840"/>
            <a:ext cx="1234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chemeClr val="bg1"/>
                </a:solidFill>
                <a:latin typeface="Calibri"/>
              </a:rPr>
              <a:t>CONCLUSION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01952" y="5532120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The framework combines transcriptomic fusion, machine learning, explainability, and biological validation to support transparent subtype classification.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373368"/>
            <a:ext cx="11137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6478"/>
                </a:solidFill>
                <a:latin typeface="Calibri"/>
              </a:rPr>
              <a:t>Research-oriented decision support — not a replacement for established clinical diagnosis.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629400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B647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2062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0F1B3C"/>
                </a:solidFill>
                <a:latin typeface="Cambria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478"/>
                </a:solidFill>
                <a:latin typeface="Calibri"/>
              </a:rPr>
              <a:t>Selected references supporting the dataset, machine learning, explainability and biological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468112" cy="109728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7512" y="1554480"/>
            <a:ext cx="43891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572768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499616"/>
            <a:ext cx="44988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B3C"/>
                </a:solidFill>
                <a:latin typeface="Cambria"/>
              </a:rPr>
              <a:t>Bakay et al. (2006)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232" y="1801368"/>
            <a:ext cx="5028512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1A2233"/>
                </a:solidFill>
                <a:latin typeface="Calibri"/>
              </a:rPr>
              <a:t>Nuclear envelope dystrophies show a transcriptional fingerprint suggesting disruption of Rb–</a:t>
            </a:r>
            <a:r>
              <a:rPr sz="1350" b="0" dirty="0" err="1">
                <a:solidFill>
                  <a:srgbClr val="1A2233"/>
                </a:solidFill>
                <a:latin typeface="Calibri"/>
              </a:rPr>
              <a:t>MyoD</a:t>
            </a:r>
            <a:r>
              <a:rPr sz="1350" b="0" dirty="0">
                <a:solidFill>
                  <a:srgbClr val="1A2233"/>
                </a:solidFill>
                <a:latin typeface="Calibri"/>
              </a:rPr>
              <a:t> pathways in muscle regeneration. Brain, 129(4), 996–1013. DOI: 10.1093/brain/awl023.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78608"/>
            <a:ext cx="5468112" cy="109728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7512" y="2761488"/>
            <a:ext cx="43891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77977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706624"/>
            <a:ext cx="4498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Hoffman (2005)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924232" y="3008376"/>
            <a:ext cx="4955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1A2233"/>
                </a:solidFill>
                <a:latin typeface="Calibri"/>
              </a:rPr>
              <a:t>GSE3307: Comparative profiling in 13 muscle disease groups. Gene Expression Omnibus (GEO).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85615"/>
            <a:ext cx="5468112" cy="109728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" y="3968496"/>
            <a:ext cx="43891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3986783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913631"/>
            <a:ext cx="44988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B3C"/>
                </a:solidFill>
                <a:latin typeface="Cambria"/>
              </a:rPr>
              <a:t>Verdú-Díaz et al. (2025)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232" y="4215383"/>
            <a:ext cx="495536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1A2233"/>
                </a:solidFill>
                <a:latin typeface="Calibri"/>
              </a:rPr>
              <a:t>Myo-Guide: A machine learning-based web application for neuromuscular disease diagnosis with MRI. JCSM, 16(3), e13815. DOI: 10.1002/jcsm.13815.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92623"/>
            <a:ext cx="5468112" cy="109728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7512" y="5175503"/>
            <a:ext cx="43891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5193791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5120639"/>
            <a:ext cx="4498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F1B3C"/>
                </a:solidFill>
                <a:latin typeface="Cambria"/>
              </a:rPr>
              <a:t>Ayyappadas </a:t>
            </a:r>
            <a:r>
              <a:rPr lang="en-US" sz="16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Madathil </a:t>
            </a:r>
            <a:r>
              <a:rPr sz="1600" b="1" dirty="0">
                <a:solidFill>
                  <a:srgbClr val="0F1B3C"/>
                </a:solidFill>
                <a:latin typeface="Cambria"/>
              </a:rPr>
              <a:t>et al. (2026)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233" y="5422391"/>
            <a:ext cx="48273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1A2233"/>
                </a:solidFill>
                <a:latin typeface="Calibri"/>
              </a:rPr>
              <a:t>An </a:t>
            </a:r>
            <a:r>
              <a:rPr sz="1350" b="0" dirty="0" err="1">
                <a:solidFill>
                  <a:srgbClr val="1A2233"/>
                </a:solidFill>
                <a:latin typeface="Calibri"/>
              </a:rPr>
              <a:t>XGBoost</a:t>
            </a:r>
            <a:r>
              <a:rPr sz="1350" b="0" dirty="0">
                <a:solidFill>
                  <a:srgbClr val="1A2233"/>
                </a:solidFill>
                <a:latin typeface="Calibri"/>
              </a:rPr>
              <a:t>-based model with SHAP explainability for muscular dystrophy classification using synthetic clinical data. IJSRTM.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8" y="1371600"/>
            <a:ext cx="5468112" cy="109728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63640" y="1554480"/>
            <a:ext cx="43891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1572768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1499616"/>
            <a:ext cx="44988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B3C"/>
                </a:solidFill>
                <a:latin typeface="Cambria"/>
              </a:rPr>
              <a:t>Frías et al. (2025)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2344" y="1801368"/>
            <a:ext cx="5129096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2233"/>
                </a:solidFill>
                <a:latin typeface="Calibri"/>
              </a:rPr>
              <a:t>The artificial intelligence challenge in rare disease diagnosis: A case study on collagen VI muscular dystrophy. Computers in Biology and Medicine.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8" y="2578608"/>
            <a:ext cx="5468112" cy="109728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63640" y="2761488"/>
            <a:ext cx="43891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2779776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8856" y="2706624"/>
            <a:ext cx="44988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B3C"/>
                </a:solidFill>
                <a:latin typeface="Cambria"/>
              </a:rPr>
              <a:t>Lundberg &amp; Lee (2017)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2344" y="3008376"/>
            <a:ext cx="4955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1A2233"/>
                </a:solidFill>
                <a:latin typeface="Calibri"/>
              </a:rPr>
              <a:t>A unified approach to interpreting model predictions. Advances in Neural Information Processing Systems, 30.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9048" y="3785615"/>
            <a:ext cx="5468112" cy="109728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63640" y="3968496"/>
            <a:ext cx="438912" cy="274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3986783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8856" y="3913631"/>
            <a:ext cx="44988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B3C"/>
                </a:solidFill>
                <a:latin typeface="Cambria"/>
              </a:rPr>
              <a:t>Mothilal et al. (2020)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2344" y="4215383"/>
            <a:ext cx="517481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1A2233"/>
                </a:solidFill>
                <a:latin typeface="Calibri"/>
              </a:rPr>
              <a:t>Explaining machine learning classifiers through diverse counterfactual explanations. </a:t>
            </a:r>
            <a:r>
              <a:rPr sz="1350" b="0" dirty="0" err="1">
                <a:solidFill>
                  <a:srgbClr val="1A2233"/>
                </a:solidFill>
                <a:latin typeface="Calibri"/>
              </a:rPr>
              <a:t>FAccT</a:t>
            </a:r>
            <a:r>
              <a:rPr sz="1350" b="0" dirty="0">
                <a:solidFill>
                  <a:srgbClr val="1A2233"/>
                </a:solidFill>
                <a:latin typeface="Calibri"/>
              </a:rPr>
              <a:t> 2020, 607–617. DOI: 10.1145/3351095.3372850.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9048" y="4992623"/>
            <a:ext cx="5468112" cy="1097280"/>
          </a:xfrm>
          <a:prstGeom prst="roundRect">
            <a:avLst/>
          </a:prstGeom>
          <a:solidFill>
            <a:srgbClr val="FAFCFE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263640" y="5175503"/>
            <a:ext cx="438912" cy="274320"/>
          </a:xfrm>
          <a:prstGeom prst="roundRect">
            <a:avLst/>
          </a:prstGeom>
          <a:solidFill>
            <a:srgbClr val="5B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3640" y="5193791"/>
            <a:ext cx="43891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8856" y="5120639"/>
            <a:ext cx="44988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B3C"/>
                </a:solidFill>
                <a:latin typeface="Cambria"/>
              </a:rPr>
              <a:t>Kanehisa et al. (2017)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1639" y="5469889"/>
            <a:ext cx="533744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dirty="0">
                <a:solidFill>
                  <a:srgbClr val="1A2233"/>
                </a:solidFill>
                <a:latin typeface="Calibri"/>
              </a:rPr>
              <a:t>KEGG: New perspectives on genomes, pathways, diseases and drugs. Nucleic Acids Research, 45(D1), D353–D361. DOI: 10.1093/</a:t>
            </a:r>
            <a:r>
              <a:rPr sz="1350" b="0" dirty="0" err="1">
                <a:solidFill>
                  <a:srgbClr val="1A2233"/>
                </a:solidFill>
                <a:latin typeface="Calibri"/>
              </a:rPr>
              <a:t>nar</a:t>
            </a:r>
            <a:r>
              <a:rPr sz="1350" b="0" dirty="0">
                <a:solidFill>
                  <a:srgbClr val="1A2233"/>
                </a:solidFill>
                <a:latin typeface="Calibri"/>
              </a:rPr>
              <a:t>/gkw1092.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510528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B647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2F8507-1AAF-EB15-7C7C-A30B21B19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31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2581</TotalTime>
  <Words>1468</Words>
  <Application>Microsoft Office PowerPoint</Application>
  <PresentationFormat>Widescreen</PresentationFormat>
  <Paragraphs>284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Dasyam vaishnavi</cp:lastModifiedBy>
  <cp:revision>16</cp:revision>
  <dcterms:created xsi:type="dcterms:W3CDTF">2026-08-24T06:12:41Z</dcterms:created>
  <dcterms:modified xsi:type="dcterms:W3CDTF">2026-08-26T21:06:41Z</dcterms:modified>
</cp:coreProperties>
</file>