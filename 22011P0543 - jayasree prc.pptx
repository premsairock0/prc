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71" r:id="rId2"/>
    <p:sldId id="257" r:id="rId3"/>
    <p:sldId id="258" r:id="rId4"/>
    <p:sldId id="259" r:id="rId5"/>
    <p:sldId id="260" r:id="rId6"/>
    <p:sldId id="261" r:id="rId7"/>
    <p:sldId id="262" r:id="rId8"/>
    <p:sldId id="270" r:id="rId9"/>
    <p:sldId id="263" r:id="rId10"/>
    <p:sldId id="264" r:id="rId11"/>
    <p:sldId id="265" r:id="rId12"/>
    <p:sldId id="266" r:id="rId13"/>
    <p:sldId id="267" r:id="rId14"/>
    <p:sldId id="272"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017" autoAdjust="0"/>
    <p:restoredTop sz="94610"/>
  </p:normalViewPr>
  <p:slideViewPr>
    <p:cSldViewPr snapToGrid="0" snapToObjects="1">
      <p:cViewPr varScale="1">
        <p:scale>
          <a:sx n="65" d="100"/>
          <a:sy n="65" d="100"/>
        </p:scale>
        <p:origin x="83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4610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40CCBB7-39E5-A331-B21A-36066496E4B6}"/>
              </a:ext>
            </a:extLst>
          </p:cNvPr>
          <p:cNvSpPr txBox="1">
            <a:spLocks/>
          </p:cNvSpPr>
          <p:nvPr/>
        </p:nvSpPr>
        <p:spPr>
          <a:xfrm>
            <a:off x="246888" y="615288"/>
            <a:ext cx="11695176" cy="1200330"/>
          </a:xfrm>
          <a:prstGeom prst="rect">
            <a:avLst/>
          </a:prstGeom>
        </p:spPr>
        <p:txBody>
          <a:bodyP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2400" b="1" dirty="0">
                <a:latin typeface="Times New Roman" panose="02020603050405020304" pitchFamily="18" charset="0"/>
                <a:cs typeface="Times New Roman" panose="02020603050405020304" pitchFamily="18" charset="0"/>
              </a:rPr>
              <a:t>PSAT</a:t>
            </a:r>
            <a:br>
              <a:rPr lang="en-IN"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ea typeface="Calibri" pitchFamily="34" charset="-122"/>
                <a:cs typeface="Times New Roman" panose="02020603050405020304" pitchFamily="18" charset="0"/>
              </a:rPr>
              <a:t>Prompt Sensitivity Analysis for Tool-Using LLM Agents</a:t>
            </a:r>
            <a:br>
              <a:rPr lang="en-US" sz="2400" b="1" dirty="0">
                <a:latin typeface="Times New Roman" panose="02020603050405020304" pitchFamily="18" charset="0"/>
                <a:cs typeface="Times New Roman" panose="02020603050405020304" pitchFamily="18" charset="0"/>
              </a:rPr>
            </a:br>
            <a:endParaRPr lang="en-IN" sz="2400" b="1" dirty="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CE554E67-B8CF-A8E0-0EB2-CC9A3E37D54A}"/>
              </a:ext>
            </a:extLst>
          </p:cNvPr>
          <p:cNvSpPr/>
          <p:nvPr/>
        </p:nvSpPr>
        <p:spPr>
          <a:xfrm>
            <a:off x="246888" y="265176"/>
            <a:ext cx="11695176" cy="642823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6197332A-A9EC-2C55-80FD-C6852CBAC103}"/>
              </a:ext>
            </a:extLst>
          </p:cNvPr>
          <p:cNvSpPr txBox="1"/>
          <p:nvPr/>
        </p:nvSpPr>
        <p:spPr>
          <a:xfrm>
            <a:off x="814647" y="4633326"/>
            <a:ext cx="4422371" cy="1337546"/>
          </a:xfrm>
          <a:prstGeom prst="rect">
            <a:avLst/>
          </a:prstGeom>
          <a:noFill/>
        </p:spPr>
        <p:txBody>
          <a:bodyPr wrap="square" rtlCol="0">
            <a:spAutoFit/>
          </a:bodyPr>
          <a:lstStyle/>
          <a:p>
            <a:r>
              <a:rPr lang="en-IN" b="1" u="sng" dirty="0">
                <a:latin typeface="Times New Roman" panose="02020603050405020304" pitchFamily="18" charset="0"/>
                <a:cs typeface="Times New Roman" panose="02020603050405020304" pitchFamily="18" charset="0"/>
              </a:rPr>
              <a:t>GUIDE</a:t>
            </a:r>
            <a:r>
              <a:rPr lang="en-IN" u="sng" dirty="0">
                <a:latin typeface="Times New Roman" panose="02020603050405020304" pitchFamily="18" charset="0"/>
                <a:cs typeface="Times New Roman" panose="02020603050405020304" pitchFamily="18" charset="0"/>
              </a:rPr>
              <a:t>:</a:t>
            </a:r>
          </a:p>
          <a:p>
            <a:pPr>
              <a:lnSpc>
                <a:spcPct val="120000"/>
              </a:lnSpc>
            </a:pPr>
            <a:r>
              <a:rPr lang="en-US" dirty="0">
                <a:solidFill>
                  <a:srgbClr val="000000"/>
                </a:solidFill>
                <a:latin typeface="Times New Roman" panose="02020603050405020304" pitchFamily="18" charset="0"/>
                <a:ea typeface="Calibri" pitchFamily="34" charset="-122"/>
                <a:cs typeface="Times New Roman" panose="02020603050405020304" pitchFamily="18" charset="0"/>
              </a:rPr>
              <a:t>Dr. I. Lakshmi </a:t>
            </a:r>
            <a:r>
              <a:rPr lang="en-US" dirty="0" err="1">
                <a:solidFill>
                  <a:srgbClr val="000000"/>
                </a:solidFill>
                <a:latin typeface="Times New Roman" panose="02020603050405020304" pitchFamily="18" charset="0"/>
                <a:ea typeface="Calibri" pitchFamily="34" charset="-122"/>
                <a:cs typeface="Times New Roman" panose="02020603050405020304" pitchFamily="18" charset="0"/>
              </a:rPr>
              <a:t>Manikyamba</a:t>
            </a:r>
            <a:endParaRPr lang="en-US" dirty="0">
              <a:latin typeface="Times New Roman" panose="02020603050405020304" pitchFamily="18" charset="0"/>
              <a:cs typeface="Times New Roman" panose="02020603050405020304" pitchFamily="18" charset="0"/>
            </a:endParaRPr>
          </a:p>
          <a:p>
            <a:pPr>
              <a:lnSpc>
                <a:spcPct val="120000"/>
              </a:lnSpc>
            </a:pPr>
            <a:r>
              <a:rPr lang="en-US" dirty="0">
                <a:solidFill>
                  <a:srgbClr val="000000"/>
                </a:solidFill>
                <a:latin typeface="Times New Roman" panose="02020603050405020304" pitchFamily="18" charset="0"/>
                <a:ea typeface="Calibri" pitchFamily="34" charset="-122"/>
                <a:cs typeface="Times New Roman" panose="02020603050405020304" pitchFamily="18" charset="0"/>
              </a:rPr>
              <a:t>Professor, Department of CSE</a:t>
            </a:r>
          </a:p>
          <a:p>
            <a:pPr>
              <a:lnSpc>
                <a:spcPct val="120000"/>
              </a:lnSpc>
            </a:pPr>
            <a:r>
              <a:rPr lang="en-US" dirty="0">
                <a:solidFill>
                  <a:srgbClr val="000000"/>
                </a:solidFill>
                <a:latin typeface="Times New Roman" panose="02020603050405020304" pitchFamily="18" charset="0"/>
                <a:ea typeface="Calibri" pitchFamily="34" charset="-122"/>
                <a:cs typeface="Times New Roman" panose="02020603050405020304" pitchFamily="18" charset="0"/>
              </a:rPr>
              <a:t>JNTUH UCESTH</a:t>
            </a:r>
            <a:endParaRPr lang="en-IN"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B70A9312-60F9-FC84-6195-A9FD7BB2702A}"/>
              </a:ext>
            </a:extLst>
          </p:cNvPr>
          <p:cNvSpPr txBox="1"/>
          <p:nvPr/>
        </p:nvSpPr>
        <p:spPr>
          <a:xfrm>
            <a:off x="8388373" y="4633326"/>
            <a:ext cx="3350029" cy="1200329"/>
          </a:xfrm>
          <a:prstGeom prst="rect">
            <a:avLst/>
          </a:prstGeom>
          <a:noFill/>
        </p:spPr>
        <p:txBody>
          <a:bodyPr wrap="square" rtlCol="0">
            <a:spAutoFit/>
          </a:bodyPr>
          <a:lstStyle/>
          <a:p>
            <a:r>
              <a:rPr lang="en-IN" b="1" u="sng" dirty="0">
                <a:latin typeface="Times New Roman" panose="02020603050405020304" pitchFamily="18" charset="0"/>
                <a:cs typeface="Times New Roman" panose="02020603050405020304" pitchFamily="18" charset="0"/>
              </a:rPr>
              <a:t>PRESENTED</a:t>
            </a:r>
            <a:r>
              <a:rPr lang="en-IN" u="sng" dirty="0">
                <a:latin typeface="Times New Roman" panose="02020603050405020304" pitchFamily="18" charset="0"/>
                <a:cs typeface="Times New Roman" panose="02020603050405020304" pitchFamily="18" charset="0"/>
              </a:rPr>
              <a:t> </a:t>
            </a:r>
            <a:r>
              <a:rPr lang="en-IN" b="1" u="sng" dirty="0">
                <a:latin typeface="Times New Roman" panose="02020603050405020304" pitchFamily="18" charset="0"/>
                <a:cs typeface="Times New Roman" panose="02020603050405020304" pitchFamily="18" charset="0"/>
              </a:rPr>
              <a:t>BY</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U Jayasree</a:t>
            </a:r>
          </a:p>
          <a:p>
            <a:r>
              <a:rPr lang="en-IN" dirty="0">
                <a:latin typeface="Times New Roman" panose="02020603050405020304" pitchFamily="18" charset="0"/>
                <a:cs typeface="Times New Roman" panose="02020603050405020304" pitchFamily="18" charset="0"/>
              </a:rPr>
              <a:t>22011P0543</a:t>
            </a:r>
          </a:p>
          <a:p>
            <a:r>
              <a:rPr lang="en-IN" dirty="0">
                <a:latin typeface="Times New Roman" panose="02020603050405020304" pitchFamily="18" charset="0"/>
                <a:cs typeface="Times New Roman" panose="02020603050405020304" pitchFamily="18" charset="0"/>
              </a:rPr>
              <a:t>CSE IDP 5</a:t>
            </a:r>
            <a:r>
              <a:rPr lang="en-IN" baseline="30000" dirty="0">
                <a:latin typeface="Times New Roman" panose="02020603050405020304" pitchFamily="18" charset="0"/>
                <a:cs typeface="Times New Roman" panose="02020603050405020304" pitchFamily="18" charset="0"/>
              </a:rPr>
              <a:t>th</a:t>
            </a:r>
            <a:r>
              <a:rPr lang="en-IN" dirty="0">
                <a:latin typeface="Times New Roman" panose="02020603050405020304" pitchFamily="18" charset="0"/>
                <a:cs typeface="Times New Roman" panose="02020603050405020304" pitchFamily="18" charset="0"/>
              </a:rPr>
              <a:t> YEAR</a:t>
            </a:r>
          </a:p>
        </p:txBody>
      </p:sp>
      <p:sp>
        <p:nvSpPr>
          <p:cNvPr id="5" name="TextBox 4">
            <a:extLst>
              <a:ext uri="{FF2B5EF4-FFF2-40B4-BE49-F238E27FC236}">
                <a16:creationId xmlns:a16="http://schemas.microsoft.com/office/drawing/2014/main" id="{0308A53E-69E8-3A79-79BB-1FE048F126A4}"/>
              </a:ext>
            </a:extLst>
          </p:cNvPr>
          <p:cNvSpPr txBox="1"/>
          <p:nvPr/>
        </p:nvSpPr>
        <p:spPr>
          <a:xfrm>
            <a:off x="246888" y="1447525"/>
            <a:ext cx="11911557" cy="2806987"/>
          </a:xfrm>
          <a:prstGeom prst="rect">
            <a:avLst/>
          </a:prstGeom>
          <a:noFill/>
        </p:spPr>
        <p:txBody>
          <a:bodyPr wrap="square">
            <a:spAutoFit/>
          </a:bodyPr>
          <a:lstStyle/>
          <a:p>
            <a:pPr algn="ctr">
              <a:lnSpc>
                <a:spcPct val="150000"/>
              </a:lnSpc>
              <a:defRPr sz="1600" b="1"/>
            </a:pPr>
            <a:r>
              <a:rPr lang="en-IN" sz="2000" dirty="0">
                <a:latin typeface="Times New Roman" panose="02020603050405020304" pitchFamily="18" charset="0"/>
                <a:cs typeface="Times New Roman" panose="02020603050405020304" pitchFamily="18" charset="0"/>
              </a:rPr>
              <a:t>DEPARTMENT OF COMPUTER SCIENCE</a:t>
            </a:r>
            <a:endParaRPr lang="en-US" sz="2000" dirty="0">
              <a:latin typeface="Times New Roman" panose="02020603050405020304" pitchFamily="18" charset="0"/>
              <a:cs typeface="Times New Roman" panose="02020603050405020304" pitchFamily="18" charset="0"/>
            </a:endParaRPr>
          </a:p>
          <a:p>
            <a:pPr algn="ctr">
              <a:lnSpc>
                <a:spcPct val="150000"/>
              </a:lnSpc>
              <a:defRPr sz="1600" b="1"/>
            </a:pPr>
            <a:r>
              <a:rPr sz="2000" dirty="0">
                <a:solidFill>
                  <a:srgbClr val="FF0000"/>
                </a:solidFill>
                <a:latin typeface="Times New Roman" panose="02020603050405020304" pitchFamily="18" charset="0"/>
                <a:cs typeface="Times New Roman" panose="02020603050405020304" pitchFamily="18" charset="0"/>
              </a:rPr>
              <a:t>JAWAHARLAL NEHRU TECHNOLOGICAL UNIVERSITY HYDERABAD</a:t>
            </a:r>
          </a:p>
          <a:p>
            <a:pPr algn="ctr">
              <a:lnSpc>
                <a:spcPct val="150000"/>
              </a:lnSpc>
              <a:defRPr sz="1600" b="1"/>
            </a:pPr>
            <a:r>
              <a:rPr sz="2000" dirty="0">
                <a:solidFill>
                  <a:srgbClr val="FF0000"/>
                </a:solidFill>
                <a:latin typeface="Times New Roman" panose="02020603050405020304" pitchFamily="18" charset="0"/>
                <a:cs typeface="Times New Roman" panose="02020603050405020304" pitchFamily="18" charset="0"/>
              </a:rPr>
              <a:t>UNIVERSITY COLLEGE OF ENGINEERING SCIENCE AND TECHNOLOGY</a:t>
            </a:r>
          </a:p>
          <a:p>
            <a:pPr algn="ctr">
              <a:lnSpc>
                <a:spcPct val="150000"/>
              </a:lnSpc>
              <a:defRPr sz="1600" b="1"/>
            </a:pPr>
            <a:r>
              <a:rPr sz="2000" dirty="0">
                <a:solidFill>
                  <a:srgbClr val="00B050"/>
                </a:solidFill>
                <a:latin typeface="Times New Roman" panose="02020603050405020304" pitchFamily="18" charset="0"/>
                <a:cs typeface="Times New Roman" panose="02020603050405020304" pitchFamily="18" charset="0"/>
              </a:rPr>
              <a:t>DISSERTATION STAGE-01</a:t>
            </a:r>
          </a:p>
          <a:p>
            <a:pPr algn="ctr">
              <a:lnSpc>
                <a:spcPct val="150000"/>
              </a:lnSpc>
              <a:defRPr sz="1600" b="1"/>
            </a:pPr>
            <a:r>
              <a:rPr sz="2000" dirty="0">
                <a:latin typeface="Times New Roman" panose="02020603050405020304" pitchFamily="18" charset="0"/>
                <a:cs typeface="Times New Roman" panose="02020603050405020304" pitchFamily="18" charset="0"/>
              </a:rPr>
              <a:t>DISSERTATION WORK REVIEW-01</a:t>
            </a:r>
          </a:p>
          <a:p>
            <a:pPr algn="ctr">
              <a:lnSpc>
                <a:spcPct val="150000"/>
              </a:lnSpc>
              <a:defRPr sz="1600" b="1"/>
            </a:pPr>
            <a:r>
              <a:rPr sz="2000" dirty="0">
                <a:latin typeface="Times New Roman" panose="02020603050405020304" pitchFamily="18" charset="0"/>
                <a:cs typeface="Times New Roman" panose="02020603050405020304" pitchFamily="18" charset="0"/>
              </a:rPr>
              <a:t>AUGUST - 2026</a:t>
            </a:r>
          </a:p>
        </p:txBody>
      </p:sp>
      <p:pic>
        <p:nvPicPr>
          <p:cNvPr id="2" name="Picture 1">
            <a:extLst>
              <a:ext uri="{FF2B5EF4-FFF2-40B4-BE49-F238E27FC236}">
                <a16:creationId xmlns:a16="http://schemas.microsoft.com/office/drawing/2014/main" id="{370B539B-B610-A584-4293-39D71020FC3A}"/>
              </a:ext>
            </a:extLst>
          </p:cNvPr>
          <p:cNvPicPr>
            <a:picLocks noChangeAspect="1"/>
          </p:cNvPicPr>
          <p:nvPr/>
        </p:nvPicPr>
        <p:blipFill>
          <a:blip r:embed="rId2"/>
          <a:stretch>
            <a:fillRect/>
          </a:stretch>
        </p:blipFill>
        <p:spPr>
          <a:xfrm>
            <a:off x="373626" y="383375"/>
            <a:ext cx="1091380" cy="1091380"/>
          </a:xfrm>
          <a:prstGeom prst="rect">
            <a:avLst/>
          </a:prstGeom>
        </p:spPr>
      </p:pic>
    </p:spTree>
    <p:extLst>
      <p:ext uri="{BB962C8B-B14F-4D97-AF65-F5344CB8AC3E}">
        <p14:creationId xmlns:p14="http://schemas.microsoft.com/office/powerpoint/2010/main" val="478231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A9A9F61-9707-FB51-0E53-77D6D15B177E}"/>
              </a:ext>
            </a:extLst>
          </p:cNvPr>
          <p:cNvSpPr/>
          <p:nvPr/>
        </p:nvSpPr>
        <p:spPr>
          <a:xfrm>
            <a:off x="183027" y="285135"/>
            <a:ext cx="11786616" cy="643737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p:cNvSpPr/>
          <p:nvPr/>
        </p:nvSpPr>
        <p:spPr>
          <a:xfrm>
            <a:off x="818535" y="457200"/>
            <a:ext cx="10515600" cy="640080"/>
          </a:xfrm>
          <a:prstGeom prst="rect">
            <a:avLst/>
          </a:prstGeom>
          <a:noFill/>
          <a:ln/>
        </p:spPr>
        <p:txBody>
          <a:bodyPr wrap="square" rtlCol="0" anchor="ctr"/>
          <a:lstStyle/>
          <a:p>
            <a:pPr marL="0" indent="0" algn="ctr">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ABSTRACT</a:t>
            </a:r>
            <a:endParaRPr lang="en-US" sz="3000" dirty="0">
              <a:latin typeface="Times New Roman" panose="02020603050405020304" pitchFamily="18" charset="0"/>
              <a:cs typeface="Times New Roman" panose="02020603050405020304" pitchFamily="18" charset="0"/>
            </a:endParaRPr>
          </a:p>
        </p:txBody>
      </p:sp>
      <p:sp>
        <p:nvSpPr>
          <p:cNvPr id="3" name="Text 1"/>
          <p:cNvSpPr/>
          <p:nvPr/>
        </p:nvSpPr>
        <p:spPr>
          <a:xfrm>
            <a:off x="655320" y="1472184"/>
            <a:ext cx="10881360" cy="4389120"/>
          </a:xfrm>
          <a:prstGeom prst="rect">
            <a:avLst/>
          </a:prstGeom>
          <a:noFill/>
          <a:ln/>
        </p:spPr>
        <p:txBody>
          <a:bodyPr wrap="square" rtlCol="0" anchor="t"/>
          <a:lstStyle/>
          <a:p>
            <a:pPr marL="0" indent="0" algn="just">
              <a:lnSpc>
                <a:spcPct val="135000"/>
              </a:lnSpc>
              <a:spcAft>
                <a:spcPts val="1400"/>
              </a:spcAft>
              <a:buNone/>
            </a:pPr>
            <a:r>
              <a:rPr lang="en-US" dirty="0">
                <a:latin typeface="Times New Roman" panose="02020603050405020304" pitchFamily="18" charset="0"/>
                <a:ea typeface="Calibri" pitchFamily="34" charset="-122"/>
                <a:cs typeface="Times New Roman" panose="02020603050405020304" pitchFamily="18" charset="0"/>
              </a:rPr>
              <a:t>Tool-using LLM agents chain multiple autonomous decisions such as tool selection, planning, retrieval from a single instruction. Prior work shows LLMs are sensitive to minor, semantically-equivalent rewording in single-turn settings such as QA and classification, but it is largely unknown whether and how much this sensitivity grows as the number of agent steps increases, or whether it can be reduced without retraining.</a:t>
            </a:r>
            <a:endParaRPr lang="en-US" dirty="0">
              <a:latin typeface="Times New Roman" panose="02020603050405020304" pitchFamily="18" charset="0"/>
              <a:cs typeface="Times New Roman" panose="02020603050405020304" pitchFamily="18" charset="0"/>
            </a:endParaRPr>
          </a:p>
          <a:p>
            <a:pPr marL="0" indent="0" algn="just">
              <a:lnSpc>
                <a:spcPct val="135000"/>
              </a:lnSpc>
              <a:spcAft>
                <a:spcPts val="1400"/>
              </a:spcAft>
              <a:buNone/>
            </a:pPr>
            <a:endParaRPr lang="en-US" dirty="0">
              <a:latin typeface="Times New Roman" panose="02020603050405020304" pitchFamily="18" charset="0"/>
              <a:cs typeface="Times New Roman" panose="02020603050405020304" pitchFamily="18" charset="0"/>
            </a:endParaRPr>
          </a:p>
          <a:p>
            <a:pPr marL="0" indent="0" algn="just">
              <a:lnSpc>
                <a:spcPct val="135000"/>
              </a:lnSpc>
              <a:spcAft>
                <a:spcPts val="1400"/>
              </a:spcAft>
              <a:buNone/>
            </a:pPr>
            <a:r>
              <a:rPr lang="en-US" dirty="0">
                <a:latin typeface="Times New Roman" panose="02020603050405020304" pitchFamily="18" charset="0"/>
                <a:ea typeface="Calibri" pitchFamily="34" charset="-122"/>
                <a:cs typeface="Times New Roman" panose="02020603050405020304" pitchFamily="18" charset="0"/>
              </a:rPr>
              <a:t>This work proposes PSAT: a framework that measures step-level behavioral consistency of a tool-using LLM agent across paraphrased instructions on tool-use, planning, and RAG tasks, and tests a training-free paraphrase-ensemble mitigation. Built on a fully reproducible, zero-cost setup (Llama 3.1 8B via Ollama), PSAT pairs measurement with mitigation in a single validated pipeline, a combination missing from prior single-turn or purely conceptual studies.</a:t>
            </a:r>
            <a:endParaRPr lang="en-US" dirty="0">
              <a:latin typeface="Times New Roman" panose="02020603050405020304" pitchFamily="18" charset="0"/>
              <a:cs typeface="Times New Roman" panose="02020603050405020304" pitchFamily="18" charset="0"/>
            </a:endParaRPr>
          </a:p>
        </p:txBody>
      </p:sp>
      <p:sp>
        <p:nvSpPr>
          <p:cNvPr id="4" name="Text 2"/>
          <p:cNvSpPr/>
          <p:nvPr/>
        </p:nvSpPr>
        <p:spPr>
          <a:xfrm>
            <a:off x="11190535" y="6236208"/>
            <a:ext cx="692289" cy="594852"/>
          </a:xfrm>
          <a:prstGeom prst="rect">
            <a:avLst/>
          </a:prstGeom>
          <a:noFill/>
          <a:ln/>
        </p:spPr>
        <p:txBody>
          <a:bodyPr wrap="square" rtlCol="0" anchor="ctr"/>
          <a:lstStyle/>
          <a:p>
            <a:pPr marL="0" indent="0" algn="r">
              <a:buNone/>
            </a:pPr>
            <a:r>
              <a:rPr lang="en-US" sz="1000" b="1" dirty="0">
                <a:latin typeface="Times New Roman" panose="02020603050405020304" pitchFamily="18" charset="0"/>
                <a:ea typeface="Calibri" pitchFamily="34" charset="-122"/>
                <a:cs typeface="Times New Roman" panose="02020603050405020304" pitchFamily="18" charset="0"/>
              </a:rPr>
              <a:t>2</a:t>
            </a:r>
            <a:endParaRPr lang="en-US" sz="1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E74F96D-0FA1-A53C-40AF-B21FD07FCC0C}"/>
              </a:ext>
            </a:extLst>
          </p:cNvPr>
          <p:cNvSpPr/>
          <p:nvPr/>
        </p:nvSpPr>
        <p:spPr>
          <a:xfrm>
            <a:off x="201168" y="209645"/>
            <a:ext cx="11713464" cy="643737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p:cNvSpPr/>
          <p:nvPr/>
        </p:nvSpPr>
        <p:spPr>
          <a:xfrm>
            <a:off x="800100" y="502920"/>
            <a:ext cx="10515600" cy="640080"/>
          </a:xfrm>
          <a:prstGeom prst="rect">
            <a:avLst/>
          </a:prstGeom>
          <a:noFill/>
          <a:ln/>
        </p:spPr>
        <p:txBody>
          <a:bodyPr wrap="square" rtlCol="0" anchor="ctr"/>
          <a:lstStyle/>
          <a:p>
            <a:pPr marL="0" indent="0" algn="ctr">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INTRODUCTION</a:t>
            </a:r>
            <a:endParaRPr lang="en-US" sz="3000" dirty="0">
              <a:latin typeface="Times New Roman" panose="02020603050405020304" pitchFamily="18" charset="0"/>
              <a:cs typeface="Times New Roman" panose="02020603050405020304" pitchFamily="18" charset="0"/>
            </a:endParaRPr>
          </a:p>
        </p:txBody>
      </p:sp>
      <p:sp>
        <p:nvSpPr>
          <p:cNvPr id="3" name="Text 1"/>
          <p:cNvSpPr/>
          <p:nvPr/>
        </p:nvSpPr>
        <p:spPr>
          <a:xfrm>
            <a:off x="655320" y="1554480"/>
            <a:ext cx="10881360" cy="4114800"/>
          </a:xfrm>
          <a:prstGeom prst="rect">
            <a:avLst/>
          </a:prstGeom>
          <a:noFill/>
          <a:ln/>
        </p:spPr>
        <p:txBody>
          <a:bodyPr wrap="square" rtlCol="0" anchor="t"/>
          <a:lstStyle/>
          <a:p>
            <a:pPr marL="285750" lvl="0" indent="-285750">
              <a:lnSpc>
                <a:spcPct val="200000"/>
              </a:lnSpc>
              <a:buClr>
                <a:schemeClr val="accent1">
                  <a:lumMod val="75000"/>
                </a:schemeClr>
              </a:buCl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LLMs may generate different responses when the same task is presented using different input formulations or prompt variations.</a:t>
            </a:r>
          </a:p>
          <a:p>
            <a:pPr marL="285750" lvl="0" indent="-285750">
              <a:lnSpc>
                <a:spcPct val="200000"/>
              </a:lnSpc>
              <a:buClr>
                <a:schemeClr val="accent1">
                  <a:lumMod val="75000"/>
                </a:schemeClr>
              </a:buCl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This issue has gained significant attention in recent years, resulting in numerous research studies investigating the consistency and robustness of LLM responses.</a:t>
            </a:r>
          </a:p>
          <a:p>
            <a:pPr marL="285750" lvl="0" indent="-285750">
              <a:lnSpc>
                <a:spcPct val="200000"/>
              </a:lnSpc>
              <a:buClr>
                <a:schemeClr val="accent1">
                  <a:lumMod val="75000"/>
                </a:schemeClr>
              </a:buCl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However, existing research primarily focuses on standalone LLMs, with comparatively limited attention given to LLMs that perform tool calls within agentic systems.</a:t>
            </a:r>
          </a:p>
        </p:txBody>
      </p:sp>
      <p:sp>
        <p:nvSpPr>
          <p:cNvPr id="6" name="TextBox 5">
            <a:extLst>
              <a:ext uri="{FF2B5EF4-FFF2-40B4-BE49-F238E27FC236}">
                <a16:creationId xmlns:a16="http://schemas.microsoft.com/office/drawing/2014/main" id="{434D7ACE-AF37-961B-D5F9-821EAAD431D5}"/>
              </a:ext>
            </a:extLst>
          </p:cNvPr>
          <p:cNvSpPr txBox="1"/>
          <p:nvPr/>
        </p:nvSpPr>
        <p:spPr>
          <a:xfrm>
            <a:off x="10139418" y="6400800"/>
            <a:ext cx="1775214" cy="246221"/>
          </a:xfrm>
          <a:prstGeom prst="rect">
            <a:avLst/>
          </a:prstGeom>
          <a:noFill/>
        </p:spPr>
        <p:txBody>
          <a:bodyPr wrap="square">
            <a:spAutoFit/>
          </a:bodyPr>
          <a:lstStyle/>
          <a:p>
            <a:pPr marL="0" indent="0" algn="r">
              <a:buNone/>
            </a:pPr>
            <a:r>
              <a:rPr lang="en-US" sz="1000" b="1" dirty="0">
                <a:latin typeface="Times New Roman" panose="02020603050405020304" pitchFamily="18" charset="0"/>
                <a:ea typeface="Calibri" pitchFamily="34" charset="-122"/>
                <a:cs typeface="Times New Roman" panose="02020603050405020304" pitchFamily="18" charset="0"/>
              </a:rPr>
              <a:t>3</a:t>
            </a:r>
            <a:endParaRPr lang="en-US" sz="1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6FC2949-A8B2-9D4D-5F15-D71CEA4F07D9}"/>
              </a:ext>
            </a:extLst>
          </p:cNvPr>
          <p:cNvSpPr/>
          <p:nvPr/>
        </p:nvSpPr>
        <p:spPr>
          <a:xfrm>
            <a:off x="207362" y="210312"/>
            <a:ext cx="11795760" cy="643737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endParaRPr lang="en-IN" dirty="0"/>
          </a:p>
        </p:txBody>
      </p:sp>
      <p:sp>
        <p:nvSpPr>
          <p:cNvPr id="2" name="Text 0"/>
          <p:cNvSpPr/>
          <p:nvPr/>
        </p:nvSpPr>
        <p:spPr>
          <a:xfrm>
            <a:off x="828958" y="777240"/>
            <a:ext cx="10515600" cy="640080"/>
          </a:xfrm>
          <a:prstGeom prst="rect">
            <a:avLst/>
          </a:prstGeom>
          <a:noFill/>
          <a:ln/>
        </p:spPr>
        <p:txBody>
          <a:bodyPr wrap="square" rtlCol="0" anchor="ctr"/>
          <a:lstStyle/>
          <a:p>
            <a:pPr marL="0" indent="0" algn="ctr">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PROBLEM STATEMENT</a:t>
            </a:r>
            <a:endParaRPr lang="en-US" sz="3000" dirty="0">
              <a:latin typeface="Times New Roman" panose="02020603050405020304" pitchFamily="18" charset="0"/>
              <a:cs typeface="Times New Roman" panose="02020603050405020304" pitchFamily="18" charset="0"/>
            </a:endParaRPr>
          </a:p>
        </p:txBody>
      </p:sp>
      <p:sp>
        <p:nvSpPr>
          <p:cNvPr id="4" name="Text 2"/>
          <p:cNvSpPr/>
          <p:nvPr/>
        </p:nvSpPr>
        <p:spPr>
          <a:xfrm>
            <a:off x="10884310" y="6292644"/>
            <a:ext cx="1118812" cy="382475"/>
          </a:xfrm>
          <a:prstGeom prst="rect">
            <a:avLst/>
          </a:prstGeom>
          <a:noFill/>
          <a:ln/>
        </p:spPr>
        <p:txBody>
          <a:bodyPr wrap="square" rtlCol="0" anchor="ctr"/>
          <a:lstStyle/>
          <a:p>
            <a:pPr marL="0" indent="0" algn="r">
              <a:buNone/>
            </a:pPr>
            <a:r>
              <a:rPr lang="en-US" sz="1000" b="1" dirty="0">
                <a:latin typeface="Times New Roman" panose="02020603050405020304" pitchFamily="18" charset="0"/>
                <a:ea typeface="Calibri" pitchFamily="34" charset="-122"/>
                <a:cs typeface="Times New Roman" panose="02020603050405020304" pitchFamily="18" charset="0"/>
              </a:rPr>
              <a:t>4</a:t>
            </a:r>
            <a:endParaRPr lang="en-US" sz="10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C2C3723-ED34-6275-16A6-68006461D8C8}"/>
              </a:ext>
            </a:extLst>
          </p:cNvPr>
          <p:cNvSpPr txBox="1"/>
          <p:nvPr/>
        </p:nvSpPr>
        <p:spPr>
          <a:xfrm>
            <a:off x="924823" y="1984248"/>
            <a:ext cx="10028313" cy="1883657"/>
          </a:xfrm>
          <a:prstGeom prst="rect">
            <a:avLst/>
          </a:prstGeom>
          <a:noFill/>
        </p:spPr>
        <p:txBody>
          <a:bodyPr wrap="square" rtlCol="0">
            <a:spAutoFit/>
          </a:bodyPr>
          <a:lstStyle/>
          <a:p>
            <a:pPr lvl="0" algn="just">
              <a:lnSpc>
                <a:spcPct val="150000"/>
              </a:lnSpc>
              <a:buClr>
                <a:schemeClr val="accent1">
                  <a:lumMod val="75000"/>
                </a:schemeClr>
              </a:buClr>
            </a:pPr>
            <a:r>
              <a:rPr lang="en-IN" sz="2000" dirty="0">
                <a:latin typeface="Times New Roman" panose="02020603050405020304" pitchFamily="18" charset="0"/>
                <a:cs typeface="Times New Roman" panose="02020603050405020304" pitchFamily="18" charset="0"/>
              </a:rPr>
              <a:t>To check whether an LLM agent gives consistent tool-use, planning, and retrieval decisions when the same instruction is worded differently and to test a ensemble solution using multiple paraphrased prompts that combines consistency measurement with improvement in one framework.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CC679B68-9AEA-D036-3309-23D0ACDF89C3}"/>
              </a:ext>
            </a:extLst>
          </p:cNvPr>
          <p:cNvSpPr/>
          <p:nvPr/>
        </p:nvSpPr>
        <p:spPr>
          <a:xfrm>
            <a:off x="201168" y="210312"/>
            <a:ext cx="11795760" cy="643737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 0"/>
          <p:cNvSpPr/>
          <p:nvPr/>
        </p:nvSpPr>
        <p:spPr>
          <a:xfrm>
            <a:off x="838200" y="760614"/>
            <a:ext cx="10515600" cy="640080"/>
          </a:xfrm>
          <a:prstGeom prst="rect">
            <a:avLst/>
          </a:prstGeom>
          <a:noFill/>
          <a:ln/>
        </p:spPr>
        <p:txBody>
          <a:bodyPr wrap="square" rtlCol="0" anchor="ctr"/>
          <a:lstStyle/>
          <a:p>
            <a:pPr marL="0" indent="0" algn="ctr">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OBJECTIVES</a:t>
            </a:r>
            <a:endParaRPr lang="en-US" sz="3000" dirty="0">
              <a:latin typeface="Times New Roman" panose="02020603050405020304" pitchFamily="18" charset="0"/>
              <a:cs typeface="Times New Roman" panose="02020603050405020304" pitchFamily="18" charset="0"/>
            </a:endParaRPr>
          </a:p>
        </p:txBody>
      </p:sp>
      <p:sp>
        <p:nvSpPr>
          <p:cNvPr id="3" name="Shape 1"/>
          <p:cNvSpPr/>
          <p:nvPr/>
        </p:nvSpPr>
        <p:spPr>
          <a:xfrm>
            <a:off x="877824" y="2057400"/>
            <a:ext cx="457200" cy="457200"/>
          </a:xfrm>
          <a:prstGeom prst="ellipse">
            <a:avLst/>
          </a:prstGeom>
          <a:solidFill>
            <a:srgbClr val="2C6E9E"/>
          </a:solidFill>
          <a:ln/>
        </p:spPr>
      </p:sp>
      <p:sp>
        <p:nvSpPr>
          <p:cNvPr id="4" name="Text 2"/>
          <p:cNvSpPr/>
          <p:nvPr/>
        </p:nvSpPr>
        <p:spPr>
          <a:xfrm>
            <a:off x="877824" y="2057400"/>
            <a:ext cx="457200" cy="457200"/>
          </a:xfrm>
          <a:prstGeom prst="rect">
            <a:avLst/>
          </a:prstGeom>
          <a:noFill/>
          <a:ln/>
        </p:spPr>
        <p:txBody>
          <a:bodyPr wrap="square" rtlCol="0" anchor="ctr"/>
          <a:lstStyle/>
          <a:p>
            <a:pPr marL="0" indent="0" algn="ctr">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p:txBody>
      </p:sp>
      <p:sp>
        <p:nvSpPr>
          <p:cNvPr id="5" name="Text 3"/>
          <p:cNvSpPr/>
          <p:nvPr/>
        </p:nvSpPr>
        <p:spPr>
          <a:xfrm>
            <a:off x="1563624" y="1903614"/>
            <a:ext cx="10241280" cy="764771"/>
          </a:xfrm>
          <a:prstGeom prst="rect">
            <a:avLst/>
          </a:prstGeom>
          <a:noFill/>
          <a:ln/>
        </p:spPr>
        <p:txBody>
          <a:bodyPr wrap="square" rtlCol="0" anchor="ctr"/>
          <a:lstStyle/>
          <a:p>
            <a:pPr marL="0" indent="0">
              <a:lnSpc>
                <a:spcPct val="115000"/>
              </a:lnSpc>
              <a:buNone/>
            </a:pPr>
            <a:r>
              <a:rPr lang="en-US" dirty="0">
                <a:latin typeface="Times New Roman" panose="02020603050405020304" pitchFamily="18" charset="0"/>
                <a:ea typeface="Calibri" pitchFamily="34" charset="-122"/>
                <a:cs typeface="Times New Roman" panose="02020603050405020304" pitchFamily="18" charset="0"/>
              </a:rPr>
              <a:t>To quantify how success rate vary across semantically-equivalent paraphrases of the same task.</a:t>
            </a:r>
            <a:endParaRPr lang="en-US" dirty="0">
              <a:latin typeface="Times New Roman" panose="02020603050405020304" pitchFamily="18" charset="0"/>
              <a:cs typeface="Times New Roman" panose="02020603050405020304" pitchFamily="18" charset="0"/>
            </a:endParaRPr>
          </a:p>
        </p:txBody>
      </p:sp>
      <p:sp>
        <p:nvSpPr>
          <p:cNvPr id="6" name="Shape 4"/>
          <p:cNvSpPr/>
          <p:nvPr/>
        </p:nvSpPr>
        <p:spPr>
          <a:xfrm>
            <a:off x="877824" y="2898648"/>
            <a:ext cx="457200" cy="457200"/>
          </a:xfrm>
          <a:prstGeom prst="ellipse">
            <a:avLst/>
          </a:prstGeom>
          <a:solidFill>
            <a:srgbClr val="2C6E9E"/>
          </a:solidFill>
          <a:ln/>
        </p:spPr>
      </p:sp>
      <p:sp>
        <p:nvSpPr>
          <p:cNvPr id="7" name="Text 5"/>
          <p:cNvSpPr/>
          <p:nvPr/>
        </p:nvSpPr>
        <p:spPr>
          <a:xfrm>
            <a:off x="877824" y="2898648"/>
            <a:ext cx="457200" cy="457200"/>
          </a:xfrm>
          <a:prstGeom prst="rect">
            <a:avLst/>
          </a:prstGeom>
          <a:noFill/>
          <a:ln/>
        </p:spPr>
        <p:txBody>
          <a:bodyPr wrap="square" rtlCol="0" anchor="ctr"/>
          <a:lstStyle/>
          <a:p>
            <a:pPr marL="0" indent="0" algn="ctr">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2</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1563624" y="2706624"/>
            <a:ext cx="10241280" cy="841248"/>
          </a:xfrm>
          <a:prstGeom prst="rect">
            <a:avLst/>
          </a:prstGeom>
          <a:noFill/>
          <a:ln/>
        </p:spPr>
        <p:txBody>
          <a:bodyPr wrap="square" rtlCol="0" anchor="ctr"/>
          <a:lstStyle/>
          <a:p>
            <a:pPr algn="just">
              <a:lnSpc>
                <a:spcPct val="115000"/>
              </a:lnSpc>
            </a:pPr>
            <a:r>
              <a:rPr lang="en-US" dirty="0">
                <a:latin typeface="Times New Roman" panose="02020603050405020304" pitchFamily="18" charset="0"/>
                <a:ea typeface="Calibri" pitchFamily="34" charset="-122"/>
                <a:cs typeface="Times New Roman" panose="02020603050405020304" pitchFamily="18" charset="0"/>
              </a:rPr>
              <a:t>To check how tool choice affects the response.</a:t>
            </a:r>
            <a:endParaRPr lang="en-US" dirty="0">
              <a:latin typeface="Times New Roman" panose="02020603050405020304" pitchFamily="18" charset="0"/>
              <a:cs typeface="Times New Roman" panose="02020603050405020304" pitchFamily="18" charset="0"/>
            </a:endParaRPr>
          </a:p>
        </p:txBody>
      </p:sp>
      <p:sp>
        <p:nvSpPr>
          <p:cNvPr id="9" name="Shape 7"/>
          <p:cNvSpPr/>
          <p:nvPr/>
        </p:nvSpPr>
        <p:spPr>
          <a:xfrm>
            <a:off x="877824" y="3739896"/>
            <a:ext cx="457200" cy="457200"/>
          </a:xfrm>
          <a:prstGeom prst="ellipse">
            <a:avLst/>
          </a:prstGeom>
          <a:solidFill>
            <a:srgbClr val="2C6E9E"/>
          </a:solidFill>
          <a:ln/>
        </p:spPr>
      </p:sp>
      <p:sp>
        <p:nvSpPr>
          <p:cNvPr id="10" name="Text 8"/>
          <p:cNvSpPr/>
          <p:nvPr/>
        </p:nvSpPr>
        <p:spPr>
          <a:xfrm>
            <a:off x="877824" y="3739896"/>
            <a:ext cx="457200" cy="457200"/>
          </a:xfrm>
          <a:prstGeom prst="rect">
            <a:avLst/>
          </a:prstGeom>
          <a:noFill/>
          <a:ln/>
        </p:spPr>
        <p:txBody>
          <a:bodyPr wrap="square" rtlCol="0" anchor="ctr"/>
          <a:lstStyle/>
          <a:p>
            <a:pPr marL="0" indent="0" algn="ctr">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3</a:t>
            </a:r>
            <a:endParaRPr lang="en-US" sz="1600" dirty="0">
              <a:latin typeface="Times New Roman" panose="02020603050405020304" pitchFamily="18" charset="0"/>
              <a:cs typeface="Times New Roman" panose="02020603050405020304" pitchFamily="18" charset="0"/>
            </a:endParaRPr>
          </a:p>
        </p:txBody>
      </p:sp>
      <p:sp>
        <p:nvSpPr>
          <p:cNvPr id="11" name="Text 9"/>
          <p:cNvSpPr/>
          <p:nvPr/>
        </p:nvSpPr>
        <p:spPr>
          <a:xfrm>
            <a:off x="1563624" y="3547872"/>
            <a:ext cx="10241280" cy="841248"/>
          </a:xfrm>
          <a:prstGeom prst="rect">
            <a:avLst/>
          </a:prstGeom>
          <a:noFill/>
          <a:ln/>
        </p:spPr>
        <p:txBody>
          <a:bodyPr wrap="square" rtlCol="0" anchor="ctr"/>
          <a:lstStyle/>
          <a:p>
            <a:pPr marL="0" indent="0">
              <a:lnSpc>
                <a:spcPct val="115000"/>
              </a:lnSpc>
              <a:buNone/>
            </a:pPr>
            <a:r>
              <a:rPr lang="en-US" dirty="0">
                <a:latin typeface="Times New Roman" panose="02020603050405020304" pitchFamily="18" charset="0"/>
                <a:ea typeface="Calibri" pitchFamily="34" charset="-122"/>
                <a:cs typeface="Times New Roman" panose="02020603050405020304" pitchFamily="18" charset="0"/>
              </a:rPr>
              <a:t>To design a training-free paraphrase-ensemble mitigation using consensus voting.</a:t>
            </a: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877824" y="4581144"/>
            <a:ext cx="457200" cy="457200"/>
          </a:xfrm>
          <a:prstGeom prst="rect">
            <a:avLst/>
          </a:prstGeom>
          <a:noFill/>
          <a:ln/>
        </p:spPr>
        <p:txBody>
          <a:bodyPr wrap="square" rtlCol="0" anchor="ctr"/>
          <a:lstStyle/>
          <a:p>
            <a:pPr marL="0" indent="0" algn="ctr">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4</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548640" y="5001768"/>
            <a:ext cx="457200" cy="457200"/>
          </a:xfrm>
          <a:prstGeom prst="rect">
            <a:avLst/>
          </a:prstGeom>
          <a:noFill/>
          <a:ln/>
        </p:spPr>
        <p:txBody>
          <a:bodyPr wrap="square" rtlCol="0" anchor="ctr"/>
          <a:lstStyle/>
          <a:p>
            <a:pPr marL="0" indent="0" algn="ctr">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5</a:t>
            </a:r>
            <a:endParaRPr lang="en-US" sz="1600" dirty="0">
              <a:latin typeface="Times New Roman" panose="02020603050405020304" pitchFamily="18" charset="0"/>
              <a:cs typeface="Times New Roman" panose="02020603050405020304" pitchFamily="18" charset="0"/>
            </a:endParaRPr>
          </a:p>
        </p:txBody>
      </p:sp>
      <p:sp>
        <p:nvSpPr>
          <p:cNvPr id="18" name="Text 16"/>
          <p:cNvSpPr/>
          <p:nvPr/>
        </p:nvSpPr>
        <p:spPr>
          <a:xfrm>
            <a:off x="11804904" y="6213986"/>
            <a:ext cx="119560" cy="461133"/>
          </a:xfrm>
          <a:prstGeom prst="rect">
            <a:avLst/>
          </a:prstGeom>
          <a:noFill/>
          <a:ln/>
        </p:spPr>
        <p:txBody>
          <a:bodyPr wrap="square" rtlCol="0" anchor="ctr"/>
          <a:lstStyle/>
          <a:p>
            <a:pPr marL="0" indent="0" algn="r">
              <a:buNone/>
            </a:pPr>
            <a:r>
              <a:rPr lang="en-US" sz="1000" b="1" dirty="0">
                <a:latin typeface="Times New Roman" panose="02020603050405020304" pitchFamily="18" charset="0"/>
                <a:ea typeface="Calibri" pitchFamily="34" charset="-122"/>
                <a:cs typeface="Times New Roman" panose="02020603050405020304" pitchFamily="18" charset="0"/>
              </a:rPr>
              <a:t>5</a:t>
            </a:r>
            <a:endParaRPr lang="en-US" sz="1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3C78987-B895-1AFB-0CF8-9E81CBF7D03F}"/>
              </a:ext>
            </a:extLst>
          </p:cNvPr>
          <p:cNvSpPr/>
          <p:nvPr/>
        </p:nvSpPr>
        <p:spPr>
          <a:xfrm>
            <a:off x="128016" y="210312"/>
            <a:ext cx="11786616" cy="643737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p:cNvSpPr/>
          <p:nvPr/>
        </p:nvSpPr>
        <p:spPr>
          <a:xfrm>
            <a:off x="763524" y="442452"/>
            <a:ext cx="10515600" cy="640080"/>
          </a:xfrm>
          <a:prstGeom prst="rect">
            <a:avLst/>
          </a:prstGeom>
          <a:noFill/>
          <a:ln/>
        </p:spPr>
        <p:txBody>
          <a:bodyPr wrap="square" rtlCol="0" anchor="ctr"/>
          <a:lstStyle/>
          <a:p>
            <a:pPr marL="0" indent="0" algn="ctr">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LITERATURE REVIEW</a:t>
            </a:r>
            <a:endParaRPr lang="en-US" sz="3000" dirty="0">
              <a:latin typeface="Times New Roman" panose="02020603050405020304" pitchFamily="18" charset="0"/>
              <a:cs typeface="Times New Roman" panose="02020603050405020304" pitchFamily="18" charset="0"/>
            </a:endParaRPr>
          </a:p>
        </p:txBody>
      </p:sp>
      <p:graphicFrame>
        <p:nvGraphicFramePr>
          <p:cNvPr id="7" name="Table 0"/>
          <p:cNvGraphicFramePr>
            <a:graphicFrameLocks noGrp="1"/>
          </p:cNvGraphicFramePr>
          <p:nvPr>
            <p:extLst>
              <p:ext uri="{D42A27DB-BD31-4B8C-83A1-F6EECF244321}">
                <p14:modId xmlns:p14="http://schemas.microsoft.com/office/powerpoint/2010/main" val="1429662553"/>
              </p:ext>
            </p:extLst>
          </p:nvPr>
        </p:nvGraphicFramePr>
        <p:xfrm>
          <a:off x="518882" y="1241653"/>
          <a:ext cx="11154236" cy="5159147"/>
        </p:xfrm>
        <a:graphic>
          <a:graphicData uri="http://schemas.openxmlformats.org/drawingml/2006/table">
            <a:tbl>
              <a:tblPr/>
              <a:tblGrid>
                <a:gridCol w="2396778">
                  <a:extLst>
                    <a:ext uri="{9D8B030D-6E8A-4147-A177-3AD203B41FA5}">
                      <a16:colId xmlns:a16="http://schemas.microsoft.com/office/drawing/2014/main" val="20000"/>
                    </a:ext>
                  </a:extLst>
                </a:gridCol>
                <a:gridCol w="5070107">
                  <a:extLst>
                    <a:ext uri="{9D8B030D-6E8A-4147-A177-3AD203B41FA5}">
                      <a16:colId xmlns:a16="http://schemas.microsoft.com/office/drawing/2014/main" val="20001"/>
                    </a:ext>
                  </a:extLst>
                </a:gridCol>
                <a:gridCol w="3687351">
                  <a:extLst>
                    <a:ext uri="{9D8B030D-6E8A-4147-A177-3AD203B41FA5}">
                      <a16:colId xmlns:a16="http://schemas.microsoft.com/office/drawing/2014/main" val="20002"/>
                    </a:ext>
                  </a:extLst>
                </a:gridCol>
              </a:tblGrid>
              <a:tr h="737021">
                <a:tc>
                  <a:txBody>
                    <a:bodyPr/>
                    <a:lstStyle/>
                    <a:p>
                      <a:pPr marL="0" indent="0">
                        <a:buNone/>
                      </a:pPr>
                      <a:r>
                        <a:rPr lang="en-US" sz="1200" b="1" dirty="0">
                          <a:solidFill>
                            <a:srgbClr val="FFFFFF"/>
                          </a:solidFill>
                        </a:rPr>
                        <a:t>SYSTEM</a:t>
                      </a:r>
                      <a:endParaRPr lang="en-US" sz="1200" dirty="0"/>
                    </a:p>
                  </a:txBody>
                  <a:tcPr marL="101600" marR="1016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pPr marL="0" indent="0">
                        <a:buNone/>
                      </a:pPr>
                      <a:r>
                        <a:rPr lang="en-US" sz="1200" b="1" dirty="0">
                          <a:solidFill>
                            <a:srgbClr val="FFFFFF"/>
                          </a:solidFill>
                        </a:rPr>
                        <a:t>APPROACH</a:t>
                      </a:r>
                      <a:endParaRPr lang="en-US" sz="1200" dirty="0"/>
                    </a:p>
                  </a:txBody>
                  <a:tcPr marL="101600" marR="1016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pPr marL="0" indent="0">
                        <a:buNone/>
                      </a:pPr>
                      <a:r>
                        <a:rPr lang="en-US" sz="1200" b="1" dirty="0">
                          <a:solidFill>
                            <a:srgbClr val="FFFFFF"/>
                          </a:solidFill>
                        </a:rPr>
                        <a:t>LIMITATIONS</a:t>
                      </a:r>
                      <a:endParaRPr lang="en-US" sz="1200" dirty="0"/>
                    </a:p>
                  </a:txBody>
                  <a:tcPr marL="101600" marR="1016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10000"/>
                  </a:ext>
                </a:extLst>
              </a:tr>
              <a:tr h="737021">
                <a:tc>
                  <a:txBody>
                    <a:bodyPr/>
                    <a:lstStyle/>
                    <a:p>
                      <a:pPr marL="0" indent="0">
                        <a:buNone/>
                      </a:pPr>
                      <a:r>
                        <a:rPr lang="en-US" sz="1400" dirty="0">
                          <a:solidFill>
                            <a:schemeClr val="tx1"/>
                          </a:solidFill>
                        </a:rPr>
                        <a:t>ProSA</a:t>
                      </a:r>
                    </a:p>
                    <a:p>
                      <a:pPr marL="0" indent="0">
                        <a:buNone/>
                      </a:pPr>
                      <a:r>
                        <a:rPr lang="en-US" sz="1400" dirty="0">
                          <a:solidFill>
                            <a:schemeClr val="tx1"/>
                          </a:solidFill>
                        </a:rPr>
                        <a:t>(Zhuo et al., 2024)</a:t>
                      </a:r>
                    </a:p>
                  </a:txBody>
                  <a:tcPr marL="101600" marR="1016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Instance-level PromptSensiScore across models &amp; datasets, single-turn</a:t>
                      </a:r>
                    </a:p>
                  </a:txBody>
                  <a:tcPr marL="101600" marR="1016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Non-agentic; no step-level view; no mitigation</a:t>
                      </a:r>
                    </a:p>
                  </a:txBody>
                  <a:tcPr marL="101600" marR="1016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7021">
                <a:tc>
                  <a:txBody>
                    <a:bodyPr/>
                    <a:lstStyle/>
                    <a:p>
                      <a:pPr marL="0" indent="0">
                        <a:buNone/>
                      </a:pPr>
                      <a:r>
                        <a:rPr lang="en-US" sz="1400" dirty="0">
                          <a:solidFill>
                            <a:schemeClr val="tx1"/>
                          </a:solidFill>
                        </a:rPr>
                        <a:t>Sclar et al. (2024)</a:t>
                      </a:r>
                    </a:p>
                  </a:txBody>
                  <a:tcPr marL="101600" marR="1016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6F8"/>
                    </a:solidFill>
                  </a:tcPr>
                </a:tc>
                <a:tc>
                  <a:txBody>
                    <a:bodyPr/>
                    <a:lstStyle/>
                    <a:p>
                      <a:pPr marL="0" indent="0">
                        <a:buNone/>
                      </a:pPr>
                      <a:r>
                        <a:rPr lang="en-US" sz="1400" dirty="0">
                          <a:solidFill>
                            <a:schemeClr val="tx1"/>
                          </a:solidFill>
                        </a:rPr>
                        <a:t>Shows format-based prompt sensitivity — swings up to 76 points</a:t>
                      </a:r>
                    </a:p>
                  </a:txBody>
                  <a:tcPr marL="101600" marR="1016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6F8"/>
                    </a:solidFill>
                  </a:tcPr>
                </a:tc>
                <a:tc>
                  <a:txBody>
                    <a:bodyPr/>
                    <a:lstStyle/>
                    <a:p>
                      <a:pPr marL="0" indent="0">
                        <a:buNone/>
                      </a:pPr>
                      <a:r>
                        <a:rPr lang="en-US" sz="1400" dirty="0">
                          <a:solidFill>
                            <a:schemeClr val="tx1"/>
                          </a:solidFill>
                        </a:rPr>
                        <a:t>Formatting only, not content paraphrase; single-turn</a:t>
                      </a:r>
                    </a:p>
                  </a:txBody>
                  <a:tcPr marL="101600" marR="1016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737021">
                <a:tc>
                  <a:txBody>
                    <a:bodyPr/>
                    <a:lstStyle/>
                    <a:p>
                      <a:pPr marL="0" indent="0">
                        <a:buNone/>
                      </a:pPr>
                      <a:r>
                        <a:rPr lang="en-US" sz="1400" dirty="0">
                          <a:solidFill>
                            <a:schemeClr val="tx1"/>
                          </a:solidFill>
                        </a:rPr>
                        <a:t>Mizrahi et al. (2024)</a:t>
                      </a:r>
                    </a:p>
                  </a:txBody>
                  <a:tcPr marL="101600" marR="1016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Multi-prompt evaluation; paraphrase sets shift scores/rankings</a:t>
                      </a:r>
                    </a:p>
                  </a:txBody>
                  <a:tcPr marL="101600" marR="1016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Non-agentic; no step-level trace; no mitigation</a:t>
                      </a:r>
                    </a:p>
                  </a:txBody>
                  <a:tcPr marL="101600" marR="1016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7021">
                <a:tc>
                  <a:txBody>
                    <a:bodyPr/>
                    <a:lstStyle/>
                    <a:p>
                      <a:pPr marL="0" indent="0">
                        <a:buNone/>
                      </a:pPr>
                      <a:r>
                        <a:rPr lang="en-US" sz="1400" dirty="0">
                          <a:solidFill>
                            <a:schemeClr val="tx1"/>
                          </a:solidFill>
                        </a:rPr>
                        <a:t>Verma et al. (2024)</a:t>
                      </a:r>
                    </a:p>
                    <a:p>
                      <a:pPr marL="0" indent="0">
                        <a:buNone/>
                      </a:pPr>
                      <a:r>
                        <a:rPr lang="en-US" sz="1400" dirty="0">
                          <a:solidFill>
                            <a:schemeClr val="tx1"/>
                          </a:solidFill>
                        </a:rPr>
                        <a:t>(ReAct brittleness)</a:t>
                      </a:r>
                    </a:p>
                  </a:txBody>
                  <a:tcPr marL="101600" marR="1016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6F8"/>
                    </a:solidFill>
                  </a:tcPr>
                </a:tc>
                <a:tc>
                  <a:txBody>
                    <a:bodyPr/>
                    <a:lstStyle/>
                    <a:p>
                      <a:pPr marL="0" indent="0">
                        <a:buNone/>
                      </a:pPr>
                      <a:r>
                        <a:rPr lang="en-US" sz="1400" dirty="0">
                          <a:solidFill>
                            <a:schemeClr val="tx1"/>
                          </a:solidFill>
                        </a:rPr>
                        <a:t>Shows ReAct-style agentic prompting is brittle</a:t>
                      </a:r>
                    </a:p>
                  </a:txBody>
                  <a:tcPr marL="101600" marR="1016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6F8"/>
                    </a:solidFill>
                  </a:tcPr>
                </a:tc>
                <a:tc>
                  <a:txBody>
                    <a:bodyPr/>
                    <a:lstStyle/>
                    <a:p>
                      <a:pPr marL="0" indent="0">
                        <a:buNone/>
                      </a:pPr>
                      <a:r>
                        <a:rPr lang="en-US" sz="1400" dirty="0">
                          <a:solidFill>
                            <a:schemeClr val="tx1"/>
                          </a:solidFill>
                        </a:rPr>
                        <a:t>Not paraphrase-driven; no formal consistency metric or fix</a:t>
                      </a:r>
                    </a:p>
                  </a:txBody>
                  <a:tcPr marL="101600" marR="1016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r h="737021">
                <a:tc>
                  <a:txBody>
                    <a:bodyPr/>
                    <a:lstStyle/>
                    <a:p>
                      <a:pPr marL="0" indent="0">
                        <a:buNone/>
                      </a:pPr>
                      <a:r>
                        <a:rPr lang="en-US" sz="1400" dirty="0">
                          <a:solidFill>
                            <a:schemeClr val="tx1"/>
                          </a:solidFill>
                        </a:rPr>
                        <a:t>Yagubyan (2026)</a:t>
                      </a:r>
                    </a:p>
                    <a:p>
                      <a:pPr marL="0" indent="0">
                        <a:buNone/>
                      </a:pPr>
                      <a:r>
                        <a:rPr lang="en-US" sz="1400" dirty="0">
                          <a:solidFill>
                            <a:schemeClr val="tx1"/>
                          </a:solidFill>
                        </a:rPr>
                        <a:t>(TSS / AC)</a:t>
                      </a:r>
                    </a:p>
                  </a:txBody>
                  <a:tcPr marL="101600" marR="1016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Defines TSS &amp; AC; measures agent consistency across repeated runs</a:t>
                      </a:r>
                    </a:p>
                  </a:txBody>
                  <a:tcPr marL="101600" marR="1016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Doesn't vary phrasing at all; no mitigation studied</a:t>
                      </a:r>
                    </a:p>
                  </a:txBody>
                  <a:tcPr marL="101600" marR="1016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37021">
                <a:tc>
                  <a:txBody>
                    <a:bodyPr/>
                    <a:lstStyle/>
                    <a:p>
                      <a:pPr marL="0" indent="0">
                        <a:buNone/>
                      </a:pPr>
                      <a:r>
                        <a:rPr lang="en-US" sz="1400" dirty="0">
                          <a:solidFill>
                            <a:schemeClr val="tx1"/>
                          </a:solidFill>
                        </a:rPr>
                        <a:t>Elazar et al.</a:t>
                      </a:r>
                    </a:p>
                    <a:p>
                      <a:pPr marL="0" indent="0">
                        <a:buNone/>
                      </a:pPr>
                      <a:r>
                        <a:rPr lang="en-US" sz="1400" dirty="0">
                          <a:solidFill>
                            <a:schemeClr val="tx1"/>
                          </a:solidFill>
                        </a:rPr>
                        <a:t>(2021, TACL)</a:t>
                      </a:r>
                    </a:p>
                  </a:txBody>
                  <a:tcPr marL="101600" marR="1016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6F8"/>
                    </a:solidFill>
                  </a:tcPr>
                </a:tc>
                <a:tc>
                  <a:txBody>
                    <a:bodyPr/>
                    <a:lstStyle/>
                    <a:p>
                      <a:pPr marL="0" indent="0">
                        <a:buNone/>
                      </a:pPr>
                      <a:r>
                        <a:rPr lang="en-US" sz="1400" dirty="0">
                          <a:solidFill>
                            <a:schemeClr val="tx1"/>
                          </a:solidFill>
                        </a:rPr>
                        <a:t>Foundational paraphrase agreement-rate metric, factual QA</a:t>
                      </a:r>
                    </a:p>
                  </a:txBody>
                  <a:tcPr marL="101600" marR="1016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6F8"/>
                    </a:solidFill>
                  </a:tcPr>
                </a:tc>
                <a:tc>
                  <a:txBody>
                    <a:bodyPr/>
                    <a:lstStyle/>
                    <a:p>
                      <a:pPr marL="0" indent="0">
                        <a:buNone/>
                      </a:pPr>
                      <a:r>
                        <a:rPr lang="en-US" sz="1400" dirty="0">
                          <a:solidFill>
                            <a:schemeClr val="tx1"/>
                          </a:solidFill>
                        </a:rPr>
                        <a:t>Non-agentic; single-turn cloze completion only</a:t>
                      </a:r>
                    </a:p>
                  </a:txBody>
                  <a:tcPr marL="101600" marR="1016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6F8"/>
                    </a:solidFill>
                  </a:tcPr>
                </a:tc>
                <a:extLst>
                  <a:ext uri="{0D108BD9-81ED-4DB2-BD59-A6C34878D82A}">
                    <a16:rowId xmlns:a16="http://schemas.microsoft.com/office/drawing/2014/main" val="10006"/>
                  </a:ext>
                </a:extLst>
              </a:tr>
            </a:tbl>
          </a:graphicData>
        </a:graphic>
      </p:graphicFrame>
      <p:sp>
        <p:nvSpPr>
          <p:cNvPr id="4" name="Text 1"/>
          <p:cNvSpPr/>
          <p:nvPr/>
        </p:nvSpPr>
        <p:spPr>
          <a:xfrm>
            <a:off x="11548872" y="6400800"/>
            <a:ext cx="365760" cy="274320"/>
          </a:xfrm>
          <a:prstGeom prst="rect">
            <a:avLst/>
          </a:prstGeom>
          <a:noFill/>
          <a:ln/>
        </p:spPr>
        <p:txBody>
          <a:bodyPr wrap="square" rtlCol="0" anchor="ctr"/>
          <a:lstStyle/>
          <a:p>
            <a:pPr marL="0" indent="0" algn="r">
              <a:buNone/>
            </a:pPr>
            <a:r>
              <a:rPr lang="en-US" sz="1000" b="1" dirty="0">
                <a:latin typeface="Times New Roman" panose="02020603050405020304" pitchFamily="18" charset="0"/>
                <a:ea typeface="Calibri" pitchFamily="34" charset="-122"/>
                <a:cs typeface="Times New Roman" panose="02020603050405020304" pitchFamily="18" charset="0"/>
              </a:rPr>
              <a:t>6</a:t>
            </a:r>
            <a:endParaRPr lang="en-US" sz="1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2918C093-A5D8-790F-8605-72C0C61D12BE}"/>
              </a:ext>
            </a:extLst>
          </p:cNvPr>
          <p:cNvSpPr/>
          <p:nvPr/>
        </p:nvSpPr>
        <p:spPr>
          <a:xfrm>
            <a:off x="167148" y="161203"/>
            <a:ext cx="11786616" cy="643737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p:cNvSpPr/>
          <p:nvPr/>
        </p:nvSpPr>
        <p:spPr>
          <a:xfrm>
            <a:off x="802657" y="457200"/>
            <a:ext cx="10515600" cy="640080"/>
          </a:xfrm>
          <a:prstGeom prst="rect">
            <a:avLst/>
          </a:prstGeom>
          <a:noFill/>
          <a:ln/>
        </p:spPr>
        <p:txBody>
          <a:bodyPr wrap="square" rtlCol="0" anchor="ctr"/>
          <a:lstStyle/>
          <a:p>
            <a:pPr marL="0" indent="0" algn="ctr">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PROPOSED WORK</a:t>
            </a:r>
            <a:endParaRPr lang="en-US" sz="3000" dirty="0">
              <a:latin typeface="Times New Roman" panose="02020603050405020304" pitchFamily="18" charset="0"/>
              <a:cs typeface="Times New Roman" panose="02020603050405020304" pitchFamily="18" charset="0"/>
            </a:endParaRPr>
          </a:p>
        </p:txBody>
      </p:sp>
      <p:sp>
        <p:nvSpPr>
          <p:cNvPr id="3" name="Shape 1"/>
          <p:cNvSpPr/>
          <p:nvPr/>
        </p:nvSpPr>
        <p:spPr>
          <a:xfrm>
            <a:off x="552972" y="2933178"/>
            <a:ext cx="1929345" cy="1094874"/>
          </a:xfrm>
          <a:prstGeom prst="roundRect">
            <a:avLst>
              <a:gd name="adj" fmla="val 5333"/>
            </a:avLst>
          </a:prstGeom>
          <a:solidFill>
            <a:schemeClr val="accent1">
              <a:lumMod val="40000"/>
              <a:lumOff val="60000"/>
            </a:schemeClr>
          </a:solidFill>
          <a:ln w="12700">
            <a:solidFill>
              <a:srgbClr val="E2E5EA"/>
            </a:solidFill>
            <a:prstDash val="solid"/>
          </a:ln>
        </p:spPr>
      </p:sp>
      <p:sp>
        <p:nvSpPr>
          <p:cNvPr id="4" name="Text 2"/>
          <p:cNvSpPr/>
          <p:nvPr/>
        </p:nvSpPr>
        <p:spPr>
          <a:xfrm>
            <a:off x="343532" y="3158411"/>
            <a:ext cx="2331720" cy="548640"/>
          </a:xfrm>
          <a:prstGeom prst="rect">
            <a:avLst/>
          </a:prstGeom>
          <a:noFill/>
          <a:ln/>
        </p:spPr>
        <p:txBody>
          <a:bodyPr wrap="square" rtlCol="0" anchor="ctr"/>
          <a:lstStyle/>
          <a:p>
            <a:pPr marL="0" indent="0" algn="ctr">
              <a:buNone/>
            </a:pPr>
            <a:r>
              <a:rPr lang="en-US" b="1" dirty="0">
                <a:solidFill>
                  <a:srgbClr val="1B2A4A"/>
                </a:solidFill>
                <a:latin typeface="Times New Roman" panose="02020603050405020304" pitchFamily="18" charset="0"/>
                <a:ea typeface="Calibri" pitchFamily="34" charset="-122"/>
                <a:cs typeface="Times New Roman" panose="02020603050405020304" pitchFamily="18" charset="0"/>
              </a:rPr>
              <a:t>Task Setup</a:t>
            </a:r>
            <a:endParaRPr lang="en-US" dirty="0">
              <a:latin typeface="Times New Roman" panose="02020603050405020304" pitchFamily="18" charset="0"/>
              <a:cs typeface="Times New Roman" panose="02020603050405020304" pitchFamily="18" charset="0"/>
            </a:endParaRPr>
          </a:p>
        </p:txBody>
      </p:sp>
      <p:sp>
        <p:nvSpPr>
          <p:cNvPr id="5" name="Text 3"/>
          <p:cNvSpPr/>
          <p:nvPr/>
        </p:nvSpPr>
        <p:spPr>
          <a:xfrm>
            <a:off x="383884" y="4146263"/>
            <a:ext cx="2331720" cy="457200"/>
          </a:xfrm>
          <a:prstGeom prst="rect">
            <a:avLst/>
          </a:prstGeom>
          <a:noFill/>
          <a:ln/>
        </p:spPr>
        <p:txBody>
          <a:bodyPr wrap="square" rtlCol="0" anchor="ctr"/>
          <a:lstStyle/>
          <a:p>
            <a:pPr marL="0" indent="0" algn="ctr">
              <a:buNone/>
            </a:pPr>
            <a:r>
              <a:rPr lang="en-US" sz="1200" dirty="0">
                <a:solidFill>
                  <a:srgbClr val="5B6472"/>
                </a:solidFill>
                <a:latin typeface="Times New Roman" panose="02020603050405020304" pitchFamily="18" charset="0"/>
                <a:ea typeface="Calibri" pitchFamily="34" charset="-122"/>
                <a:cs typeface="Times New Roman" panose="02020603050405020304" pitchFamily="18" charset="0"/>
              </a:rPr>
              <a:t>Select task type</a:t>
            </a:r>
          </a:p>
          <a:p>
            <a:pPr marL="0" indent="0" algn="ctr">
              <a:buNone/>
            </a:pPr>
            <a:r>
              <a:rPr lang="en-US" sz="1200" dirty="0">
                <a:solidFill>
                  <a:srgbClr val="5B6472"/>
                </a:solidFill>
                <a:latin typeface="Times New Roman" panose="02020603050405020304" pitchFamily="18" charset="0"/>
                <a:ea typeface="Calibri" pitchFamily="34" charset="-122"/>
                <a:cs typeface="Times New Roman" panose="02020603050405020304" pitchFamily="18" charset="0"/>
              </a:rPr>
              <a:t>(Tool-use/ Planning/ RAG based)</a:t>
            </a:r>
            <a:endParaRPr lang="en-US" sz="1200" dirty="0">
              <a:latin typeface="Times New Roman" panose="02020603050405020304" pitchFamily="18" charset="0"/>
              <a:cs typeface="Times New Roman" panose="02020603050405020304" pitchFamily="18" charset="0"/>
            </a:endParaRPr>
          </a:p>
        </p:txBody>
      </p:sp>
      <p:sp>
        <p:nvSpPr>
          <p:cNvPr id="6" name="Text 4"/>
          <p:cNvSpPr/>
          <p:nvPr/>
        </p:nvSpPr>
        <p:spPr>
          <a:xfrm>
            <a:off x="3262472" y="2992015"/>
            <a:ext cx="291172" cy="1097280"/>
          </a:xfrm>
          <a:prstGeom prst="rect">
            <a:avLst/>
          </a:prstGeom>
          <a:noFill/>
          <a:ln/>
        </p:spPr>
        <p:txBody>
          <a:bodyPr wrap="square" rtlCol="0" anchor="ctr"/>
          <a:lstStyle/>
          <a:p>
            <a:pPr marL="0" indent="0" algn="ctr">
              <a:buNone/>
            </a:pPr>
            <a:r>
              <a:rPr lang="en-US" sz="2000" b="1" dirty="0">
                <a:solidFill>
                  <a:srgbClr val="2C6E9E"/>
                </a:solidFill>
                <a:latin typeface="Calibri" pitchFamily="34" charset="0"/>
                <a:ea typeface="Calibri" pitchFamily="34" charset="-122"/>
                <a:cs typeface="Calibri" pitchFamily="34" charset="-120"/>
              </a:rPr>
              <a:t>→</a:t>
            </a:r>
            <a:endParaRPr lang="en-US" sz="2000" dirty="0"/>
          </a:p>
        </p:txBody>
      </p:sp>
      <p:sp>
        <p:nvSpPr>
          <p:cNvPr id="7" name="Shape 5"/>
          <p:cNvSpPr/>
          <p:nvPr/>
        </p:nvSpPr>
        <p:spPr>
          <a:xfrm>
            <a:off x="3103711" y="2933178"/>
            <a:ext cx="2203013" cy="1142137"/>
          </a:xfrm>
          <a:prstGeom prst="roundRect">
            <a:avLst>
              <a:gd name="adj" fmla="val 5333"/>
            </a:avLst>
          </a:prstGeom>
          <a:solidFill>
            <a:schemeClr val="accent1">
              <a:lumMod val="40000"/>
              <a:lumOff val="60000"/>
            </a:schemeClr>
          </a:solidFill>
          <a:ln w="12700">
            <a:solidFill>
              <a:srgbClr val="E2E5EA"/>
            </a:solidFill>
            <a:prstDash val="solid"/>
          </a:ln>
        </p:spPr>
      </p:sp>
      <p:sp>
        <p:nvSpPr>
          <p:cNvPr id="8" name="Text 6"/>
          <p:cNvSpPr/>
          <p:nvPr/>
        </p:nvSpPr>
        <p:spPr>
          <a:xfrm>
            <a:off x="3163012" y="3250511"/>
            <a:ext cx="2121395" cy="438912"/>
          </a:xfrm>
          <a:prstGeom prst="rect">
            <a:avLst/>
          </a:prstGeom>
          <a:noFill/>
          <a:ln/>
        </p:spPr>
        <p:txBody>
          <a:bodyPr wrap="square" rtlCol="0" anchor="ctr"/>
          <a:lstStyle/>
          <a:p>
            <a:pPr marL="0" indent="0" algn="ctr">
              <a:buNone/>
            </a:pPr>
            <a:r>
              <a:rPr lang="en-US" b="1" dirty="0">
                <a:solidFill>
                  <a:srgbClr val="1B2A4A"/>
                </a:solidFill>
                <a:latin typeface="Times New Roman" panose="02020603050405020304" pitchFamily="18" charset="0"/>
                <a:ea typeface="Calibri" pitchFamily="34" charset="-122"/>
                <a:cs typeface="Times New Roman" panose="02020603050405020304" pitchFamily="18" charset="0"/>
              </a:rPr>
              <a:t>Paraphrase Generation</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3103711" y="4374863"/>
            <a:ext cx="2121395" cy="365760"/>
          </a:xfrm>
          <a:prstGeom prst="rect">
            <a:avLst/>
          </a:prstGeom>
          <a:noFill/>
          <a:ln/>
        </p:spPr>
        <p:txBody>
          <a:bodyPr wrap="square" rtlCol="0" anchor="ctr"/>
          <a:lstStyle/>
          <a:p>
            <a:pPr marL="0" indent="0" algn="ctr">
              <a:buNone/>
            </a:pPr>
            <a:r>
              <a:rPr lang="en-US" sz="1200" dirty="0">
                <a:solidFill>
                  <a:srgbClr val="5B6472"/>
                </a:solidFill>
                <a:latin typeface="Times New Roman" panose="02020603050405020304" pitchFamily="18" charset="0"/>
                <a:ea typeface="Calibri" pitchFamily="34" charset="-122"/>
                <a:cs typeface="Times New Roman" panose="02020603050405020304" pitchFamily="18" charset="0"/>
              </a:rPr>
              <a:t>6 variants per each task</a:t>
            </a:r>
          </a:p>
          <a:p>
            <a:pPr marL="0" indent="0" algn="ctr">
              <a:buNone/>
            </a:pPr>
            <a:r>
              <a:rPr lang="en-US" sz="1200" dirty="0">
                <a:solidFill>
                  <a:srgbClr val="5B6472"/>
                </a:solidFill>
                <a:latin typeface="Times New Roman" panose="02020603050405020304" pitchFamily="18" charset="0"/>
                <a:ea typeface="Calibri" pitchFamily="34" charset="-122"/>
                <a:cs typeface="Times New Roman" panose="02020603050405020304" pitchFamily="18" charset="0"/>
              </a:rPr>
              <a:t>(3 LLM + deterministic evaluator, 3 Manual)</a:t>
            </a:r>
            <a:endParaRPr lang="en-US" sz="1200" dirty="0">
              <a:latin typeface="Times New Roman" panose="02020603050405020304" pitchFamily="18" charset="0"/>
              <a:cs typeface="Times New Roman" panose="02020603050405020304" pitchFamily="18" charset="0"/>
            </a:endParaRPr>
          </a:p>
        </p:txBody>
      </p:sp>
      <p:sp>
        <p:nvSpPr>
          <p:cNvPr id="10" name="Text 8"/>
          <p:cNvSpPr/>
          <p:nvPr/>
        </p:nvSpPr>
        <p:spPr>
          <a:xfrm>
            <a:off x="6129290" y="2969094"/>
            <a:ext cx="303159" cy="1097280"/>
          </a:xfrm>
          <a:prstGeom prst="rect">
            <a:avLst/>
          </a:prstGeom>
          <a:noFill/>
          <a:ln/>
        </p:spPr>
        <p:txBody>
          <a:bodyPr wrap="square" rtlCol="0" anchor="ctr"/>
          <a:lstStyle/>
          <a:p>
            <a:pPr marL="0" indent="0" algn="ctr">
              <a:buNone/>
            </a:pPr>
            <a:r>
              <a:rPr lang="en-US" sz="2000" b="1" dirty="0">
                <a:solidFill>
                  <a:srgbClr val="2C6E9E"/>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6087408" y="2969094"/>
            <a:ext cx="2208739" cy="1097280"/>
          </a:xfrm>
          <a:prstGeom prst="roundRect">
            <a:avLst>
              <a:gd name="adj" fmla="val 5333"/>
            </a:avLst>
          </a:prstGeom>
          <a:solidFill>
            <a:srgbClr val="2C6E9E"/>
          </a:solidFill>
          <a:ln w="12700">
            <a:solidFill>
              <a:srgbClr val="E2E5EA"/>
            </a:solidFill>
            <a:prstDash val="solid"/>
          </a:ln>
        </p:spPr>
      </p:sp>
      <p:sp>
        <p:nvSpPr>
          <p:cNvPr id="12" name="Text 10"/>
          <p:cNvSpPr/>
          <p:nvPr/>
        </p:nvSpPr>
        <p:spPr>
          <a:xfrm>
            <a:off x="6060457" y="3321199"/>
            <a:ext cx="2208739" cy="438912"/>
          </a:xfrm>
          <a:prstGeom prst="rect">
            <a:avLst/>
          </a:prstGeom>
          <a:noFill/>
          <a:ln/>
        </p:spPr>
        <p:txBody>
          <a:bodyPr wrap="square" rtlCol="0" anchor="ctr"/>
          <a:lstStyle/>
          <a:p>
            <a:pPr marL="0" indent="0" algn="ctr">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Agent Execution</a:t>
            </a: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6060456" y="4260080"/>
            <a:ext cx="2208739" cy="365760"/>
          </a:xfrm>
          <a:prstGeom prst="rect">
            <a:avLst/>
          </a:prstGeom>
          <a:noFill/>
          <a:ln/>
        </p:spPr>
        <p:txBody>
          <a:bodyPr wrap="square" rtlCol="0" anchor="ctr"/>
          <a:lstStyle/>
          <a:p>
            <a:pPr marL="0" indent="0" algn="ctr">
              <a:buNone/>
            </a:pPr>
            <a:r>
              <a:rPr lang="en-US" sz="12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Run the LLM agent</a:t>
            </a:r>
            <a:endParaRPr lang="en-US" sz="1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Text 12"/>
          <p:cNvSpPr/>
          <p:nvPr/>
        </p:nvSpPr>
        <p:spPr>
          <a:xfrm>
            <a:off x="8418704" y="2862434"/>
            <a:ext cx="439786" cy="1377696"/>
          </a:xfrm>
          <a:prstGeom prst="rect">
            <a:avLst/>
          </a:prstGeom>
          <a:noFill/>
          <a:ln/>
        </p:spPr>
        <p:txBody>
          <a:bodyPr wrap="square" rtlCol="0" anchor="ctr"/>
          <a:lstStyle/>
          <a:p>
            <a:pPr marL="0" indent="0" algn="ctr">
              <a:buNone/>
            </a:pPr>
            <a:r>
              <a:rPr lang="en-US" sz="2000" b="1" dirty="0">
                <a:solidFill>
                  <a:srgbClr val="2C6E9E"/>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9045943" y="4760730"/>
            <a:ext cx="2218664" cy="1196180"/>
          </a:xfrm>
          <a:prstGeom prst="roundRect">
            <a:avLst>
              <a:gd name="adj" fmla="val 5333"/>
            </a:avLst>
          </a:prstGeom>
          <a:solidFill>
            <a:schemeClr val="accent1">
              <a:lumMod val="40000"/>
              <a:lumOff val="60000"/>
            </a:schemeClr>
          </a:solidFill>
          <a:ln w="12700">
            <a:solidFill>
              <a:srgbClr val="E2E5EA"/>
            </a:solidFill>
            <a:prstDash val="solid"/>
          </a:ln>
        </p:spPr>
      </p:sp>
      <p:sp>
        <p:nvSpPr>
          <p:cNvPr id="16" name="Text 14"/>
          <p:cNvSpPr/>
          <p:nvPr/>
        </p:nvSpPr>
        <p:spPr>
          <a:xfrm>
            <a:off x="8995618" y="5084500"/>
            <a:ext cx="2331720" cy="548640"/>
          </a:xfrm>
          <a:prstGeom prst="rect">
            <a:avLst/>
          </a:prstGeom>
          <a:noFill/>
          <a:ln/>
        </p:spPr>
        <p:txBody>
          <a:bodyPr wrap="square" rtlCol="0" anchor="ctr"/>
          <a:lstStyle/>
          <a:p>
            <a:pPr marL="0" indent="0" algn="ctr">
              <a:buNone/>
            </a:pPr>
            <a:r>
              <a:rPr lang="en-US" b="1" dirty="0">
                <a:solidFill>
                  <a:srgbClr val="1B2A4A"/>
                </a:solidFill>
                <a:latin typeface="Times New Roman" panose="02020603050405020304" pitchFamily="18" charset="0"/>
                <a:ea typeface="Calibri" pitchFamily="34" charset="-122"/>
                <a:cs typeface="Times New Roman" panose="02020603050405020304" pitchFamily="18" charset="0"/>
              </a:rPr>
              <a:t>Measurement and Analysis</a:t>
            </a:r>
            <a:endParaRPr lang="en-US" dirty="0">
              <a:latin typeface="Times New Roman" panose="02020603050405020304" pitchFamily="18" charset="0"/>
              <a:cs typeface="Times New Roman" panose="02020603050405020304" pitchFamily="18" charset="0"/>
            </a:endParaRPr>
          </a:p>
        </p:txBody>
      </p:sp>
      <p:sp>
        <p:nvSpPr>
          <p:cNvPr id="17" name="Text 15"/>
          <p:cNvSpPr/>
          <p:nvPr/>
        </p:nvSpPr>
        <p:spPr>
          <a:xfrm>
            <a:off x="8659305" y="6049145"/>
            <a:ext cx="2880360" cy="457200"/>
          </a:xfrm>
          <a:prstGeom prst="rect">
            <a:avLst/>
          </a:prstGeom>
          <a:noFill/>
          <a:ln/>
        </p:spPr>
        <p:txBody>
          <a:bodyPr wrap="square" rtlCol="0" anchor="ctr"/>
          <a:lstStyle/>
          <a:p>
            <a:pPr algn="ctr"/>
            <a:r>
              <a:rPr lang="en-IN" sz="1200" dirty="0">
                <a:solidFill>
                  <a:schemeClr val="bg2">
                    <a:lumMod val="50000"/>
                  </a:schemeClr>
                </a:solidFill>
                <a:latin typeface="Times New Roman" panose="02020603050405020304" pitchFamily="18" charset="0"/>
                <a:cs typeface="Times New Roman" panose="02020603050405020304" pitchFamily="18" charset="0"/>
              </a:rPr>
              <a:t>Outcome</a:t>
            </a:r>
          </a:p>
          <a:p>
            <a:pPr algn="ctr"/>
            <a:r>
              <a:rPr lang="en-IN" sz="1200" dirty="0">
                <a:solidFill>
                  <a:schemeClr val="bg2">
                    <a:lumMod val="50000"/>
                  </a:schemeClr>
                </a:solidFill>
                <a:latin typeface="Times New Roman" panose="02020603050405020304" pitchFamily="18" charset="0"/>
                <a:cs typeface="Times New Roman" panose="02020603050405020304" pitchFamily="18" charset="0"/>
              </a:rPr>
              <a:t>variance and agreement rate</a:t>
            </a:r>
            <a:endParaRPr lang="en-US" sz="1200" dirty="0">
              <a:solidFill>
                <a:schemeClr val="bg2">
                  <a:lumMod val="50000"/>
                </a:schemeClr>
              </a:solidFill>
              <a:latin typeface="Times New Roman" panose="02020603050405020304" pitchFamily="18" charset="0"/>
              <a:cs typeface="Times New Roman" panose="02020603050405020304" pitchFamily="18" charset="0"/>
            </a:endParaRPr>
          </a:p>
        </p:txBody>
      </p:sp>
      <p:sp>
        <p:nvSpPr>
          <p:cNvPr id="18" name="Text 16"/>
          <p:cNvSpPr/>
          <p:nvPr/>
        </p:nvSpPr>
        <p:spPr>
          <a:xfrm>
            <a:off x="601145" y="1097280"/>
            <a:ext cx="5328646" cy="546583"/>
          </a:xfrm>
          <a:prstGeom prst="rect">
            <a:avLst/>
          </a:prstGeom>
          <a:noFill/>
          <a:ln/>
        </p:spPr>
        <p:txBody>
          <a:bodyPr wrap="square" rtlCol="0" anchor="ctr"/>
          <a:lstStyle/>
          <a:p>
            <a:pPr marL="0" indent="0">
              <a:buNone/>
            </a:pPr>
            <a:r>
              <a:rPr lang="en-US" b="1" dirty="0">
                <a:latin typeface="Times New Roman" panose="02020603050405020304" pitchFamily="18" charset="0"/>
                <a:ea typeface="Calibri" pitchFamily="34" charset="-122"/>
                <a:cs typeface="Times New Roman" panose="02020603050405020304" pitchFamily="18" charset="0"/>
              </a:rPr>
              <a:t>Measurement</a:t>
            </a:r>
            <a:endParaRPr lang="en-US" dirty="0">
              <a:latin typeface="Times New Roman" panose="02020603050405020304" pitchFamily="18" charset="0"/>
              <a:cs typeface="Times New Roman" panose="02020603050405020304" pitchFamily="18" charset="0"/>
            </a:endParaRPr>
          </a:p>
        </p:txBody>
      </p:sp>
      <p:sp>
        <p:nvSpPr>
          <p:cNvPr id="19" name="Text 17"/>
          <p:cNvSpPr/>
          <p:nvPr/>
        </p:nvSpPr>
        <p:spPr>
          <a:xfrm>
            <a:off x="616492" y="1272286"/>
            <a:ext cx="10399575" cy="1503102"/>
          </a:xfrm>
          <a:prstGeom prst="rect">
            <a:avLst/>
          </a:prstGeom>
          <a:noFill/>
          <a:ln/>
        </p:spPr>
        <p:txBody>
          <a:bodyPr wrap="square" rtlCol="0" anchor="ctr"/>
          <a:lstStyle/>
          <a:p>
            <a:pPr marL="0" indent="0">
              <a:lnSpc>
                <a:spcPct val="125000"/>
              </a:lnSpc>
              <a:buNone/>
            </a:pPr>
            <a:r>
              <a:rPr lang="en-US" sz="1600" dirty="0">
                <a:latin typeface="Times New Roman" panose="02020603050405020304" pitchFamily="18" charset="0"/>
                <a:ea typeface="Calibri" pitchFamily="34" charset="-122"/>
                <a:cs typeface="Times New Roman" panose="02020603050405020304" pitchFamily="18" charset="0"/>
              </a:rPr>
              <a:t>Quantify how success rate, tool choice, and step count vary across paraphrases and whether variance grows with step count.</a:t>
            </a:r>
            <a:endParaRPr lang="en-US" sz="1600" dirty="0">
              <a:latin typeface="Times New Roman" panose="02020603050405020304" pitchFamily="18" charset="0"/>
              <a:cs typeface="Times New Roman" panose="02020603050405020304" pitchFamily="18" charset="0"/>
            </a:endParaRPr>
          </a:p>
        </p:txBody>
      </p:sp>
      <p:sp>
        <p:nvSpPr>
          <p:cNvPr id="23" name="Text 21"/>
          <p:cNvSpPr/>
          <p:nvPr/>
        </p:nvSpPr>
        <p:spPr>
          <a:xfrm>
            <a:off x="11415252" y="6292645"/>
            <a:ext cx="435859" cy="305934"/>
          </a:xfrm>
          <a:prstGeom prst="rect">
            <a:avLst/>
          </a:prstGeom>
          <a:noFill/>
          <a:ln/>
        </p:spPr>
        <p:txBody>
          <a:bodyPr wrap="square" rtlCol="0" anchor="ctr"/>
          <a:lstStyle/>
          <a:p>
            <a:pPr marL="0" indent="0" algn="r">
              <a:buNone/>
            </a:pPr>
            <a:r>
              <a:rPr lang="en-US" sz="1000" b="1" dirty="0">
                <a:latin typeface="Times New Roman" panose="02020603050405020304" pitchFamily="18" charset="0"/>
                <a:ea typeface="Calibri" pitchFamily="34" charset="-122"/>
                <a:cs typeface="Times New Roman" panose="02020603050405020304" pitchFamily="18" charset="0"/>
              </a:rPr>
              <a:t>7</a:t>
            </a:r>
            <a:endParaRPr lang="en-US" sz="1000" b="1" dirty="0">
              <a:latin typeface="Times New Roman" panose="02020603050405020304" pitchFamily="18" charset="0"/>
              <a:cs typeface="Times New Roman" panose="02020603050405020304" pitchFamily="18" charset="0"/>
            </a:endParaRPr>
          </a:p>
        </p:txBody>
      </p:sp>
      <p:sp>
        <p:nvSpPr>
          <p:cNvPr id="27" name="Shape 13">
            <a:extLst>
              <a:ext uri="{FF2B5EF4-FFF2-40B4-BE49-F238E27FC236}">
                <a16:creationId xmlns:a16="http://schemas.microsoft.com/office/drawing/2014/main" id="{B9735E91-0675-6CA7-261C-BD38082AC418}"/>
              </a:ext>
            </a:extLst>
          </p:cNvPr>
          <p:cNvSpPr/>
          <p:nvPr/>
        </p:nvSpPr>
        <p:spPr>
          <a:xfrm>
            <a:off x="9045943" y="2969094"/>
            <a:ext cx="2011305" cy="1044342"/>
          </a:xfrm>
          <a:prstGeom prst="roundRect">
            <a:avLst>
              <a:gd name="adj" fmla="val 5333"/>
            </a:avLst>
          </a:prstGeom>
          <a:solidFill>
            <a:schemeClr val="accent1">
              <a:lumMod val="40000"/>
              <a:lumOff val="60000"/>
            </a:schemeClr>
          </a:solidFill>
          <a:ln w="12700">
            <a:solidFill>
              <a:srgbClr val="E2E5EA"/>
            </a:solidFill>
            <a:prstDash val="solid"/>
          </a:ln>
        </p:spPr>
        <p:txBody>
          <a:bodyPr/>
          <a:lstStyle/>
          <a:p>
            <a:endParaRPr lang="en-IN" dirty="0"/>
          </a:p>
        </p:txBody>
      </p:sp>
      <p:sp>
        <p:nvSpPr>
          <p:cNvPr id="21" name="Text 14">
            <a:extLst>
              <a:ext uri="{FF2B5EF4-FFF2-40B4-BE49-F238E27FC236}">
                <a16:creationId xmlns:a16="http://schemas.microsoft.com/office/drawing/2014/main" id="{B4EDD0CA-90C2-9F78-FA29-F0D6854A9126}"/>
              </a:ext>
            </a:extLst>
          </p:cNvPr>
          <p:cNvSpPr/>
          <p:nvPr/>
        </p:nvSpPr>
        <p:spPr>
          <a:xfrm>
            <a:off x="8870168" y="3211471"/>
            <a:ext cx="2331720" cy="548640"/>
          </a:xfrm>
          <a:prstGeom prst="rect">
            <a:avLst/>
          </a:prstGeom>
          <a:noFill/>
          <a:ln/>
        </p:spPr>
        <p:txBody>
          <a:bodyPr wrap="square" rtlCol="0" anchor="ctr"/>
          <a:lstStyle/>
          <a:p>
            <a:pPr marL="0" indent="0" algn="ctr">
              <a:buNone/>
            </a:pPr>
            <a:r>
              <a:rPr lang="en-US" b="1" dirty="0">
                <a:solidFill>
                  <a:srgbClr val="1B2A4A"/>
                </a:solidFill>
                <a:latin typeface="Times New Roman" panose="02020603050405020304" pitchFamily="18" charset="0"/>
                <a:ea typeface="Calibri" pitchFamily="34" charset="-122"/>
                <a:cs typeface="Times New Roman" panose="02020603050405020304" pitchFamily="18" charset="0"/>
              </a:rPr>
              <a:t>Data Collection</a:t>
            </a:r>
            <a:endParaRPr lang="en-US" dirty="0">
              <a:latin typeface="Times New Roman" panose="02020603050405020304" pitchFamily="18" charset="0"/>
              <a:cs typeface="Times New Roman" panose="02020603050405020304" pitchFamily="18" charset="0"/>
            </a:endParaRPr>
          </a:p>
        </p:txBody>
      </p:sp>
      <p:sp>
        <p:nvSpPr>
          <p:cNvPr id="24" name="Text 15">
            <a:extLst>
              <a:ext uri="{FF2B5EF4-FFF2-40B4-BE49-F238E27FC236}">
                <a16:creationId xmlns:a16="http://schemas.microsoft.com/office/drawing/2014/main" id="{5F401B05-4864-5001-5DA8-E647F1399015}"/>
              </a:ext>
            </a:extLst>
          </p:cNvPr>
          <p:cNvSpPr/>
          <p:nvPr/>
        </p:nvSpPr>
        <p:spPr>
          <a:xfrm>
            <a:off x="8875489" y="3982695"/>
            <a:ext cx="2331720" cy="457200"/>
          </a:xfrm>
          <a:prstGeom prst="rect">
            <a:avLst/>
          </a:prstGeom>
          <a:noFill/>
          <a:ln/>
        </p:spPr>
        <p:txBody>
          <a:bodyPr wrap="square" rtlCol="0" anchor="ctr"/>
          <a:lstStyle/>
          <a:p>
            <a:pPr marL="0" indent="0" algn="ctr">
              <a:buNone/>
            </a:pPr>
            <a:r>
              <a:rPr lang="en-US" sz="1200" dirty="0">
                <a:solidFill>
                  <a:srgbClr val="5B6472"/>
                </a:solidFill>
                <a:latin typeface="Times New Roman" panose="02020603050405020304" pitchFamily="18" charset="0"/>
                <a:ea typeface="Calibri" pitchFamily="34" charset="-122"/>
                <a:cs typeface="Times New Roman" panose="02020603050405020304" pitchFamily="18" charset="0"/>
              </a:rPr>
              <a:t>Tool choices, step sequence</a:t>
            </a:r>
            <a:endParaRPr lang="en-US" sz="1200" dirty="0">
              <a:latin typeface="Times New Roman" panose="02020603050405020304" pitchFamily="18" charset="0"/>
              <a:cs typeface="Times New Roman" panose="02020603050405020304" pitchFamily="18" charset="0"/>
            </a:endParaRPr>
          </a:p>
        </p:txBody>
      </p:sp>
      <p:sp>
        <p:nvSpPr>
          <p:cNvPr id="26" name="Text 12">
            <a:extLst>
              <a:ext uri="{FF2B5EF4-FFF2-40B4-BE49-F238E27FC236}">
                <a16:creationId xmlns:a16="http://schemas.microsoft.com/office/drawing/2014/main" id="{7FFF7454-6CD2-9E1A-2A39-B47808AF24BF}"/>
              </a:ext>
            </a:extLst>
          </p:cNvPr>
          <p:cNvSpPr/>
          <p:nvPr/>
        </p:nvSpPr>
        <p:spPr>
          <a:xfrm>
            <a:off x="5498114" y="2828886"/>
            <a:ext cx="439786" cy="1377696"/>
          </a:xfrm>
          <a:prstGeom prst="rect">
            <a:avLst/>
          </a:prstGeom>
          <a:noFill/>
          <a:ln/>
        </p:spPr>
        <p:txBody>
          <a:bodyPr wrap="square" rtlCol="0" anchor="ctr"/>
          <a:lstStyle/>
          <a:p>
            <a:pPr marL="0" indent="0" algn="ctr">
              <a:buNone/>
            </a:pPr>
            <a:r>
              <a:rPr lang="en-US" sz="2000" b="1" dirty="0">
                <a:solidFill>
                  <a:srgbClr val="2C6E9E"/>
                </a:solidFill>
                <a:latin typeface="Calibri" pitchFamily="34" charset="0"/>
                <a:ea typeface="Calibri" pitchFamily="34" charset="-122"/>
                <a:cs typeface="Calibri" pitchFamily="34" charset="-120"/>
              </a:rPr>
              <a:t>→</a:t>
            </a:r>
            <a:endParaRPr lang="en-US" sz="2000" dirty="0"/>
          </a:p>
        </p:txBody>
      </p:sp>
      <p:sp>
        <p:nvSpPr>
          <p:cNvPr id="29" name="Text 12">
            <a:extLst>
              <a:ext uri="{FF2B5EF4-FFF2-40B4-BE49-F238E27FC236}">
                <a16:creationId xmlns:a16="http://schemas.microsoft.com/office/drawing/2014/main" id="{690D3570-119E-70B2-B4CD-F3FF9A2575F5}"/>
              </a:ext>
            </a:extLst>
          </p:cNvPr>
          <p:cNvSpPr/>
          <p:nvPr/>
        </p:nvSpPr>
        <p:spPr>
          <a:xfrm>
            <a:off x="2589171" y="2828886"/>
            <a:ext cx="439786" cy="1377696"/>
          </a:xfrm>
          <a:prstGeom prst="rect">
            <a:avLst/>
          </a:prstGeom>
          <a:noFill/>
          <a:ln/>
        </p:spPr>
        <p:txBody>
          <a:bodyPr wrap="square" rtlCol="0" anchor="ctr"/>
          <a:lstStyle/>
          <a:p>
            <a:pPr marL="0" indent="0" algn="ctr">
              <a:buNone/>
            </a:pPr>
            <a:r>
              <a:rPr lang="en-US" sz="2000" b="1" dirty="0">
                <a:solidFill>
                  <a:srgbClr val="2C6E9E"/>
                </a:solidFill>
                <a:latin typeface="Calibri" pitchFamily="34" charset="0"/>
                <a:ea typeface="Calibri" pitchFamily="34" charset="-122"/>
                <a:cs typeface="Calibri" pitchFamily="34" charset="-120"/>
              </a:rPr>
              <a:t>→</a:t>
            </a:r>
            <a:endParaRPr lang="en-US" sz="2000" dirty="0"/>
          </a:p>
        </p:txBody>
      </p:sp>
      <p:sp>
        <p:nvSpPr>
          <p:cNvPr id="31" name="Text 12">
            <a:extLst>
              <a:ext uri="{FF2B5EF4-FFF2-40B4-BE49-F238E27FC236}">
                <a16:creationId xmlns:a16="http://schemas.microsoft.com/office/drawing/2014/main" id="{7DF3C4FF-742D-FDA2-2184-82B9DCDC50AA}"/>
              </a:ext>
            </a:extLst>
          </p:cNvPr>
          <p:cNvSpPr/>
          <p:nvPr/>
        </p:nvSpPr>
        <p:spPr>
          <a:xfrm rot="5400000">
            <a:off x="9879592" y="3851989"/>
            <a:ext cx="439786" cy="1377696"/>
          </a:xfrm>
          <a:prstGeom prst="rect">
            <a:avLst/>
          </a:prstGeom>
          <a:noFill/>
          <a:ln/>
        </p:spPr>
        <p:txBody>
          <a:bodyPr wrap="square" rtlCol="0" anchor="ctr"/>
          <a:lstStyle/>
          <a:p>
            <a:pPr marL="0" indent="0" algn="ctr">
              <a:buNone/>
            </a:pPr>
            <a:r>
              <a:rPr lang="en-US" sz="2000" b="1" dirty="0">
                <a:solidFill>
                  <a:srgbClr val="2C6E9E"/>
                </a:solidFill>
                <a:latin typeface="Calibri" pitchFamily="34" charset="0"/>
                <a:ea typeface="Calibri" pitchFamily="34" charset="-122"/>
                <a:cs typeface="Calibri" pitchFamily="34" charset="-120"/>
              </a:rPr>
              <a:t>→</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0B397D0A-B803-E62B-7319-B5D1D5FD50E1}"/>
              </a:ext>
            </a:extLst>
          </p:cNvPr>
          <p:cNvSpPr/>
          <p:nvPr/>
        </p:nvSpPr>
        <p:spPr>
          <a:xfrm>
            <a:off x="201168" y="210312"/>
            <a:ext cx="11786616" cy="643737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 1">
            <a:extLst>
              <a:ext uri="{FF2B5EF4-FFF2-40B4-BE49-F238E27FC236}">
                <a16:creationId xmlns:a16="http://schemas.microsoft.com/office/drawing/2014/main" id="{9624A664-A6A2-E6E2-2BF4-2ABEF5475CCE}"/>
              </a:ext>
            </a:extLst>
          </p:cNvPr>
          <p:cNvSpPr txBox="1"/>
          <p:nvPr/>
        </p:nvSpPr>
        <p:spPr>
          <a:xfrm>
            <a:off x="713232" y="690372"/>
            <a:ext cx="5486400"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000" b="1" dirty="0">
                <a:solidFill>
                  <a:srgbClr val="1B2A4B"/>
                </a:solidFill>
                <a:latin typeface="Times New Roman" panose="02020603050405020304" pitchFamily="18" charset="0"/>
                <a:ea typeface="Georgia" pitchFamily="34" charset="-122"/>
                <a:cs typeface="Times New Roman" panose="02020603050405020304" pitchFamily="18" charset="0"/>
              </a:rPr>
              <a:t>Mitigation</a:t>
            </a:r>
            <a:endParaRPr lang="en-US" sz="2000" dirty="0">
              <a:latin typeface="Times New Roman" panose="02020603050405020304" pitchFamily="18" charset="0"/>
              <a:cs typeface="Times New Roman" panose="02020603050405020304" pitchFamily="18" charset="0"/>
            </a:endParaRPr>
          </a:p>
        </p:txBody>
      </p:sp>
      <p:sp>
        <p:nvSpPr>
          <p:cNvPr id="4" name="Text 2">
            <a:extLst>
              <a:ext uri="{FF2B5EF4-FFF2-40B4-BE49-F238E27FC236}">
                <a16:creationId xmlns:a16="http://schemas.microsoft.com/office/drawing/2014/main" id="{262CD2B0-4559-9B7B-4302-8BD8925A5D7A}"/>
              </a:ext>
            </a:extLst>
          </p:cNvPr>
          <p:cNvSpPr txBox="1"/>
          <p:nvPr/>
        </p:nvSpPr>
        <p:spPr>
          <a:xfrm>
            <a:off x="742188" y="1188720"/>
            <a:ext cx="10939272" cy="928116"/>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just">
              <a:lnSpc>
                <a:spcPct val="150000"/>
              </a:lnSpc>
              <a:buNone/>
            </a:pPr>
            <a:r>
              <a:rPr lang="en-US" sz="1600" dirty="0">
                <a:solidFill>
                  <a:srgbClr val="000000"/>
                </a:solidFill>
                <a:latin typeface="Times New Roman" panose="02020603050405020304" pitchFamily="18" charset="0"/>
                <a:ea typeface="Georgia" pitchFamily="34" charset="-122"/>
                <a:cs typeface="Times New Roman" panose="02020603050405020304" pitchFamily="18" charset="0"/>
              </a:rPr>
              <a:t>Test whether a training-free consensus ensemble reduces prompt sensitivity across the same tasks and paraphrases used in measurement.</a:t>
            </a:r>
            <a:endParaRPr lang="en-US" sz="1600" dirty="0">
              <a:latin typeface="Times New Roman" panose="02020603050405020304" pitchFamily="18" charset="0"/>
              <a:cs typeface="Times New Roman" panose="02020603050405020304" pitchFamily="18" charset="0"/>
            </a:endParaRPr>
          </a:p>
        </p:txBody>
      </p:sp>
      <p:sp>
        <p:nvSpPr>
          <p:cNvPr id="5" name="Shape 3">
            <a:extLst>
              <a:ext uri="{FF2B5EF4-FFF2-40B4-BE49-F238E27FC236}">
                <a16:creationId xmlns:a16="http://schemas.microsoft.com/office/drawing/2014/main" id="{EFBA8588-CA2D-D2F1-19EF-AEA1E13D4F86}"/>
              </a:ext>
            </a:extLst>
          </p:cNvPr>
          <p:cNvSpPr/>
          <p:nvPr/>
        </p:nvSpPr>
        <p:spPr>
          <a:xfrm>
            <a:off x="893064" y="2624328"/>
            <a:ext cx="1955292" cy="996696"/>
          </a:xfrm>
          <a:prstGeom prst="roundRect">
            <a:avLst>
              <a:gd name="adj" fmla="val 8421"/>
            </a:avLst>
          </a:prstGeom>
          <a:solidFill>
            <a:srgbClr val="C7D2EA"/>
          </a:solidFill>
          <a:ln w="9525">
            <a:solidFill>
              <a:srgbClr val="A9B8DC"/>
            </a:solidFill>
            <a:prstDash val="solid"/>
          </a:ln>
          <a:effectLst>
            <a:outerShdw blurRad="38100" dist="25400" dir="5400000" algn="bl" rotWithShape="0">
              <a:srgbClr val="000000">
                <a:alpha val="15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6" name="Text 4">
            <a:extLst>
              <a:ext uri="{FF2B5EF4-FFF2-40B4-BE49-F238E27FC236}">
                <a16:creationId xmlns:a16="http://schemas.microsoft.com/office/drawing/2014/main" id="{5225DAD9-F776-BE34-209C-509C1FFDF1E5}"/>
              </a:ext>
            </a:extLst>
          </p:cNvPr>
          <p:cNvSpPr txBox="1"/>
          <p:nvPr/>
        </p:nvSpPr>
        <p:spPr>
          <a:xfrm>
            <a:off x="877824" y="2615184"/>
            <a:ext cx="1970532" cy="99669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b="1" dirty="0">
                <a:solidFill>
                  <a:srgbClr val="1B2A4B"/>
                </a:solidFill>
                <a:latin typeface="Times New Roman" panose="02020603050405020304" pitchFamily="18" charset="0"/>
                <a:ea typeface="Georgia" pitchFamily="34" charset="-122"/>
                <a:cs typeface="Times New Roman" panose="02020603050405020304" pitchFamily="18" charset="0"/>
              </a:rPr>
              <a:t>Paraphrase</a:t>
            </a:r>
            <a:endParaRPr lang="en-US" dirty="0">
              <a:latin typeface="Times New Roman" panose="02020603050405020304" pitchFamily="18" charset="0"/>
              <a:cs typeface="Times New Roman" panose="02020603050405020304" pitchFamily="18" charset="0"/>
            </a:endParaRPr>
          </a:p>
          <a:p>
            <a:pPr marL="0" indent="0" algn="ctr">
              <a:buNone/>
            </a:pPr>
            <a:r>
              <a:rPr lang="en-US" b="1" dirty="0">
                <a:solidFill>
                  <a:srgbClr val="1B2A4B"/>
                </a:solidFill>
                <a:latin typeface="Times New Roman" panose="02020603050405020304" pitchFamily="18" charset="0"/>
                <a:ea typeface="Georgia" pitchFamily="34" charset="-122"/>
                <a:cs typeface="Times New Roman" panose="02020603050405020304" pitchFamily="18" charset="0"/>
              </a:rPr>
              <a:t>Selection</a:t>
            </a:r>
            <a:endParaRPr lang="en-US" dirty="0">
              <a:latin typeface="Times New Roman" panose="02020603050405020304" pitchFamily="18" charset="0"/>
              <a:cs typeface="Times New Roman" panose="02020603050405020304" pitchFamily="18" charset="0"/>
            </a:endParaRPr>
          </a:p>
        </p:txBody>
      </p:sp>
      <p:sp>
        <p:nvSpPr>
          <p:cNvPr id="7" name="Text 5">
            <a:extLst>
              <a:ext uri="{FF2B5EF4-FFF2-40B4-BE49-F238E27FC236}">
                <a16:creationId xmlns:a16="http://schemas.microsoft.com/office/drawing/2014/main" id="{DC2D839D-DF7B-3753-FDD6-BDA2A73F90D6}"/>
              </a:ext>
            </a:extLst>
          </p:cNvPr>
          <p:cNvSpPr txBox="1"/>
          <p:nvPr/>
        </p:nvSpPr>
        <p:spPr>
          <a:xfrm>
            <a:off x="3064764" y="2624328"/>
            <a:ext cx="274320" cy="8686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400" b="1" dirty="0">
                <a:solidFill>
                  <a:srgbClr val="2E75B6"/>
                </a:solidFill>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8" name="Shape 6">
            <a:extLst>
              <a:ext uri="{FF2B5EF4-FFF2-40B4-BE49-F238E27FC236}">
                <a16:creationId xmlns:a16="http://schemas.microsoft.com/office/drawing/2014/main" id="{DB91B72A-1C8F-64EE-5B3E-1B620D976C86}"/>
              </a:ext>
            </a:extLst>
          </p:cNvPr>
          <p:cNvSpPr/>
          <p:nvPr/>
        </p:nvSpPr>
        <p:spPr>
          <a:xfrm>
            <a:off x="3467100" y="2624328"/>
            <a:ext cx="1863851" cy="996696"/>
          </a:xfrm>
          <a:prstGeom prst="roundRect">
            <a:avLst>
              <a:gd name="adj" fmla="val 8421"/>
            </a:avLst>
          </a:prstGeom>
          <a:solidFill>
            <a:srgbClr val="C7D2EA"/>
          </a:solidFill>
          <a:ln w="9525">
            <a:solidFill>
              <a:srgbClr val="A9B8DC"/>
            </a:solidFill>
            <a:prstDash val="solid"/>
          </a:ln>
          <a:effectLst>
            <a:outerShdw blurRad="38100" dist="25400" dir="5400000" algn="bl" rotWithShape="0">
              <a:srgbClr val="000000">
                <a:alpha val="15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9" name="Text 7">
            <a:extLst>
              <a:ext uri="{FF2B5EF4-FFF2-40B4-BE49-F238E27FC236}">
                <a16:creationId xmlns:a16="http://schemas.microsoft.com/office/drawing/2014/main" id="{1B0F516F-0068-6547-A2AB-390B4A87CADF}"/>
              </a:ext>
            </a:extLst>
          </p:cNvPr>
          <p:cNvSpPr txBox="1"/>
          <p:nvPr/>
        </p:nvSpPr>
        <p:spPr>
          <a:xfrm>
            <a:off x="3485388" y="2624328"/>
            <a:ext cx="1845564" cy="10287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b="1" dirty="0">
                <a:solidFill>
                  <a:srgbClr val="1B2A4B"/>
                </a:solidFill>
                <a:latin typeface="Times New Roman" panose="02020603050405020304" pitchFamily="18" charset="0"/>
                <a:ea typeface="Georgia" pitchFamily="34" charset="-122"/>
                <a:cs typeface="Times New Roman" panose="02020603050405020304" pitchFamily="18" charset="0"/>
              </a:rPr>
              <a:t>Parallel Agent</a:t>
            </a:r>
            <a:endParaRPr lang="en-US" dirty="0">
              <a:latin typeface="Times New Roman" panose="02020603050405020304" pitchFamily="18" charset="0"/>
              <a:cs typeface="Times New Roman" panose="02020603050405020304" pitchFamily="18" charset="0"/>
            </a:endParaRPr>
          </a:p>
          <a:p>
            <a:pPr marL="0" indent="0" algn="ctr">
              <a:buNone/>
            </a:pPr>
            <a:r>
              <a:rPr lang="en-US" b="1" dirty="0">
                <a:solidFill>
                  <a:srgbClr val="1B2A4B"/>
                </a:solidFill>
                <a:latin typeface="Times New Roman" panose="02020603050405020304" pitchFamily="18" charset="0"/>
                <a:ea typeface="Georgia" pitchFamily="34" charset="-122"/>
                <a:cs typeface="Times New Roman" panose="02020603050405020304" pitchFamily="18" charset="0"/>
              </a:rPr>
              <a:t>Runs</a:t>
            </a:r>
            <a:endParaRPr lang="en-US" dirty="0">
              <a:latin typeface="Times New Roman" panose="02020603050405020304" pitchFamily="18" charset="0"/>
              <a:cs typeface="Times New Roman" panose="02020603050405020304" pitchFamily="18" charset="0"/>
            </a:endParaRPr>
          </a:p>
        </p:txBody>
      </p:sp>
      <p:sp>
        <p:nvSpPr>
          <p:cNvPr id="10" name="Text 8">
            <a:extLst>
              <a:ext uri="{FF2B5EF4-FFF2-40B4-BE49-F238E27FC236}">
                <a16:creationId xmlns:a16="http://schemas.microsoft.com/office/drawing/2014/main" id="{6273F3A9-6AB3-44D8-086B-9BEFB2D8C6BA}"/>
              </a:ext>
            </a:extLst>
          </p:cNvPr>
          <p:cNvSpPr txBox="1"/>
          <p:nvPr/>
        </p:nvSpPr>
        <p:spPr>
          <a:xfrm>
            <a:off x="5547360" y="2610612"/>
            <a:ext cx="274320" cy="8686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400" b="1" dirty="0">
                <a:solidFill>
                  <a:srgbClr val="2E75B6"/>
                </a:solidFill>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11" name="Shape 9">
            <a:extLst>
              <a:ext uri="{FF2B5EF4-FFF2-40B4-BE49-F238E27FC236}">
                <a16:creationId xmlns:a16="http://schemas.microsoft.com/office/drawing/2014/main" id="{0E1A356B-8BBC-4943-8A29-DD82D1188F1D}"/>
              </a:ext>
            </a:extLst>
          </p:cNvPr>
          <p:cNvSpPr/>
          <p:nvPr/>
        </p:nvSpPr>
        <p:spPr>
          <a:xfrm>
            <a:off x="6027419" y="2615184"/>
            <a:ext cx="2002535" cy="1037844"/>
          </a:xfrm>
          <a:prstGeom prst="roundRect">
            <a:avLst>
              <a:gd name="adj" fmla="val 8421"/>
            </a:avLst>
          </a:prstGeom>
          <a:solidFill>
            <a:srgbClr val="2E6690"/>
          </a:solidFill>
          <a:ln w="9525">
            <a:solidFill>
              <a:srgbClr val="2E6690"/>
            </a:solidFill>
            <a:prstDash val="solid"/>
          </a:ln>
          <a:effectLst>
            <a:outerShdw blurRad="38100" dist="25400" dir="5400000" algn="bl" rotWithShape="0">
              <a:srgbClr val="000000">
                <a:alpha val="15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12" name="Text 10">
            <a:extLst>
              <a:ext uri="{FF2B5EF4-FFF2-40B4-BE49-F238E27FC236}">
                <a16:creationId xmlns:a16="http://schemas.microsoft.com/office/drawing/2014/main" id="{FB68F684-2D7D-E5B0-C648-03454B72E824}"/>
              </a:ext>
            </a:extLst>
          </p:cNvPr>
          <p:cNvSpPr txBox="1"/>
          <p:nvPr/>
        </p:nvSpPr>
        <p:spPr>
          <a:xfrm>
            <a:off x="6022847" y="2752344"/>
            <a:ext cx="1991867" cy="76809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b="1" dirty="0">
                <a:solidFill>
                  <a:srgbClr val="FFFFFF"/>
                </a:solidFill>
                <a:latin typeface="Times New Roman" panose="02020603050405020304" pitchFamily="18" charset="0"/>
                <a:ea typeface="Georgia" pitchFamily="34" charset="-122"/>
                <a:cs typeface="Times New Roman" panose="02020603050405020304" pitchFamily="18" charset="0"/>
              </a:rPr>
              <a:t>Step-wise</a:t>
            </a:r>
            <a:endParaRPr lang="en-US" dirty="0">
              <a:latin typeface="Times New Roman" panose="02020603050405020304" pitchFamily="18" charset="0"/>
              <a:cs typeface="Times New Roman" panose="02020603050405020304" pitchFamily="18" charset="0"/>
            </a:endParaRPr>
          </a:p>
          <a:p>
            <a:pPr marL="0" indent="0" algn="ctr">
              <a:buNone/>
            </a:pPr>
            <a:r>
              <a:rPr lang="en-US" b="1" dirty="0">
                <a:solidFill>
                  <a:srgbClr val="FFFFFF"/>
                </a:solidFill>
                <a:latin typeface="Times New Roman" panose="02020603050405020304" pitchFamily="18" charset="0"/>
                <a:ea typeface="Georgia" pitchFamily="34" charset="-122"/>
                <a:cs typeface="Times New Roman" panose="02020603050405020304" pitchFamily="18" charset="0"/>
              </a:rPr>
              <a:t>Consensus</a:t>
            </a:r>
            <a:endParaRPr lang="en-US" dirty="0">
              <a:latin typeface="Times New Roman" panose="02020603050405020304" pitchFamily="18" charset="0"/>
              <a:cs typeface="Times New Roman" panose="02020603050405020304" pitchFamily="18" charset="0"/>
            </a:endParaRPr>
          </a:p>
        </p:txBody>
      </p:sp>
      <p:sp>
        <p:nvSpPr>
          <p:cNvPr id="13" name="Text 11">
            <a:extLst>
              <a:ext uri="{FF2B5EF4-FFF2-40B4-BE49-F238E27FC236}">
                <a16:creationId xmlns:a16="http://schemas.microsoft.com/office/drawing/2014/main" id="{1589CF9F-C5D5-867A-3513-1DB1AE16E6F1}"/>
              </a:ext>
            </a:extLst>
          </p:cNvPr>
          <p:cNvSpPr txBox="1"/>
          <p:nvPr/>
        </p:nvSpPr>
        <p:spPr>
          <a:xfrm>
            <a:off x="8235693" y="2615184"/>
            <a:ext cx="274320" cy="8686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400" b="1" dirty="0">
                <a:solidFill>
                  <a:srgbClr val="2E75B6"/>
                </a:solidFill>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14" name="Shape 12">
            <a:extLst>
              <a:ext uri="{FF2B5EF4-FFF2-40B4-BE49-F238E27FC236}">
                <a16:creationId xmlns:a16="http://schemas.microsoft.com/office/drawing/2014/main" id="{AC6C0785-FEED-2AA4-E38C-FC9C8CBA123C}"/>
              </a:ext>
            </a:extLst>
          </p:cNvPr>
          <p:cNvSpPr/>
          <p:nvPr/>
        </p:nvSpPr>
        <p:spPr>
          <a:xfrm>
            <a:off x="8724900" y="2651760"/>
            <a:ext cx="2057400" cy="1074420"/>
          </a:xfrm>
          <a:prstGeom prst="roundRect">
            <a:avLst>
              <a:gd name="adj" fmla="val 8421"/>
            </a:avLst>
          </a:prstGeom>
          <a:solidFill>
            <a:srgbClr val="C7D2EA"/>
          </a:solidFill>
          <a:ln w="9525">
            <a:solidFill>
              <a:srgbClr val="A9B8DC"/>
            </a:solidFill>
            <a:prstDash val="solid"/>
          </a:ln>
          <a:effectLst>
            <a:outerShdw blurRad="38100" dist="25400" dir="5400000" algn="bl" rotWithShape="0">
              <a:srgbClr val="000000">
                <a:alpha val="15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15" name="Text 13">
            <a:extLst>
              <a:ext uri="{FF2B5EF4-FFF2-40B4-BE49-F238E27FC236}">
                <a16:creationId xmlns:a16="http://schemas.microsoft.com/office/drawing/2014/main" id="{608039B3-80E4-312F-3580-F76DCF1A8C55}"/>
              </a:ext>
            </a:extLst>
          </p:cNvPr>
          <p:cNvSpPr txBox="1"/>
          <p:nvPr/>
        </p:nvSpPr>
        <p:spPr>
          <a:xfrm>
            <a:off x="8724899" y="2752344"/>
            <a:ext cx="2002535" cy="74066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b="1" dirty="0">
                <a:solidFill>
                  <a:srgbClr val="1B2A4B"/>
                </a:solidFill>
                <a:latin typeface="Times New Roman" panose="02020603050405020304" pitchFamily="18" charset="0"/>
                <a:ea typeface="Georgia" pitchFamily="34" charset="-122"/>
                <a:cs typeface="Times New Roman" panose="02020603050405020304" pitchFamily="18" charset="0"/>
              </a:rPr>
              <a:t>Aggregated</a:t>
            </a:r>
            <a:endParaRPr lang="en-US" dirty="0">
              <a:latin typeface="Times New Roman" panose="02020603050405020304" pitchFamily="18" charset="0"/>
              <a:cs typeface="Times New Roman" panose="02020603050405020304" pitchFamily="18" charset="0"/>
            </a:endParaRPr>
          </a:p>
          <a:p>
            <a:pPr marL="0" indent="0" algn="ctr">
              <a:buNone/>
            </a:pPr>
            <a:r>
              <a:rPr lang="en-US" b="1" dirty="0">
                <a:solidFill>
                  <a:srgbClr val="1B2A4B"/>
                </a:solidFill>
                <a:latin typeface="Times New Roman" panose="02020603050405020304" pitchFamily="18" charset="0"/>
                <a:ea typeface="Georgia" pitchFamily="34" charset="-122"/>
                <a:cs typeface="Times New Roman" panose="02020603050405020304" pitchFamily="18" charset="0"/>
              </a:rPr>
              <a:t>Output</a:t>
            </a:r>
            <a:endParaRPr lang="en-US" dirty="0">
              <a:latin typeface="Times New Roman" panose="02020603050405020304" pitchFamily="18" charset="0"/>
              <a:cs typeface="Times New Roman" panose="02020603050405020304" pitchFamily="18" charset="0"/>
            </a:endParaRPr>
          </a:p>
        </p:txBody>
      </p:sp>
      <p:sp>
        <p:nvSpPr>
          <p:cNvPr id="16" name="Text 14">
            <a:extLst>
              <a:ext uri="{FF2B5EF4-FFF2-40B4-BE49-F238E27FC236}">
                <a16:creationId xmlns:a16="http://schemas.microsoft.com/office/drawing/2014/main" id="{5261EC90-0831-B848-4B7C-B1CA3A499486}"/>
              </a:ext>
            </a:extLst>
          </p:cNvPr>
          <p:cNvSpPr txBox="1"/>
          <p:nvPr/>
        </p:nvSpPr>
        <p:spPr>
          <a:xfrm>
            <a:off x="745236" y="3762756"/>
            <a:ext cx="2057400" cy="5486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dirty="0">
                <a:solidFill>
                  <a:srgbClr val="595959"/>
                </a:solidFill>
                <a:latin typeface="Times New Roman" panose="02020603050405020304" pitchFamily="18" charset="0"/>
                <a:ea typeface="Georgia" pitchFamily="34" charset="-122"/>
                <a:cs typeface="Times New Roman" panose="02020603050405020304" pitchFamily="18" charset="0"/>
              </a:rPr>
              <a:t>Reuse same 6 variants</a:t>
            </a:r>
            <a:endParaRPr lang="en-US" sz="1200" dirty="0">
              <a:latin typeface="Times New Roman" panose="02020603050405020304" pitchFamily="18" charset="0"/>
              <a:cs typeface="Times New Roman" panose="02020603050405020304" pitchFamily="18" charset="0"/>
            </a:endParaRPr>
          </a:p>
          <a:p>
            <a:pPr marL="0" indent="0" algn="ctr">
              <a:buNone/>
            </a:pPr>
            <a:r>
              <a:rPr lang="en-US" sz="1200" dirty="0">
                <a:solidFill>
                  <a:srgbClr val="595959"/>
                </a:solidFill>
                <a:latin typeface="Times New Roman" panose="02020603050405020304" pitchFamily="18" charset="0"/>
                <a:ea typeface="Georgia" pitchFamily="34" charset="-122"/>
                <a:cs typeface="Times New Roman" panose="02020603050405020304" pitchFamily="18" charset="0"/>
              </a:rPr>
              <a:t>(fixed subset per task, k = 3)</a:t>
            </a:r>
            <a:endParaRPr lang="en-US" sz="1200" dirty="0">
              <a:latin typeface="Times New Roman" panose="02020603050405020304" pitchFamily="18" charset="0"/>
              <a:cs typeface="Times New Roman" panose="02020603050405020304" pitchFamily="18" charset="0"/>
            </a:endParaRPr>
          </a:p>
        </p:txBody>
      </p:sp>
      <p:sp>
        <p:nvSpPr>
          <p:cNvPr id="17" name="Text 15">
            <a:extLst>
              <a:ext uri="{FF2B5EF4-FFF2-40B4-BE49-F238E27FC236}">
                <a16:creationId xmlns:a16="http://schemas.microsoft.com/office/drawing/2014/main" id="{CEE48DB0-52E8-EBFA-D00A-D12130D9224C}"/>
              </a:ext>
            </a:extLst>
          </p:cNvPr>
          <p:cNvSpPr txBox="1"/>
          <p:nvPr/>
        </p:nvSpPr>
        <p:spPr>
          <a:xfrm>
            <a:off x="3409188" y="3726180"/>
            <a:ext cx="2232660" cy="65379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dirty="0">
                <a:solidFill>
                  <a:srgbClr val="595959"/>
                </a:solidFill>
                <a:latin typeface="Times New Roman" panose="02020603050405020304" pitchFamily="18" charset="0"/>
                <a:ea typeface="Georgia" pitchFamily="34" charset="-122"/>
                <a:cs typeface="Times New Roman" panose="02020603050405020304" pitchFamily="18" charset="0"/>
              </a:rPr>
              <a:t>Independent LangGraph runs</a:t>
            </a:r>
            <a:endParaRPr lang="en-US" sz="1200" dirty="0">
              <a:latin typeface="Times New Roman" panose="02020603050405020304" pitchFamily="18" charset="0"/>
              <a:cs typeface="Times New Roman" panose="02020603050405020304" pitchFamily="18" charset="0"/>
            </a:endParaRPr>
          </a:p>
          <a:p>
            <a:pPr marL="0" indent="0" algn="ctr">
              <a:buNone/>
            </a:pPr>
            <a:r>
              <a:rPr lang="en-US" sz="1200" dirty="0">
                <a:solidFill>
                  <a:srgbClr val="595959"/>
                </a:solidFill>
                <a:latin typeface="Times New Roman" panose="02020603050405020304" pitchFamily="18" charset="0"/>
                <a:ea typeface="Georgia" pitchFamily="34" charset="-122"/>
                <a:cs typeface="Times New Roman" panose="02020603050405020304" pitchFamily="18" charset="0"/>
              </a:rPr>
              <a:t>Same base instruction, k variants</a:t>
            </a:r>
            <a:endParaRPr lang="en-US" sz="1200" dirty="0">
              <a:latin typeface="Times New Roman" panose="02020603050405020304" pitchFamily="18" charset="0"/>
              <a:cs typeface="Times New Roman" panose="02020603050405020304" pitchFamily="18" charset="0"/>
            </a:endParaRPr>
          </a:p>
        </p:txBody>
      </p:sp>
      <p:sp>
        <p:nvSpPr>
          <p:cNvPr id="18" name="Text 16">
            <a:extLst>
              <a:ext uri="{FF2B5EF4-FFF2-40B4-BE49-F238E27FC236}">
                <a16:creationId xmlns:a16="http://schemas.microsoft.com/office/drawing/2014/main" id="{C6919ED8-8316-1349-ED17-7D16FBD90DF2}"/>
              </a:ext>
            </a:extLst>
          </p:cNvPr>
          <p:cNvSpPr txBox="1"/>
          <p:nvPr/>
        </p:nvSpPr>
        <p:spPr>
          <a:xfrm>
            <a:off x="5848350" y="3726180"/>
            <a:ext cx="2232660" cy="6126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dirty="0">
                <a:latin typeface="Times New Roman" panose="02020603050405020304" pitchFamily="18" charset="0"/>
                <a:ea typeface="Georgia" pitchFamily="34" charset="-122"/>
                <a:cs typeface="Times New Roman" panose="02020603050405020304" pitchFamily="18" charset="0"/>
              </a:rPr>
              <a:t>Majority vote per step</a:t>
            </a:r>
            <a:endParaRPr lang="en-US" sz="1200" dirty="0">
              <a:latin typeface="Times New Roman" panose="02020603050405020304" pitchFamily="18" charset="0"/>
              <a:cs typeface="Times New Roman" panose="02020603050405020304" pitchFamily="18" charset="0"/>
            </a:endParaRPr>
          </a:p>
          <a:p>
            <a:pPr marL="0" indent="0" algn="ctr">
              <a:buNone/>
            </a:pPr>
            <a:r>
              <a:rPr lang="en-US" sz="1200" dirty="0">
                <a:latin typeface="Times New Roman" panose="02020603050405020304" pitchFamily="18" charset="0"/>
                <a:ea typeface="Georgia" pitchFamily="34" charset="-122"/>
                <a:cs typeface="Times New Roman" panose="02020603050405020304" pitchFamily="18" charset="0"/>
              </a:rPr>
              <a:t>Override minority runs</a:t>
            </a:r>
            <a:endParaRPr lang="en-US" sz="1200" dirty="0">
              <a:latin typeface="Times New Roman" panose="02020603050405020304" pitchFamily="18" charset="0"/>
              <a:cs typeface="Times New Roman" panose="02020603050405020304" pitchFamily="18" charset="0"/>
            </a:endParaRPr>
          </a:p>
        </p:txBody>
      </p:sp>
      <p:sp>
        <p:nvSpPr>
          <p:cNvPr id="19" name="Text 17">
            <a:extLst>
              <a:ext uri="{FF2B5EF4-FFF2-40B4-BE49-F238E27FC236}">
                <a16:creationId xmlns:a16="http://schemas.microsoft.com/office/drawing/2014/main" id="{9BF74AD6-28AA-ED7D-1712-EFAE403B7200}"/>
              </a:ext>
            </a:extLst>
          </p:cNvPr>
          <p:cNvSpPr txBox="1"/>
          <p:nvPr/>
        </p:nvSpPr>
        <p:spPr>
          <a:xfrm>
            <a:off x="8633460" y="3653028"/>
            <a:ext cx="2057400" cy="6126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dirty="0">
                <a:solidFill>
                  <a:srgbClr val="595959"/>
                </a:solidFill>
                <a:latin typeface="Times New Roman" panose="02020603050405020304" pitchFamily="18" charset="0"/>
                <a:ea typeface="Georgia" pitchFamily="34" charset="-122"/>
                <a:cs typeface="Times New Roman" panose="02020603050405020304" pitchFamily="18" charset="0"/>
              </a:rPr>
              <a:t>Consensus trajectory</a:t>
            </a:r>
            <a:endParaRPr lang="en-US" sz="1200" dirty="0">
              <a:latin typeface="Times New Roman" panose="02020603050405020304" pitchFamily="18" charset="0"/>
              <a:cs typeface="Times New Roman" panose="02020603050405020304" pitchFamily="18" charset="0"/>
            </a:endParaRPr>
          </a:p>
        </p:txBody>
      </p:sp>
      <p:sp>
        <p:nvSpPr>
          <p:cNvPr id="20" name="Text 18">
            <a:extLst>
              <a:ext uri="{FF2B5EF4-FFF2-40B4-BE49-F238E27FC236}">
                <a16:creationId xmlns:a16="http://schemas.microsoft.com/office/drawing/2014/main" id="{751F5B47-DD07-78F8-209D-106ACE7BBC9C}"/>
              </a:ext>
            </a:extLst>
          </p:cNvPr>
          <p:cNvSpPr txBox="1"/>
          <p:nvPr/>
        </p:nvSpPr>
        <p:spPr>
          <a:xfrm>
            <a:off x="9479280" y="4139946"/>
            <a:ext cx="3657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000" b="1" dirty="0">
                <a:solidFill>
                  <a:srgbClr val="2E75B6"/>
                </a:solidFill>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21" name="Shape 19">
            <a:extLst>
              <a:ext uri="{FF2B5EF4-FFF2-40B4-BE49-F238E27FC236}">
                <a16:creationId xmlns:a16="http://schemas.microsoft.com/office/drawing/2014/main" id="{2870301B-5A2B-B98D-C06F-7345C46280F0}"/>
              </a:ext>
            </a:extLst>
          </p:cNvPr>
          <p:cNvSpPr/>
          <p:nvPr/>
        </p:nvSpPr>
        <p:spPr>
          <a:xfrm>
            <a:off x="8724899" y="4590288"/>
            <a:ext cx="2148840" cy="868680"/>
          </a:xfrm>
          <a:prstGeom prst="roundRect">
            <a:avLst>
              <a:gd name="adj" fmla="val 8421"/>
            </a:avLst>
          </a:prstGeom>
          <a:solidFill>
            <a:srgbClr val="C7D2EA"/>
          </a:solidFill>
          <a:ln w="9525">
            <a:solidFill>
              <a:srgbClr val="A9B8DC"/>
            </a:solidFill>
            <a:prstDash val="solid"/>
          </a:ln>
          <a:effectLst>
            <a:outerShdw blurRad="38100" dist="25400" dir="5400000" algn="bl" rotWithShape="0">
              <a:srgbClr val="000000">
                <a:alpha val="15000"/>
              </a:srgbClr>
            </a:outerShdw>
          </a:effectLst>
        </p:spPr>
        <p:txBody>
          <a:bodyPr/>
          <a:lstStyle/>
          <a:p>
            <a:endParaRPr lang="en-IN">
              <a:latin typeface="Times New Roman" panose="02020603050405020304" pitchFamily="18" charset="0"/>
              <a:cs typeface="Times New Roman" panose="02020603050405020304" pitchFamily="18" charset="0"/>
            </a:endParaRPr>
          </a:p>
        </p:txBody>
      </p:sp>
      <p:sp>
        <p:nvSpPr>
          <p:cNvPr id="22" name="Text 20">
            <a:extLst>
              <a:ext uri="{FF2B5EF4-FFF2-40B4-BE49-F238E27FC236}">
                <a16:creationId xmlns:a16="http://schemas.microsoft.com/office/drawing/2014/main" id="{C3FC1D50-2190-DB1F-7989-157878C53AE3}"/>
              </a:ext>
            </a:extLst>
          </p:cNvPr>
          <p:cNvSpPr txBox="1"/>
          <p:nvPr/>
        </p:nvSpPr>
        <p:spPr>
          <a:xfrm>
            <a:off x="8724901" y="4590288"/>
            <a:ext cx="2148838" cy="8686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b="1" dirty="0">
                <a:solidFill>
                  <a:srgbClr val="1B2A4B"/>
                </a:solidFill>
                <a:latin typeface="Times New Roman" panose="02020603050405020304" pitchFamily="18" charset="0"/>
                <a:ea typeface="Georgia" pitchFamily="34" charset="-122"/>
                <a:cs typeface="Times New Roman" panose="02020603050405020304" pitchFamily="18" charset="0"/>
              </a:rPr>
              <a:t>Comparison</a:t>
            </a:r>
            <a:endParaRPr lang="en-US" dirty="0">
              <a:latin typeface="Times New Roman" panose="02020603050405020304" pitchFamily="18" charset="0"/>
              <a:cs typeface="Times New Roman" panose="02020603050405020304" pitchFamily="18" charset="0"/>
            </a:endParaRPr>
          </a:p>
        </p:txBody>
      </p:sp>
      <p:sp>
        <p:nvSpPr>
          <p:cNvPr id="23" name="Text 21">
            <a:extLst>
              <a:ext uri="{FF2B5EF4-FFF2-40B4-BE49-F238E27FC236}">
                <a16:creationId xmlns:a16="http://schemas.microsoft.com/office/drawing/2014/main" id="{58134EE5-202E-798F-9ACD-DA880305E4AF}"/>
              </a:ext>
            </a:extLst>
          </p:cNvPr>
          <p:cNvSpPr txBox="1"/>
          <p:nvPr/>
        </p:nvSpPr>
        <p:spPr>
          <a:xfrm>
            <a:off x="8542019" y="5620758"/>
            <a:ext cx="2514600" cy="5486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dirty="0">
                <a:solidFill>
                  <a:srgbClr val="595959"/>
                </a:solidFill>
                <a:latin typeface="Times New Roman" panose="02020603050405020304" pitchFamily="18" charset="0"/>
                <a:ea typeface="Georgia" pitchFamily="34" charset="-122"/>
                <a:cs typeface="Times New Roman" panose="02020603050405020304" pitchFamily="18" charset="0"/>
              </a:rPr>
              <a:t>Variance vs baseline </a:t>
            </a:r>
            <a:endParaRPr lang="en-US" sz="1200" dirty="0">
              <a:latin typeface="Times New Roman" panose="02020603050405020304" pitchFamily="18" charset="0"/>
              <a:cs typeface="Times New Roman" panose="02020603050405020304" pitchFamily="18" charset="0"/>
            </a:endParaRPr>
          </a:p>
        </p:txBody>
      </p:sp>
      <p:sp>
        <p:nvSpPr>
          <p:cNvPr id="24" name="Text 22">
            <a:extLst>
              <a:ext uri="{FF2B5EF4-FFF2-40B4-BE49-F238E27FC236}">
                <a16:creationId xmlns:a16="http://schemas.microsoft.com/office/drawing/2014/main" id="{B478C281-1885-D87D-3A40-5270C5A46FDB}"/>
              </a:ext>
            </a:extLst>
          </p:cNvPr>
          <p:cNvSpPr txBox="1"/>
          <p:nvPr/>
        </p:nvSpPr>
        <p:spPr>
          <a:xfrm>
            <a:off x="11572568" y="6377940"/>
            <a:ext cx="36576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buNone/>
            </a:pPr>
            <a:r>
              <a:rPr lang="en-US" sz="1000" b="1" dirty="0">
                <a:latin typeface="Times New Roman" panose="02020603050405020304" pitchFamily="18" charset="0"/>
                <a:cs typeface="Times New Roman" panose="02020603050405020304" pitchFamily="18" charset="0"/>
              </a:rPr>
              <a:t>8</a:t>
            </a:r>
          </a:p>
        </p:txBody>
      </p:sp>
    </p:spTree>
    <p:extLst>
      <p:ext uri="{BB962C8B-B14F-4D97-AF65-F5344CB8AC3E}">
        <p14:creationId xmlns:p14="http://schemas.microsoft.com/office/powerpoint/2010/main" val="17358573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5F4B916-E154-46CD-8E2E-987E072D1471}"/>
              </a:ext>
            </a:extLst>
          </p:cNvPr>
          <p:cNvSpPr/>
          <p:nvPr/>
        </p:nvSpPr>
        <p:spPr>
          <a:xfrm>
            <a:off x="191336" y="200480"/>
            <a:ext cx="11786616" cy="643737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p:cNvSpPr/>
          <p:nvPr/>
        </p:nvSpPr>
        <p:spPr>
          <a:xfrm>
            <a:off x="836676" y="482764"/>
            <a:ext cx="10515600" cy="640080"/>
          </a:xfrm>
          <a:prstGeom prst="rect">
            <a:avLst/>
          </a:prstGeom>
          <a:noFill/>
          <a:ln/>
        </p:spPr>
        <p:txBody>
          <a:bodyPr wrap="square" rtlCol="0" anchor="ctr"/>
          <a:lstStyle/>
          <a:p>
            <a:pPr marL="0" indent="0" algn="ctr">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TECHNOLOGY</a:t>
            </a:r>
            <a:r>
              <a:rPr lang="en-US" sz="3000" b="1" dirty="0">
                <a:solidFill>
                  <a:srgbClr val="1B2A4A"/>
                </a:solidFill>
                <a:latin typeface="Cambria" pitchFamily="34" charset="0"/>
                <a:ea typeface="Cambria" pitchFamily="34" charset="-122"/>
                <a:cs typeface="Cambria" pitchFamily="34" charset="-120"/>
              </a:rPr>
              <a:t> STACK</a:t>
            </a:r>
            <a:endParaRPr lang="en-US" sz="3000" dirty="0"/>
          </a:p>
        </p:txBody>
      </p:sp>
      <p:sp>
        <p:nvSpPr>
          <p:cNvPr id="24" name="Text 22"/>
          <p:cNvSpPr/>
          <p:nvPr/>
        </p:nvSpPr>
        <p:spPr>
          <a:xfrm>
            <a:off x="11548872" y="6400800"/>
            <a:ext cx="365760" cy="274320"/>
          </a:xfrm>
          <a:prstGeom prst="rect">
            <a:avLst/>
          </a:prstGeom>
          <a:noFill/>
          <a:ln/>
        </p:spPr>
        <p:txBody>
          <a:bodyPr wrap="square" rtlCol="0" anchor="ctr"/>
          <a:lstStyle/>
          <a:p>
            <a:pPr marL="0" indent="0" algn="r">
              <a:buNone/>
            </a:pPr>
            <a:r>
              <a:rPr lang="en-US" sz="1000" b="1" dirty="0">
                <a:latin typeface="Times New Roman" panose="02020603050405020304" pitchFamily="18" charset="0"/>
                <a:ea typeface="Calibri" pitchFamily="34" charset="-122"/>
                <a:cs typeface="Times New Roman" panose="02020603050405020304" pitchFamily="18" charset="0"/>
              </a:rPr>
              <a:t>9</a:t>
            </a:r>
            <a:endParaRPr lang="en-US" sz="1000" b="1"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B87C0F54-A1B9-7BAB-A080-AA432DF371FA}"/>
              </a:ext>
            </a:extLst>
          </p:cNvPr>
          <p:cNvSpPr txBox="1"/>
          <p:nvPr/>
        </p:nvSpPr>
        <p:spPr>
          <a:xfrm>
            <a:off x="859536" y="1572768"/>
            <a:ext cx="9454896" cy="3892732"/>
          </a:xfrm>
          <a:prstGeom prst="rect">
            <a:avLst/>
          </a:prstGeom>
          <a:noFill/>
        </p:spPr>
        <p:txBody>
          <a:bodyPr wrap="square">
            <a:spAutoFit/>
          </a:bodyPr>
          <a:lstStyle/>
          <a:p>
            <a:pPr marL="285750" indent="-285750">
              <a:lnSpc>
                <a:spcPct val="200000"/>
              </a:lnSpc>
              <a:buClr>
                <a:schemeClr val="accent1">
                  <a:lumMod val="75000"/>
                </a:schemeClr>
              </a:buClr>
              <a:buSzPct val="10000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Backend 		Python, </a:t>
            </a:r>
            <a:r>
              <a:rPr lang="en-IN" dirty="0" err="1">
                <a:latin typeface="Times New Roman" panose="02020603050405020304" pitchFamily="18" charset="0"/>
                <a:cs typeface="Times New Roman" panose="02020603050405020304" pitchFamily="18" charset="0"/>
              </a:rPr>
              <a:t>FastAPI</a:t>
            </a:r>
            <a:endParaRPr lang="en-IN" dirty="0">
              <a:latin typeface="Times New Roman" panose="02020603050405020304" pitchFamily="18" charset="0"/>
              <a:cs typeface="Times New Roman" panose="02020603050405020304" pitchFamily="18" charset="0"/>
            </a:endParaRPr>
          </a:p>
          <a:p>
            <a:pPr marL="285750" indent="-285750">
              <a:lnSpc>
                <a:spcPct val="200000"/>
              </a:lnSpc>
              <a:buClr>
                <a:schemeClr val="accent1">
                  <a:lumMod val="75000"/>
                </a:schemeClr>
              </a:buClr>
              <a:buSzPct val="10000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Agent orchestration 	</a:t>
            </a:r>
            <a:r>
              <a:rPr lang="en-IN" dirty="0" err="1">
                <a:latin typeface="Times New Roman" panose="02020603050405020304" pitchFamily="18" charset="0"/>
                <a:cs typeface="Times New Roman" panose="02020603050405020304" pitchFamily="18" charset="0"/>
              </a:rPr>
              <a:t>LangChain</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LangGraph</a:t>
            </a:r>
            <a:endParaRPr lang="en-IN" dirty="0">
              <a:latin typeface="Times New Roman" panose="02020603050405020304" pitchFamily="18" charset="0"/>
              <a:cs typeface="Times New Roman" panose="02020603050405020304" pitchFamily="18" charset="0"/>
            </a:endParaRPr>
          </a:p>
          <a:p>
            <a:pPr marL="285750" indent="-285750">
              <a:lnSpc>
                <a:spcPct val="200000"/>
              </a:lnSpc>
              <a:buClr>
                <a:schemeClr val="accent1">
                  <a:lumMod val="75000"/>
                </a:schemeClr>
              </a:buClr>
              <a:buSzPct val="10000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LLM runtime 		</a:t>
            </a:r>
            <a:r>
              <a:rPr lang="en-IN" dirty="0" err="1">
                <a:latin typeface="Times New Roman" panose="02020603050405020304" pitchFamily="18" charset="0"/>
                <a:cs typeface="Times New Roman" panose="02020603050405020304" pitchFamily="18" charset="0"/>
              </a:rPr>
              <a:t>Ollama</a:t>
            </a:r>
            <a:r>
              <a:rPr lang="en-IN" dirty="0">
                <a:latin typeface="Times New Roman" panose="02020603050405020304" pitchFamily="18" charset="0"/>
                <a:cs typeface="Times New Roman" panose="02020603050405020304" pitchFamily="18" charset="0"/>
              </a:rPr>
              <a:t> — Llama 3.1 8B Instruct</a:t>
            </a:r>
          </a:p>
          <a:p>
            <a:pPr marL="285750" indent="-285750">
              <a:lnSpc>
                <a:spcPct val="200000"/>
              </a:lnSpc>
              <a:buClr>
                <a:schemeClr val="accent1">
                  <a:lumMod val="75000"/>
                </a:schemeClr>
              </a:buClr>
              <a:buSzPct val="10000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RAG / embeddings 	Sentence Transformers, </a:t>
            </a:r>
            <a:r>
              <a:rPr lang="en-IN" dirty="0" err="1">
                <a:latin typeface="Times New Roman" panose="02020603050405020304" pitchFamily="18" charset="0"/>
                <a:cs typeface="Times New Roman" panose="02020603050405020304" pitchFamily="18" charset="0"/>
              </a:rPr>
              <a:t>LlamaIndex</a:t>
            </a:r>
            <a:endParaRPr lang="en-IN" dirty="0">
              <a:latin typeface="Times New Roman" panose="02020603050405020304" pitchFamily="18" charset="0"/>
              <a:cs typeface="Times New Roman" panose="02020603050405020304" pitchFamily="18" charset="0"/>
            </a:endParaRPr>
          </a:p>
          <a:p>
            <a:pPr marL="285750" indent="-285750">
              <a:lnSpc>
                <a:spcPct val="200000"/>
              </a:lnSpc>
              <a:buClr>
                <a:schemeClr val="accent1">
                  <a:lumMod val="75000"/>
                </a:schemeClr>
              </a:buClr>
              <a:buSzPct val="10000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Vector store		</a:t>
            </a:r>
            <a:r>
              <a:rPr lang="en-IN" dirty="0" err="1">
                <a:latin typeface="Times New Roman" panose="02020603050405020304" pitchFamily="18" charset="0"/>
                <a:cs typeface="Times New Roman" panose="02020603050405020304" pitchFamily="18" charset="0"/>
              </a:rPr>
              <a:t>ChromaDB</a:t>
            </a:r>
            <a:r>
              <a:rPr lang="en-IN" dirty="0">
                <a:latin typeface="Times New Roman" panose="02020603050405020304" pitchFamily="18" charset="0"/>
                <a:cs typeface="Times New Roman" panose="02020603050405020304" pitchFamily="18" charset="0"/>
              </a:rPr>
              <a:t> / FAISS</a:t>
            </a:r>
          </a:p>
          <a:p>
            <a:pPr marL="285750" indent="-285750">
              <a:lnSpc>
                <a:spcPct val="200000"/>
              </a:lnSpc>
              <a:buClr>
                <a:schemeClr val="accent1">
                  <a:lumMod val="75000"/>
                </a:schemeClr>
              </a:buClr>
              <a:buSzPct val="10000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Eval &amp; logging 		Pandas, NumPy, Weights &amp; Biases</a:t>
            </a:r>
          </a:p>
          <a:p>
            <a:pPr marL="285750" indent="-285750">
              <a:lnSpc>
                <a:spcPct val="200000"/>
              </a:lnSpc>
              <a:buClr>
                <a:schemeClr val="accent1">
                  <a:lumMod val="75000"/>
                </a:schemeClr>
              </a:buClr>
              <a:buSzPct val="10000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Benchmarks 		</a:t>
            </a:r>
            <a:r>
              <a:rPr lang="en-IN" dirty="0" err="1">
                <a:latin typeface="Times New Roman" panose="02020603050405020304" pitchFamily="18" charset="0"/>
                <a:cs typeface="Times New Roman" panose="02020603050405020304" pitchFamily="18" charset="0"/>
              </a:rPr>
              <a:t>ToolBench</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HotpotQA</a:t>
            </a:r>
            <a:r>
              <a:rPr lang="en-IN" dirty="0">
                <a:latin typeface="Times New Roman" panose="02020603050405020304" pitchFamily="18" charset="0"/>
                <a:cs typeface="Times New Roman" panose="02020603050405020304" pitchFamily="18" charset="0"/>
              </a:rPr>
              <a:t>, custom agentic-task suite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7DA9A215-1212-159D-C43D-64C1D69B133C}"/>
              </a:ext>
            </a:extLst>
          </p:cNvPr>
          <p:cNvSpPr/>
          <p:nvPr/>
        </p:nvSpPr>
        <p:spPr>
          <a:xfrm>
            <a:off x="201168" y="210312"/>
            <a:ext cx="11786616" cy="643737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p:cNvSpPr/>
          <p:nvPr/>
        </p:nvSpPr>
        <p:spPr>
          <a:xfrm>
            <a:off x="836676" y="378542"/>
            <a:ext cx="10515600" cy="640080"/>
          </a:xfrm>
          <a:prstGeom prst="rect">
            <a:avLst/>
          </a:prstGeom>
          <a:noFill/>
          <a:ln/>
        </p:spPr>
        <p:txBody>
          <a:bodyPr wrap="square" rtlCol="0" anchor="ctr"/>
          <a:lstStyle/>
          <a:p>
            <a:pPr marL="0" indent="0" algn="ctr">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DATASETS</a:t>
            </a:r>
            <a:endParaRPr lang="en-US" sz="3000" dirty="0">
              <a:latin typeface="Times New Roman" panose="02020603050405020304" pitchFamily="18" charset="0"/>
              <a:cs typeface="Times New Roman" panose="02020603050405020304" pitchFamily="18" charset="0"/>
            </a:endParaRPr>
          </a:p>
        </p:txBody>
      </p:sp>
      <p:sp>
        <p:nvSpPr>
          <p:cNvPr id="22" name="Text 20"/>
          <p:cNvSpPr/>
          <p:nvPr/>
        </p:nvSpPr>
        <p:spPr>
          <a:xfrm>
            <a:off x="11548872" y="6400800"/>
            <a:ext cx="365760" cy="274320"/>
          </a:xfrm>
          <a:prstGeom prst="rect">
            <a:avLst/>
          </a:prstGeom>
          <a:noFill/>
          <a:ln/>
        </p:spPr>
        <p:txBody>
          <a:bodyPr wrap="square" rtlCol="0" anchor="ctr"/>
          <a:lstStyle/>
          <a:p>
            <a:pPr marL="0" indent="0" algn="r">
              <a:buNone/>
            </a:pPr>
            <a:r>
              <a:rPr lang="en-US" sz="1000" b="1" dirty="0">
                <a:latin typeface="Times New Roman" panose="02020603050405020304" pitchFamily="18" charset="0"/>
                <a:ea typeface="Calibri" pitchFamily="34" charset="-122"/>
                <a:cs typeface="Times New Roman" panose="02020603050405020304" pitchFamily="18" charset="0"/>
              </a:rPr>
              <a:t>10</a:t>
            </a:r>
            <a:endParaRPr lang="en-US" sz="1000" b="1" dirty="0">
              <a:latin typeface="Times New Roman" panose="02020603050405020304" pitchFamily="18" charset="0"/>
              <a:cs typeface="Times New Roman" panose="02020603050405020304" pitchFamily="18" charset="0"/>
            </a:endParaRPr>
          </a:p>
        </p:txBody>
      </p:sp>
      <p:graphicFrame>
        <p:nvGraphicFramePr>
          <p:cNvPr id="27" name="Table 26">
            <a:extLst>
              <a:ext uri="{FF2B5EF4-FFF2-40B4-BE49-F238E27FC236}">
                <a16:creationId xmlns:a16="http://schemas.microsoft.com/office/drawing/2014/main" id="{E223C985-BF79-8AD0-FEBC-798697DF9CD0}"/>
              </a:ext>
            </a:extLst>
          </p:cNvPr>
          <p:cNvGraphicFramePr>
            <a:graphicFrameLocks noGrp="1"/>
          </p:cNvGraphicFramePr>
          <p:nvPr>
            <p:extLst>
              <p:ext uri="{D42A27DB-BD31-4B8C-83A1-F6EECF244321}">
                <p14:modId xmlns:p14="http://schemas.microsoft.com/office/powerpoint/2010/main" val="1550032096"/>
              </p:ext>
            </p:extLst>
          </p:nvPr>
        </p:nvGraphicFramePr>
        <p:xfrm>
          <a:off x="621792" y="1600200"/>
          <a:ext cx="10991088" cy="4369791"/>
        </p:xfrm>
        <a:graphic>
          <a:graphicData uri="http://schemas.openxmlformats.org/drawingml/2006/table">
            <a:tbl>
              <a:tblPr>
                <a:tableStyleId>{5C22544A-7EE6-4342-B048-85BDC9FD1C3A}</a:tableStyleId>
              </a:tblPr>
              <a:tblGrid>
                <a:gridCol w="2747772">
                  <a:extLst>
                    <a:ext uri="{9D8B030D-6E8A-4147-A177-3AD203B41FA5}">
                      <a16:colId xmlns:a16="http://schemas.microsoft.com/office/drawing/2014/main" val="1312231401"/>
                    </a:ext>
                  </a:extLst>
                </a:gridCol>
                <a:gridCol w="2747772">
                  <a:extLst>
                    <a:ext uri="{9D8B030D-6E8A-4147-A177-3AD203B41FA5}">
                      <a16:colId xmlns:a16="http://schemas.microsoft.com/office/drawing/2014/main" val="653425909"/>
                    </a:ext>
                  </a:extLst>
                </a:gridCol>
                <a:gridCol w="2999232">
                  <a:extLst>
                    <a:ext uri="{9D8B030D-6E8A-4147-A177-3AD203B41FA5}">
                      <a16:colId xmlns:a16="http://schemas.microsoft.com/office/drawing/2014/main" val="94014019"/>
                    </a:ext>
                  </a:extLst>
                </a:gridCol>
                <a:gridCol w="2496312">
                  <a:extLst>
                    <a:ext uri="{9D8B030D-6E8A-4147-A177-3AD203B41FA5}">
                      <a16:colId xmlns:a16="http://schemas.microsoft.com/office/drawing/2014/main" val="3936428575"/>
                    </a:ext>
                  </a:extLst>
                </a:gridCol>
              </a:tblGrid>
              <a:tr h="777240">
                <a:tc>
                  <a:txBody>
                    <a:bodyPr/>
                    <a:lstStyle/>
                    <a:p>
                      <a:pPr algn="ctr">
                        <a:buNone/>
                      </a:pPr>
                      <a:r>
                        <a:rPr lang="en-IN" dirty="0">
                          <a:solidFill>
                            <a:schemeClr val="bg1"/>
                          </a:solidFill>
                          <a:latin typeface="Times New Roman" panose="02020603050405020304" pitchFamily="18" charset="0"/>
                          <a:cs typeface="Times New Roman" panose="02020603050405020304" pitchFamily="18" charset="0"/>
                        </a:rPr>
                        <a:t>Task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buNone/>
                      </a:pPr>
                      <a:r>
                        <a:rPr lang="en-IN">
                          <a:solidFill>
                            <a:schemeClr val="bg1"/>
                          </a:solidFill>
                          <a:latin typeface="Times New Roman" panose="02020603050405020304" pitchFamily="18" charset="0"/>
                          <a:cs typeface="Times New Roman" panose="02020603050405020304" pitchFamily="18" charset="0"/>
                        </a:rPr>
                        <a:t>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buNone/>
                      </a:pPr>
                      <a:r>
                        <a:rPr lang="en-IN">
                          <a:solidFill>
                            <a:schemeClr val="bg1"/>
                          </a:solidFill>
                          <a:latin typeface="Times New Roman" panose="02020603050405020304" pitchFamily="18" charset="0"/>
                          <a:cs typeface="Times New Roman" panose="02020603050405020304" pitchFamily="18" charset="0"/>
                        </a:rPr>
                        <a:t>Role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buNone/>
                      </a:pPr>
                      <a:r>
                        <a:rPr lang="en-IN" dirty="0">
                          <a:solidFill>
                            <a:schemeClr val="bg1"/>
                          </a:solidFill>
                          <a:latin typeface="Times New Roman" panose="02020603050405020304" pitchFamily="18" charset="0"/>
                          <a:cs typeface="Times New Roman" panose="02020603050405020304" pitchFamily="18" charset="0"/>
                        </a:rPr>
                        <a:t>Scope (rows/tasks)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971339432"/>
                  </a:ext>
                </a:extLst>
              </a:tr>
              <a:tr h="1175476">
                <a:tc>
                  <a:txBody>
                    <a:bodyPr/>
                    <a:lstStyle/>
                    <a:p>
                      <a:pPr algn="ctr">
                        <a:buNone/>
                      </a:pPr>
                      <a:r>
                        <a:rPr lang="en-IN" dirty="0">
                          <a:latin typeface="Times New Roman" panose="02020603050405020304" pitchFamily="18" charset="0"/>
                          <a:cs typeface="Times New Roman" panose="02020603050405020304" pitchFamily="18" charset="0"/>
                        </a:rPr>
                        <a:t>Tool-use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a:latin typeface="Times New Roman" panose="02020603050405020304" pitchFamily="18" charset="0"/>
                          <a:cs typeface="Times New Roman" panose="02020603050405020304" pitchFamily="18" charset="0"/>
                        </a:rPr>
                        <a:t>ToolBench (subset)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a:latin typeface="Times New Roman" panose="02020603050405020304" pitchFamily="18" charset="0"/>
                          <a:cs typeface="Times New Roman" panose="02020603050405020304" pitchFamily="18" charset="0"/>
                        </a:rPr>
                        <a:t>Tasks with unambiguous correct tool/API sequences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dirty="0">
                          <a:latin typeface="Times New Roman" panose="02020603050405020304" pitchFamily="18" charset="0"/>
                          <a:cs typeface="Times New Roman" panose="02020603050405020304" pitchFamily="18" charset="0"/>
                        </a:rPr>
                        <a:t>10 tasks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882389355"/>
                  </a:ext>
                </a:extLst>
              </a:tr>
              <a:tr h="904213">
                <a:tc>
                  <a:txBody>
                    <a:bodyPr/>
                    <a:lstStyle/>
                    <a:p>
                      <a:pPr algn="ctr">
                        <a:buNone/>
                      </a:pPr>
                      <a:r>
                        <a:rPr lang="en-IN">
                          <a:latin typeface="Times New Roman" panose="02020603050405020304" pitchFamily="18" charset="0"/>
                          <a:cs typeface="Times New Roman" panose="02020603050405020304" pitchFamily="18" charset="0"/>
                        </a:rPr>
                        <a:t>RAG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dirty="0" err="1">
                          <a:latin typeface="Times New Roman" panose="02020603050405020304" pitchFamily="18" charset="0"/>
                          <a:cs typeface="Times New Roman" panose="02020603050405020304" pitchFamily="18" charset="0"/>
                        </a:rPr>
                        <a:t>HotpotQA</a:t>
                      </a:r>
                      <a:r>
                        <a:rPr lang="en-IN" dirty="0">
                          <a:latin typeface="Times New Roman" panose="02020603050405020304" pitchFamily="18" charset="0"/>
                          <a:cs typeface="Times New Roman" panose="02020603050405020304" pitchFamily="18" charset="0"/>
                        </a:rPr>
                        <a:t> (subset)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dirty="0">
                          <a:latin typeface="Times New Roman" panose="02020603050405020304" pitchFamily="18" charset="0"/>
                          <a:cs typeface="Times New Roman" panose="02020603050405020304" pitchFamily="18" charset="0"/>
                        </a:rPr>
                        <a:t>Multi-hop questions + retrieval steps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dirty="0">
                          <a:latin typeface="Times New Roman" panose="02020603050405020304" pitchFamily="18" charset="0"/>
                          <a:cs typeface="Times New Roman" panose="02020603050405020304" pitchFamily="18" charset="0"/>
                        </a:rPr>
                        <a:t>10 tasks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507205581"/>
                  </a:ext>
                </a:extLst>
              </a:tr>
              <a:tr h="1512862">
                <a:tc>
                  <a:txBody>
                    <a:bodyPr/>
                    <a:lstStyle/>
                    <a:p>
                      <a:pPr algn="ctr">
                        <a:buNone/>
                      </a:pPr>
                      <a:r>
                        <a:rPr lang="en-IN" dirty="0">
                          <a:latin typeface="Times New Roman" panose="02020603050405020304" pitchFamily="18" charset="0"/>
                          <a:cs typeface="Times New Roman" panose="02020603050405020304" pitchFamily="18" charset="0"/>
                        </a:rPr>
                        <a:t>Planning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dirty="0">
                          <a:latin typeface="Times New Roman" panose="02020603050405020304" pitchFamily="18" charset="0"/>
                          <a:cs typeface="Times New Roman" panose="02020603050405020304" pitchFamily="18" charset="0"/>
                        </a:rPr>
                        <a:t>Custom agentic-task suite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dirty="0">
                          <a:latin typeface="Times New Roman" panose="02020603050405020304" pitchFamily="18" charset="0"/>
                          <a:cs typeface="Times New Roman" panose="02020603050405020304" pitchFamily="18" charset="0"/>
                        </a:rPr>
                        <a:t>Multi-step tasks with no existing benchmark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dirty="0">
                          <a:latin typeface="Times New Roman" panose="02020603050405020304" pitchFamily="18" charset="0"/>
                          <a:cs typeface="Times New Roman" panose="02020603050405020304" pitchFamily="18" charset="0"/>
                        </a:rPr>
                        <a:t>10 tasks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58141908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2840BAF-7003-C072-83AF-B0BE4546D92B}"/>
              </a:ext>
            </a:extLst>
          </p:cNvPr>
          <p:cNvSpPr/>
          <p:nvPr/>
        </p:nvSpPr>
        <p:spPr>
          <a:xfrm>
            <a:off x="202692" y="237744"/>
            <a:ext cx="11786616" cy="643737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p:cNvSpPr/>
          <p:nvPr/>
        </p:nvSpPr>
        <p:spPr>
          <a:xfrm>
            <a:off x="763524" y="480583"/>
            <a:ext cx="10515600" cy="640080"/>
          </a:xfrm>
          <a:prstGeom prst="rect">
            <a:avLst/>
          </a:prstGeom>
          <a:noFill/>
          <a:ln/>
        </p:spPr>
        <p:txBody>
          <a:bodyPr wrap="square" rtlCol="0" anchor="ctr"/>
          <a:lstStyle/>
          <a:p>
            <a:pPr marL="0" indent="0" algn="ctr">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EVALUATION</a:t>
            </a:r>
            <a:endParaRPr lang="en-US" sz="3000" dirty="0">
              <a:latin typeface="Times New Roman" panose="02020603050405020304" pitchFamily="18" charset="0"/>
              <a:cs typeface="Times New Roman" panose="02020603050405020304" pitchFamily="18" charset="0"/>
            </a:endParaRPr>
          </a:p>
        </p:txBody>
      </p:sp>
      <p:sp>
        <p:nvSpPr>
          <p:cNvPr id="25" name="Text 23"/>
          <p:cNvSpPr/>
          <p:nvPr/>
        </p:nvSpPr>
        <p:spPr>
          <a:xfrm>
            <a:off x="11548872" y="6400800"/>
            <a:ext cx="365760" cy="274320"/>
          </a:xfrm>
          <a:prstGeom prst="rect">
            <a:avLst/>
          </a:prstGeom>
          <a:noFill/>
          <a:ln/>
        </p:spPr>
        <p:txBody>
          <a:bodyPr wrap="square" rtlCol="0" anchor="ctr"/>
          <a:lstStyle/>
          <a:p>
            <a:pPr marL="0" indent="0" algn="r">
              <a:buNone/>
            </a:pPr>
            <a:r>
              <a:rPr lang="en-US" sz="1000" b="1" dirty="0">
                <a:latin typeface="Times New Roman" panose="02020603050405020304" pitchFamily="18" charset="0"/>
                <a:ea typeface="Calibri" pitchFamily="34" charset="-122"/>
                <a:cs typeface="Times New Roman" panose="02020603050405020304" pitchFamily="18" charset="0"/>
              </a:rPr>
              <a:t>11</a:t>
            </a:r>
            <a:endParaRPr lang="en-US" sz="1000" b="1" dirty="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887EF0BD-659B-1FD3-1EBE-65F58B41C380}"/>
              </a:ext>
            </a:extLst>
          </p:cNvPr>
          <p:cNvSpPr txBox="1"/>
          <p:nvPr/>
        </p:nvSpPr>
        <p:spPr>
          <a:xfrm>
            <a:off x="753692" y="1364781"/>
            <a:ext cx="9976104" cy="3885936"/>
          </a:xfrm>
          <a:prstGeom prst="rect">
            <a:avLst/>
          </a:prstGeom>
          <a:noFill/>
        </p:spPr>
        <p:txBody>
          <a:bodyPr wrap="square">
            <a:spAutoFit/>
          </a:bodyPr>
          <a:lstStyle/>
          <a:p>
            <a:pPr algn="just" rtl="0">
              <a:lnSpc>
                <a:spcPct val="200000"/>
              </a:lnSpc>
              <a:buNone/>
            </a:pPr>
            <a:r>
              <a:rPr lang="en-IN" b="1" dirty="0">
                <a:latin typeface="Times New Roman" panose="02020603050405020304" pitchFamily="18" charset="0"/>
                <a:cs typeface="Times New Roman" panose="02020603050405020304" pitchFamily="18" charset="0"/>
              </a:rPr>
              <a:t>Metrics</a:t>
            </a:r>
          </a:p>
          <a:p>
            <a:pPr algn="just" rtl="0">
              <a:lnSpc>
                <a:spcPct val="200000"/>
              </a:lnSpc>
              <a:buNone/>
            </a:pPr>
            <a:r>
              <a:rPr lang="en-IN" dirty="0">
                <a:latin typeface="Times New Roman" panose="02020603050405020304" pitchFamily="18" charset="0"/>
                <a:cs typeface="Times New Roman" panose="02020603050405020304" pitchFamily="18" charset="0"/>
              </a:rPr>
              <a:t>Measurement</a:t>
            </a:r>
          </a:p>
          <a:p>
            <a:pPr marL="342900" lvl="0" indent="-342900" algn="just" rtl="0">
              <a:lnSpc>
                <a:spcPct val="200000"/>
              </a:lnSpc>
              <a:buClr>
                <a:schemeClr val="accent1">
                  <a:lumMod val="60000"/>
                  <a:lumOff val="40000"/>
                </a:schemeClr>
              </a:buCl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Outcome-level 		Success rate variance across paraphrases</a:t>
            </a:r>
          </a:p>
          <a:p>
            <a:pPr marL="342900" lvl="0" indent="-342900" algn="just" rtl="0">
              <a:lnSpc>
                <a:spcPct val="200000"/>
              </a:lnSpc>
              <a:buClr>
                <a:schemeClr val="accent1">
                  <a:lumMod val="60000"/>
                  <a:lumOff val="40000"/>
                </a:schemeClr>
              </a:buCl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Step-level  		Tool-agreement rate by step index </a:t>
            </a:r>
          </a:p>
          <a:p>
            <a:pPr marL="342900" lvl="0" indent="-342900" algn="just" rtl="0">
              <a:lnSpc>
                <a:spcPct val="200000"/>
              </a:lnSpc>
              <a:buClr>
                <a:schemeClr val="accent1">
                  <a:lumMod val="60000"/>
                  <a:lumOff val="40000"/>
                </a:schemeClr>
              </a:buCl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Trajectory-level  	Edit distance between tool-call sequences</a:t>
            </a:r>
          </a:p>
          <a:p>
            <a:pPr algn="just" rtl="0">
              <a:lnSpc>
                <a:spcPct val="200000"/>
              </a:lnSpc>
              <a:buNone/>
            </a:pPr>
            <a:r>
              <a:rPr lang="en-IN" dirty="0">
                <a:latin typeface="Times New Roman" panose="02020603050405020304" pitchFamily="18" charset="0"/>
                <a:cs typeface="Times New Roman" panose="02020603050405020304" pitchFamily="18" charset="0"/>
              </a:rPr>
              <a:t>Mitigation</a:t>
            </a:r>
          </a:p>
          <a:p>
            <a:pPr marL="342900" lvl="0" indent="-342900" algn="just" rtl="0">
              <a:lnSpc>
                <a:spcPct val="200000"/>
              </a:lnSpc>
              <a:buClr>
                <a:schemeClr val="accent1">
                  <a:lumMod val="60000"/>
                  <a:lumOff val="40000"/>
                </a:schemeClr>
              </a:buCl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Baseline vs ensemble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D6AF6BC-9EB5-AD83-0BFB-BBE8AF94ADF3}"/>
              </a:ext>
            </a:extLst>
          </p:cNvPr>
          <p:cNvSpPr/>
          <p:nvPr/>
        </p:nvSpPr>
        <p:spPr>
          <a:xfrm>
            <a:off x="201168" y="210312"/>
            <a:ext cx="11786616" cy="643737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p:cNvSpPr/>
          <p:nvPr/>
        </p:nvSpPr>
        <p:spPr>
          <a:xfrm>
            <a:off x="836676" y="759543"/>
            <a:ext cx="10515600" cy="640080"/>
          </a:xfrm>
          <a:prstGeom prst="rect">
            <a:avLst/>
          </a:prstGeom>
          <a:noFill/>
          <a:ln/>
        </p:spPr>
        <p:txBody>
          <a:bodyPr wrap="square" rtlCol="0" anchor="ctr"/>
          <a:lstStyle/>
          <a:p>
            <a:pPr marL="0" indent="0" algn="ctr">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CONCLUSION</a:t>
            </a:r>
            <a:endParaRPr lang="en-US" sz="3000" dirty="0">
              <a:latin typeface="Times New Roman" panose="02020603050405020304" pitchFamily="18" charset="0"/>
              <a:cs typeface="Times New Roman" panose="02020603050405020304" pitchFamily="18" charset="0"/>
            </a:endParaRPr>
          </a:p>
        </p:txBody>
      </p:sp>
      <p:sp>
        <p:nvSpPr>
          <p:cNvPr id="3" name="Text 1"/>
          <p:cNvSpPr/>
          <p:nvPr/>
        </p:nvSpPr>
        <p:spPr>
          <a:xfrm>
            <a:off x="653796" y="1926730"/>
            <a:ext cx="10881360" cy="4114800"/>
          </a:xfrm>
          <a:prstGeom prst="rect">
            <a:avLst/>
          </a:prstGeom>
          <a:noFill/>
          <a:ln/>
        </p:spPr>
        <p:txBody>
          <a:bodyPr wrap="square" rtlCol="0" anchor="t"/>
          <a:lstStyle/>
          <a:p>
            <a:pPr marL="0" indent="0" algn="just">
              <a:lnSpc>
                <a:spcPct val="135000"/>
              </a:lnSpc>
              <a:buNone/>
            </a:pPr>
            <a:r>
              <a:rPr lang="en-US" dirty="0">
                <a:latin typeface="Times New Roman" panose="02020603050405020304" pitchFamily="18" charset="0"/>
                <a:ea typeface="Calibri" pitchFamily="34" charset="-122"/>
                <a:cs typeface="Times New Roman" panose="02020603050405020304" pitchFamily="18" charset="0"/>
              </a:rPr>
              <a:t>PSAT addresses a gap left by prior work, which studies either single-turn prompt sensitivity or agentic brittleness in isolation never step-level, paraphrase-driven measurement paired with a training-free mitigation. By combining a step-level sensitivity study with a training-free paraphrase-ensemble mitigation, the work aims to deliver an empirical characterization of agentic prompt sensitivity and a validated mitigation method.</a:t>
            </a:r>
            <a:endParaRPr lang="en-US" dirty="0">
              <a:latin typeface="Times New Roman" panose="02020603050405020304" pitchFamily="18" charset="0"/>
              <a:cs typeface="Times New Roman" panose="02020603050405020304" pitchFamily="18" charset="0"/>
            </a:endParaRPr>
          </a:p>
        </p:txBody>
      </p:sp>
      <p:sp>
        <p:nvSpPr>
          <p:cNvPr id="4" name="Text 2"/>
          <p:cNvSpPr/>
          <p:nvPr/>
        </p:nvSpPr>
        <p:spPr>
          <a:xfrm>
            <a:off x="11548872" y="6400800"/>
            <a:ext cx="365760" cy="274320"/>
          </a:xfrm>
          <a:prstGeom prst="rect">
            <a:avLst/>
          </a:prstGeom>
          <a:noFill/>
          <a:ln/>
        </p:spPr>
        <p:txBody>
          <a:bodyPr wrap="square" rtlCol="0" anchor="ctr"/>
          <a:lstStyle/>
          <a:p>
            <a:pPr marL="0" indent="0" algn="r">
              <a:buNone/>
            </a:pPr>
            <a:r>
              <a:rPr lang="en-US" sz="1000" b="1" dirty="0">
                <a:latin typeface="Times New Roman" panose="02020603050405020304" pitchFamily="18" charset="0"/>
                <a:ea typeface="Calibri" pitchFamily="34" charset="-122"/>
                <a:cs typeface="Times New Roman" panose="02020603050405020304" pitchFamily="18" charset="0"/>
              </a:rPr>
              <a:t>12</a:t>
            </a:r>
            <a:endParaRPr lang="en-US" sz="1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9C70205-63EF-D656-10A5-6DB5769A8E27}"/>
              </a:ext>
            </a:extLst>
          </p:cNvPr>
          <p:cNvSpPr/>
          <p:nvPr/>
        </p:nvSpPr>
        <p:spPr>
          <a:xfrm>
            <a:off x="202692" y="193499"/>
            <a:ext cx="11786616" cy="643737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p:cNvSpPr/>
          <p:nvPr/>
        </p:nvSpPr>
        <p:spPr>
          <a:xfrm>
            <a:off x="838200" y="427900"/>
            <a:ext cx="10515600" cy="640080"/>
          </a:xfrm>
          <a:prstGeom prst="rect">
            <a:avLst/>
          </a:prstGeom>
          <a:noFill/>
          <a:ln/>
        </p:spPr>
        <p:txBody>
          <a:bodyPr wrap="square" rtlCol="0" anchor="ctr"/>
          <a:lstStyle/>
          <a:p>
            <a:pPr marL="0" indent="0" algn="ctr">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REFERENCES</a:t>
            </a:r>
            <a:endParaRPr lang="en-US" sz="3000" dirty="0">
              <a:latin typeface="Times New Roman" panose="02020603050405020304" pitchFamily="18" charset="0"/>
              <a:cs typeface="Times New Roman" panose="02020603050405020304" pitchFamily="18" charset="0"/>
            </a:endParaRPr>
          </a:p>
        </p:txBody>
      </p:sp>
      <p:sp>
        <p:nvSpPr>
          <p:cNvPr id="3" name="Text 1"/>
          <p:cNvSpPr/>
          <p:nvPr/>
        </p:nvSpPr>
        <p:spPr>
          <a:xfrm>
            <a:off x="548640" y="1600200"/>
            <a:ext cx="502920" cy="502920"/>
          </a:xfrm>
          <a:prstGeom prst="rect">
            <a:avLst/>
          </a:prstGeom>
          <a:noFill/>
          <a:ln/>
        </p:spPr>
        <p:txBody>
          <a:bodyPr wrap="square" rtlCol="0" anchor="t"/>
          <a:lstStyle/>
          <a:p>
            <a:pPr marL="0" indent="0">
              <a:buNone/>
            </a:pPr>
            <a:r>
              <a:rPr lang="en-US" sz="1400" b="1" dirty="0">
                <a:latin typeface="Times New Roman" panose="02020603050405020304" pitchFamily="18" charset="0"/>
                <a:ea typeface="Calibri" pitchFamily="34" charset="-122"/>
                <a:cs typeface="Times New Roman" panose="02020603050405020304" pitchFamily="18" charset="0"/>
              </a:rPr>
              <a:t>[1]</a:t>
            </a:r>
            <a:endParaRPr lang="en-US" sz="1400" dirty="0">
              <a:latin typeface="Times New Roman" panose="02020603050405020304" pitchFamily="18" charset="0"/>
              <a:cs typeface="Times New Roman" panose="02020603050405020304" pitchFamily="18" charset="0"/>
            </a:endParaRPr>
          </a:p>
        </p:txBody>
      </p:sp>
      <p:sp>
        <p:nvSpPr>
          <p:cNvPr id="4" name="Text 2"/>
          <p:cNvSpPr/>
          <p:nvPr/>
        </p:nvSpPr>
        <p:spPr>
          <a:xfrm>
            <a:off x="1097280" y="1600200"/>
            <a:ext cx="10515600" cy="502920"/>
          </a:xfrm>
          <a:prstGeom prst="rect">
            <a:avLst/>
          </a:prstGeom>
          <a:noFill/>
          <a:ln/>
        </p:spPr>
        <p:txBody>
          <a:bodyPr wrap="square" rtlCol="0" anchor="t"/>
          <a:lstStyle/>
          <a:p>
            <a:pPr marL="0" indent="0">
              <a:lnSpc>
                <a:spcPct val="115000"/>
              </a:lnSpc>
              <a:buNone/>
            </a:pPr>
            <a:r>
              <a:rPr lang="en-US" sz="1400" dirty="0">
                <a:latin typeface="Times New Roman" panose="02020603050405020304" pitchFamily="18" charset="0"/>
                <a:ea typeface="Calibri" pitchFamily="34" charset="-122"/>
                <a:cs typeface="Times New Roman" panose="02020603050405020304" pitchFamily="18" charset="0"/>
              </a:rPr>
              <a:t>G. Zhuo et al., “ProSA: Assessing and Understanding the Prompt Sensitivity of LLMs,” 2024.</a:t>
            </a:r>
            <a:endParaRPr lang="en-US" sz="1400" dirty="0">
              <a:latin typeface="Times New Roman" panose="02020603050405020304" pitchFamily="18" charset="0"/>
              <a:cs typeface="Times New Roman" panose="02020603050405020304" pitchFamily="18" charset="0"/>
            </a:endParaRPr>
          </a:p>
        </p:txBody>
      </p:sp>
      <p:sp>
        <p:nvSpPr>
          <p:cNvPr id="5" name="Text 3"/>
          <p:cNvSpPr/>
          <p:nvPr/>
        </p:nvSpPr>
        <p:spPr>
          <a:xfrm>
            <a:off x="548640" y="2130552"/>
            <a:ext cx="502920" cy="502920"/>
          </a:xfrm>
          <a:prstGeom prst="rect">
            <a:avLst/>
          </a:prstGeom>
          <a:noFill/>
          <a:ln/>
        </p:spPr>
        <p:txBody>
          <a:bodyPr wrap="square" rtlCol="0" anchor="t"/>
          <a:lstStyle/>
          <a:p>
            <a:pPr marL="0" indent="0">
              <a:buNone/>
            </a:pPr>
            <a:r>
              <a:rPr lang="en-US" sz="1400" b="1" dirty="0">
                <a:latin typeface="Times New Roman" panose="02020603050405020304" pitchFamily="18" charset="0"/>
                <a:ea typeface="Calibri" pitchFamily="34" charset="-122"/>
                <a:cs typeface="Times New Roman" panose="02020603050405020304" pitchFamily="18" charset="0"/>
              </a:rPr>
              <a:t>[2]</a:t>
            </a:r>
            <a:endParaRPr lang="en-US" sz="1400" dirty="0">
              <a:latin typeface="Times New Roman" panose="02020603050405020304" pitchFamily="18" charset="0"/>
              <a:cs typeface="Times New Roman" panose="02020603050405020304" pitchFamily="18" charset="0"/>
            </a:endParaRPr>
          </a:p>
        </p:txBody>
      </p:sp>
      <p:sp>
        <p:nvSpPr>
          <p:cNvPr id="6" name="Text 4"/>
          <p:cNvSpPr/>
          <p:nvPr/>
        </p:nvSpPr>
        <p:spPr>
          <a:xfrm>
            <a:off x="1097280" y="2130552"/>
            <a:ext cx="10515600" cy="502920"/>
          </a:xfrm>
          <a:prstGeom prst="rect">
            <a:avLst/>
          </a:prstGeom>
          <a:noFill/>
          <a:ln/>
        </p:spPr>
        <p:txBody>
          <a:bodyPr wrap="square" rtlCol="0" anchor="t"/>
          <a:lstStyle/>
          <a:p>
            <a:pPr marL="0" indent="0">
              <a:lnSpc>
                <a:spcPct val="115000"/>
              </a:lnSpc>
              <a:buNone/>
            </a:pPr>
            <a:r>
              <a:rPr lang="en-US" sz="1400" dirty="0">
                <a:latin typeface="Times New Roman" panose="02020603050405020304" pitchFamily="18" charset="0"/>
                <a:ea typeface="Calibri" pitchFamily="34" charset="-122"/>
                <a:cs typeface="Times New Roman" panose="02020603050405020304" pitchFamily="18" charset="0"/>
              </a:rPr>
              <a:t>M. Sclar et al., “Quantifying Language Models’ Sensitivity to Spurious Features in Prompt Design,” 2024.</a:t>
            </a:r>
            <a:endParaRPr lang="en-US" sz="1400" dirty="0">
              <a:latin typeface="Times New Roman" panose="02020603050405020304" pitchFamily="18" charset="0"/>
              <a:cs typeface="Times New Roman" panose="02020603050405020304" pitchFamily="18" charset="0"/>
            </a:endParaRPr>
          </a:p>
        </p:txBody>
      </p:sp>
      <p:sp>
        <p:nvSpPr>
          <p:cNvPr id="7" name="Text 5"/>
          <p:cNvSpPr/>
          <p:nvPr/>
        </p:nvSpPr>
        <p:spPr>
          <a:xfrm>
            <a:off x="548640" y="2660904"/>
            <a:ext cx="502920" cy="502920"/>
          </a:xfrm>
          <a:prstGeom prst="rect">
            <a:avLst/>
          </a:prstGeom>
          <a:noFill/>
          <a:ln/>
        </p:spPr>
        <p:txBody>
          <a:bodyPr wrap="square" rtlCol="0" anchor="t"/>
          <a:lstStyle/>
          <a:p>
            <a:pPr marL="0" indent="0">
              <a:buNone/>
            </a:pPr>
            <a:r>
              <a:rPr lang="en-US" sz="1400" b="1" dirty="0">
                <a:latin typeface="Times New Roman" panose="02020603050405020304" pitchFamily="18" charset="0"/>
                <a:ea typeface="Calibri" pitchFamily="34" charset="-122"/>
                <a:cs typeface="Times New Roman" panose="02020603050405020304" pitchFamily="18" charset="0"/>
              </a:rPr>
              <a:t>[3]</a:t>
            </a:r>
            <a:endParaRPr lang="en-US" sz="1400" dirty="0">
              <a:latin typeface="Times New Roman" panose="02020603050405020304" pitchFamily="18" charset="0"/>
              <a:cs typeface="Times New Roman" panose="02020603050405020304" pitchFamily="18" charset="0"/>
            </a:endParaRPr>
          </a:p>
        </p:txBody>
      </p:sp>
      <p:sp>
        <p:nvSpPr>
          <p:cNvPr id="8" name="Text 6"/>
          <p:cNvSpPr/>
          <p:nvPr/>
        </p:nvSpPr>
        <p:spPr>
          <a:xfrm>
            <a:off x="1097280" y="2660904"/>
            <a:ext cx="10515600" cy="502920"/>
          </a:xfrm>
          <a:prstGeom prst="rect">
            <a:avLst/>
          </a:prstGeom>
          <a:noFill/>
          <a:ln/>
        </p:spPr>
        <p:txBody>
          <a:bodyPr wrap="square" rtlCol="0" anchor="t"/>
          <a:lstStyle/>
          <a:p>
            <a:pPr marL="0" indent="0">
              <a:lnSpc>
                <a:spcPct val="115000"/>
              </a:lnSpc>
              <a:buNone/>
            </a:pPr>
            <a:r>
              <a:rPr lang="en-US" sz="1400" dirty="0">
                <a:latin typeface="Times New Roman" panose="02020603050405020304" pitchFamily="18" charset="0"/>
                <a:ea typeface="Calibri" pitchFamily="34" charset="-122"/>
                <a:cs typeface="Times New Roman" panose="02020603050405020304" pitchFamily="18" charset="0"/>
              </a:rPr>
              <a:t>N. Mizrahi et al., “State of What Art? A Call for Multi-Prompt LLM Evaluation,” TACL, 2024.</a:t>
            </a:r>
            <a:endParaRPr lang="en-US" sz="1400" dirty="0">
              <a:latin typeface="Times New Roman" panose="02020603050405020304" pitchFamily="18" charset="0"/>
              <a:cs typeface="Times New Roman" panose="02020603050405020304" pitchFamily="18" charset="0"/>
            </a:endParaRPr>
          </a:p>
        </p:txBody>
      </p:sp>
      <p:sp>
        <p:nvSpPr>
          <p:cNvPr id="9" name="Text 7"/>
          <p:cNvSpPr/>
          <p:nvPr/>
        </p:nvSpPr>
        <p:spPr>
          <a:xfrm>
            <a:off x="548640" y="3191256"/>
            <a:ext cx="502920" cy="502920"/>
          </a:xfrm>
          <a:prstGeom prst="rect">
            <a:avLst/>
          </a:prstGeom>
          <a:noFill/>
          <a:ln/>
        </p:spPr>
        <p:txBody>
          <a:bodyPr wrap="square" rtlCol="0" anchor="t"/>
          <a:lstStyle/>
          <a:p>
            <a:pPr marL="0" indent="0">
              <a:buNone/>
            </a:pPr>
            <a:r>
              <a:rPr lang="en-US" sz="1400" b="1" dirty="0">
                <a:latin typeface="Times New Roman" panose="02020603050405020304" pitchFamily="18" charset="0"/>
                <a:ea typeface="Calibri" pitchFamily="34" charset="-122"/>
                <a:cs typeface="Times New Roman" panose="02020603050405020304" pitchFamily="18" charset="0"/>
              </a:rPr>
              <a:t>[4]</a:t>
            </a:r>
            <a:endParaRPr lang="en-US" sz="1400" dirty="0">
              <a:latin typeface="Times New Roman" panose="02020603050405020304" pitchFamily="18" charset="0"/>
              <a:cs typeface="Times New Roman" panose="02020603050405020304" pitchFamily="18" charset="0"/>
            </a:endParaRPr>
          </a:p>
        </p:txBody>
      </p:sp>
      <p:sp>
        <p:nvSpPr>
          <p:cNvPr id="10" name="Text 8"/>
          <p:cNvSpPr/>
          <p:nvPr/>
        </p:nvSpPr>
        <p:spPr>
          <a:xfrm>
            <a:off x="1097280" y="3191256"/>
            <a:ext cx="10515600" cy="502920"/>
          </a:xfrm>
          <a:prstGeom prst="rect">
            <a:avLst/>
          </a:prstGeom>
          <a:noFill/>
          <a:ln/>
        </p:spPr>
        <p:txBody>
          <a:bodyPr wrap="square" rtlCol="0" anchor="t"/>
          <a:lstStyle/>
          <a:p>
            <a:pPr marL="0" indent="0">
              <a:lnSpc>
                <a:spcPct val="115000"/>
              </a:lnSpc>
              <a:buNone/>
            </a:pPr>
            <a:r>
              <a:rPr lang="en-US" sz="1400" dirty="0">
                <a:latin typeface="Times New Roman" panose="02020603050405020304" pitchFamily="18" charset="0"/>
                <a:ea typeface="Calibri" pitchFamily="34" charset="-122"/>
                <a:cs typeface="Times New Roman" panose="02020603050405020304" pitchFamily="18" charset="0"/>
              </a:rPr>
              <a:t>P. Verma et al., “On the Brittleness of ReAct-Style Agentic Prompting,” 2024.</a:t>
            </a:r>
            <a:endParaRPr lang="en-US" sz="1400" dirty="0">
              <a:latin typeface="Times New Roman" panose="02020603050405020304" pitchFamily="18" charset="0"/>
              <a:cs typeface="Times New Roman" panose="02020603050405020304" pitchFamily="18" charset="0"/>
            </a:endParaRPr>
          </a:p>
        </p:txBody>
      </p:sp>
      <p:sp>
        <p:nvSpPr>
          <p:cNvPr id="11" name="Text 9"/>
          <p:cNvSpPr/>
          <p:nvPr/>
        </p:nvSpPr>
        <p:spPr>
          <a:xfrm>
            <a:off x="548640" y="3721608"/>
            <a:ext cx="502920" cy="502920"/>
          </a:xfrm>
          <a:prstGeom prst="rect">
            <a:avLst/>
          </a:prstGeom>
          <a:noFill/>
          <a:ln/>
        </p:spPr>
        <p:txBody>
          <a:bodyPr wrap="square" rtlCol="0" anchor="t"/>
          <a:lstStyle/>
          <a:p>
            <a:pPr marL="0" indent="0">
              <a:buNone/>
            </a:pPr>
            <a:r>
              <a:rPr lang="en-US" sz="1400" b="1" dirty="0">
                <a:latin typeface="Times New Roman" panose="02020603050405020304" pitchFamily="18" charset="0"/>
                <a:ea typeface="Calibri" pitchFamily="34" charset="-122"/>
                <a:cs typeface="Times New Roman" panose="02020603050405020304" pitchFamily="18" charset="0"/>
              </a:rPr>
              <a:t>[5]</a:t>
            </a:r>
            <a:endParaRPr lang="en-US" sz="1400" dirty="0">
              <a:latin typeface="Times New Roman" panose="02020603050405020304" pitchFamily="18" charset="0"/>
              <a:cs typeface="Times New Roman" panose="02020603050405020304" pitchFamily="18" charset="0"/>
            </a:endParaRPr>
          </a:p>
        </p:txBody>
      </p:sp>
      <p:sp>
        <p:nvSpPr>
          <p:cNvPr id="12" name="Text 10"/>
          <p:cNvSpPr/>
          <p:nvPr/>
        </p:nvSpPr>
        <p:spPr>
          <a:xfrm>
            <a:off x="1097280" y="3721608"/>
            <a:ext cx="10515600" cy="502920"/>
          </a:xfrm>
          <a:prstGeom prst="rect">
            <a:avLst/>
          </a:prstGeom>
          <a:noFill/>
          <a:ln/>
        </p:spPr>
        <p:txBody>
          <a:bodyPr wrap="square" rtlCol="0" anchor="t"/>
          <a:lstStyle/>
          <a:p>
            <a:pPr marL="0" indent="0">
              <a:lnSpc>
                <a:spcPct val="115000"/>
              </a:lnSpc>
              <a:buNone/>
            </a:pPr>
            <a:r>
              <a:rPr lang="en-US" sz="1400" dirty="0">
                <a:latin typeface="Times New Roman" panose="02020603050405020304" pitchFamily="18" charset="0"/>
                <a:ea typeface="Calibri" pitchFamily="34" charset="-122"/>
                <a:cs typeface="Times New Roman" panose="02020603050405020304" pitchFamily="18" charset="0"/>
              </a:rPr>
              <a:t>A. Yagubyan, “Measuring Behavioral Consistency in LLM Agents (TSS / AC),” 2026.</a:t>
            </a:r>
            <a:endParaRPr lang="en-US" sz="1400" dirty="0">
              <a:latin typeface="Times New Roman" panose="02020603050405020304" pitchFamily="18" charset="0"/>
              <a:cs typeface="Times New Roman" panose="02020603050405020304" pitchFamily="18" charset="0"/>
            </a:endParaRPr>
          </a:p>
        </p:txBody>
      </p:sp>
      <p:sp>
        <p:nvSpPr>
          <p:cNvPr id="13" name="Text 11"/>
          <p:cNvSpPr/>
          <p:nvPr/>
        </p:nvSpPr>
        <p:spPr>
          <a:xfrm>
            <a:off x="548640" y="4251960"/>
            <a:ext cx="502920" cy="502920"/>
          </a:xfrm>
          <a:prstGeom prst="rect">
            <a:avLst/>
          </a:prstGeom>
          <a:noFill/>
          <a:ln/>
        </p:spPr>
        <p:txBody>
          <a:bodyPr wrap="square" rtlCol="0" anchor="t"/>
          <a:lstStyle/>
          <a:p>
            <a:pPr marL="0" indent="0">
              <a:buNone/>
            </a:pPr>
            <a:r>
              <a:rPr lang="en-US" sz="1400" b="1" dirty="0">
                <a:latin typeface="Times New Roman" panose="02020603050405020304" pitchFamily="18" charset="0"/>
                <a:ea typeface="Calibri" pitchFamily="34" charset="-122"/>
                <a:cs typeface="Times New Roman" panose="02020603050405020304" pitchFamily="18" charset="0"/>
              </a:rPr>
              <a:t>[6]</a:t>
            </a:r>
            <a:endParaRPr lang="en-US" sz="1400" dirty="0">
              <a:latin typeface="Times New Roman" panose="02020603050405020304" pitchFamily="18" charset="0"/>
              <a:cs typeface="Times New Roman" panose="02020603050405020304" pitchFamily="18" charset="0"/>
            </a:endParaRPr>
          </a:p>
        </p:txBody>
      </p:sp>
      <p:sp>
        <p:nvSpPr>
          <p:cNvPr id="14" name="Text 12"/>
          <p:cNvSpPr/>
          <p:nvPr/>
        </p:nvSpPr>
        <p:spPr>
          <a:xfrm>
            <a:off x="1097280" y="4251960"/>
            <a:ext cx="10515600" cy="502920"/>
          </a:xfrm>
          <a:prstGeom prst="rect">
            <a:avLst/>
          </a:prstGeom>
          <a:noFill/>
          <a:ln/>
        </p:spPr>
        <p:txBody>
          <a:bodyPr wrap="square" rtlCol="0" anchor="t"/>
          <a:lstStyle/>
          <a:p>
            <a:pPr marL="0" indent="0">
              <a:lnSpc>
                <a:spcPct val="115000"/>
              </a:lnSpc>
              <a:buNone/>
            </a:pPr>
            <a:r>
              <a:rPr lang="en-US" sz="1400" dirty="0">
                <a:latin typeface="Times New Roman" panose="02020603050405020304" pitchFamily="18" charset="0"/>
                <a:ea typeface="Calibri" pitchFamily="34" charset="-122"/>
                <a:cs typeface="Times New Roman" panose="02020603050405020304" pitchFamily="18" charset="0"/>
              </a:rPr>
              <a:t>Y. Elazar et al., “Measuring and Improving Consistency in Pretrained Language Models,” TACL, 2021.</a:t>
            </a:r>
            <a:endParaRPr lang="en-US" sz="1400" dirty="0">
              <a:latin typeface="Times New Roman" panose="02020603050405020304" pitchFamily="18" charset="0"/>
              <a:cs typeface="Times New Roman" panose="02020603050405020304" pitchFamily="18" charset="0"/>
            </a:endParaRPr>
          </a:p>
        </p:txBody>
      </p:sp>
      <p:sp>
        <p:nvSpPr>
          <p:cNvPr id="15" name="Text 13"/>
          <p:cNvSpPr/>
          <p:nvPr/>
        </p:nvSpPr>
        <p:spPr>
          <a:xfrm>
            <a:off x="548640" y="4782312"/>
            <a:ext cx="502920" cy="502920"/>
          </a:xfrm>
          <a:prstGeom prst="rect">
            <a:avLst/>
          </a:prstGeom>
          <a:noFill/>
          <a:ln/>
        </p:spPr>
        <p:txBody>
          <a:bodyPr wrap="square" rtlCol="0" anchor="t"/>
          <a:lstStyle/>
          <a:p>
            <a:pPr marL="0" indent="0">
              <a:buNone/>
            </a:pPr>
            <a:r>
              <a:rPr lang="en-US" sz="1400" b="1" dirty="0">
                <a:latin typeface="Times New Roman" panose="02020603050405020304" pitchFamily="18" charset="0"/>
                <a:ea typeface="Calibri" pitchFamily="34" charset="-122"/>
                <a:cs typeface="Times New Roman" panose="02020603050405020304" pitchFamily="18" charset="0"/>
              </a:rPr>
              <a:t>[7]</a:t>
            </a:r>
            <a:endParaRPr lang="en-US" sz="1400" dirty="0">
              <a:latin typeface="Times New Roman" panose="02020603050405020304" pitchFamily="18" charset="0"/>
              <a:cs typeface="Times New Roman" panose="02020603050405020304" pitchFamily="18" charset="0"/>
            </a:endParaRPr>
          </a:p>
        </p:txBody>
      </p:sp>
      <p:sp>
        <p:nvSpPr>
          <p:cNvPr id="16" name="Text 14"/>
          <p:cNvSpPr/>
          <p:nvPr/>
        </p:nvSpPr>
        <p:spPr>
          <a:xfrm>
            <a:off x="1097280" y="4782312"/>
            <a:ext cx="10515600" cy="502920"/>
          </a:xfrm>
          <a:prstGeom prst="rect">
            <a:avLst/>
          </a:prstGeom>
          <a:noFill/>
          <a:ln/>
        </p:spPr>
        <p:txBody>
          <a:bodyPr wrap="square" rtlCol="0" anchor="t"/>
          <a:lstStyle/>
          <a:p>
            <a:pPr marL="0" indent="0">
              <a:lnSpc>
                <a:spcPct val="115000"/>
              </a:lnSpc>
              <a:buNone/>
            </a:pPr>
            <a:r>
              <a:rPr lang="en-US" sz="1400" dirty="0">
                <a:latin typeface="Times New Roman" panose="02020603050405020304" pitchFamily="18" charset="0"/>
                <a:ea typeface="Calibri" pitchFamily="34" charset="-122"/>
                <a:cs typeface="Times New Roman" panose="02020603050405020304" pitchFamily="18" charset="0"/>
              </a:rPr>
              <a:t>Y. Qin et al., “ToolLLM / ToolBench: Facilitating Large Language Models to Master 16000+ Real-World APIs,” ICLR, 2024.</a:t>
            </a:r>
            <a:endParaRPr lang="en-US" sz="1400" dirty="0">
              <a:latin typeface="Times New Roman" panose="02020603050405020304" pitchFamily="18" charset="0"/>
              <a:cs typeface="Times New Roman" panose="02020603050405020304" pitchFamily="18" charset="0"/>
            </a:endParaRPr>
          </a:p>
        </p:txBody>
      </p:sp>
      <p:sp>
        <p:nvSpPr>
          <p:cNvPr id="17" name="Text 15"/>
          <p:cNvSpPr/>
          <p:nvPr/>
        </p:nvSpPr>
        <p:spPr>
          <a:xfrm>
            <a:off x="548640" y="5312664"/>
            <a:ext cx="502920" cy="502920"/>
          </a:xfrm>
          <a:prstGeom prst="rect">
            <a:avLst/>
          </a:prstGeom>
          <a:noFill/>
          <a:ln/>
        </p:spPr>
        <p:txBody>
          <a:bodyPr wrap="square" rtlCol="0" anchor="t"/>
          <a:lstStyle/>
          <a:p>
            <a:pPr marL="0" indent="0">
              <a:buNone/>
            </a:pPr>
            <a:r>
              <a:rPr lang="en-US" sz="1400" b="1" dirty="0">
                <a:latin typeface="Times New Roman" panose="02020603050405020304" pitchFamily="18" charset="0"/>
                <a:ea typeface="Calibri" pitchFamily="34" charset="-122"/>
                <a:cs typeface="Times New Roman" panose="02020603050405020304" pitchFamily="18" charset="0"/>
              </a:rPr>
              <a:t>[8]</a:t>
            </a:r>
            <a:endParaRPr lang="en-US" sz="1400" dirty="0">
              <a:latin typeface="Times New Roman" panose="02020603050405020304" pitchFamily="18" charset="0"/>
              <a:cs typeface="Times New Roman" panose="02020603050405020304" pitchFamily="18" charset="0"/>
            </a:endParaRPr>
          </a:p>
        </p:txBody>
      </p:sp>
      <p:sp>
        <p:nvSpPr>
          <p:cNvPr id="18" name="Text 16"/>
          <p:cNvSpPr/>
          <p:nvPr/>
        </p:nvSpPr>
        <p:spPr>
          <a:xfrm>
            <a:off x="1097280" y="5312664"/>
            <a:ext cx="10515600" cy="502920"/>
          </a:xfrm>
          <a:prstGeom prst="rect">
            <a:avLst/>
          </a:prstGeom>
          <a:noFill/>
          <a:ln/>
        </p:spPr>
        <p:txBody>
          <a:bodyPr wrap="square" rtlCol="0" anchor="t"/>
          <a:lstStyle/>
          <a:p>
            <a:pPr marL="0" indent="0">
              <a:lnSpc>
                <a:spcPct val="115000"/>
              </a:lnSpc>
              <a:buNone/>
            </a:pPr>
            <a:r>
              <a:rPr lang="en-US" sz="1400" dirty="0">
                <a:latin typeface="Times New Roman" panose="02020603050405020304" pitchFamily="18" charset="0"/>
                <a:ea typeface="Calibri" pitchFamily="34" charset="-122"/>
                <a:cs typeface="Times New Roman" panose="02020603050405020304" pitchFamily="18" charset="0"/>
              </a:rPr>
              <a:t>Z. Yang et al., “HotpotQA: A Dataset for Diverse, Explainable Multi-Hop Question Answering,” 2018.</a:t>
            </a:r>
            <a:endParaRPr lang="en-US" sz="1400" dirty="0">
              <a:latin typeface="Times New Roman" panose="02020603050405020304" pitchFamily="18" charset="0"/>
              <a:cs typeface="Times New Roman" panose="02020603050405020304" pitchFamily="18" charset="0"/>
            </a:endParaRPr>
          </a:p>
        </p:txBody>
      </p:sp>
      <p:sp>
        <p:nvSpPr>
          <p:cNvPr id="19" name="Text 17"/>
          <p:cNvSpPr/>
          <p:nvPr/>
        </p:nvSpPr>
        <p:spPr>
          <a:xfrm>
            <a:off x="11548872" y="6400800"/>
            <a:ext cx="365760" cy="274320"/>
          </a:xfrm>
          <a:prstGeom prst="rect">
            <a:avLst/>
          </a:prstGeom>
          <a:noFill/>
          <a:ln/>
        </p:spPr>
        <p:txBody>
          <a:bodyPr wrap="square" rtlCol="0" anchor="ctr"/>
          <a:lstStyle/>
          <a:p>
            <a:pPr marL="0" indent="0" algn="r">
              <a:buNone/>
            </a:pPr>
            <a:r>
              <a:rPr lang="en-US" sz="1000" b="1" dirty="0">
                <a:latin typeface="Times New Roman" panose="02020603050405020304" pitchFamily="18" charset="0"/>
                <a:ea typeface="Calibri" pitchFamily="34" charset="-122"/>
                <a:cs typeface="Times New Roman" panose="02020603050405020304" pitchFamily="18" charset="0"/>
              </a:rPr>
              <a:t>13</a:t>
            </a:r>
            <a:endParaRPr lang="en-US" sz="1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0838AEE-A947-C7D2-C3BA-2D1490B8ABEC}"/>
              </a:ext>
            </a:extLst>
          </p:cNvPr>
          <p:cNvSpPr/>
          <p:nvPr/>
        </p:nvSpPr>
        <p:spPr>
          <a:xfrm>
            <a:off x="173736" y="146304"/>
            <a:ext cx="11688526" cy="653795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itle 5">
            <a:extLst>
              <a:ext uri="{FF2B5EF4-FFF2-40B4-BE49-F238E27FC236}">
                <a16:creationId xmlns:a16="http://schemas.microsoft.com/office/drawing/2014/main" id="{A56694BC-CF76-5791-92FF-97A312E30CB8}"/>
              </a:ext>
            </a:extLst>
          </p:cNvPr>
          <p:cNvSpPr txBox="1">
            <a:spLocks/>
          </p:cNvSpPr>
          <p:nvPr/>
        </p:nvSpPr>
        <p:spPr>
          <a:xfrm>
            <a:off x="3941211" y="2748134"/>
            <a:ext cx="4153576" cy="1361731"/>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dirty="0">
                <a:solidFill>
                  <a:schemeClr val="accent1">
                    <a:lumMod val="75000"/>
                  </a:schemeClr>
                </a:solidFill>
                <a:latin typeface="Times New Roman" panose="02020603050405020304" pitchFamily="18" charset="0"/>
                <a:cs typeface="Times New Roman" panose="02020603050405020304" pitchFamily="18" charset="0"/>
              </a:rPr>
              <a:t>THANK YOU</a:t>
            </a:r>
          </a:p>
        </p:txBody>
      </p:sp>
      <p:sp>
        <p:nvSpPr>
          <p:cNvPr id="4" name="TextBox 3">
            <a:extLst>
              <a:ext uri="{FF2B5EF4-FFF2-40B4-BE49-F238E27FC236}">
                <a16:creationId xmlns:a16="http://schemas.microsoft.com/office/drawing/2014/main" id="{44981049-3F36-03F7-231F-7D173E7AF4C4}"/>
              </a:ext>
            </a:extLst>
          </p:cNvPr>
          <p:cNvSpPr txBox="1"/>
          <p:nvPr/>
        </p:nvSpPr>
        <p:spPr>
          <a:xfrm>
            <a:off x="-222270" y="2202771"/>
            <a:ext cx="187545" cy="379409"/>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29447977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288</TotalTime>
  <Words>1081</Words>
  <Application>Microsoft Office PowerPoint</Application>
  <PresentationFormat>Widescreen</PresentationFormat>
  <Paragraphs>182</Paragraphs>
  <Slides>14</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Cambria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usaja37@outlook.com</cp:lastModifiedBy>
  <cp:revision>19</cp:revision>
  <dcterms:created xsi:type="dcterms:W3CDTF">2026-08-25T16:49:07Z</dcterms:created>
  <dcterms:modified xsi:type="dcterms:W3CDTF">2026-08-26T16:06:48Z</dcterms:modified>
</cp:coreProperties>
</file>