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3" r:id="rId8"/>
    <p:sldId id="269" r:id="rId9"/>
    <p:sldId id="264" r:id="rId10"/>
    <p:sldId id="265" r:id="rId11"/>
    <p:sldId id="266" r:id="rId12"/>
    <p:sldId id="267" r:id="rId13"/>
    <p:sldId id="268"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3D9147-4772-4951-B072-FDD270D41DF4}" type="datetimeFigureOut">
              <a:rPr lang="en-IN" smtClean="0"/>
              <a:t>26-08-2026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E1FFDF-B5A7-4799-BE32-6F0B7F3378D8}" type="slidenum">
              <a:rPr lang="en-IN" smtClean="0"/>
              <a:t>‹#›</a:t>
            </a:fld>
            <a:endParaRPr lang="en-IN"/>
          </a:p>
        </p:txBody>
      </p:sp>
    </p:spTree>
    <p:extLst>
      <p:ext uri="{BB962C8B-B14F-4D97-AF65-F5344CB8AC3E}">
        <p14:creationId xmlns:p14="http://schemas.microsoft.com/office/powerpoint/2010/main" val="278618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BE1FFDF-B5A7-4799-BE32-6F0B7F3378D8}" type="slidenum">
              <a:rPr lang="en-IN" smtClean="0"/>
              <a:t>10</a:t>
            </a:fld>
            <a:endParaRPr lang="en-IN"/>
          </a:p>
        </p:txBody>
      </p:sp>
    </p:spTree>
    <p:extLst>
      <p:ext uri="{BB962C8B-B14F-4D97-AF65-F5344CB8AC3E}">
        <p14:creationId xmlns:p14="http://schemas.microsoft.com/office/powerpoint/2010/main" val="2433979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0D55-5E47-FFB3-2894-CE634C6872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7CEE6D-B561-27BD-EFD8-49B74E7CFA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2D2BA5-C558-CCEF-F631-26446182CFCE}"/>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5" name="Footer Placeholder 4">
            <a:extLst>
              <a:ext uri="{FF2B5EF4-FFF2-40B4-BE49-F238E27FC236}">
                <a16:creationId xmlns:a16="http://schemas.microsoft.com/office/drawing/2014/main" id="{651ABB5E-088D-B9C6-CC4E-7A6D4EA86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0C885D-2F78-077B-92F9-096309D45E75}"/>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1027975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68355-22BC-8CAE-8D31-416991E34F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7D602CD-0D52-908D-10EC-B971B32F84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083A69-24DB-393C-1A27-2574AFC57A55}"/>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5" name="Footer Placeholder 4">
            <a:extLst>
              <a:ext uri="{FF2B5EF4-FFF2-40B4-BE49-F238E27FC236}">
                <a16:creationId xmlns:a16="http://schemas.microsoft.com/office/drawing/2014/main" id="{4AD4D999-272E-96E7-56FD-2B3B1EC33D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CB99FB-3CBC-10CD-98BD-051DC1AF69CB}"/>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3667240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589F3-9B49-20F9-D1CA-8D33B0C883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DD2A7B-20C6-C6B8-91CB-ED5E78C407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CEE09B-34EE-6093-BDBD-06078EC6C32F}"/>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5" name="Footer Placeholder 4">
            <a:extLst>
              <a:ext uri="{FF2B5EF4-FFF2-40B4-BE49-F238E27FC236}">
                <a16:creationId xmlns:a16="http://schemas.microsoft.com/office/drawing/2014/main" id="{1B4FD565-DD09-E97B-3966-2370A26A77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82D032-314D-E7FB-C6B4-76A75C3EFCB1}"/>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2052819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4059-DDF1-54F5-442A-9EE0BE0D95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EDF6FB-4F54-0C09-5E45-92CFF88A47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78DDA71-224E-37AB-1E47-61E0145D93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3AB1801-25E6-0C37-2C46-C69CAB37FC40}"/>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6" name="Footer Placeholder 5">
            <a:extLst>
              <a:ext uri="{FF2B5EF4-FFF2-40B4-BE49-F238E27FC236}">
                <a16:creationId xmlns:a16="http://schemas.microsoft.com/office/drawing/2014/main" id="{46D18A26-FC30-BDCE-3365-507A076CCC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AA2639-2F83-7426-3666-C093FDC9AC5E}"/>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307277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DC7BF-B16F-7A00-B131-C0D1E03080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F1D01-8184-239F-7C13-FF75C0DF66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B6E437-C3C5-2590-5FAE-3D7B72D878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F7D947-D507-FBB7-0055-FC91576188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AEE173-967F-82E7-471D-69027196FD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BE52B90-7E8B-EF58-BFE9-EF172D6BF8E6}"/>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8" name="Footer Placeholder 7">
            <a:extLst>
              <a:ext uri="{FF2B5EF4-FFF2-40B4-BE49-F238E27FC236}">
                <a16:creationId xmlns:a16="http://schemas.microsoft.com/office/drawing/2014/main" id="{22220024-A581-63CC-8E6B-5302D4F86F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0B96910-52F3-1875-55D1-41ED16DD33BB}"/>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3876016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9A73-2D48-6325-9352-5FD7864347B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379B859-5101-E29E-6714-47DC2A0EDB20}"/>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4" name="Footer Placeholder 3">
            <a:extLst>
              <a:ext uri="{FF2B5EF4-FFF2-40B4-BE49-F238E27FC236}">
                <a16:creationId xmlns:a16="http://schemas.microsoft.com/office/drawing/2014/main" id="{747B707B-E2CC-EA59-84B1-58D890DDD9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BD0BFA-2AA5-AA11-90D7-FA4550F66155}"/>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3430552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AABCA0-4E61-77B1-A259-6CE1202CB259}"/>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3" name="Footer Placeholder 2">
            <a:extLst>
              <a:ext uri="{FF2B5EF4-FFF2-40B4-BE49-F238E27FC236}">
                <a16:creationId xmlns:a16="http://schemas.microsoft.com/office/drawing/2014/main" id="{7273E14A-0EF5-E3ED-FB46-C802D9DEA7E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0746B76-E307-5D51-4279-724B121836D5}"/>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1922834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9767F-31EF-FD00-1462-F66A1D4991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143175-979D-0030-2AD0-F45994E9BC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1B5DF6-82B0-4068-30E2-83E80D1D3D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C3F930-823E-4029-E010-5F8FC13D29DA}"/>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6" name="Footer Placeholder 5">
            <a:extLst>
              <a:ext uri="{FF2B5EF4-FFF2-40B4-BE49-F238E27FC236}">
                <a16:creationId xmlns:a16="http://schemas.microsoft.com/office/drawing/2014/main" id="{B1E6448C-16DE-EC7C-0CF2-A79347534D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5596C0-6F4C-6592-22B8-A97D04B6FABB}"/>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2223208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9078B-8A8C-09C7-AFD6-4EBBCBB403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5F87275-CA3D-597C-7552-5D06872AC9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9FE42C-79B5-D391-B219-306940EEE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A64AAF-A355-7D09-4CBA-AF573BDDB575}"/>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6" name="Footer Placeholder 5">
            <a:extLst>
              <a:ext uri="{FF2B5EF4-FFF2-40B4-BE49-F238E27FC236}">
                <a16:creationId xmlns:a16="http://schemas.microsoft.com/office/drawing/2014/main" id="{06B2CFFF-F862-26AD-ABC1-57E574D6EA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6190E19-1AA9-11BF-782A-97821F254D39}"/>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2391491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A65CF-4A9E-E256-73C5-EEA8927A92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6EDBB41-B71F-C1CC-C6A4-E9FF7CC91B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BA288B-03B7-A868-7780-A14AAEC76AF0}"/>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5" name="Footer Placeholder 4">
            <a:extLst>
              <a:ext uri="{FF2B5EF4-FFF2-40B4-BE49-F238E27FC236}">
                <a16:creationId xmlns:a16="http://schemas.microsoft.com/office/drawing/2014/main" id="{866C3D92-66AC-5F14-65B2-4EE9F69A5E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FE7360-AF51-6BA1-41E6-388A09512E02}"/>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3681394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45C2A7-8FD7-1DFD-A732-185DEFBBAC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F3E17C-927B-D980-776A-D918BBDCD3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730B84-CCF3-776B-2EC2-04F57FA48704}"/>
              </a:ext>
            </a:extLst>
          </p:cNvPr>
          <p:cNvSpPr>
            <a:spLocks noGrp="1"/>
          </p:cNvSpPr>
          <p:nvPr>
            <p:ph type="dt" sz="half" idx="10"/>
          </p:nvPr>
        </p:nvSpPr>
        <p:spPr/>
        <p:txBody>
          <a:bodyPr/>
          <a:lstStyle/>
          <a:p>
            <a:fld id="{7CBBA8A8-0077-44BF-B0A8-4A231ED64E31}" type="datetimeFigureOut">
              <a:rPr lang="en-IN" smtClean="0"/>
              <a:t>26-08-2026</a:t>
            </a:fld>
            <a:endParaRPr lang="en-IN"/>
          </a:p>
        </p:txBody>
      </p:sp>
      <p:sp>
        <p:nvSpPr>
          <p:cNvPr id="5" name="Footer Placeholder 4">
            <a:extLst>
              <a:ext uri="{FF2B5EF4-FFF2-40B4-BE49-F238E27FC236}">
                <a16:creationId xmlns:a16="http://schemas.microsoft.com/office/drawing/2014/main" id="{2781D5A8-F176-6DD7-C29F-F9940B73E1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C9D35F-17A1-5836-4E3B-367C3CC052B9}"/>
              </a:ext>
            </a:extLst>
          </p:cNvPr>
          <p:cNvSpPr>
            <a:spLocks noGrp="1"/>
          </p:cNvSpPr>
          <p:nvPr>
            <p:ph type="sldNum" sz="quarter" idx="12"/>
          </p:nvPr>
        </p:nvSpPr>
        <p:spPr/>
        <p:txBody>
          <a:bodyPr/>
          <a:lstStyle/>
          <a:p>
            <a:fld id="{E3936662-8CFC-497F-BF3D-1EB3BAE760AA}" type="slidenum">
              <a:rPr lang="en-IN" smtClean="0"/>
              <a:t>‹#›</a:t>
            </a:fld>
            <a:endParaRPr lang="en-IN"/>
          </a:p>
        </p:txBody>
      </p:sp>
    </p:spTree>
    <p:extLst>
      <p:ext uri="{BB962C8B-B14F-4D97-AF65-F5344CB8AC3E}">
        <p14:creationId xmlns:p14="http://schemas.microsoft.com/office/powerpoint/2010/main" val="372894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4C4810-AA26-2595-8DA8-B2684FA24D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74A08A-8A75-652B-1CCE-AA35827B16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30C9C2-5FA6-E368-F57E-4051D9023D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BBA8A8-0077-44BF-B0A8-4A231ED64E31}" type="datetimeFigureOut">
              <a:rPr lang="en-IN" smtClean="0"/>
              <a:t>26-08-2026</a:t>
            </a:fld>
            <a:endParaRPr lang="en-IN"/>
          </a:p>
        </p:txBody>
      </p:sp>
      <p:sp>
        <p:nvSpPr>
          <p:cNvPr id="5" name="Footer Placeholder 4">
            <a:extLst>
              <a:ext uri="{FF2B5EF4-FFF2-40B4-BE49-F238E27FC236}">
                <a16:creationId xmlns:a16="http://schemas.microsoft.com/office/drawing/2014/main" id="{4BAE6B81-7625-F5A2-EA8D-304231A716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86E6C3-CB59-E2EA-6FF5-6CE5902B93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936662-8CFC-497F-BF3D-1EB3BAE760AA}" type="slidenum">
              <a:rPr lang="en-IN" smtClean="0"/>
              <a:t>‹#›</a:t>
            </a:fld>
            <a:endParaRPr lang="en-IN"/>
          </a:p>
        </p:txBody>
      </p:sp>
    </p:spTree>
    <p:extLst>
      <p:ext uri="{BB962C8B-B14F-4D97-AF65-F5344CB8AC3E}">
        <p14:creationId xmlns:p14="http://schemas.microsoft.com/office/powerpoint/2010/main" val="4224713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054CBFA8-AC6C-B779-E9BF-D5B0D44D0B4A}"/>
              </a:ext>
            </a:extLst>
          </p:cNvPr>
          <p:cNvSpPr>
            <a:spLocks noGrp="1"/>
          </p:cNvSpPr>
          <p:nvPr>
            <p:ph type="ctrTitle"/>
          </p:nvPr>
        </p:nvSpPr>
        <p:spPr>
          <a:xfrm>
            <a:off x="363794" y="2594220"/>
            <a:ext cx="11828206" cy="2497393"/>
          </a:xfrm>
        </p:spPr>
        <p:txBody>
          <a:bodyPr>
            <a:noAutofit/>
          </a:bodyPr>
          <a:lstStyle/>
          <a:p>
            <a:r>
              <a:rPr lang="en-IN" sz="3200" dirty="0">
                <a:latin typeface="Times New Roman"/>
                <a:cs typeface="Times New Roman"/>
              </a:rPr>
              <a:t>ADAPTIVE AGENTIC SECURITY OPERATIONS CENTRE (SOC) FRAMEWORK</a:t>
            </a:r>
            <a:br>
              <a:rPr lang="en-IN" sz="2800" dirty="0">
                <a:latin typeface="Times New Roman"/>
                <a:cs typeface="Times New Roman"/>
              </a:rPr>
            </a:br>
            <a:br>
              <a:rPr lang="en-IN" sz="2400" dirty="0">
                <a:latin typeface="Times New Roman"/>
                <a:cs typeface="Times New Roman"/>
              </a:rPr>
            </a:br>
            <a:br>
              <a:rPr lang="en-US" sz="2800" dirty="0">
                <a:latin typeface="Times New Roman"/>
                <a:cs typeface="Times New Roman"/>
              </a:rPr>
            </a:br>
            <a:br>
              <a:rPr lang="en-IN" sz="2800" dirty="0">
                <a:latin typeface="Times New Roman"/>
                <a:cs typeface="Times New Roman"/>
              </a:rPr>
            </a:br>
            <a:br>
              <a:rPr lang="en-IN" sz="2800" dirty="0">
                <a:latin typeface="Times New Roman"/>
                <a:cs typeface="Times New Roman"/>
              </a:rPr>
            </a:br>
            <a:endParaRPr lang="en-IN" sz="2800" dirty="0">
              <a:latin typeface="Times New Roman"/>
              <a:cs typeface="Times New Roman"/>
            </a:endParaRPr>
          </a:p>
        </p:txBody>
      </p:sp>
      <p:sp>
        <p:nvSpPr>
          <p:cNvPr id="6" name="TextBox 5">
            <a:extLst>
              <a:ext uri="{FF2B5EF4-FFF2-40B4-BE49-F238E27FC236}">
                <a16:creationId xmlns:a16="http://schemas.microsoft.com/office/drawing/2014/main" id="{90B97273-8646-C32D-56CE-F2FD6EABF001}"/>
              </a:ext>
            </a:extLst>
          </p:cNvPr>
          <p:cNvSpPr txBox="1"/>
          <p:nvPr/>
        </p:nvSpPr>
        <p:spPr>
          <a:xfrm>
            <a:off x="8201332" y="4306783"/>
            <a:ext cx="3268980" cy="1569660"/>
          </a:xfrm>
          <a:prstGeom prst="rect">
            <a:avLst/>
          </a:prstGeom>
          <a:noFill/>
        </p:spPr>
        <p:txBody>
          <a:bodyPr wrap="square" rtlCol="0">
            <a:spAutoFit/>
          </a:bodyPr>
          <a:lstStyle/>
          <a:p>
            <a:r>
              <a:rPr lang="en-US" sz="2400" u="sng" dirty="0">
                <a:latin typeface="Times New Roman" panose="02020603050405020304" pitchFamily="18" charset="0"/>
                <a:cs typeface="Times New Roman" panose="02020603050405020304" pitchFamily="18" charset="0"/>
              </a:rPr>
              <a:t>PRESENTED BY:</a:t>
            </a:r>
          </a:p>
          <a:p>
            <a:r>
              <a:rPr lang="en-US" sz="2400" dirty="0">
                <a:latin typeface="Times New Roman" panose="02020603050405020304" pitchFamily="18" charset="0"/>
                <a:cs typeface="Times New Roman" panose="02020603050405020304" pitchFamily="18" charset="0"/>
              </a:rPr>
              <a:t>Aishwarya</a:t>
            </a:r>
          </a:p>
          <a:p>
            <a:r>
              <a:rPr lang="en-US" sz="2400" dirty="0">
                <a:latin typeface="Times New Roman" panose="02020603050405020304" pitchFamily="18" charset="0"/>
                <a:cs typeface="Times New Roman" panose="02020603050405020304" pitchFamily="18" charset="0"/>
              </a:rPr>
              <a:t>22011P0532</a:t>
            </a:r>
          </a:p>
          <a:p>
            <a:r>
              <a:rPr lang="en-US" sz="2400" dirty="0">
                <a:latin typeface="Times New Roman" panose="02020603050405020304" pitchFamily="18" charset="0"/>
                <a:cs typeface="Times New Roman" panose="02020603050405020304" pitchFamily="18" charset="0"/>
              </a:rPr>
              <a:t>CSE-IDP</a:t>
            </a:r>
            <a:endParaRPr lang="en-IN"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5EE9890-9C5C-78FB-6334-AEB3C64463B0}"/>
              </a:ext>
            </a:extLst>
          </p:cNvPr>
          <p:cNvSpPr txBox="1"/>
          <p:nvPr/>
        </p:nvSpPr>
        <p:spPr>
          <a:xfrm>
            <a:off x="533400" y="4359311"/>
            <a:ext cx="5112600" cy="1752596"/>
          </a:xfrm>
          <a:prstGeom prst="rect">
            <a:avLst/>
          </a:prstGeom>
          <a:noFill/>
        </p:spPr>
        <p:txBody>
          <a:bodyPr wrap="square" rtlCol="0">
            <a:spAutoFit/>
          </a:bodyPr>
          <a:lstStyle/>
          <a:p>
            <a:r>
              <a:rPr lang="en-IN" sz="2400" u="sng" dirty="0">
                <a:latin typeface="Times New Roman" panose="02020603050405020304" pitchFamily="18" charset="0"/>
                <a:cs typeface="Times New Roman" panose="02020603050405020304" pitchFamily="18" charset="0"/>
              </a:rPr>
              <a:t>GUIDE:</a:t>
            </a:r>
          </a:p>
          <a:p>
            <a:pPr>
              <a:lnSpc>
                <a:spcPct val="120000"/>
              </a:lnSpc>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Dr. I. Lakshmi </a:t>
            </a:r>
            <a:r>
              <a:rPr lang="en-US" sz="2400" dirty="0" err="1">
                <a:solidFill>
                  <a:srgbClr val="000000"/>
                </a:solidFill>
                <a:latin typeface="Times New Roman" panose="02020603050405020304" pitchFamily="18" charset="0"/>
                <a:ea typeface="Calibri" pitchFamily="34" charset="-122"/>
                <a:cs typeface="Times New Roman" panose="02020603050405020304" pitchFamily="18" charset="0"/>
              </a:rPr>
              <a:t>Manikyamba</a:t>
            </a:r>
            <a:endParaRPr lang="en-US" sz="2400" dirty="0">
              <a:latin typeface="Times New Roman" panose="02020603050405020304" pitchFamily="18" charset="0"/>
              <a:cs typeface="Times New Roman" panose="02020603050405020304" pitchFamily="18" charset="0"/>
            </a:endParaRPr>
          </a:p>
          <a:p>
            <a:pPr>
              <a:lnSpc>
                <a:spcPct val="120000"/>
              </a:lnSpc>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Professor, Department of CSE</a:t>
            </a:r>
          </a:p>
          <a:p>
            <a:pPr>
              <a:lnSpc>
                <a:spcPct val="120000"/>
              </a:lnSpc>
            </a:pPr>
            <a:r>
              <a:rPr lang="en-US" sz="2400" dirty="0">
                <a:solidFill>
                  <a:srgbClr val="000000"/>
                </a:solidFill>
                <a:latin typeface="Times New Roman" panose="02020603050405020304" pitchFamily="18" charset="0"/>
                <a:ea typeface="Calibri" pitchFamily="34" charset="-122"/>
                <a:cs typeface="Times New Roman" panose="02020603050405020304" pitchFamily="18" charset="0"/>
              </a:rPr>
              <a:t>JNTUH UCESTH</a:t>
            </a:r>
            <a:endParaRPr lang="en-IN" sz="2400" dirty="0">
              <a:latin typeface="Times New Roman" panose="02020603050405020304" pitchFamily="18" charset="0"/>
              <a:cs typeface="Times New Roman" panose="02020603050405020304" pitchFamily="18" charset="0"/>
            </a:endParaRPr>
          </a:p>
        </p:txBody>
      </p:sp>
      <p:pic>
        <p:nvPicPr>
          <p:cNvPr id="5" name="Picture 4" descr="Jntuh University _ Jawaharlal Nehru Technological University Hyderabad ...">
            <a:extLst>
              <a:ext uri="{FF2B5EF4-FFF2-40B4-BE49-F238E27FC236}">
                <a16:creationId xmlns:a16="http://schemas.microsoft.com/office/drawing/2014/main" id="{FE5AE74B-6B88-E609-247E-6AE83312F2D3}"/>
              </a:ext>
            </a:extLst>
          </p:cNvPr>
          <p:cNvPicPr>
            <a:picLocks noChangeAspect="1"/>
          </p:cNvPicPr>
          <p:nvPr/>
        </p:nvPicPr>
        <p:blipFill>
          <a:blip r:embed="rId2"/>
          <a:stretch>
            <a:fillRect/>
          </a:stretch>
        </p:blipFill>
        <p:spPr>
          <a:xfrm>
            <a:off x="137160" y="234159"/>
            <a:ext cx="1959544" cy="1589793"/>
          </a:xfrm>
          <a:prstGeom prst="rect">
            <a:avLst/>
          </a:prstGeom>
        </p:spPr>
      </p:pic>
      <p:sp>
        <p:nvSpPr>
          <p:cNvPr id="7" name="TextBox 6">
            <a:extLst>
              <a:ext uri="{FF2B5EF4-FFF2-40B4-BE49-F238E27FC236}">
                <a16:creationId xmlns:a16="http://schemas.microsoft.com/office/drawing/2014/main" id="{FA906DEF-8AEA-BC55-708B-A21AAF40A2F0}"/>
              </a:ext>
            </a:extLst>
          </p:cNvPr>
          <p:cNvSpPr txBox="1"/>
          <p:nvPr/>
        </p:nvSpPr>
        <p:spPr>
          <a:xfrm>
            <a:off x="2323338" y="493296"/>
            <a:ext cx="7934632" cy="2308324"/>
          </a:xfrm>
          <a:prstGeom prst="rect">
            <a:avLst/>
          </a:prstGeom>
          <a:noFill/>
        </p:spPr>
        <p:txBody>
          <a:bodyPr wrap="square" rtlCol="0">
            <a:spAutoFit/>
          </a:bodyPr>
          <a:lstStyle/>
          <a:p>
            <a:pPr algn="ctr"/>
            <a:r>
              <a:rPr lang="en-US" dirty="0">
                <a:latin typeface="Times New Roman"/>
                <a:cs typeface="Times New Roman"/>
              </a:rPr>
              <a:t>DEPARTMENT OF COMPUTER SCIENCE</a:t>
            </a:r>
          </a:p>
          <a:p>
            <a:pPr algn="ctr"/>
            <a:r>
              <a:rPr lang="en-US" dirty="0">
                <a:latin typeface="Times New Roman"/>
                <a:cs typeface="Times New Roman"/>
              </a:rPr>
              <a:t>JAWAHARLAL NEHRU TECHNOLOGICAL UNIVERSITY HYDERABAD</a:t>
            </a:r>
            <a:br>
              <a:rPr lang="en-US" dirty="0">
                <a:latin typeface="Times New Roman"/>
                <a:cs typeface="Times New Roman"/>
              </a:rPr>
            </a:br>
            <a:r>
              <a:rPr lang="en-US" dirty="0">
                <a:latin typeface="Times New Roman"/>
                <a:cs typeface="Times New Roman"/>
              </a:rPr>
              <a:t>UNIVERSITY COLLEGE OF ENGINEERING SCIENCE AND TECHNOLOGY</a:t>
            </a:r>
          </a:p>
          <a:p>
            <a:pPr algn="ctr"/>
            <a:r>
              <a:rPr lang="en-IN" dirty="0">
                <a:latin typeface="Times New Roman" panose="02020603050405020304" pitchFamily="18" charset="0"/>
                <a:cs typeface="Times New Roman" panose="02020603050405020304" pitchFamily="18" charset="0"/>
              </a:rPr>
              <a:t>Kukatpally, Hyderabad </a:t>
            </a:r>
            <a:endParaRPr lang="en-US" dirty="0">
              <a:latin typeface="Times New Roman" panose="02020603050405020304" pitchFamily="18" charset="0"/>
              <a:cs typeface="Times New Roman" panose="02020603050405020304" pitchFamily="18" charset="0"/>
            </a:endParaRPr>
          </a:p>
          <a:p>
            <a:pPr algn="ctr"/>
            <a:br>
              <a:rPr lang="en-US" dirty="0">
                <a:latin typeface="Times New Roman"/>
                <a:cs typeface="Times New Roman"/>
              </a:rPr>
            </a:br>
            <a:br>
              <a:rPr lang="en-US" dirty="0">
                <a:latin typeface="Times New Roman"/>
                <a:cs typeface="Times New Roman"/>
              </a:rPr>
            </a:br>
            <a:endParaRPr lang="en-IN" dirty="0"/>
          </a:p>
          <a:p>
            <a:endParaRPr lang="en-IN" dirty="0"/>
          </a:p>
        </p:txBody>
      </p:sp>
      <p:sp>
        <p:nvSpPr>
          <p:cNvPr id="8" name="TextBox 7">
            <a:extLst>
              <a:ext uri="{FF2B5EF4-FFF2-40B4-BE49-F238E27FC236}">
                <a16:creationId xmlns:a16="http://schemas.microsoft.com/office/drawing/2014/main" id="{A8E03364-7C4E-7E9A-EBA3-66A8D87DE30C}"/>
              </a:ext>
            </a:extLst>
          </p:cNvPr>
          <p:cNvSpPr txBox="1"/>
          <p:nvPr/>
        </p:nvSpPr>
        <p:spPr>
          <a:xfrm>
            <a:off x="3934303" y="3322156"/>
            <a:ext cx="511260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DISSERTATION WORK REVIEW – 1</a:t>
            </a:r>
          </a:p>
          <a:p>
            <a:r>
              <a:rPr lang="en-IN" dirty="0">
                <a:latin typeface="Times New Roman" panose="02020603050405020304" pitchFamily="18" charset="0"/>
                <a:cs typeface="Times New Roman" panose="02020603050405020304" pitchFamily="18" charset="0"/>
              </a:rPr>
              <a:t>	AUGUST-2026</a:t>
            </a:r>
          </a:p>
        </p:txBody>
      </p:sp>
    </p:spTree>
    <p:extLst>
      <p:ext uri="{BB962C8B-B14F-4D97-AF65-F5344CB8AC3E}">
        <p14:creationId xmlns:p14="http://schemas.microsoft.com/office/powerpoint/2010/main" val="1415634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00E353DB-0B3A-D99E-6B57-05F8B73DC716}"/>
              </a:ext>
            </a:extLst>
          </p:cNvPr>
          <p:cNvSpPr>
            <a:spLocks noGrp="1"/>
          </p:cNvSpPr>
          <p:nvPr>
            <p:ph type="title"/>
          </p:nvPr>
        </p:nvSpPr>
        <p:spPr/>
        <p:txBody>
          <a:bodyPr/>
          <a:lstStyle/>
          <a:p>
            <a:r>
              <a:rPr lang="en-IN" sz="4400" dirty="0">
                <a:latin typeface="Times New Roman"/>
                <a:cs typeface="Times New Roman"/>
              </a:rPr>
              <a:t>				Abstract</a:t>
            </a:r>
          </a:p>
        </p:txBody>
      </p:sp>
      <p:sp>
        <p:nvSpPr>
          <p:cNvPr id="3" name="Content Placeholder 2">
            <a:extLst>
              <a:ext uri="{FF2B5EF4-FFF2-40B4-BE49-F238E27FC236}">
                <a16:creationId xmlns:a16="http://schemas.microsoft.com/office/drawing/2014/main" id="{B7ABBB29-AAB4-C537-3302-AFF14B8944EF}"/>
              </a:ext>
            </a:extLst>
          </p:cNvPr>
          <p:cNvSpPr>
            <a:spLocks noGrp="1"/>
          </p:cNvSpPr>
          <p:nvPr>
            <p:ph idx="1"/>
          </p:nvPr>
        </p:nvSpPr>
        <p:spPr/>
        <p:txBody>
          <a:bodyPr>
            <a:normAutofit/>
          </a:bodyPr>
          <a:lstStyle/>
          <a:p>
            <a:pPr marL="0" indent="0" algn="just">
              <a:buNone/>
            </a:pPr>
            <a:r>
              <a:rPr lang="en-IN" sz="2600" dirty="0">
                <a:latin typeface="Times New Roman"/>
                <a:cs typeface="Times New Roman"/>
              </a:rPr>
              <a:t>This project proposes an adaptive, agentic SOC framework for context-aware security operations. Specialized agents handle investigation, threat intelligence, attack-path analysis, response, and verification, with reasoning grounded in RAG and an Enterprise Knowledge Graph rather than model assumptions alone. An adaptive routing mechanism adjusts investigation depth by risk, and a closed verification loop confirms outcomes after each response.</a:t>
            </a:r>
          </a:p>
        </p:txBody>
      </p:sp>
      <p:sp>
        <p:nvSpPr>
          <p:cNvPr id="5" name="TextBox 4"/>
          <p:cNvSpPr txBox="1"/>
          <p:nvPr/>
        </p:nvSpPr>
        <p:spPr>
          <a:xfrm>
            <a:off x="5646000" y="6400840"/>
            <a:ext cx="900000" cy="300000"/>
          </a:xfrm>
          <a:prstGeom prst="rect">
            <a:avLst/>
          </a:prstGeom>
          <a:noFill/>
        </p:spPr>
        <p:txBody>
          <a:bodyPr wrap="none" lIns="0" tIns="0" rIns="0" bIns="0">
            <a:spAutoFit/>
          </a:bodyPr>
          <a:lstStyle/>
          <a:p>
            <a:pPr algn="ctr"/>
            <a:r>
              <a:rPr sz="1400">
                <a:latin typeface="Times New Roman"/>
                <a:cs typeface="Times New Roman"/>
              </a:rPr>
              <a:t>2</a:t>
            </a:r>
          </a:p>
        </p:txBody>
      </p:sp>
    </p:spTree>
    <p:extLst>
      <p:ext uri="{BB962C8B-B14F-4D97-AF65-F5344CB8AC3E}">
        <p14:creationId xmlns:p14="http://schemas.microsoft.com/office/powerpoint/2010/main" val="54024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3E73CBE6-282D-1530-BF2D-B74BD56B7576}"/>
              </a:ext>
            </a:extLst>
          </p:cNvPr>
          <p:cNvSpPr>
            <a:spLocks noGrp="1"/>
          </p:cNvSpPr>
          <p:nvPr>
            <p:ph type="title"/>
          </p:nvPr>
        </p:nvSpPr>
        <p:spPr/>
        <p:txBody>
          <a:bodyPr/>
          <a:lstStyle/>
          <a:p>
            <a:r>
              <a:rPr lang="en-IN" sz="4400" dirty="0">
                <a:latin typeface="Times New Roman"/>
                <a:cs typeface="Times New Roman"/>
              </a:rPr>
              <a:t>				Introduction</a:t>
            </a:r>
          </a:p>
        </p:txBody>
      </p:sp>
      <p:sp>
        <p:nvSpPr>
          <p:cNvPr id="3" name="Content Placeholder 2">
            <a:extLst>
              <a:ext uri="{FF2B5EF4-FFF2-40B4-BE49-F238E27FC236}">
                <a16:creationId xmlns:a16="http://schemas.microsoft.com/office/drawing/2014/main" id="{2A81B593-0E99-CBD9-742F-10BA015345C2}"/>
              </a:ext>
            </a:extLst>
          </p:cNvPr>
          <p:cNvSpPr>
            <a:spLocks noGrp="1"/>
          </p:cNvSpPr>
          <p:nvPr>
            <p:ph idx="1"/>
          </p:nvPr>
        </p:nvSpPr>
        <p:spPr/>
        <p:txBody>
          <a:bodyPr>
            <a:normAutofit/>
          </a:bodyPr>
          <a:lstStyle/>
          <a:p>
            <a:pPr algn="just"/>
            <a:r>
              <a:rPr lang="en-US" sz="2600" dirty="0">
                <a:latin typeface="Times New Roman" panose="02020603050405020304" pitchFamily="18" charset="0"/>
                <a:cs typeface="Times New Roman" panose="02020603050405020304" pitchFamily="18" charset="0"/>
              </a:rPr>
              <a:t>Modern SOC teams receive huge numbers of security alerts, causing alert fatigue and increasing analyst workload.</a:t>
            </a:r>
          </a:p>
          <a:p>
            <a:pPr algn="just"/>
            <a:r>
              <a:rPr lang="en-US" sz="2600" dirty="0">
                <a:latin typeface="Times New Roman" panose="02020603050405020304" pitchFamily="18" charset="0"/>
                <a:cs typeface="Times New Roman" panose="02020603050405020304" pitchFamily="18" charset="0"/>
              </a:rPr>
              <a:t>Traditional SOC systems depend mainly on rule-based workflows and manual analysis.</a:t>
            </a:r>
          </a:p>
          <a:p>
            <a:pPr algn="just"/>
            <a:r>
              <a:rPr lang="en-US" sz="2600" dirty="0">
                <a:latin typeface="Times New Roman" panose="02020603050405020304" pitchFamily="18" charset="0"/>
                <a:cs typeface="Times New Roman" panose="02020603050405020304" pitchFamily="18" charset="0"/>
              </a:rPr>
              <a:t>LLMs can assist in security analysis, but they may lack enterprise-specific context and can produce unreliable results.</a:t>
            </a:r>
          </a:p>
          <a:p>
            <a:pPr algn="just"/>
            <a:r>
              <a:rPr lang="en-US" sz="2600" dirty="0">
                <a:latin typeface="Times New Roman" panose="02020603050405020304" pitchFamily="18" charset="0"/>
                <a:cs typeface="Times New Roman" panose="02020603050405020304" pitchFamily="18" charset="0"/>
              </a:rPr>
              <a:t>Our project uses Agentic AI, RAG, Knowledge Graphs, and adaptive routing to make security investigation more contextual and adaptive.</a:t>
            </a:r>
            <a:endParaRPr lang="en-IN" sz="2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646000" y="6400840"/>
            <a:ext cx="900000" cy="300000"/>
          </a:xfrm>
          <a:prstGeom prst="rect">
            <a:avLst/>
          </a:prstGeom>
          <a:noFill/>
        </p:spPr>
        <p:txBody>
          <a:bodyPr wrap="none" lIns="0" tIns="0" rIns="0" bIns="0">
            <a:spAutoFit/>
          </a:bodyPr>
          <a:lstStyle/>
          <a:p>
            <a:pPr algn="ctr"/>
            <a:r>
              <a:rPr sz="1400">
                <a:latin typeface="Times New Roman"/>
                <a:cs typeface="Times New Roman"/>
              </a:rPr>
              <a:t>3</a:t>
            </a:r>
          </a:p>
        </p:txBody>
      </p:sp>
    </p:spTree>
    <p:extLst>
      <p:ext uri="{BB962C8B-B14F-4D97-AF65-F5344CB8AC3E}">
        <p14:creationId xmlns:p14="http://schemas.microsoft.com/office/powerpoint/2010/main" val="2811488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63A8F985-210C-8A23-7630-F6C17334E7EF}"/>
              </a:ext>
            </a:extLst>
          </p:cNvPr>
          <p:cNvSpPr>
            <a:spLocks noGrp="1"/>
          </p:cNvSpPr>
          <p:nvPr>
            <p:ph type="title"/>
          </p:nvPr>
        </p:nvSpPr>
        <p:spPr/>
        <p:txBody>
          <a:bodyPr/>
          <a:lstStyle/>
          <a:p>
            <a:r>
              <a:rPr lang="en-IN" sz="4400" dirty="0">
                <a:latin typeface="Times New Roman"/>
                <a:cs typeface="Times New Roman"/>
              </a:rPr>
              <a:t>			Problem Statement</a:t>
            </a:r>
          </a:p>
        </p:txBody>
      </p:sp>
      <p:sp>
        <p:nvSpPr>
          <p:cNvPr id="3" name="Content Placeholder 2">
            <a:extLst>
              <a:ext uri="{FF2B5EF4-FFF2-40B4-BE49-F238E27FC236}">
                <a16:creationId xmlns:a16="http://schemas.microsoft.com/office/drawing/2014/main" id="{33A90CD7-5E09-1851-B772-9CDD563ED298}"/>
              </a:ext>
            </a:extLst>
          </p:cNvPr>
          <p:cNvSpPr>
            <a:spLocks noGrp="1"/>
          </p:cNvSpPr>
          <p:nvPr>
            <p:ph idx="1"/>
          </p:nvPr>
        </p:nvSpPr>
        <p:spPr>
          <a:xfrm>
            <a:off x="838200" y="2563045"/>
            <a:ext cx="10515600" cy="2166272"/>
          </a:xfrm>
        </p:spPr>
        <p:txBody>
          <a:bodyPr>
            <a:normAutofit/>
          </a:bodyPr>
          <a:lstStyle/>
          <a:p>
            <a:pPr marL="0" indent="0" algn="just">
              <a:buNone/>
            </a:pPr>
            <a:r>
              <a:rPr lang="en-US" sz="2600" dirty="0">
                <a:latin typeface="Times New Roman" panose="02020603050405020304" pitchFamily="18" charset="0"/>
                <a:cs typeface="Times New Roman" panose="02020603050405020304" pitchFamily="18" charset="0"/>
              </a:rPr>
              <a:t>The problem is to reduce manual effort in threat investigation and response by adapting investigation based on alert risk and available evidence, while verifying the effectiveness of the response.</a:t>
            </a:r>
            <a:endParaRPr lang="en-IN" sz="2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5646000" y="6400840"/>
            <a:ext cx="900000" cy="300000"/>
          </a:xfrm>
          <a:prstGeom prst="rect">
            <a:avLst/>
          </a:prstGeom>
          <a:noFill/>
        </p:spPr>
        <p:txBody>
          <a:bodyPr wrap="none" lIns="0" tIns="0" rIns="0" bIns="0">
            <a:spAutoFit/>
          </a:bodyPr>
          <a:lstStyle/>
          <a:p>
            <a:pPr algn="ctr"/>
            <a:r>
              <a:rPr sz="1400">
                <a:latin typeface="Times New Roman"/>
                <a:cs typeface="Times New Roman"/>
              </a:rPr>
              <a:t>4</a:t>
            </a:r>
          </a:p>
        </p:txBody>
      </p:sp>
    </p:spTree>
    <p:extLst>
      <p:ext uri="{BB962C8B-B14F-4D97-AF65-F5344CB8AC3E}">
        <p14:creationId xmlns:p14="http://schemas.microsoft.com/office/powerpoint/2010/main" val="4171674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F9A0DE95-B97A-B5CD-1089-B01558A3E80C}"/>
              </a:ext>
            </a:extLst>
          </p:cNvPr>
          <p:cNvSpPr>
            <a:spLocks noGrp="1"/>
          </p:cNvSpPr>
          <p:nvPr>
            <p:ph type="title"/>
          </p:nvPr>
        </p:nvSpPr>
        <p:spPr/>
        <p:txBody>
          <a:bodyPr/>
          <a:lstStyle/>
          <a:p>
            <a:r>
              <a:rPr lang="en-IN" sz="4400" dirty="0">
                <a:latin typeface="Times New Roman"/>
                <a:cs typeface="Times New Roman"/>
              </a:rPr>
              <a:t>				Objectives</a:t>
            </a:r>
          </a:p>
        </p:txBody>
      </p:sp>
      <p:sp>
        <p:nvSpPr>
          <p:cNvPr id="3" name="Content Placeholder 2">
            <a:extLst>
              <a:ext uri="{FF2B5EF4-FFF2-40B4-BE49-F238E27FC236}">
                <a16:creationId xmlns:a16="http://schemas.microsoft.com/office/drawing/2014/main" id="{B62F3D91-7E56-2B55-8775-C9294562FA53}"/>
              </a:ext>
            </a:extLst>
          </p:cNvPr>
          <p:cNvSpPr>
            <a:spLocks noGrp="1"/>
          </p:cNvSpPr>
          <p:nvPr>
            <p:ph idx="1"/>
          </p:nvPr>
        </p:nvSpPr>
        <p:spPr/>
        <p:txBody>
          <a:bodyPr>
            <a:normAutofit/>
          </a:bodyPr>
          <a:lstStyle/>
          <a:p>
            <a:pPr lvl="0" algn="just"/>
            <a:r>
              <a:rPr lang="en-IN" sz="2600" dirty="0">
                <a:latin typeface="Times New Roman"/>
                <a:cs typeface="Times New Roman"/>
              </a:rPr>
              <a:t>Build an adaptive multi-agent SOC framework for context-aware investigation.</a:t>
            </a:r>
          </a:p>
          <a:p>
            <a:pPr lvl="0" algn="just"/>
            <a:r>
              <a:rPr lang="en-IN" sz="2600" dirty="0">
                <a:latin typeface="Times New Roman"/>
                <a:cs typeface="Times New Roman"/>
              </a:rPr>
              <a:t>Deploy specialized agents for investigation, intel, attack-path, response and verification.</a:t>
            </a:r>
          </a:p>
          <a:p>
            <a:pPr lvl="0" algn="just"/>
            <a:r>
              <a:rPr lang="en-IN" sz="2600" dirty="0">
                <a:latin typeface="Times New Roman"/>
                <a:cs typeface="Times New Roman"/>
              </a:rPr>
              <a:t>Integrate RAG over MITRE ATT&amp;CK, threat intel, vulnerabilities and past incidents.</a:t>
            </a:r>
          </a:p>
          <a:p>
            <a:pPr lvl="0" algn="just"/>
            <a:r>
              <a:rPr lang="en-IN" sz="2600" dirty="0">
                <a:latin typeface="Times New Roman"/>
                <a:cs typeface="Times New Roman"/>
              </a:rPr>
              <a:t>Build an Enterprise Knowledge Graph to validate attack paths.</a:t>
            </a:r>
          </a:p>
          <a:p>
            <a:pPr lvl="0" algn="just"/>
            <a:r>
              <a:rPr lang="en-IN" sz="2600" dirty="0">
                <a:latin typeface="Times New Roman"/>
                <a:cs typeface="Times New Roman"/>
              </a:rPr>
              <a:t>Evaluate detection quality, latency, attack-path accuracy and human intervention.</a:t>
            </a:r>
          </a:p>
          <a:p>
            <a:pPr marL="0" indent="0" algn="just">
              <a:buNone/>
            </a:pPr>
            <a:endParaRPr lang="en-IN" dirty="0"/>
          </a:p>
        </p:txBody>
      </p:sp>
      <p:sp>
        <p:nvSpPr>
          <p:cNvPr id="5" name="TextBox 4"/>
          <p:cNvSpPr txBox="1"/>
          <p:nvPr/>
        </p:nvSpPr>
        <p:spPr>
          <a:xfrm>
            <a:off x="5646000" y="6400840"/>
            <a:ext cx="900000" cy="300000"/>
          </a:xfrm>
          <a:prstGeom prst="rect">
            <a:avLst/>
          </a:prstGeom>
          <a:noFill/>
        </p:spPr>
        <p:txBody>
          <a:bodyPr wrap="none" lIns="0" tIns="0" rIns="0" bIns="0">
            <a:spAutoFit/>
          </a:bodyPr>
          <a:lstStyle/>
          <a:p>
            <a:pPr algn="ctr"/>
            <a:r>
              <a:rPr sz="1400">
                <a:latin typeface="Times New Roman"/>
                <a:cs typeface="Times New Roman"/>
              </a:rPr>
              <a:t>5</a:t>
            </a:r>
          </a:p>
        </p:txBody>
      </p:sp>
    </p:spTree>
    <p:extLst>
      <p:ext uri="{BB962C8B-B14F-4D97-AF65-F5344CB8AC3E}">
        <p14:creationId xmlns:p14="http://schemas.microsoft.com/office/powerpoint/2010/main" val="556474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EAC84B36-631A-DF9C-86E6-007CEE57F1DD}"/>
              </a:ext>
            </a:extLst>
          </p:cNvPr>
          <p:cNvSpPr>
            <a:spLocks noGrp="1"/>
          </p:cNvSpPr>
          <p:nvPr>
            <p:ph type="title"/>
          </p:nvPr>
        </p:nvSpPr>
        <p:spPr>
          <a:xfrm>
            <a:off x="2971800" y="282458"/>
            <a:ext cx="5707800" cy="1325563"/>
          </a:xfrm>
        </p:spPr>
        <p:txBody>
          <a:bodyPr/>
          <a:lstStyle/>
          <a:p>
            <a:r>
              <a:rPr lang="en-IN" sz="4400" dirty="0">
                <a:latin typeface="Times New Roman"/>
                <a:cs typeface="Times New Roman"/>
              </a:rPr>
              <a:t>	Literature Review</a:t>
            </a:r>
          </a:p>
        </p:txBody>
      </p:sp>
      <p:graphicFrame>
        <p:nvGraphicFramePr>
          <p:cNvPr id="4" name="Content Placeholder 3">
            <a:extLst>
              <a:ext uri="{FF2B5EF4-FFF2-40B4-BE49-F238E27FC236}">
                <a16:creationId xmlns:a16="http://schemas.microsoft.com/office/drawing/2014/main" id="{919C4C00-E817-1C50-8669-DAD548EF5765}"/>
              </a:ext>
            </a:extLst>
          </p:cNvPr>
          <p:cNvGraphicFramePr>
            <a:graphicFrameLocks noGrp="1"/>
          </p:cNvGraphicFramePr>
          <p:nvPr>
            <p:ph idx="1"/>
            <p:extLst>
              <p:ext uri="{D42A27DB-BD31-4B8C-83A1-F6EECF244321}">
                <p14:modId xmlns:p14="http://schemas.microsoft.com/office/powerpoint/2010/main" val="1225004130"/>
              </p:ext>
            </p:extLst>
          </p:nvPr>
        </p:nvGraphicFramePr>
        <p:xfrm>
          <a:off x="838200" y="1927123"/>
          <a:ext cx="10341078" cy="4154615"/>
        </p:xfrm>
        <a:graphic>
          <a:graphicData uri="http://schemas.openxmlformats.org/drawingml/2006/table">
            <a:tbl>
              <a:tblPr/>
              <a:tblGrid>
                <a:gridCol w="3447026">
                  <a:extLst>
                    <a:ext uri="{9D8B030D-6E8A-4147-A177-3AD203B41FA5}">
                      <a16:colId xmlns:a16="http://schemas.microsoft.com/office/drawing/2014/main" val="3341680158"/>
                    </a:ext>
                  </a:extLst>
                </a:gridCol>
                <a:gridCol w="3447026">
                  <a:extLst>
                    <a:ext uri="{9D8B030D-6E8A-4147-A177-3AD203B41FA5}">
                      <a16:colId xmlns:a16="http://schemas.microsoft.com/office/drawing/2014/main" val="3386501922"/>
                    </a:ext>
                  </a:extLst>
                </a:gridCol>
                <a:gridCol w="3447026">
                  <a:extLst>
                    <a:ext uri="{9D8B030D-6E8A-4147-A177-3AD203B41FA5}">
                      <a16:colId xmlns:a16="http://schemas.microsoft.com/office/drawing/2014/main" val="39017428"/>
                    </a:ext>
                  </a:extLst>
                </a:gridCol>
              </a:tblGrid>
              <a:tr h="442151">
                <a:tc>
                  <a:txBody>
                    <a:bodyPr/>
                    <a:lstStyle/>
                    <a:p>
                      <a:pPr>
                        <a:buNone/>
                      </a:pPr>
                      <a:r>
                        <a:rPr lang="en-IN" sz="2600" b="1" dirty="0">
                          <a:latin typeface="Times New Roman"/>
                          <a:cs typeface="Times New Roman"/>
                        </a:rPr>
                        <a:t>Approach</a:t>
                      </a:r>
                    </a:p>
                  </a:txBody>
                  <a:tcPr marT="18288" marB="18288" anchor="ctr">
                    <a:noFill/>
                  </a:tcPr>
                </a:tc>
                <a:tc>
                  <a:txBody>
                    <a:bodyPr/>
                    <a:lstStyle/>
                    <a:p>
                      <a:pPr>
                        <a:buNone/>
                      </a:pPr>
                      <a:r>
                        <a:rPr lang="en-IN" sz="2600" b="1">
                          <a:latin typeface="Times New Roman"/>
                          <a:cs typeface="Times New Roman"/>
                        </a:rPr>
                        <a:t>Strength</a:t>
                      </a:r>
                    </a:p>
                  </a:txBody>
                  <a:tcPr marT="18288" marB="18288" anchor="ctr">
                    <a:noFill/>
                  </a:tcPr>
                </a:tc>
                <a:tc>
                  <a:txBody>
                    <a:bodyPr/>
                    <a:lstStyle/>
                    <a:p>
                      <a:pPr>
                        <a:buNone/>
                      </a:pPr>
                      <a:r>
                        <a:rPr lang="en-IN" sz="2600" b="1">
                          <a:latin typeface="Times New Roman"/>
                          <a:cs typeface="Times New Roman"/>
                        </a:rPr>
                        <a:t>Limitation</a:t>
                      </a:r>
                    </a:p>
                  </a:txBody>
                  <a:tcPr marT="18288" marB="18288" anchor="ctr">
                    <a:noFill/>
                  </a:tcPr>
                </a:tc>
                <a:extLst>
                  <a:ext uri="{0D108BD9-81ED-4DB2-BD59-A6C34878D82A}">
                    <a16:rowId xmlns:a16="http://schemas.microsoft.com/office/drawing/2014/main" val="3889942207"/>
                  </a:ext>
                </a:extLst>
              </a:tr>
              <a:tr h="773765">
                <a:tc>
                  <a:txBody>
                    <a:bodyPr/>
                    <a:lstStyle/>
                    <a:p>
                      <a:pPr>
                        <a:buNone/>
                      </a:pPr>
                      <a:r>
                        <a:rPr lang="en-IN" sz="2600" b="1" dirty="0">
                          <a:latin typeface="Times New Roman"/>
                          <a:cs typeface="Times New Roman"/>
                        </a:rPr>
                        <a:t>Traditional SOC / SIEM</a:t>
                      </a:r>
                    </a:p>
                  </a:txBody>
                  <a:tcPr marT="18288" marB="18288" anchor="ctr">
                    <a:noFill/>
                  </a:tcPr>
                </a:tc>
                <a:tc>
                  <a:txBody>
                    <a:bodyPr/>
                    <a:lstStyle/>
                    <a:p>
                      <a:pPr>
                        <a:buNone/>
                      </a:pPr>
                      <a:r>
                        <a:rPr lang="en-IN" sz="2600">
                          <a:latin typeface="Times New Roman"/>
                          <a:cs typeface="Times New Roman"/>
                        </a:rPr>
                        <a:t>Strong alert collection &amp; rule-based correlation</a:t>
                      </a:r>
                    </a:p>
                  </a:txBody>
                  <a:tcPr marT="18288" marB="18288" anchor="ctr">
                    <a:noFill/>
                  </a:tcPr>
                </a:tc>
                <a:tc>
                  <a:txBody>
                    <a:bodyPr/>
                    <a:lstStyle/>
                    <a:p>
                      <a:pPr>
                        <a:buNone/>
                      </a:pPr>
                      <a:r>
                        <a:rPr lang="en-IN" sz="2600">
                          <a:latin typeface="Times New Roman"/>
                          <a:cs typeface="Times New Roman"/>
                        </a:rPr>
                        <a:t>High alert volume, heavy analyst workload</a:t>
                      </a:r>
                    </a:p>
                  </a:txBody>
                  <a:tcPr marT="18288" marB="18288" anchor="ctr">
                    <a:noFill/>
                  </a:tcPr>
                </a:tc>
                <a:extLst>
                  <a:ext uri="{0D108BD9-81ED-4DB2-BD59-A6C34878D82A}">
                    <a16:rowId xmlns:a16="http://schemas.microsoft.com/office/drawing/2014/main" val="151359008"/>
                  </a:ext>
                </a:extLst>
              </a:tr>
              <a:tr h="773765">
                <a:tc>
                  <a:txBody>
                    <a:bodyPr/>
                    <a:lstStyle/>
                    <a:p>
                      <a:pPr>
                        <a:buNone/>
                      </a:pPr>
                      <a:r>
                        <a:rPr lang="en-IN" sz="2600" b="1" dirty="0">
                          <a:latin typeface="Times New Roman"/>
                          <a:cs typeface="Times New Roman"/>
                        </a:rPr>
                        <a:t>SOAR</a:t>
                      </a:r>
                    </a:p>
                  </a:txBody>
                  <a:tcPr marT="18288" marB="18288" anchor="ctr">
                    <a:noFill/>
                  </a:tcPr>
                </a:tc>
                <a:tc>
                  <a:txBody>
                    <a:bodyPr/>
                    <a:lstStyle/>
                    <a:p>
                      <a:pPr>
                        <a:buNone/>
                      </a:pPr>
                      <a:r>
                        <a:rPr lang="en-IN" sz="2600">
                          <a:latin typeface="Times New Roman"/>
                          <a:cs typeface="Times New Roman"/>
                        </a:rPr>
                        <a:t>Automates predefined playbooks</a:t>
                      </a:r>
                    </a:p>
                  </a:txBody>
                  <a:tcPr marT="18288" marB="18288" anchor="ctr">
                    <a:noFill/>
                  </a:tcPr>
                </a:tc>
                <a:tc>
                  <a:txBody>
                    <a:bodyPr/>
                    <a:lstStyle/>
                    <a:p>
                      <a:pPr>
                        <a:buNone/>
                      </a:pPr>
                      <a:r>
                        <a:rPr lang="en-IN" sz="2600">
                          <a:latin typeface="Times New Roman"/>
                          <a:cs typeface="Times New Roman"/>
                        </a:rPr>
                        <a:t>Fixed workflows, limited adaptability</a:t>
                      </a:r>
                    </a:p>
                  </a:txBody>
                  <a:tcPr marT="18288" marB="18288" anchor="ctr">
                    <a:noFill/>
                  </a:tcPr>
                </a:tc>
                <a:extLst>
                  <a:ext uri="{0D108BD9-81ED-4DB2-BD59-A6C34878D82A}">
                    <a16:rowId xmlns:a16="http://schemas.microsoft.com/office/drawing/2014/main" val="3261273049"/>
                  </a:ext>
                </a:extLst>
              </a:tr>
              <a:tr h="773765">
                <a:tc>
                  <a:txBody>
                    <a:bodyPr/>
                    <a:lstStyle/>
                    <a:p>
                      <a:pPr>
                        <a:buNone/>
                      </a:pPr>
                      <a:r>
                        <a:rPr lang="en-IN" sz="2600" b="1">
                          <a:latin typeface="Times New Roman"/>
                          <a:cs typeface="Times New Roman"/>
                        </a:rPr>
                        <a:t>LLM-based SOC assistants</a:t>
                      </a:r>
                    </a:p>
                  </a:txBody>
                  <a:tcPr marT="18288" marB="18288" anchor="ctr">
                    <a:noFill/>
                  </a:tcPr>
                </a:tc>
                <a:tc>
                  <a:txBody>
                    <a:bodyPr/>
                    <a:lstStyle/>
                    <a:p>
                      <a:pPr>
                        <a:buNone/>
                      </a:pPr>
                      <a:r>
                        <a:rPr lang="en-IN" sz="2600">
                          <a:latin typeface="Times New Roman"/>
                          <a:cs typeface="Times New Roman"/>
                        </a:rPr>
                        <a:t>Better summarization &amp; reasoning</a:t>
                      </a:r>
                    </a:p>
                  </a:txBody>
                  <a:tcPr marT="18288" marB="18288" anchor="ctr">
                    <a:noFill/>
                  </a:tcPr>
                </a:tc>
                <a:tc>
                  <a:txBody>
                    <a:bodyPr/>
                    <a:lstStyle/>
                    <a:p>
                      <a:pPr>
                        <a:buNone/>
                      </a:pPr>
                      <a:r>
                        <a:rPr lang="en-IN" sz="2600">
                          <a:latin typeface="Times New Roman"/>
                          <a:cs typeface="Times New Roman"/>
                        </a:rPr>
                        <a:t>Can hallucinate; lacks enterprise grounding</a:t>
                      </a:r>
                    </a:p>
                  </a:txBody>
                  <a:tcPr marT="18288" marB="18288" anchor="ctr">
                    <a:noFill/>
                  </a:tcPr>
                </a:tc>
                <a:extLst>
                  <a:ext uri="{0D108BD9-81ED-4DB2-BD59-A6C34878D82A}">
                    <a16:rowId xmlns:a16="http://schemas.microsoft.com/office/drawing/2014/main" val="4104788116"/>
                  </a:ext>
                </a:extLst>
              </a:tr>
              <a:tr h="773765">
                <a:tc>
                  <a:txBody>
                    <a:bodyPr/>
                    <a:lstStyle/>
                    <a:p>
                      <a:pPr>
                        <a:buNone/>
                      </a:pPr>
                      <a:r>
                        <a:rPr lang="en-IN" sz="2600" b="1">
                          <a:latin typeface="Times New Roman"/>
                          <a:cs typeface="Times New Roman"/>
                        </a:rPr>
                        <a:t>AgentSOC (base paper)</a:t>
                      </a:r>
                    </a:p>
                  </a:txBody>
                  <a:tcPr marT="18288" marB="18288" anchor="ctr">
                    <a:noFill/>
                  </a:tcPr>
                </a:tc>
                <a:tc>
                  <a:txBody>
                    <a:bodyPr/>
                    <a:lstStyle/>
                    <a:p>
                      <a:pPr>
                        <a:buNone/>
                      </a:pPr>
                      <a:r>
                        <a:rPr lang="en-IN" sz="2600" dirty="0">
                          <a:latin typeface="Times New Roman"/>
                          <a:cs typeface="Times New Roman"/>
                        </a:rPr>
                        <a:t>LLM hypotheses + graph validation + risk scoring loop</a:t>
                      </a:r>
                    </a:p>
                  </a:txBody>
                  <a:tcPr marT="18288" marB="18288" anchor="ctr">
                    <a:noFill/>
                  </a:tcPr>
                </a:tc>
                <a:tc>
                  <a:txBody>
                    <a:bodyPr/>
                    <a:lstStyle/>
                    <a:p>
                      <a:pPr>
                        <a:buNone/>
                      </a:pPr>
                      <a:r>
                        <a:rPr lang="en-IN" sz="2600" dirty="0">
                          <a:latin typeface="Times New Roman"/>
                          <a:cs typeface="Times New Roman"/>
                        </a:rPr>
                        <a:t>Limited adaptive routing &amp; post-response verification</a:t>
                      </a:r>
                    </a:p>
                  </a:txBody>
                  <a:tcPr marT="18288" marB="18288" anchor="ctr">
                    <a:noFill/>
                  </a:tcPr>
                </a:tc>
                <a:extLst>
                  <a:ext uri="{0D108BD9-81ED-4DB2-BD59-A6C34878D82A}">
                    <a16:rowId xmlns:a16="http://schemas.microsoft.com/office/drawing/2014/main" val="824107257"/>
                  </a:ext>
                </a:extLst>
              </a:tr>
            </a:tbl>
          </a:graphicData>
        </a:graphic>
      </p:graphicFrame>
      <p:sp>
        <p:nvSpPr>
          <p:cNvPr id="6" name="TextBox 5"/>
          <p:cNvSpPr txBox="1"/>
          <p:nvPr/>
        </p:nvSpPr>
        <p:spPr>
          <a:xfrm>
            <a:off x="5646000" y="6400840"/>
            <a:ext cx="900000" cy="300000"/>
          </a:xfrm>
          <a:prstGeom prst="rect">
            <a:avLst/>
          </a:prstGeom>
          <a:noFill/>
        </p:spPr>
        <p:txBody>
          <a:bodyPr wrap="none" lIns="0" tIns="0" rIns="0" bIns="0">
            <a:spAutoFit/>
          </a:bodyPr>
          <a:lstStyle/>
          <a:p>
            <a:pPr algn="ctr"/>
            <a:r>
              <a:rPr sz="1400">
                <a:latin typeface="Times New Roman"/>
                <a:cs typeface="Times New Roman"/>
              </a:rPr>
              <a:t>6</a:t>
            </a:r>
          </a:p>
        </p:txBody>
      </p:sp>
    </p:spTree>
    <p:extLst>
      <p:ext uri="{BB962C8B-B14F-4D97-AF65-F5344CB8AC3E}">
        <p14:creationId xmlns:p14="http://schemas.microsoft.com/office/powerpoint/2010/main" val="202507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D2D3CC80-E3AC-98A8-48C2-9FF47C046953}"/>
              </a:ext>
            </a:extLst>
          </p:cNvPr>
          <p:cNvSpPr>
            <a:spLocks noGrp="1"/>
          </p:cNvSpPr>
          <p:nvPr>
            <p:ph type="title"/>
          </p:nvPr>
        </p:nvSpPr>
        <p:spPr>
          <a:xfrm>
            <a:off x="436880" y="365126"/>
            <a:ext cx="10916920" cy="883572"/>
          </a:xfrm>
        </p:spPr>
        <p:txBody>
          <a:bodyPr/>
          <a:lstStyle/>
          <a:p>
            <a:r>
              <a:rPr lang="en-IN" sz="4400" dirty="0">
                <a:latin typeface="Times New Roman"/>
                <a:cs typeface="Times New Roman"/>
              </a:rPr>
              <a:t>     		      Proposed Architecture</a:t>
            </a:r>
          </a:p>
        </p:txBody>
      </p:sp>
      <p:sp>
        <p:nvSpPr>
          <p:cNvPr id="11" name="TextBox 10"/>
          <p:cNvSpPr txBox="1"/>
          <p:nvPr/>
        </p:nvSpPr>
        <p:spPr>
          <a:xfrm>
            <a:off x="6051116" y="6400840"/>
            <a:ext cx="89768" cy="215444"/>
          </a:xfrm>
          <a:prstGeom prst="rect">
            <a:avLst/>
          </a:prstGeom>
          <a:noFill/>
        </p:spPr>
        <p:txBody>
          <a:bodyPr wrap="none" lIns="0" tIns="0" rIns="0" bIns="0">
            <a:spAutoFit/>
          </a:bodyPr>
          <a:lstStyle/>
          <a:p>
            <a:pPr algn="ctr"/>
            <a:r>
              <a:rPr lang="en-US" sz="1400" dirty="0">
                <a:latin typeface="Times New Roman"/>
                <a:cs typeface="Times New Roman"/>
              </a:rPr>
              <a:t>7</a:t>
            </a:r>
            <a:endParaRPr sz="1400" dirty="0">
              <a:latin typeface="Times New Roman"/>
              <a:cs typeface="Times New Roman"/>
            </a:endParaRPr>
          </a:p>
        </p:txBody>
      </p:sp>
      <p:sp>
        <p:nvSpPr>
          <p:cNvPr id="17" name="Rectangle 16">
            <a:extLst>
              <a:ext uri="{FF2B5EF4-FFF2-40B4-BE49-F238E27FC236}">
                <a16:creationId xmlns:a16="http://schemas.microsoft.com/office/drawing/2014/main" id="{3E93D7E4-7AC8-AAC6-A773-2627B2AF8AF6}"/>
              </a:ext>
            </a:extLst>
          </p:cNvPr>
          <p:cNvSpPr/>
          <p:nvPr/>
        </p:nvSpPr>
        <p:spPr>
          <a:xfrm>
            <a:off x="10276676" y="6017729"/>
            <a:ext cx="1303985" cy="43200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4" name="Picture 3">
            <a:extLst>
              <a:ext uri="{FF2B5EF4-FFF2-40B4-BE49-F238E27FC236}">
                <a16:creationId xmlns:a16="http://schemas.microsoft.com/office/drawing/2014/main" id="{808059FD-69C3-8DA9-F72D-33248763C63C}"/>
              </a:ext>
            </a:extLst>
          </p:cNvPr>
          <p:cNvPicPr>
            <a:picLocks noChangeAspect="1"/>
          </p:cNvPicPr>
          <p:nvPr/>
        </p:nvPicPr>
        <p:blipFill>
          <a:blip r:embed="rId2"/>
          <a:srcRect l="6875" t="10551" r="6875" b="4594"/>
          <a:stretch>
            <a:fillRect/>
          </a:stretch>
        </p:blipFill>
        <p:spPr>
          <a:xfrm>
            <a:off x="1386348" y="1476664"/>
            <a:ext cx="9967452" cy="4835646"/>
          </a:xfrm>
          <a:prstGeom prst="rect">
            <a:avLst/>
          </a:prstGeom>
        </p:spPr>
      </p:pic>
    </p:spTree>
    <p:extLst>
      <p:ext uri="{BB962C8B-B14F-4D97-AF65-F5344CB8AC3E}">
        <p14:creationId xmlns:p14="http://schemas.microsoft.com/office/powerpoint/2010/main" val="582637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F749-4EE4-1DA1-813F-70150D68D5E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3B1C3A6-5B03-FCD0-E395-AD7E376E214C}"/>
              </a:ext>
            </a:extLst>
          </p:cNvPr>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2BC8F389-86A9-B49B-0AD9-632A57BF8C69}"/>
              </a:ext>
            </a:extLst>
          </p:cNvPr>
          <p:cNvSpPr>
            <a:spLocks noGrp="1"/>
          </p:cNvSpPr>
          <p:nvPr>
            <p:ph type="title"/>
          </p:nvPr>
        </p:nvSpPr>
        <p:spPr>
          <a:xfrm>
            <a:off x="436880" y="365126"/>
            <a:ext cx="10916920" cy="883572"/>
          </a:xfrm>
        </p:spPr>
        <p:txBody>
          <a:bodyPr/>
          <a:lstStyle/>
          <a:p>
            <a:r>
              <a:rPr lang="en-IN" sz="4400" dirty="0">
                <a:latin typeface="Times New Roman"/>
                <a:cs typeface="Times New Roman"/>
              </a:rPr>
              <a:t>     		      Proposed Architecture</a:t>
            </a:r>
          </a:p>
        </p:txBody>
      </p:sp>
      <p:sp>
        <p:nvSpPr>
          <p:cNvPr id="11" name="TextBox 10">
            <a:extLst>
              <a:ext uri="{FF2B5EF4-FFF2-40B4-BE49-F238E27FC236}">
                <a16:creationId xmlns:a16="http://schemas.microsoft.com/office/drawing/2014/main" id="{36A3F24D-1892-EE31-91E3-BC59597B2179}"/>
              </a:ext>
            </a:extLst>
          </p:cNvPr>
          <p:cNvSpPr txBox="1"/>
          <p:nvPr/>
        </p:nvSpPr>
        <p:spPr>
          <a:xfrm>
            <a:off x="6051116" y="6400840"/>
            <a:ext cx="89768" cy="215444"/>
          </a:xfrm>
          <a:prstGeom prst="rect">
            <a:avLst/>
          </a:prstGeom>
          <a:noFill/>
        </p:spPr>
        <p:txBody>
          <a:bodyPr wrap="none" lIns="0" tIns="0" rIns="0" bIns="0">
            <a:spAutoFit/>
          </a:bodyPr>
          <a:lstStyle/>
          <a:p>
            <a:pPr algn="ctr"/>
            <a:r>
              <a:rPr lang="en-US" sz="1400" dirty="0">
                <a:latin typeface="Times New Roman"/>
                <a:cs typeface="Times New Roman"/>
              </a:rPr>
              <a:t>8</a:t>
            </a:r>
            <a:endParaRPr sz="1400" dirty="0">
              <a:latin typeface="Times New Roman"/>
              <a:cs typeface="Times New Roman"/>
            </a:endParaRPr>
          </a:p>
        </p:txBody>
      </p:sp>
      <p:sp>
        <p:nvSpPr>
          <p:cNvPr id="17" name="Rectangle 16">
            <a:extLst>
              <a:ext uri="{FF2B5EF4-FFF2-40B4-BE49-F238E27FC236}">
                <a16:creationId xmlns:a16="http://schemas.microsoft.com/office/drawing/2014/main" id="{60F13740-7806-74DC-DB72-D7DBCB9780D2}"/>
              </a:ext>
            </a:extLst>
          </p:cNvPr>
          <p:cNvSpPr/>
          <p:nvPr/>
        </p:nvSpPr>
        <p:spPr>
          <a:xfrm>
            <a:off x="10276676" y="6017729"/>
            <a:ext cx="1303985" cy="432006"/>
          </a:xfrm>
          <a:prstGeom prst="rect">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5" name="Picture 4">
            <a:extLst>
              <a:ext uri="{FF2B5EF4-FFF2-40B4-BE49-F238E27FC236}">
                <a16:creationId xmlns:a16="http://schemas.microsoft.com/office/drawing/2014/main" id="{585C75AE-46CB-ACAB-BBF5-07DB62AF549B}"/>
              </a:ext>
            </a:extLst>
          </p:cNvPr>
          <p:cNvPicPr>
            <a:picLocks noChangeAspect="1"/>
          </p:cNvPicPr>
          <p:nvPr/>
        </p:nvPicPr>
        <p:blipFill>
          <a:blip r:embed="rId2"/>
          <a:srcRect l="1486" t="12043" r="764" b="3524"/>
          <a:stretch>
            <a:fillRect/>
          </a:stretch>
        </p:blipFill>
        <p:spPr>
          <a:xfrm>
            <a:off x="436880" y="1248698"/>
            <a:ext cx="11143781" cy="5367586"/>
          </a:xfrm>
          <a:prstGeom prst="rect">
            <a:avLst/>
          </a:prstGeom>
        </p:spPr>
      </p:pic>
      <p:sp>
        <p:nvSpPr>
          <p:cNvPr id="6" name="TextBox 5">
            <a:extLst>
              <a:ext uri="{FF2B5EF4-FFF2-40B4-BE49-F238E27FC236}">
                <a16:creationId xmlns:a16="http://schemas.microsoft.com/office/drawing/2014/main" id="{5FC2BA17-5AA0-9374-7D47-8A969876F172}"/>
              </a:ext>
            </a:extLst>
          </p:cNvPr>
          <p:cNvSpPr txBox="1"/>
          <p:nvPr/>
        </p:nvSpPr>
        <p:spPr>
          <a:xfrm>
            <a:off x="5895340" y="6301732"/>
            <a:ext cx="727587" cy="369332"/>
          </a:xfrm>
          <a:prstGeom prst="rect">
            <a:avLst/>
          </a:prstGeom>
          <a:noFill/>
        </p:spPr>
        <p:txBody>
          <a:bodyPr wrap="square" rtlCol="0">
            <a:spAutoFit/>
          </a:bodyPr>
          <a:lstStyle/>
          <a:p>
            <a:r>
              <a:rPr lang="en-US" dirty="0"/>
              <a:t>8</a:t>
            </a:r>
            <a:endParaRPr lang="en-IN" dirty="0"/>
          </a:p>
        </p:txBody>
      </p:sp>
    </p:spTree>
    <p:extLst>
      <p:ext uri="{BB962C8B-B14F-4D97-AF65-F5344CB8AC3E}">
        <p14:creationId xmlns:p14="http://schemas.microsoft.com/office/powerpoint/2010/main" val="420088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86C055DA-392F-C280-33A7-8093A4890C08}"/>
              </a:ext>
            </a:extLst>
          </p:cNvPr>
          <p:cNvSpPr>
            <a:spLocks noGrp="1"/>
          </p:cNvSpPr>
          <p:nvPr>
            <p:ph type="title"/>
          </p:nvPr>
        </p:nvSpPr>
        <p:spPr>
          <a:xfrm>
            <a:off x="1603887" y="70487"/>
            <a:ext cx="8571271" cy="1325563"/>
          </a:xfrm>
        </p:spPr>
        <p:txBody>
          <a:bodyPr/>
          <a:lstStyle/>
          <a:p>
            <a:r>
              <a:rPr lang="en-IN" dirty="0">
                <a:latin typeface="Times New Roman"/>
                <a:cs typeface="Times New Roman"/>
              </a:rPr>
              <a:t> 		        Datasets</a:t>
            </a:r>
            <a:endParaRPr lang="en-IN" dirty="0"/>
          </a:p>
        </p:txBody>
      </p:sp>
      <p:pic>
        <p:nvPicPr>
          <p:cNvPr id="28" name="Picture 27">
            <a:extLst>
              <a:ext uri="{FF2B5EF4-FFF2-40B4-BE49-F238E27FC236}">
                <a16:creationId xmlns:a16="http://schemas.microsoft.com/office/drawing/2014/main" id="{00E6F5BD-B607-FAEF-C6BF-F22C2A611532}"/>
              </a:ext>
            </a:extLst>
          </p:cNvPr>
          <p:cNvPicPr>
            <a:picLocks noChangeAspect="1"/>
          </p:cNvPicPr>
          <p:nvPr/>
        </p:nvPicPr>
        <p:blipFill>
          <a:blip r:embed="rId2"/>
          <a:srcRect l="3226" t="11183" r="2984" b="6810"/>
          <a:stretch>
            <a:fillRect/>
          </a:stretch>
        </p:blipFill>
        <p:spPr>
          <a:xfrm>
            <a:off x="353961" y="1317392"/>
            <a:ext cx="11434916" cy="4955458"/>
          </a:xfrm>
          <a:prstGeom prst="rect">
            <a:avLst/>
          </a:prstGeom>
        </p:spPr>
      </p:pic>
      <p:sp>
        <p:nvSpPr>
          <p:cNvPr id="2" name="Rectangle 1">
            <a:extLst>
              <a:ext uri="{FF2B5EF4-FFF2-40B4-BE49-F238E27FC236}">
                <a16:creationId xmlns:a16="http://schemas.microsoft.com/office/drawing/2014/main" id="{770AEAAF-D228-9B7D-E273-F7393B124C94}"/>
              </a:ext>
            </a:extLst>
          </p:cNvPr>
          <p:cNvSpPr/>
          <p:nvPr/>
        </p:nvSpPr>
        <p:spPr>
          <a:xfrm>
            <a:off x="5889523" y="6567948"/>
            <a:ext cx="363793" cy="2900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4E037219-8C68-11C1-AB59-A78365FF1790}"/>
              </a:ext>
            </a:extLst>
          </p:cNvPr>
          <p:cNvSpPr txBox="1"/>
          <p:nvPr/>
        </p:nvSpPr>
        <p:spPr>
          <a:xfrm>
            <a:off x="5889522" y="6289810"/>
            <a:ext cx="275303" cy="369332"/>
          </a:xfrm>
          <a:prstGeom prst="rect">
            <a:avLst/>
          </a:prstGeom>
          <a:noFill/>
        </p:spPr>
        <p:txBody>
          <a:bodyPr wrap="square" rtlCol="0">
            <a:spAutoFit/>
          </a:bodyPr>
          <a:lstStyle/>
          <a:p>
            <a:r>
              <a:rPr lang="en-US" dirty="0"/>
              <a:t>9</a:t>
            </a:r>
            <a:endParaRPr lang="en-IN" dirty="0"/>
          </a:p>
        </p:txBody>
      </p:sp>
      <p:sp>
        <p:nvSpPr>
          <p:cNvPr id="5" name="Rectangle 4">
            <a:extLst>
              <a:ext uri="{FF2B5EF4-FFF2-40B4-BE49-F238E27FC236}">
                <a16:creationId xmlns:a16="http://schemas.microsoft.com/office/drawing/2014/main" id="{EB01DBB2-268E-04F3-342C-187ECD665E90}"/>
              </a:ext>
            </a:extLst>
          </p:cNvPr>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4009888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0F241BA4-9289-755E-879A-7A58E4E6045F}"/>
              </a:ext>
            </a:extLst>
          </p:cNvPr>
          <p:cNvSpPr>
            <a:spLocks noGrp="1"/>
          </p:cNvSpPr>
          <p:nvPr>
            <p:ph type="title"/>
          </p:nvPr>
        </p:nvSpPr>
        <p:spPr>
          <a:xfrm>
            <a:off x="670560" y="297160"/>
            <a:ext cx="10591800" cy="883962"/>
          </a:xfrm>
        </p:spPr>
        <p:txBody>
          <a:bodyPr/>
          <a:lstStyle/>
          <a:p>
            <a:r>
              <a:rPr lang="en-US" sz="4400" dirty="0">
                <a:latin typeface="Times New Roman"/>
                <a:cs typeface="Times New Roman"/>
              </a:rPr>
              <a:t>  			Technology Stack</a:t>
            </a:r>
            <a:endParaRPr lang="en-IN" dirty="0"/>
          </a:p>
        </p:txBody>
      </p:sp>
      <p:sp>
        <p:nvSpPr>
          <p:cNvPr id="7" name="TextBox 6"/>
          <p:cNvSpPr txBox="1"/>
          <p:nvPr/>
        </p:nvSpPr>
        <p:spPr>
          <a:xfrm>
            <a:off x="5646000" y="6400840"/>
            <a:ext cx="900000" cy="300000"/>
          </a:xfrm>
          <a:prstGeom prst="rect">
            <a:avLst/>
          </a:prstGeom>
          <a:noFill/>
        </p:spPr>
        <p:txBody>
          <a:bodyPr wrap="none" lIns="0" tIns="0" rIns="0" bIns="0">
            <a:spAutoFit/>
          </a:bodyPr>
          <a:lstStyle/>
          <a:p>
            <a:pPr algn="ctr"/>
            <a:r>
              <a:rPr sz="1400">
                <a:latin typeface="Times New Roman"/>
                <a:cs typeface="Times New Roman"/>
              </a:rPr>
              <a:t>10</a:t>
            </a:r>
          </a:p>
        </p:txBody>
      </p:sp>
      <p:sp>
        <p:nvSpPr>
          <p:cNvPr id="4" name="Content Placeholder 3">
            <a:extLst>
              <a:ext uri="{FF2B5EF4-FFF2-40B4-BE49-F238E27FC236}">
                <a16:creationId xmlns:a16="http://schemas.microsoft.com/office/drawing/2014/main" id="{44AD8292-AA8F-6116-CF1E-50D250B01B05}"/>
              </a:ext>
            </a:extLst>
          </p:cNvPr>
          <p:cNvSpPr>
            <a:spLocks noGrp="1"/>
          </p:cNvSpPr>
          <p:nvPr>
            <p:ph idx="1"/>
          </p:nvPr>
        </p:nvSpPr>
        <p:spPr>
          <a:xfrm>
            <a:off x="445770" y="1261121"/>
            <a:ext cx="11330940" cy="5059719"/>
          </a:xfrm>
        </p:spPr>
        <p:txBody>
          <a:bodyPr>
            <a:noAutofit/>
          </a:bodyPr>
          <a:lstStyle/>
          <a:p>
            <a:pPr lvl="0" algn="just"/>
            <a:r>
              <a:rPr lang="en-IN" sz="2600" b="1" dirty="0">
                <a:latin typeface="Times New Roman" panose="02020603050405020304" pitchFamily="18" charset="0"/>
                <a:cs typeface="Times New Roman" panose="02020603050405020304" pitchFamily="18" charset="0"/>
              </a:rPr>
              <a:t>Backend (Python, </a:t>
            </a:r>
            <a:r>
              <a:rPr lang="en-IN" sz="2600" b="1" dirty="0" err="1">
                <a:latin typeface="Times New Roman" panose="02020603050405020304" pitchFamily="18" charset="0"/>
                <a:cs typeface="Times New Roman" panose="02020603050405020304" pitchFamily="18" charset="0"/>
              </a:rPr>
              <a:t>FastAPI</a:t>
            </a:r>
            <a:r>
              <a:rPr lang="en-IN" sz="2600" b="1" dirty="0">
                <a:latin typeface="Times New Roman" panose="02020603050405020304" pitchFamily="18" charset="0"/>
                <a:cs typeface="Times New Roman" panose="02020603050405020304" pitchFamily="18" charset="0"/>
              </a:rPr>
              <a:t>):</a:t>
            </a:r>
            <a:r>
              <a:rPr lang="en-IN" sz="2600" dirty="0">
                <a:latin typeface="Times New Roman" panose="02020603050405020304" pitchFamily="18" charset="0"/>
                <a:cs typeface="Times New Roman" panose="02020603050405020304" pitchFamily="18" charset="0"/>
              </a:rPr>
              <a:t> API layer handling requests, routing them to the agent orchestration engine</a:t>
            </a:r>
          </a:p>
          <a:p>
            <a:pPr lvl="0" algn="just"/>
            <a:r>
              <a:rPr lang="en-IN" sz="2600" b="1" dirty="0">
                <a:latin typeface="Times New Roman" panose="02020603050405020304" pitchFamily="18" charset="0"/>
                <a:cs typeface="Times New Roman" panose="02020603050405020304" pitchFamily="18" charset="0"/>
              </a:rPr>
              <a:t>Agent Orchestration (</a:t>
            </a:r>
            <a:r>
              <a:rPr lang="en-IN" sz="2600" b="1" dirty="0" err="1">
                <a:latin typeface="Times New Roman" panose="02020603050405020304" pitchFamily="18" charset="0"/>
                <a:cs typeface="Times New Roman" panose="02020603050405020304" pitchFamily="18" charset="0"/>
              </a:rPr>
              <a:t>LangGraph</a:t>
            </a:r>
            <a:r>
              <a:rPr lang="en-IN" sz="2600" b="1" dirty="0">
                <a:latin typeface="Times New Roman" panose="02020603050405020304" pitchFamily="18" charset="0"/>
                <a:cs typeface="Times New Roman" panose="02020603050405020304" pitchFamily="18" charset="0"/>
              </a:rPr>
              <a:t>, </a:t>
            </a:r>
            <a:r>
              <a:rPr lang="en-IN" sz="2600" b="1" dirty="0" err="1">
                <a:latin typeface="Times New Roman" panose="02020603050405020304" pitchFamily="18" charset="0"/>
                <a:cs typeface="Times New Roman" panose="02020603050405020304" pitchFamily="18" charset="0"/>
              </a:rPr>
              <a:t>LangChain</a:t>
            </a:r>
            <a:r>
              <a:rPr lang="en-IN" sz="2600" b="1" dirty="0">
                <a:latin typeface="Times New Roman" panose="02020603050405020304" pitchFamily="18" charset="0"/>
                <a:cs typeface="Times New Roman" panose="02020603050405020304" pitchFamily="18" charset="0"/>
              </a:rPr>
              <a:t>):</a:t>
            </a:r>
            <a:r>
              <a:rPr lang="en-IN" sz="2600" dirty="0">
                <a:latin typeface="Times New Roman" panose="02020603050405020304" pitchFamily="18" charset="0"/>
                <a:cs typeface="Times New Roman" panose="02020603050405020304" pitchFamily="18" charset="0"/>
              </a:rPr>
              <a:t> Manages the workflow; routes tasks to specialized agents</a:t>
            </a:r>
          </a:p>
          <a:p>
            <a:pPr lvl="0" algn="just"/>
            <a:r>
              <a:rPr lang="en-IN" sz="2600" b="1" dirty="0">
                <a:latin typeface="Times New Roman" panose="02020603050405020304" pitchFamily="18" charset="0"/>
                <a:cs typeface="Times New Roman" panose="02020603050405020304" pitchFamily="18" charset="0"/>
              </a:rPr>
              <a:t>LLM (GPT-4 API):</a:t>
            </a:r>
            <a:r>
              <a:rPr lang="en-IN" sz="2600" dirty="0">
                <a:latin typeface="Times New Roman" panose="02020603050405020304" pitchFamily="18" charset="0"/>
                <a:cs typeface="Times New Roman" panose="02020603050405020304" pitchFamily="18" charset="0"/>
              </a:rPr>
              <a:t> Core reasoning — summarizes alerts, generates hypotheses, drafts responses</a:t>
            </a:r>
          </a:p>
          <a:p>
            <a:pPr lvl="0" algn="just"/>
            <a:r>
              <a:rPr lang="en-IN" sz="2600" b="1" dirty="0">
                <a:latin typeface="Times New Roman" panose="02020603050405020304" pitchFamily="18" charset="0"/>
                <a:cs typeface="Times New Roman" panose="02020603050405020304" pitchFamily="18" charset="0"/>
              </a:rPr>
              <a:t>RAG (Vector DB):</a:t>
            </a:r>
            <a:r>
              <a:rPr lang="en-IN" sz="2600" dirty="0">
                <a:latin typeface="Times New Roman" panose="02020603050405020304" pitchFamily="18" charset="0"/>
                <a:cs typeface="Times New Roman" panose="02020603050405020304" pitchFamily="18" charset="0"/>
              </a:rPr>
              <a:t> Grounds LLM reasoning in real threat intel/docs, reducing hallucination</a:t>
            </a:r>
          </a:p>
          <a:p>
            <a:pPr lvl="0" algn="just"/>
            <a:r>
              <a:rPr lang="en-IN" sz="2600" b="1" dirty="0">
                <a:latin typeface="Times New Roman" panose="02020603050405020304" pitchFamily="18" charset="0"/>
                <a:cs typeface="Times New Roman" panose="02020603050405020304" pitchFamily="18" charset="0"/>
              </a:rPr>
              <a:t>Graph (Neo4j):</a:t>
            </a:r>
            <a:r>
              <a:rPr lang="en-IN" sz="2600" dirty="0">
                <a:latin typeface="Times New Roman" panose="02020603050405020304" pitchFamily="18" charset="0"/>
                <a:cs typeface="Times New Roman" panose="02020603050405020304" pitchFamily="18" charset="0"/>
              </a:rPr>
              <a:t> Enterprise Knowledge Graph validates attack paths across hosts, users, assets</a:t>
            </a:r>
          </a:p>
          <a:p>
            <a:pPr lvl="0" algn="just"/>
            <a:r>
              <a:rPr lang="en-IN" sz="2600" b="1" dirty="0">
                <a:latin typeface="Times New Roman" panose="02020603050405020304" pitchFamily="18" charset="0"/>
                <a:cs typeface="Times New Roman" panose="02020603050405020304" pitchFamily="18" charset="0"/>
              </a:rPr>
              <a:t>Database (PostgreSQL):</a:t>
            </a:r>
            <a:r>
              <a:rPr lang="en-IN" sz="2600" dirty="0">
                <a:latin typeface="Times New Roman" panose="02020603050405020304" pitchFamily="18" charset="0"/>
                <a:cs typeface="Times New Roman" panose="02020603050405020304" pitchFamily="18" charset="0"/>
              </a:rPr>
              <a:t> Stores assembled context, agent outputs, and case history</a:t>
            </a:r>
          </a:p>
          <a:p>
            <a:pPr algn="just"/>
            <a:endParaRPr lang="en-IN" sz="26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D1D890C5-7E20-8ECE-2E59-A8B71F76F155}"/>
              </a:ext>
            </a:extLst>
          </p:cNvPr>
          <p:cNvSpPr/>
          <p:nvPr/>
        </p:nvSpPr>
        <p:spPr>
          <a:xfrm>
            <a:off x="5852160" y="6240841"/>
            <a:ext cx="487680" cy="40000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10</a:t>
            </a:r>
            <a:endParaRPr lang="en-IN" dirty="0"/>
          </a:p>
        </p:txBody>
      </p:sp>
    </p:spTree>
    <p:extLst>
      <p:ext uri="{BB962C8B-B14F-4D97-AF65-F5344CB8AC3E}">
        <p14:creationId xmlns:p14="http://schemas.microsoft.com/office/powerpoint/2010/main" val="1389328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7160" y="12192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241AC173-A65B-EAFC-994F-EDEF52F74B09}"/>
              </a:ext>
            </a:extLst>
          </p:cNvPr>
          <p:cNvSpPr>
            <a:spLocks noGrp="1"/>
          </p:cNvSpPr>
          <p:nvPr>
            <p:ph type="title"/>
          </p:nvPr>
        </p:nvSpPr>
        <p:spPr>
          <a:xfrm>
            <a:off x="838200" y="349885"/>
            <a:ext cx="10515600" cy="1047115"/>
          </a:xfrm>
        </p:spPr>
        <p:txBody>
          <a:bodyPr/>
          <a:lstStyle/>
          <a:p>
            <a:pPr algn="just"/>
            <a:endParaRPr lang="en-IN" dirty="0"/>
          </a:p>
        </p:txBody>
      </p:sp>
      <p:sp>
        <p:nvSpPr>
          <p:cNvPr id="6" name="TextBox 5"/>
          <p:cNvSpPr txBox="1"/>
          <p:nvPr/>
        </p:nvSpPr>
        <p:spPr>
          <a:xfrm>
            <a:off x="5646000" y="6385600"/>
            <a:ext cx="900000" cy="300000"/>
          </a:xfrm>
          <a:prstGeom prst="rect">
            <a:avLst/>
          </a:prstGeom>
          <a:noFill/>
        </p:spPr>
        <p:txBody>
          <a:bodyPr wrap="none" lIns="0" tIns="0" rIns="0" bIns="0">
            <a:spAutoFit/>
          </a:bodyPr>
          <a:lstStyle/>
          <a:p>
            <a:pPr algn="ctr"/>
            <a:r>
              <a:rPr sz="1400">
                <a:latin typeface="Times New Roman"/>
                <a:cs typeface="Times New Roman"/>
              </a:rPr>
              <a:t>11</a:t>
            </a:r>
          </a:p>
        </p:txBody>
      </p:sp>
      <p:graphicFrame>
        <p:nvGraphicFramePr>
          <p:cNvPr id="30" name="Content Placeholder 29">
            <a:extLst>
              <a:ext uri="{FF2B5EF4-FFF2-40B4-BE49-F238E27FC236}">
                <a16:creationId xmlns:a16="http://schemas.microsoft.com/office/drawing/2014/main" id="{156BA57D-3D06-E21F-DCB8-38351D04CE51}"/>
              </a:ext>
            </a:extLst>
          </p:cNvPr>
          <p:cNvGraphicFramePr>
            <a:graphicFrameLocks noGrp="1"/>
          </p:cNvGraphicFramePr>
          <p:nvPr>
            <p:ph idx="1"/>
            <p:extLst>
              <p:ext uri="{D42A27DB-BD31-4B8C-83A1-F6EECF244321}">
                <p14:modId xmlns:p14="http://schemas.microsoft.com/office/powerpoint/2010/main" val="2783593267"/>
              </p:ext>
            </p:extLst>
          </p:nvPr>
        </p:nvGraphicFramePr>
        <p:xfrm>
          <a:off x="975360" y="1628320"/>
          <a:ext cx="10515600" cy="2438400"/>
        </p:xfrm>
        <a:graphic>
          <a:graphicData uri="http://schemas.openxmlformats.org/drawingml/2006/table">
            <a:tbl>
              <a:tblPr/>
              <a:tblGrid>
                <a:gridCol w="5257800">
                  <a:extLst>
                    <a:ext uri="{9D8B030D-6E8A-4147-A177-3AD203B41FA5}">
                      <a16:colId xmlns:a16="http://schemas.microsoft.com/office/drawing/2014/main" val="2030715465"/>
                    </a:ext>
                  </a:extLst>
                </a:gridCol>
                <a:gridCol w="5257800">
                  <a:extLst>
                    <a:ext uri="{9D8B030D-6E8A-4147-A177-3AD203B41FA5}">
                      <a16:colId xmlns:a16="http://schemas.microsoft.com/office/drawing/2014/main" val="1342255306"/>
                    </a:ext>
                  </a:extLst>
                </a:gridCol>
              </a:tblGrid>
              <a:tr h="0">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just">
                        <a:buNone/>
                      </a:pP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755311752"/>
                  </a:ext>
                </a:extLst>
              </a:tr>
              <a:tr h="0">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just">
                        <a:buNone/>
                      </a:pP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881831715"/>
                  </a:ext>
                </a:extLst>
              </a:tr>
              <a:tr h="0">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439303747"/>
                  </a:ext>
                </a:extLst>
              </a:tr>
              <a:tr h="0">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2574245972"/>
                  </a:ext>
                </a:extLst>
              </a:tr>
              <a:tr h="0">
                <a:tc>
                  <a:txBody>
                    <a:bodyPr/>
                    <a:lstStyle/>
                    <a:p>
                      <a:pPr algn="just">
                        <a:buNone/>
                      </a:pPr>
                      <a:endParaRPr lang="en-IN" sz="26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lgn="just">
                        <a:buNone/>
                      </a:pPr>
                      <a:endParaRPr lang="en-IN" sz="2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039501638"/>
                  </a:ext>
                </a:extLst>
              </a:tr>
            </a:tbl>
          </a:graphicData>
        </a:graphic>
      </p:graphicFrame>
      <p:pic>
        <p:nvPicPr>
          <p:cNvPr id="8" name="Picture 7">
            <a:extLst>
              <a:ext uri="{FF2B5EF4-FFF2-40B4-BE49-F238E27FC236}">
                <a16:creationId xmlns:a16="http://schemas.microsoft.com/office/drawing/2014/main" id="{DFD469BB-9EF7-FD84-F9CD-6DBE9A18EF65}"/>
              </a:ext>
            </a:extLst>
          </p:cNvPr>
          <p:cNvPicPr>
            <a:picLocks noChangeAspect="1"/>
          </p:cNvPicPr>
          <p:nvPr/>
        </p:nvPicPr>
        <p:blipFill>
          <a:blip r:embed="rId2"/>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9DBED25-71F7-B180-8AB4-76EAE870642E}"/>
              </a:ext>
            </a:extLst>
          </p:cNvPr>
          <p:cNvSpPr/>
          <p:nvPr/>
        </p:nvSpPr>
        <p:spPr>
          <a:xfrm>
            <a:off x="5700180" y="6233200"/>
            <a:ext cx="914400" cy="3740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DC7B01C7-1BC3-475C-4974-FBED1F43BD4E}"/>
              </a:ext>
            </a:extLst>
          </p:cNvPr>
          <p:cNvSpPr txBox="1"/>
          <p:nvPr/>
        </p:nvSpPr>
        <p:spPr>
          <a:xfrm>
            <a:off x="5860026" y="6292645"/>
            <a:ext cx="685974" cy="369332"/>
          </a:xfrm>
          <a:prstGeom prst="rect">
            <a:avLst/>
          </a:prstGeom>
          <a:noFill/>
        </p:spPr>
        <p:txBody>
          <a:bodyPr wrap="square" rtlCol="0">
            <a:spAutoFit/>
          </a:bodyPr>
          <a:lstStyle/>
          <a:p>
            <a:r>
              <a:rPr lang="en-US" dirty="0"/>
              <a:t>11</a:t>
            </a:r>
            <a:endParaRPr lang="en-IN" dirty="0"/>
          </a:p>
        </p:txBody>
      </p:sp>
    </p:spTree>
    <p:extLst>
      <p:ext uri="{BB962C8B-B14F-4D97-AF65-F5344CB8AC3E}">
        <p14:creationId xmlns:p14="http://schemas.microsoft.com/office/powerpoint/2010/main" val="30226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112DB112-4008-FB4D-1371-EB3009EA9571}"/>
              </a:ext>
            </a:extLst>
          </p:cNvPr>
          <p:cNvSpPr>
            <a:spLocks noGrp="1"/>
          </p:cNvSpPr>
          <p:nvPr>
            <p:ph type="title"/>
          </p:nvPr>
        </p:nvSpPr>
        <p:spPr/>
        <p:txBody>
          <a:bodyPr/>
          <a:lstStyle/>
          <a:p>
            <a:pPr algn="just"/>
            <a:r>
              <a:rPr lang="en-US" sz="4400" dirty="0">
                <a:latin typeface="Times New Roman"/>
                <a:cs typeface="Times New Roman"/>
              </a:rPr>
              <a:t>				Conclusion	</a:t>
            </a:r>
            <a:endParaRPr lang="en-IN" dirty="0"/>
          </a:p>
        </p:txBody>
      </p:sp>
      <p:sp>
        <p:nvSpPr>
          <p:cNvPr id="3" name="Content Placeholder 2">
            <a:extLst>
              <a:ext uri="{FF2B5EF4-FFF2-40B4-BE49-F238E27FC236}">
                <a16:creationId xmlns:a16="http://schemas.microsoft.com/office/drawing/2014/main" id="{24AC81A3-7A9E-A0AA-1BDB-3275E3344A5E}"/>
              </a:ext>
            </a:extLst>
          </p:cNvPr>
          <p:cNvSpPr>
            <a:spLocks noGrp="1"/>
          </p:cNvSpPr>
          <p:nvPr>
            <p:ph idx="1"/>
          </p:nvPr>
        </p:nvSpPr>
        <p:spPr/>
        <p:txBody>
          <a:bodyPr>
            <a:normAutofit/>
          </a:bodyPr>
          <a:lstStyle/>
          <a:p>
            <a:pPr marL="0" indent="0" algn="just">
              <a:buNone/>
            </a:pPr>
            <a:r>
              <a:rPr lang="en-IN" sz="2600" dirty="0">
                <a:latin typeface="Times New Roman"/>
                <a:cs typeface="Times New Roman"/>
              </a:rPr>
              <a:t>The proposed Adaptive Agentic SOC Framework improves automated security investigation by combining specialized agents, adaptive routing, RAG, an Enterprise Knowledge Graph, and closed-loop verification. The router adjusts investigation depth by severity, confidence, evidence, and asset criticality, while RAG and the Knowledge Graph ground reasoning and validate attack paths. The Verification Agent checks outcomes and triggers re-investigation when needed. Overall, the framework aims to make SOC automation more contextual, explainable, and adaptive.</a:t>
            </a:r>
          </a:p>
        </p:txBody>
      </p:sp>
      <p:sp>
        <p:nvSpPr>
          <p:cNvPr id="5" name="TextBox 4"/>
          <p:cNvSpPr txBox="1"/>
          <p:nvPr/>
        </p:nvSpPr>
        <p:spPr>
          <a:xfrm>
            <a:off x="6006231" y="6400840"/>
            <a:ext cx="179536" cy="430887"/>
          </a:xfrm>
          <a:prstGeom prst="rect">
            <a:avLst/>
          </a:prstGeom>
          <a:noFill/>
        </p:spPr>
        <p:txBody>
          <a:bodyPr wrap="none" lIns="0" tIns="0" rIns="0" bIns="0">
            <a:spAutoFit/>
          </a:bodyPr>
          <a:lstStyle/>
          <a:p>
            <a:pPr algn="ctr"/>
            <a:r>
              <a:rPr sz="1400" dirty="0">
                <a:latin typeface="Times New Roman"/>
                <a:cs typeface="Times New Roman"/>
              </a:rPr>
              <a:t>1</a:t>
            </a:r>
            <a:r>
              <a:rPr lang="en-US" sz="1400" dirty="0">
                <a:latin typeface="Times New Roman"/>
                <a:cs typeface="Times New Roman"/>
              </a:rPr>
              <a:t>2</a:t>
            </a:r>
          </a:p>
          <a:p>
            <a:pPr algn="ctr"/>
            <a:endParaRPr sz="1400" dirty="0">
              <a:latin typeface="Times New Roman"/>
              <a:cs typeface="Times New Roman"/>
            </a:endParaRPr>
          </a:p>
        </p:txBody>
      </p:sp>
    </p:spTree>
    <p:extLst>
      <p:ext uri="{BB962C8B-B14F-4D97-AF65-F5344CB8AC3E}">
        <p14:creationId xmlns:p14="http://schemas.microsoft.com/office/powerpoint/2010/main" val="610733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7D172848-053D-1596-31CE-D0C6A32E8083}"/>
              </a:ext>
            </a:extLst>
          </p:cNvPr>
          <p:cNvSpPr>
            <a:spLocks noGrp="1"/>
          </p:cNvSpPr>
          <p:nvPr>
            <p:ph type="title"/>
          </p:nvPr>
        </p:nvSpPr>
        <p:spPr>
          <a:xfrm>
            <a:off x="838200" y="365125"/>
            <a:ext cx="9870440" cy="986155"/>
          </a:xfrm>
        </p:spPr>
        <p:txBody>
          <a:bodyPr/>
          <a:lstStyle/>
          <a:p>
            <a:r>
              <a:rPr lang="en-IN" sz="4400" dirty="0">
                <a:latin typeface="Times New Roman"/>
                <a:cs typeface="Times New Roman"/>
              </a:rPr>
              <a:t>				References</a:t>
            </a:r>
          </a:p>
        </p:txBody>
      </p:sp>
      <p:sp>
        <p:nvSpPr>
          <p:cNvPr id="3" name="Content Placeholder 2">
            <a:extLst>
              <a:ext uri="{FF2B5EF4-FFF2-40B4-BE49-F238E27FC236}">
                <a16:creationId xmlns:a16="http://schemas.microsoft.com/office/drawing/2014/main" id="{93473786-B925-7A93-65BA-71DF4FC7D4C9}"/>
              </a:ext>
            </a:extLst>
          </p:cNvPr>
          <p:cNvSpPr>
            <a:spLocks noGrp="1"/>
          </p:cNvSpPr>
          <p:nvPr>
            <p:ph idx="1"/>
          </p:nvPr>
        </p:nvSpPr>
        <p:spPr>
          <a:xfrm>
            <a:off x="838200" y="1463040"/>
            <a:ext cx="10927080" cy="4713923"/>
          </a:xfrm>
        </p:spPr>
        <p:txBody>
          <a:bodyPr>
            <a:normAutofit fontScale="92500"/>
          </a:bodyPr>
          <a:lstStyle/>
          <a:p>
            <a:pPr marL="0" lvl="0" indent="0" algn="just">
              <a:buNone/>
            </a:pPr>
            <a:r>
              <a:rPr lang="en-IN" sz="2600" b="1" dirty="0">
                <a:latin typeface="Times New Roman"/>
                <a:cs typeface="Times New Roman"/>
              </a:rPr>
              <a:t>1.Roy, J., &amp; Singh, S. K.</a:t>
            </a:r>
            <a:r>
              <a:rPr lang="en-IN" sz="2600" dirty="0">
                <a:latin typeface="Times New Roman"/>
                <a:cs typeface="Times New Roman"/>
              </a:rPr>
              <a:t>, “</a:t>
            </a:r>
            <a:r>
              <a:rPr lang="en-IN" sz="2600" dirty="0" err="1">
                <a:latin typeface="Times New Roman"/>
                <a:cs typeface="Times New Roman"/>
              </a:rPr>
              <a:t>AgentSOC</a:t>
            </a:r>
            <a:r>
              <a:rPr lang="en-IN" sz="2600" dirty="0">
                <a:latin typeface="Times New Roman"/>
                <a:cs typeface="Times New Roman"/>
              </a:rPr>
              <a:t>: A Multi-Layer Agentic AI Framework for Security Operations Automation,” </a:t>
            </a:r>
            <a:r>
              <a:rPr lang="en-IN" sz="2600" i="1" dirty="0">
                <a:latin typeface="Times New Roman"/>
                <a:cs typeface="Times New Roman"/>
              </a:rPr>
              <a:t>2026 IEEE 5th International Conference on AI in Cybersecurity (ICAIC)</a:t>
            </a:r>
            <a:r>
              <a:rPr lang="en-IN" sz="2600" dirty="0">
                <a:latin typeface="Times New Roman"/>
                <a:cs typeface="Times New Roman"/>
              </a:rPr>
              <a:t>, 2026. </a:t>
            </a:r>
            <a:r>
              <a:rPr lang="en-IN" sz="2600" b="1" dirty="0">
                <a:latin typeface="Times New Roman"/>
                <a:cs typeface="Times New Roman"/>
              </a:rPr>
              <a:t>[Base Paper]</a:t>
            </a:r>
            <a:r>
              <a:rPr lang="en-IN" sz="2600" dirty="0">
                <a:latin typeface="Times New Roman"/>
                <a:cs typeface="Times New Roman"/>
              </a:rPr>
              <a:t> </a:t>
            </a:r>
          </a:p>
          <a:p>
            <a:pPr marL="0" lvl="0" indent="0" algn="just">
              <a:buNone/>
            </a:pPr>
            <a:r>
              <a:rPr lang="en-IN" sz="2600" b="1" dirty="0">
                <a:latin typeface="Times New Roman"/>
                <a:cs typeface="Times New Roman"/>
              </a:rPr>
              <a:t>2.Saju, M. H., &amp; Azim, A.</a:t>
            </a:r>
            <a:r>
              <a:rPr lang="en-IN" sz="2600" dirty="0">
                <a:latin typeface="Times New Roman"/>
                <a:cs typeface="Times New Roman"/>
              </a:rPr>
              <a:t>, “Toward Autonomous SOC Operations: End-to-End LLM Framework for Threat Detection, Query Generation, and Resolution in Security Operations,” </a:t>
            </a:r>
            <a:r>
              <a:rPr lang="en-IN" sz="2600" i="1" dirty="0">
                <a:latin typeface="Times New Roman"/>
                <a:cs typeface="Times New Roman"/>
              </a:rPr>
              <a:t>Proceedings of Machine Learning Research</a:t>
            </a:r>
            <a:r>
              <a:rPr lang="en-IN" sz="2600" dirty="0">
                <a:latin typeface="Times New Roman"/>
                <a:cs typeface="Times New Roman"/>
              </a:rPr>
              <a:t>, Vol. 318, pp. 422–433, 2026. </a:t>
            </a:r>
          </a:p>
          <a:p>
            <a:pPr marL="0" lvl="0" indent="0" algn="just">
              <a:buNone/>
            </a:pPr>
            <a:r>
              <a:rPr lang="en-IN" sz="2600" b="1" dirty="0">
                <a:latin typeface="Times New Roman"/>
                <a:cs typeface="Times New Roman"/>
              </a:rPr>
              <a:t>3.Sharafaldin, I., Lashkari, A. H., &amp; Ghorbani, A. A.</a:t>
            </a:r>
            <a:r>
              <a:rPr lang="en-IN" sz="2600" dirty="0">
                <a:latin typeface="Times New Roman"/>
                <a:cs typeface="Times New Roman"/>
              </a:rPr>
              <a:t>, “Toward Generating a New Intrusion Detection Dataset and Intrusion Traffic Characterization,” </a:t>
            </a:r>
            <a:r>
              <a:rPr lang="en-IN" sz="2600" i="1" dirty="0">
                <a:latin typeface="Times New Roman"/>
                <a:cs typeface="Times New Roman"/>
              </a:rPr>
              <a:t>International Conference on Information Systems Security and Privacy (ICISSP)</a:t>
            </a:r>
            <a:r>
              <a:rPr lang="en-IN" sz="2600" dirty="0">
                <a:latin typeface="Times New Roman"/>
                <a:cs typeface="Times New Roman"/>
              </a:rPr>
              <a:t>, 2018. </a:t>
            </a:r>
          </a:p>
          <a:p>
            <a:pPr marL="0" lvl="0" indent="0" algn="just">
              <a:buNone/>
            </a:pPr>
            <a:r>
              <a:rPr lang="en-IN" sz="2600" b="1" dirty="0">
                <a:latin typeface="Times New Roman"/>
                <a:cs typeface="Times New Roman"/>
              </a:rPr>
              <a:t>4.Moustafa, N., &amp; Slay, J.</a:t>
            </a:r>
            <a:r>
              <a:rPr lang="en-IN" sz="2600" dirty="0">
                <a:latin typeface="Times New Roman"/>
                <a:cs typeface="Times New Roman"/>
              </a:rPr>
              <a:t>, “UNSW-NB15: A Comprehensive Data Set for Network Intrusion Detection Systems,” </a:t>
            </a:r>
            <a:r>
              <a:rPr lang="en-IN" sz="2600" i="1" dirty="0">
                <a:latin typeface="Times New Roman"/>
                <a:cs typeface="Times New Roman"/>
              </a:rPr>
              <a:t>Military Communications and Information Systems Conference (</a:t>
            </a:r>
            <a:r>
              <a:rPr lang="en-IN" sz="2600" i="1" dirty="0" err="1">
                <a:latin typeface="Times New Roman"/>
                <a:cs typeface="Times New Roman"/>
              </a:rPr>
              <a:t>MilCIS</a:t>
            </a:r>
            <a:r>
              <a:rPr lang="en-IN" sz="2600" i="1" dirty="0">
                <a:latin typeface="Times New Roman"/>
                <a:cs typeface="Times New Roman"/>
              </a:rPr>
              <a:t>)</a:t>
            </a:r>
            <a:r>
              <a:rPr lang="en-IN" sz="2600" dirty="0">
                <a:latin typeface="Times New Roman"/>
                <a:cs typeface="Times New Roman"/>
              </a:rPr>
              <a:t>, 2015.</a:t>
            </a:r>
          </a:p>
          <a:p>
            <a:pPr algn="just"/>
            <a:endParaRPr lang="en-IN" dirty="0"/>
          </a:p>
        </p:txBody>
      </p:sp>
    </p:spTree>
    <p:extLst>
      <p:ext uri="{BB962C8B-B14F-4D97-AF65-F5344CB8AC3E}">
        <p14:creationId xmlns:p14="http://schemas.microsoft.com/office/powerpoint/2010/main" val="378010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1AB7B-1978-7D37-F3F8-8DFE2C34057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23FB09-41C7-8E68-E59F-78190C440217}"/>
              </a:ext>
            </a:extLst>
          </p:cNvPr>
          <p:cNvSpPr/>
          <p:nvPr/>
        </p:nvSpPr>
        <p:spPr>
          <a:xfrm>
            <a:off x="137160" y="137160"/>
            <a:ext cx="11917680" cy="6583680"/>
          </a:xfrm>
          <a:prstGeom prst="rect">
            <a:avLst/>
          </a:prstGeom>
          <a:noFill/>
          <a:ln w="2540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a:extLst>
              <a:ext uri="{FF2B5EF4-FFF2-40B4-BE49-F238E27FC236}">
                <a16:creationId xmlns:a16="http://schemas.microsoft.com/office/drawing/2014/main" id="{F1A8EBAC-7FC7-917C-D84C-DF5E893EBBF1}"/>
              </a:ext>
            </a:extLst>
          </p:cNvPr>
          <p:cNvSpPr>
            <a:spLocks noGrp="1"/>
          </p:cNvSpPr>
          <p:nvPr>
            <p:ph type="title"/>
          </p:nvPr>
        </p:nvSpPr>
        <p:spPr>
          <a:xfrm>
            <a:off x="4446639" y="3196816"/>
            <a:ext cx="3537155" cy="986155"/>
          </a:xfrm>
        </p:spPr>
        <p:txBody>
          <a:bodyPr/>
          <a:lstStyle/>
          <a:p>
            <a:r>
              <a:rPr lang="en-US" dirty="0">
                <a:latin typeface="Times New Roman"/>
                <a:cs typeface="Times New Roman"/>
              </a:rPr>
              <a:t>T</a:t>
            </a:r>
            <a:r>
              <a:rPr lang="en-IN" dirty="0">
                <a:latin typeface="Times New Roman"/>
                <a:cs typeface="Times New Roman"/>
              </a:rPr>
              <a:t>HANK YOU</a:t>
            </a:r>
            <a:endParaRPr lang="en-IN" sz="4400" dirty="0">
              <a:latin typeface="Times New Roman"/>
              <a:cs typeface="Times New Roman"/>
            </a:endParaRPr>
          </a:p>
        </p:txBody>
      </p:sp>
      <p:sp>
        <p:nvSpPr>
          <p:cNvPr id="3" name="Content Placeholder 2">
            <a:extLst>
              <a:ext uri="{FF2B5EF4-FFF2-40B4-BE49-F238E27FC236}">
                <a16:creationId xmlns:a16="http://schemas.microsoft.com/office/drawing/2014/main" id="{5C0E80F0-009B-F29C-0227-D7C215946CAB}"/>
              </a:ext>
            </a:extLst>
          </p:cNvPr>
          <p:cNvSpPr>
            <a:spLocks noGrp="1"/>
          </p:cNvSpPr>
          <p:nvPr>
            <p:ph idx="1"/>
          </p:nvPr>
        </p:nvSpPr>
        <p:spPr>
          <a:xfrm>
            <a:off x="838200" y="1463040"/>
            <a:ext cx="10927080" cy="4713923"/>
          </a:xfrm>
        </p:spPr>
        <p:txBody>
          <a:bodyPr>
            <a:normAutofit/>
          </a:bodyPr>
          <a:lstStyle/>
          <a:p>
            <a:pPr algn="just"/>
            <a:endParaRPr lang="en-IN" dirty="0"/>
          </a:p>
        </p:txBody>
      </p:sp>
    </p:spTree>
    <p:extLst>
      <p:ext uri="{BB962C8B-B14F-4D97-AF65-F5344CB8AC3E}">
        <p14:creationId xmlns:p14="http://schemas.microsoft.com/office/powerpoint/2010/main" val="1492940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792</Words>
  <Application>Microsoft Office PowerPoint</Application>
  <PresentationFormat>Widescreen</PresentationFormat>
  <Paragraphs>79</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ADAPTIVE AGENTIC SECURITY OPERATIONS CENTRE (SOC) FRAMEWORK     </vt:lpstr>
      <vt:lpstr>    Abstract</vt:lpstr>
      <vt:lpstr>    Introduction</vt:lpstr>
      <vt:lpstr>   Problem Statement</vt:lpstr>
      <vt:lpstr>    Objectives</vt:lpstr>
      <vt:lpstr> Literature Review</vt:lpstr>
      <vt:lpstr>             Proposed Architecture</vt:lpstr>
      <vt:lpstr>             Proposed Architecture</vt:lpstr>
      <vt:lpstr>           Datasets</vt:lpstr>
      <vt:lpstr>     Technology Stack</vt:lpstr>
      <vt:lpstr>PowerPoint Presentation</vt:lpstr>
      <vt:lpstr>    Conclusion </vt:lpstr>
      <vt:lpstr>    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dandhilliaishwarya1729@gmail.com</dc:creator>
  <cp:lastModifiedBy>dandhilliaishwarya1729@gmail.com</cp:lastModifiedBy>
  <cp:revision>13</cp:revision>
  <dcterms:created xsi:type="dcterms:W3CDTF">2026-08-25T13:59:24Z</dcterms:created>
  <dcterms:modified xsi:type="dcterms:W3CDTF">2026-08-26T17:29:48Z</dcterms:modified>
</cp:coreProperties>
</file>