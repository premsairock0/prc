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58" r:id="rId4"/>
    <p:sldId id="259" r:id="rId5"/>
    <p:sldId id="272" r:id="rId6"/>
    <p:sldId id="262" r:id="rId7"/>
    <p:sldId id="264" r:id="rId8"/>
    <p:sldId id="265" r:id="rId9"/>
    <p:sldId id="271" r:id="rId10"/>
    <p:sldId id="267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0E7A46D-47CA-4002-9F6B-74EFCFF6F3BF}">
  <a:tblStyle styleId="{40E7A46D-47CA-4002-9F6B-74EFCFF6F3B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3D4BCD0-654E-43EC-B59A-21B08DC5064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9528" autoAdjust="0"/>
  </p:normalViewPr>
  <p:slideViewPr>
    <p:cSldViewPr snapToGrid="0">
      <p:cViewPr varScale="1">
        <p:scale>
          <a:sx n="63" d="100"/>
          <a:sy n="63" d="100"/>
        </p:scale>
        <p:origin x="77" y="6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7304525-E3E0-8FB7-6488-8B690EA8389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4E1BFE-EDE4-2252-2F02-7169BBA532C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01EEEF-0C70-435E-97B6-DAB05F8076A4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4C451B-93A7-4D8B-1D46-BD0B3B0A0C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CACA67-7880-158D-AB5A-15E726C4B03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BD1594-DE3F-486E-9019-BFD58C7965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003895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5ed3a39c1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3" name="Google Shape;63;g3f5ed3a39c1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67ac569f3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0" name="Google Shape;70;g3f67ac569f3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67ac569f3_3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8" name="Google Shape;78;g3f67ac569f3_3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7741E8CD-2463-9B27-42A4-1BD7635E9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99e41ad2f_1_7:notes">
            <a:extLst>
              <a:ext uri="{FF2B5EF4-FFF2-40B4-BE49-F238E27FC236}">
                <a16:creationId xmlns:a16="http://schemas.microsoft.com/office/drawing/2014/main" id="{06F688F7-6184-E54C-CEEA-732A2D2276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6" name="Google Shape;86;g3f99e41ad2f_1_7:notes">
            <a:extLst>
              <a:ext uri="{FF2B5EF4-FFF2-40B4-BE49-F238E27FC236}">
                <a16:creationId xmlns:a16="http://schemas.microsoft.com/office/drawing/2014/main" id="{1912EBEB-301F-AE73-DA25-2D8B6A25BB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260853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5ed3a39c1_1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00" name="Google Shape;100;g3f5ed3a39c1_1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5ed3a39c1_1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6" name="Google Shape;116;g3f5ed3a39c1_1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67ac569f3_3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24" name="Google Shape;124;g3f67ac569f3_3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5ed3a39c1_1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40" name="Google Shape;140;g3f5ed3a39c1_1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1969825" y="1449549"/>
            <a:ext cx="5860439" cy="38732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Times New Roman"/>
                <a:ea typeface="Times New Roman"/>
                <a:cs typeface="Times New Roman"/>
                <a:sym typeface="Times New Roman"/>
              </a:rPr>
              <a:t>DISSERTATION WORK REVIEW - I</a:t>
            </a:r>
            <a:endParaRPr sz="18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534608" y="1881768"/>
            <a:ext cx="8212200" cy="8086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STANDARDISED COMPOSITE TRUST SCORE FOR EVALUATING EXPLAINABLE AI (XAI) TECHNIQUES:A CROSS –DOMAIN EMPIRICAL VALIDATION</a:t>
            </a:r>
            <a:endParaRPr sz="1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719485" y="2958626"/>
            <a:ext cx="2698800" cy="20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N.SROHANA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22011P0510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B.TECH-IDP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 YEAR - I SEMESTER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, JNTUH UCEH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416" y="442315"/>
            <a:ext cx="1005125" cy="95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5480557-B919-1891-500A-409BB5011C92}"/>
              </a:ext>
            </a:extLst>
          </p:cNvPr>
          <p:cNvSpPr txBox="1"/>
          <p:nvPr/>
        </p:nvSpPr>
        <p:spPr>
          <a:xfrm>
            <a:off x="1186727" y="327797"/>
            <a:ext cx="7560081" cy="11671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pPr algn="ctr">
              <a:lnSpc>
                <a:spcPct val="150000"/>
              </a:lnSpc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JAWAHARLAL NEHRU TECHNOLOGICAL UNIVERSITY HYDERABAD</a:t>
            </a:r>
          </a:p>
          <a:p>
            <a:pPr algn="ctr">
              <a:lnSpc>
                <a:spcPct val="150000"/>
              </a:lnSpc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COLLEGE OF ENGINEERING, SCIENCE AND TECHNOLOGY, HYDERABAD</a:t>
            </a:r>
          </a:p>
          <a:p>
            <a:pPr algn="ctr">
              <a:lnSpc>
                <a:spcPct val="150000"/>
              </a:lnSpc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75;p15">
            <a:extLst>
              <a:ext uri="{FF2B5EF4-FFF2-40B4-BE49-F238E27FC236}">
                <a16:creationId xmlns:a16="http://schemas.microsoft.com/office/drawing/2014/main" id="{B62A5F0D-F9DC-F3AF-0205-1CFF53639DB8}"/>
              </a:ext>
            </a:extLst>
          </p:cNvPr>
          <p:cNvSpPr/>
          <p:nvPr/>
        </p:nvSpPr>
        <p:spPr>
          <a:xfrm>
            <a:off x="275549" y="238606"/>
            <a:ext cx="8522925" cy="4551444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B0485-DAFE-18BD-E477-FE7B437C61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96998C-DF3A-68DC-3D92-72506997B962}"/>
              </a:ext>
            </a:extLst>
          </p:cNvPr>
          <p:cNvSpPr txBox="1"/>
          <p:nvPr/>
        </p:nvSpPr>
        <p:spPr>
          <a:xfrm>
            <a:off x="4434840" y="3011455"/>
            <a:ext cx="418338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GB" u="sng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GUIDE:</a:t>
            </a:r>
          </a:p>
          <a:p>
            <a:pPr lvl="0" algn="ctr"/>
            <a:r>
              <a:rPr lang="en-GB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R SRIDEVI</a:t>
            </a:r>
            <a:endParaRPr lang="en-IN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ctr"/>
            <a:r>
              <a:rPr lang="en-I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BE(CSE),M.TECH,PHD</a:t>
            </a:r>
          </a:p>
          <a:p>
            <a:pPr lvl="0" algn="ctr"/>
            <a:r>
              <a:rPr lang="en-I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PROFESSOR IN CSE &amp; COORDINATOR,</a:t>
            </a:r>
          </a:p>
          <a:p>
            <a:pPr lvl="0" algn="ctr"/>
            <a:r>
              <a:rPr lang="en-I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CENTRE OF EXCELLENCE IN CYBER SECURITY,</a:t>
            </a:r>
          </a:p>
          <a:p>
            <a:pPr lvl="0" algn="ctr"/>
            <a:r>
              <a:rPr lang="en-I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JNTUH</a:t>
            </a:r>
            <a:endParaRPr lang="en-GB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020" dirty="0">
                <a:latin typeface="Times New Roman"/>
                <a:ea typeface="Times New Roman"/>
                <a:cs typeface="Times New Roman"/>
                <a:sym typeface="Times New Roman"/>
              </a:rPr>
              <a:t>TABLE OF CONTENTS</a:t>
            </a:r>
            <a:endParaRPr sz="302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" name="Google Shape;66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 sz="1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1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SYSTEM</a:t>
            </a:r>
            <a:endParaRPr sz="1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1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ARCHITECTURE</a:t>
            </a:r>
            <a:endParaRPr sz="1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METHODOLOGY</a:t>
            </a:r>
            <a:endParaRPr sz="1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1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75;p15">
            <a:extLst>
              <a:ext uri="{FF2B5EF4-FFF2-40B4-BE49-F238E27FC236}">
                <a16:creationId xmlns:a16="http://schemas.microsoft.com/office/drawing/2014/main" id="{E09E432F-5C4C-0E17-CF04-F3EA41C282B5}"/>
              </a:ext>
            </a:extLst>
          </p:cNvPr>
          <p:cNvSpPr/>
          <p:nvPr/>
        </p:nvSpPr>
        <p:spPr>
          <a:xfrm>
            <a:off x="275550" y="266700"/>
            <a:ext cx="8520600" cy="443177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87789F7-92BD-87A7-D10B-1C9CB531F84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</a:t>
            </a:fld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>
            <a:spLocks noGrp="1"/>
          </p:cNvSpPr>
          <p:nvPr>
            <p:ph type="title"/>
          </p:nvPr>
        </p:nvSpPr>
        <p:spPr>
          <a:xfrm>
            <a:off x="311700" y="1936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Times New Roman"/>
                <a:ea typeface="Times New Roman"/>
                <a:cs typeface="Times New Roman"/>
                <a:sym typeface="Times New Roman"/>
              </a:rPr>
              <a:t>ABSTRACT </a:t>
            </a:r>
            <a:endParaRPr sz="3356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15"/>
          <p:cNvSpPr txBox="1">
            <a:spLocks noGrp="1"/>
          </p:cNvSpPr>
          <p:nvPr>
            <p:ph type="body" idx="1"/>
          </p:nvPr>
        </p:nvSpPr>
        <p:spPr>
          <a:xfrm>
            <a:off x="311700" y="232870"/>
            <a:ext cx="8520600" cy="504744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OBJECTIVE: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n-US" sz="14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 design and empirically validate a standardized, quantitative Trust Score (TS) that measures the effectiveness of XAI techniques (Control ,LIME, SHAP, and counterfactual explanations) in improving calibrated human trust in machine learning model predictions, compared to a no-explanation baseline, across multiple application domains.</a:t>
            </a:r>
            <a:endParaRPr lang="en-US" sz="1400" dirty="0">
              <a:solidFill>
                <a:schemeClr val="dk1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  <a:sym typeface="Times New Roman"/>
            </a:endParaRPr>
          </a:p>
          <a:p>
            <a:pPr marL="0" indent="0" algn="just">
              <a:spcBef>
                <a:spcPts val="1200"/>
              </a:spcBef>
              <a:buNone/>
            </a:pPr>
            <a:r>
              <a:rPr 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KEY FEATURES:</a:t>
            </a:r>
            <a:endParaRPr lang="en-US" sz="14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228600" indent="-228600">
              <a:lnSpc>
                <a:spcPct val="105000"/>
              </a:lnSpc>
              <a:spcAft>
                <a:spcPts val="900"/>
              </a:spcAft>
              <a:buSzPct val="100000"/>
            </a:pPr>
            <a:r>
              <a:rPr lang="en-US" sz="1400" b="1" dirty="0">
                <a:solidFill>
                  <a:srgbClr val="2931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Composite metric: </a:t>
            </a:r>
            <a:r>
              <a:rPr lang="en-US" sz="14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integrates calibrated trust accuracy, decision accuracy, response time, self-reported trust (Trust-in-Automation scale), and explanation satisfaction into a single reproducible Trust Score.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05000"/>
              </a:lnSpc>
              <a:spcAft>
                <a:spcPts val="900"/>
              </a:spcAft>
              <a:buSzPct val="100000"/>
            </a:pPr>
            <a:r>
              <a:rPr lang="en-US" sz="1400" b="1" dirty="0">
                <a:solidFill>
                  <a:srgbClr val="2931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Controlled within-subjects study: </a:t>
            </a:r>
            <a:r>
              <a:rPr lang="en-US" sz="14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 explanation conditions across 2 domains using fixed black-box classifiers.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05000"/>
              </a:lnSpc>
              <a:spcAft>
                <a:spcPts val="900"/>
              </a:spcAft>
              <a:buSzPct val="100000"/>
            </a:pPr>
            <a:r>
              <a:rPr lang="en-US" sz="1400" b="1" dirty="0">
                <a:solidFill>
                  <a:srgbClr val="2931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Empirically derived weights: </a:t>
            </a:r>
            <a:r>
              <a:rPr lang="en-US" sz="14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component weights for the composite score are derived via factor analysis on pilot data, not assigned arbitrarily.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05000"/>
              </a:lnSpc>
              <a:spcAft>
                <a:spcPts val="900"/>
              </a:spcAft>
              <a:buSzPct val="100000"/>
            </a:pPr>
            <a:r>
              <a:rPr lang="en-US" sz="1400" b="1" dirty="0">
                <a:solidFill>
                  <a:srgbClr val="2931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Statistical validation: </a:t>
            </a:r>
            <a:r>
              <a:rPr lang="en-US" sz="14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reliability (Cronbach's alpha), convergent and discriminant validity against existing trust scales, and mixed-effects ANOVA across conditions and domains.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05000"/>
              </a:lnSpc>
              <a:spcAft>
                <a:spcPts val="900"/>
              </a:spcAft>
              <a:buSzPct val="100000"/>
            </a:pPr>
            <a:r>
              <a:rPr lang="en-US" sz="1400" b="1" dirty="0">
                <a:solidFill>
                  <a:srgbClr val="2931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Goal: </a:t>
            </a:r>
            <a:r>
              <a:rPr lang="en-US" sz="14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standardized, reusable instrument enabling objective, reproducible comparison of XAI techniques across future studies.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75;p15">
            <a:extLst>
              <a:ext uri="{FF2B5EF4-FFF2-40B4-BE49-F238E27FC236}">
                <a16:creationId xmlns:a16="http://schemas.microsoft.com/office/drawing/2014/main" id="{CD7CFA4B-142A-6AD6-B479-C940EEA872BD}"/>
              </a:ext>
            </a:extLst>
          </p:cNvPr>
          <p:cNvSpPr/>
          <p:nvPr/>
        </p:nvSpPr>
        <p:spPr>
          <a:xfrm>
            <a:off x="275549" y="238605"/>
            <a:ext cx="8556751" cy="4508199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AF30CE-D7C6-83A6-8C01-150A8EBD57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3</a:t>
            </a:fld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>
            <a:spLocks noGrp="1"/>
          </p:cNvSpPr>
          <p:nvPr>
            <p:ph type="title"/>
          </p:nvPr>
        </p:nvSpPr>
        <p:spPr>
          <a:xfrm>
            <a:off x="311700" y="3147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520" dirty="0">
                <a:latin typeface="Times New Roman"/>
                <a:ea typeface="Times New Roman"/>
                <a:cs typeface="Times New Roman"/>
                <a:sym typeface="Times New Roman"/>
              </a:rPr>
              <a:t>INTRODUCTION </a:t>
            </a:r>
            <a:endParaRPr sz="332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" name="Google Shape;81;p16"/>
          <p:cNvSpPr txBox="1">
            <a:spLocks noGrp="1"/>
          </p:cNvSpPr>
          <p:nvPr>
            <p:ph type="body" idx="1"/>
          </p:nvPr>
        </p:nvSpPr>
        <p:spPr>
          <a:xfrm>
            <a:off x="311700" y="982961"/>
            <a:ext cx="8520600" cy="388292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55000" lnSpcReduction="20000"/>
          </a:bodyPr>
          <a:lstStyle/>
          <a:p>
            <a:pPr marL="228600" indent="-228600">
              <a:lnSpc>
                <a:spcPct val="105000"/>
              </a:lnSpc>
              <a:spcAft>
                <a:spcPts val="1100"/>
              </a:spcAft>
              <a:buSzPct val="100000"/>
            </a:pPr>
            <a:r>
              <a:rPr lang="en-US" sz="2700" b="1" dirty="0">
                <a:solidFill>
                  <a:srgbClr val="2931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ML models are increasingly deployed in high-stakes domains</a:t>
            </a:r>
            <a:r>
              <a:rPr lang="en-US" sz="27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such as finance and healthcare, where predictions must be accompanied by human-interpretable justification.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05000"/>
              </a:lnSpc>
              <a:spcAft>
                <a:spcPts val="1100"/>
              </a:spcAft>
              <a:buSzPct val="100000"/>
            </a:pPr>
            <a:r>
              <a:rPr lang="en-US" sz="2700" b="1" dirty="0">
                <a:solidFill>
                  <a:srgbClr val="2931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Explainable AI (XAI) techniques</a:t>
            </a:r>
            <a:r>
              <a:rPr lang="en-US" sz="27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— LIME, SHAP, and counterfactual explanations — are widely used to justify black-box model predictions to end users.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05000"/>
              </a:lnSpc>
              <a:spcAft>
                <a:spcPts val="1100"/>
              </a:spcAft>
              <a:buSzPct val="100000"/>
            </a:pPr>
            <a:r>
              <a:rPr lang="en-US" sz="2700" b="1" dirty="0">
                <a:solidFill>
                  <a:srgbClr val="2931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Systematic reviews show substantial technical progress in explanation methods themselves,</a:t>
            </a:r>
            <a:r>
              <a:rPr lang="en-US" sz="27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but no universally accepted framework exists for measuring whether these techniques actually increase human trust.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05000"/>
              </a:lnSpc>
              <a:spcAft>
                <a:spcPts val="1100"/>
              </a:spcAft>
              <a:buSzPct val="100000"/>
            </a:pPr>
            <a:r>
              <a:rPr lang="en-US" sz="2700" b="1" dirty="0">
                <a:solidFill>
                  <a:srgbClr val="2931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Existing studies rely on inconsistent, ad hoc trust measures</a:t>
            </a:r>
            <a:r>
              <a:rPr lang="en-US" sz="27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— self-reported surveys, task accuracy, or response time — used in isolation and evaluated independently across studies.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05000"/>
              </a:lnSpc>
              <a:spcAft>
                <a:spcPts val="1100"/>
              </a:spcAft>
              <a:buSzPct val="100000"/>
            </a:pPr>
            <a:r>
              <a:rPr lang="en-US" sz="2700" b="1" dirty="0">
                <a:solidFill>
                  <a:srgbClr val="2931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This fragmentation limits reproducibility</a:t>
            </a:r>
            <a:r>
              <a:rPr lang="en-US" sz="27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and prevents objective, like-for-like comparison of XAI techniques across studies and domains.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05000"/>
              </a:lnSpc>
              <a:spcAft>
                <a:spcPts val="1100"/>
              </a:spcAft>
              <a:buSzPct val="100000"/>
            </a:pPr>
            <a:r>
              <a:rPr lang="en-US" sz="2700" b="1" dirty="0">
                <a:solidFill>
                  <a:srgbClr val="2931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This dissertation addresses that gap directly</a:t>
            </a:r>
            <a:r>
              <a:rPr lang="en-US" sz="27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by proposing and validating a composite Trust Score that integrates multiple existing trust-related signals into one standardized, reproducible metric.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000" dirty="0"/>
          </a:p>
        </p:txBody>
      </p:sp>
      <p:sp>
        <p:nvSpPr>
          <p:cNvPr id="5" name="Google Shape;75;p15">
            <a:extLst>
              <a:ext uri="{FF2B5EF4-FFF2-40B4-BE49-F238E27FC236}">
                <a16:creationId xmlns:a16="http://schemas.microsoft.com/office/drawing/2014/main" id="{07CC7365-2115-CE52-E637-E7F46AE82001}"/>
              </a:ext>
            </a:extLst>
          </p:cNvPr>
          <p:cNvSpPr/>
          <p:nvPr/>
        </p:nvSpPr>
        <p:spPr>
          <a:xfrm>
            <a:off x="275549" y="238605"/>
            <a:ext cx="8556751" cy="448814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AA5C57-38D7-F4E1-401A-011A6489E6C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4</a:t>
            </a:fld>
            <a:endParaRPr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E1BEDBF8-8993-1914-AE0A-C02B2D42B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>
            <a:extLst>
              <a:ext uri="{FF2B5EF4-FFF2-40B4-BE49-F238E27FC236}">
                <a16:creationId xmlns:a16="http://schemas.microsoft.com/office/drawing/2014/main" id="{885A0C0B-6143-7748-9049-95F90A9825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3158" y="130405"/>
            <a:ext cx="8139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latin typeface="Times New Roman"/>
                <a:ea typeface="Times New Roman"/>
                <a:cs typeface="Times New Roman"/>
                <a:sym typeface="Times New Roman"/>
              </a:rPr>
              <a:t>EXISTING SYSTEMS</a:t>
            </a:r>
            <a:endParaRPr sz="20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89B59E-DCCE-C21E-2E32-A416DE0DF9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5</a:t>
            </a:fld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E2C561-EFF0-A89B-E6F0-EB6DF800823A}"/>
              </a:ext>
            </a:extLst>
          </p:cNvPr>
          <p:cNvSpPr txBox="1"/>
          <p:nvPr/>
        </p:nvSpPr>
        <p:spPr>
          <a:xfrm>
            <a:off x="333158" y="512379"/>
            <a:ext cx="8477684" cy="5035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  <a:buSzPct val="100000"/>
            </a:pPr>
            <a:r>
              <a:rPr lang="en-US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(Is Trust Correlated With Explainability in AI? A Meta-Analysis — </a:t>
            </a:r>
            <a:r>
              <a:rPr lang="en-US" i="1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Atf</a:t>
            </a:r>
            <a:r>
              <a:rPr lang="en-US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Lewis, IEEE TTS, 2026)</a:t>
            </a:r>
            <a:endParaRPr lang="en-US" b="1" dirty="0">
              <a:solidFill>
                <a:srgbClr val="293194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05000"/>
              </a:lnSpc>
              <a:spcAft>
                <a:spcPts val="1100"/>
              </a:spcAft>
              <a:buSzPct val="100000"/>
              <a:buChar char="●"/>
            </a:pPr>
            <a:r>
              <a:rPr lang="en-US" b="1" dirty="0">
                <a:solidFill>
                  <a:srgbClr val="2931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Self-reported trust surveys: </a:t>
            </a:r>
            <a:r>
              <a:rPr lang="en-US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e.g., the Trust-in-Automation scale (Jian et al., 2000), used across many XAI studies to gauge user trust after seeing explanations.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05000"/>
              </a:lnSpc>
              <a:spcAft>
                <a:spcPts val="1100"/>
              </a:spcAft>
              <a:buSzPct val="100000"/>
              <a:buChar char="●"/>
            </a:pPr>
            <a:r>
              <a:rPr lang="en-US" b="1" dirty="0" err="1">
                <a:solidFill>
                  <a:srgbClr val="2931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Behavioural</a:t>
            </a:r>
            <a:r>
              <a:rPr lang="en-US" b="1" dirty="0">
                <a:solidFill>
                  <a:srgbClr val="2931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proxies: </a:t>
            </a:r>
            <a:r>
              <a:rPr lang="en-US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decision accuracy and response time are commonly logged as indirect, objective signals of trust and reliance.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05000"/>
              </a:lnSpc>
              <a:spcAft>
                <a:spcPts val="1100"/>
              </a:spcAft>
              <a:buSzPct val="100000"/>
              <a:buChar char="●"/>
            </a:pPr>
            <a:r>
              <a:rPr lang="en-US" b="1" dirty="0">
                <a:solidFill>
                  <a:srgbClr val="2931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Explanation-specific measures: </a:t>
            </a:r>
            <a:r>
              <a:rPr lang="en-US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instruments such as Hoffman et al.'s (2018) Explanation Satisfaction Scale evaluate a single explanation instance.</a:t>
            </a:r>
          </a:p>
          <a:p>
            <a:pPr>
              <a:lnSpc>
                <a:spcPct val="105000"/>
              </a:lnSpc>
              <a:spcAft>
                <a:spcPts val="1100"/>
              </a:spcAft>
              <a:buSzPct val="100000"/>
            </a:pPr>
            <a:r>
              <a:rPr lang="en-US" sz="1600" b="1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CHALLENGES: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05000"/>
              </a:lnSpc>
              <a:spcAft>
                <a:spcPts val="1100"/>
              </a:spcAft>
              <a:buSzPct val="100000"/>
              <a:buChar char="●"/>
            </a:pPr>
            <a:r>
              <a:rPr lang="en-US" b="1" dirty="0">
                <a:solidFill>
                  <a:srgbClr val="2931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standardized composite exists: </a:t>
            </a:r>
            <a:r>
              <a:rPr lang="en-US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self-report, accuracy, response time, and satisfaction are used in isolation, never combined into one validated metric.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05000"/>
              </a:lnSpc>
              <a:spcAft>
                <a:spcPts val="1100"/>
              </a:spcAft>
              <a:buSzPct val="100000"/>
              <a:buChar char="●"/>
            </a:pPr>
            <a:r>
              <a:rPr lang="en-US" b="1" dirty="0">
                <a:solidFill>
                  <a:srgbClr val="2931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Incomparability across studies: </a:t>
            </a:r>
            <a:r>
              <a:rPr lang="en-US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single-dimension, ad hoc measures cannot be meaningfully compared across different studies or domains.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05000"/>
              </a:lnSpc>
              <a:spcAft>
                <a:spcPts val="1100"/>
              </a:spcAft>
              <a:buSzPct val="100000"/>
              <a:buChar char="●"/>
            </a:pPr>
            <a:r>
              <a:rPr lang="en-US" b="1" dirty="0">
                <a:solidFill>
                  <a:srgbClr val="2931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Untested cross-domain generalizability: </a:t>
            </a:r>
            <a:r>
              <a:rPr lang="en-US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existing composite has been validated across genuinely different application domains, such as finance and healthcare, at once.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05000"/>
              </a:lnSpc>
              <a:spcAft>
                <a:spcPts val="1100"/>
              </a:spcAft>
              <a:buSzPct val="100000"/>
              <a:buChar char="●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5" name="Google Shape;75;p15">
            <a:extLst>
              <a:ext uri="{FF2B5EF4-FFF2-40B4-BE49-F238E27FC236}">
                <a16:creationId xmlns:a16="http://schemas.microsoft.com/office/drawing/2014/main" id="{CF3163EE-BF0B-81E4-D36E-CE8E376C21C8}"/>
              </a:ext>
            </a:extLst>
          </p:cNvPr>
          <p:cNvSpPr/>
          <p:nvPr/>
        </p:nvSpPr>
        <p:spPr>
          <a:xfrm>
            <a:off x="275549" y="238605"/>
            <a:ext cx="8556751" cy="448814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6946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020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30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19"/>
          <p:cNvSpPr txBox="1">
            <a:spLocks noGrp="1"/>
          </p:cNvSpPr>
          <p:nvPr>
            <p:ph type="body" idx="1"/>
          </p:nvPr>
        </p:nvSpPr>
        <p:spPr>
          <a:xfrm>
            <a:off x="311700" y="1816609"/>
            <a:ext cx="8520600" cy="14226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11430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design and empirically validate a standardized, quantitative Trust Score that integrates calibrated trust accuracy, decision accuracy, response time, self-reported trust, and explanation satisfaction into a single reproducible metric — and to evaluate its effectiveness and cross-domain generalizability for assessing XAI techniques.</a:t>
            </a:r>
          </a:p>
          <a:p>
            <a:pPr marL="11430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19"/>
          <p:cNvSpPr/>
          <p:nvPr/>
        </p:nvSpPr>
        <p:spPr>
          <a:xfrm>
            <a:off x="239400" y="233916"/>
            <a:ext cx="8592900" cy="4580309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643645-5B74-A365-FC28-AA5585A74B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6</a:t>
            </a:fld>
            <a:endParaRPr 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>
            <a:spLocks noGrp="1"/>
          </p:cNvSpPr>
          <p:nvPr>
            <p:ph type="title"/>
          </p:nvPr>
        </p:nvSpPr>
        <p:spPr>
          <a:xfrm>
            <a:off x="406129" y="14881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400" dirty="0">
                <a:latin typeface="Times New Roman"/>
                <a:ea typeface="Times New Roman"/>
                <a:cs typeface="Times New Roman"/>
                <a:sym typeface="Times New Roman"/>
              </a:rPr>
              <a:t>PROPOSED ARCHITECTURE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21"/>
          <p:cNvSpPr/>
          <p:nvPr/>
        </p:nvSpPr>
        <p:spPr>
          <a:xfrm>
            <a:off x="239400" y="248100"/>
            <a:ext cx="8592900" cy="46473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68104F-8BBD-380E-38AE-E828CDBCC1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7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371429-227E-090F-1FF6-819AC5812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560831"/>
            <a:ext cx="8384268" cy="433456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 idx="4294967295"/>
          </p:nvPr>
        </p:nvSpPr>
        <p:spPr>
          <a:xfrm>
            <a:off x="388385" y="56264"/>
            <a:ext cx="8521700" cy="5730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ct val="32566"/>
              <a:buFont typeface="Arial"/>
              <a:buNone/>
            </a:pPr>
            <a:r>
              <a:rPr lang="en-GB" sz="2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PROPOSED METHODOLOGY</a:t>
            </a:r>
            <a:endParaRPr sz="24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29" name="Google Shape;129;p22"/>
          <p:cNvSpPr/>
          <p:nvPr/>
        </p:nvSpPr>
        <p:spPr>
          <a:xfrm>
            <a:off x="233915" y="231648"/>
            <a:ext cx="8677967" cy="4431569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CA8EE0C-A81E-3AF9-B331-9393F19D8F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8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D3DACB-EFF1-D355-53E1-93DAD2DD87C2}"/>
              </a:ext>
            </a:extLst>
          </p:cNvPr>
          <p:cNvSpPr txBox="1"/>
          <p:nvPr/>
        </p:nvSpPr>
        <p:spPr>
          <a:xfrm>
            <a:off x="350666" y="692628"/>
            <a:ext cx="8521700" cy="4014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●"/>
            </a:pPr>
            <a:r>
              <a:rPr lang="en-US" b="1" dirty="0">
                <a:solidFill>
                  <a:srgbClr val="2931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Select components: </a:t>
            </a:r>
            <a:r>
              <a:rPr lang="en-US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conduct a literature-grounded selection of Trust Score components from existing XAI trust-measurement studies.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●"/>
            </a:pPr>
            <a:r>
              <a:rPr lang="en-US" b="1" dirty="0">
                <a:solidFill>
                  <a:srgbClr val="2931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Design and pilot: </a:t>
            </a:r>
            <a:r>
              <a:rPr lang="en-US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design the composite Trust Score instrument and pilot it; derive component weights empirically via factor analysis on pilot data.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●"/>
            </a:pPr>
            <a:r>
              <a:rPr lang="en-US" b="1" dirty="0">
                <a:solidFill>
                  <a:srgbClr val="2931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Develop materials: </a:t>
            </a:r>
            <a:r>
              <a:rPr lang="en-US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fix black-box classifiers and generate matched explanation artifacts — LIME feature-weight charts, SHAP force plots, counterfactual statements — for both domains.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●"/>
            </a:pPr>
            <a:r>
              <a:rPr lang="en-US" b="1" dirty="0">
                <a:solidFill>
                  <a:srgbClr val="2931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Run the study: </a:t>
            </a:r>
            <a:r>
              <a:rPr lang="en-US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recruit the target sample and run a controlled, within-subjects study with Latin-square-randomized explanation order.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●"/>
            </a:pPr>
            <a:r>
              <a:rPr lang="en-US" b="1" dirty="0">
                <a:solidFill>
                  <a:srgbClr val="2931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Collect data: </a:t>
            </a:r>
            <a:r>
              <a:rPr lang="en-US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record self-reported trust, decision accuracy, response time, and explanation satisfaction for every task instance.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●"/>
            </a:pPr>
            <a:r>
              <a:rPr lang="en-US" b="1" dirty="0">
                <a:solidFill>
                  <a:srgbClr val="2931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Validate statistically: </a:t>
            </a:r>
            <a:r>
              <a:rPr lang="en-US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test reliability, validity (convergent/discriminant), and run mixed-effects ANOVA across explanation conditions and domains.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●"/>
            </a:pPr>
            <a:r>
              <a:rPr lang="en-US" b="1" dirty="0">
                <a:solidFill>
                  <a:srgbClr val="29319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Benchmark: </a:t>
            </a:r>
            <a:r>
              <a:rPr lang="en-US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compare the composite Trust Score's discriminative power against single-dimension trust measures used in prior work.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B58DE-5AD3-ABDD-E162-B828E3034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en-GB" dirty="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REFERENCES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C4EB5F-018F-3318-E79C-A33448D6A26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9</a:t>
            </a:fld>
            <a:endParaRPr lang="en-GB"/>
          </a:p>
        </p:txBody>
      </p:sp>
      <p:sp>
        <p:nvSpPr>
          <p:cNvPr id="7" name="Google Shape;137;p23">
            <a:extLst>
              <a:ext uri="{FF2B5EF4-FFF2-40B4-BE49-F238E27FC236}">
                <a16:creationId xmlns:a16="http://schemas.microsoft.com/office/drawing/2014/main" id="{AE1B861F-D5B3-5B22-A9E5-E62A8F296618}"/>
              </a:ext>
            </a:extLst>
          </p:cNvPr>
          <p:cNvSpPr/>
          <p:nvPr/>
        </p:nvSpPr>
        <p:spPr>
          <a:xfrm>
            <a:off x="244475" y="343700"/>
            <a:ext cx="8592900" cy="43692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EE8CDE-FA4F-00B5-5871-FF636E3795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228600" indent="-228600">
              <a:spcAft>
                <a:spcPts val="1800"/>
              </a:spcAft>
              <a:buSzPct val="100000"/>
            </a:pPr>
            <a:r>
              <a:rPr lang="en-US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[1] </a:t>
            </a:r>
            <a:r>
              <a:rPr lang="en-US" dirty="0" err="1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Wiratsin</a:t>
            </a:r>
            <a:r>
              <a:rPr lang="en-US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T., &amp; </a:t>
            </a:r>
            <a:r>
              <a:rPr lang="en-US" dirty="0" err="1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Ragkhitwetsagul</a:t>
            </a:r>
            <a:r>
              <a:rPr lang="en-US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C. — Effectiveness of XAI Techniques for Improving Human Trust in ML Models: A Systematic Literature Review (2025).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800"/>
              </a:spcAft>
              <a:buSzPct val="100000"/>
            </a:pPr>
            <a:r>
              <a:rPr lang="en-US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[2] </a:t>
            </a:r>
            <a:r>
              <a:rPr lang="en-US" dirty="0" err="1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Atf</a:t>
            </a:r>
            <a:r>
              <a:rPr lang="en-US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Z., &amp; Lewis, P. R. — Is Trust Correlated With Explainability in AI? A Meta-Analysis — IEEE Transactions on Technology and Society, Vol. 7, No. 1, pp. 70–77, March 2026. </a:t>
            </a:r>
            <a:r>
              <a:rPr lang="en-US" dirty="0" err="1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doi</a:t>
            </a:r>
            <a:r>
              <a:rPr lang="en-US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 10.1109/TTS.2025.3558448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800"/>
              </a:spcAft>
              <a:buSzPct val="100000"/>
            </a:pPr>
            <a:r>
              <a:rPr lang="en-US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[3] Jian, J.-Y., </a:t>
            </a:r>
            <a:r>
              <a:rPr lang="en-US" dirty="0" err="1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Bisantz</a:t>
            </a:r>
            <a:r>
              <a:rPr lang="en-US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A. M., &amp; Drury, C. G. — Foundations for an Empirically Determined Scale of Trust in Automated Systems — International Journal of Cognitive Ergonomics, 4(1), 53–71, 2000. </a:t>
            </a:r>
            <a:r>
              <a:rPr lang="en-US" dirty="0" err="1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doi</a:t>
            </a:r>
            <a:r>
              <a:rPr lang="en-US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 10.1207/S15327566IJCE0401_04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800"/>
              </a:spcAft>
              <a:buSzPct val="100000"/>
            </a:pPr>
            <a:r>
              <a:rPr lang="en-US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[4] Hoffman, R. R., Mueller, S. T., Klein, G., &amp; Litman, J. — Metrics for Explainable AI: Challenges and Prospects — arXiv:1812.04608, 2018.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3059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>
            <a:spLocks noGrp="1"/>
          </p:cNvSpPr>
          <p:nvPr>
            <p:ph type="title"/>
          </p:nvPr>
        </p:nvSpPr>
        <p:spPr>
          <a:xfrm>
            <a:off x="3191700" y="2243300"/>
            <a:ext cx="2760600" cy="5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Google Shape;144;p24"/>
          <p:cNvSpPr/>
          <p:nvPr/>
        </p:nvSpPr>
        <p:spPr>
          <a:xfrm>
            <a:off x="244475" y="343700"/>
            <a:ext cx="8592900" cy="43692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13F549-B8E2-E4B9-528C-ADEDDF3BB1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10</a:t>
            </a:fld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787</TotalTime>
  <Words>1000</Words>
  <Application>Microsoft Office PowerPoint</Application>
  <PresentationFormat>On-screen Show (16:9)</PresentationFormat>
  <Paragraphs>77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Simple Light</vt:lpstr>
      <vt:lpstr>DISSERTATION WORK REVIEW - I</vt:lpstr>
      <vt:lpstr>TABLE OF CONTENTS</vt:lpstr>
      <vt:lpstr>ABSTRACT </vt:lpstr>
      <vt:lpstr>INTRODUCTION </vt:lpstr>
      <vt:lpstr>EXISTING SYSTEMS</vt:lpstr>
      <vt:lpstr>PROBLEM STATEMENT</vt:lpstr>
      <vt:lpstr>PROPOSED ARCHITECTURE</vt:lpstr>
      <vt:lpstr>PROPOSED METHODOLOGY</vt:lpstr>
      <vt:lpstr>                                        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Yashasri Arelly</dc:creator>
  <cp:lastModifiedBy>nellikondisrohana@gmail.com</cp:lastModifiedBy>
  <cp:revision>8</cp:revision>
  <dcterms:modified xsi:type="dcterms:W3CDTF">2026-08-27T00:26:27Z</dcterms:modified>
</cp:coreProperties>
</file>