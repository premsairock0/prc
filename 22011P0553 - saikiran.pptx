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71" r:id="rId2"/>
    <p:sldId id="268" r:id="rId3"/>
    <p:sldId id="257" r:id="rId4"/>
    <p:sldId id="258" r:id="rId5"/>
    <p:sldId id="259" r:id="rId6"/>
    <p:sldId id="260" r:id="rId7"/>
    <p:sldId id="261" r:id="rId8"/>
    <p:sldId id="262" r:id="rId9"/>
    <p:sldId id="263" r:id="rId10"/>
    <p:sldId id="264" r:id="rId11"/>
    <p:sldId id="265" r:id="rId12"/>
    <p:sldId id="266" r:id="rId13"/>
    <p:sldId id="269" r:id="rId14"/>
    <p:sldId id="270" r:id="rId15"/>
    <p:sldId id="267"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38" y="10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9726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F5865BE4-F706-C20D-D844-55FBB984A3B1}"/>
              </a:ext>
            </a:extLst>
          </p:cNvPr>
          <p:cNvSpPr txBox="1"/>
          <p:nvPr/>
        </p:nvSpPr>
        <p:spPr>
          <a:xfrm>
            <a:off x="1633728" y="169140"/>
            <a:ext cx="7193280" cy="1292662"/>
          </a:xfrm>
          <a:prstGeom prst="rect">
            <a:avLst/>
          </a:prstGeom>
          <a:noFill/>
        </p:spPr>
        <p:txBody>
          <a:bodyPr wrap="square">
            <a:spAutoFit/>
          </a:bodyPr>
          <a:lstStyle/>
          <a:p>
            <a:pPr algn="ctr">
              <a:lnSpc>
                <a:spcPct val="100000"/>
              </a:lnSpc>
              <a:spcAft>
                <a:spcPts val="600"/>
              </a:spcAft>
              <a:defRPr sz="1700" b="1">
                <a:solidFill>
                  <a:srgbClr val="EE2BAE"/>
                </a:solidFill>
                <a:latin typeface="Times New Roman"/>
              </a:defRPr>
            </a:pPr>
            <a:r>
              <a:rPr lang="en-US" sz="1700" dirty="0">
                <a:solidFill>
                  <a:schemeClr val="accent2">
                    <a:lumMod val="50000"/>
                  </a:schemeClr>
                </a:solidFill>
              </a:rPr>
              <a:t>DEPARTMENT OF COMPUTER SCIENCE AND ENGINEERING</a:t>
            </a:r>
          </a:p>
          <a:p>
            <a:pPr algn="ctr">
              <a:lnSpc>
                <a:spcPct val="100000"/>
              </a:lnSpc>
              <a:spcAft>
                <a:spcPts val="600"/>
              </a:spcAft>
              <a:defRPr sz="1600" b="1">
                <a:solidFill>
                  <a:srgbClr val="000000"/>
                </a:solidFill>
                <a:latin typeface="Times New Roman"/>
              </a:defRPr>
            </a:pPr>
            <a:r>
              <a:rPr lang="en-US" sz="1600" dirty="0">
                <a:solidFill>
                  <a:srgbClr val="FF0000"/>
                </a:solidFill>
              </a:rPr>
              <a:t>JAWAHARLAL NEHRU TECHNOLOGICAL UNIVERSITY HYDERABAD</a:t>
            </a:r>
          </a:p>
          <a:p>
            <a:pPr algn="ctr">
              <a:lnSpc>
                <a:spcPct val="100000"/>
              </a:lnSpc>
              <a:spcAft>
                <a:spcPts val="600"/>
              </a:spcAft>
              <a:defRPr sz="1500" b="1">
                <a:solidFill>
                  <a:srgbClr val="000000"/>
                </a:solidFill>
                <a:latin typeface="Times New Roman"/>
              </a:defRPr>
            </a:pPr>
            <a:r>
              <a:rPr lang="en-US" sz="1500" dirty="0">
                <a:solidFill>
                  <a:schemeClr val="accent1">
                    <a:lumMod val="75000"/>
                  </a:schemeClr>
                </a:solidFill>
              </a:rPr>
              <a:t>UNIVERSITY COLLEGE OF ENGINEERING HYDERABAD</a:t>
            </a:r>
          </a:p>
          <a:p>
            <a:pPr algn="ctr">
              <a:lnSpc>
                <a:spcPct val="100000"/>
              </a:lnSpc>
              <a:spcAft>
                <a:spcPts val="600"/>
              </a:spcAft>
              <a:defRPr sz="1500" b="1">
                <a:solidFill>
                  <a:srgbClr val="000000"/>
                </a:solidFill>
                <a:latin typeface="Times New Roman"/>
              </a:defRPr>
            </a:pPr>
            <a:r>
              <a:rPr lang="en-US" sz="1500" dirty="0"/>
              <a:t>Kukatpally , Hyderabad , Telangana (India) – 500 085</a:t>
            </a:r>
          </a:p>
        </p:txBody>
      </p:sp>
      <p:pic>
        <p:nvPicPr>
          <p:cNvPr id="54" name="Picture 53" descr="JNTU Hyderabad Logo">
            <a:extLst>
              <a:ext uri="{FF2B5EF4-FFF2-40B4-BE49-F238E27FC236}">
                <a16:creationId xmlns:a16="http://schemas.microsoft.com/office/drawing/2014/main" id="{0290B01A-0507-F076-A8BE-E48C52747A70}"/>
              </a:ext>
            </a:extLst>
          </p:cNvPr>
          <p:cNvPicPr>
            <a:picLocks noChangeAspect="1"/>
          </p:cNvPicPr>
          <p:nvPr/>
        </p:nvPicPr>
        <p:blipFill>
          <a:blip r:embed="rId2"/>
          <a:stretch>
            <a:fillRect/>
          </a:stretch>
        </p:blipFill>
        <p:spPr>
          <a:xfrm>
            <a:off x="193182" y="169140"/>
            <a:ext cx="1571163" cy="1211002"/>
          </a:xfrm>
          <a:prstGeom prst="rect">
            <a:avLst/>
          </a:prstGeom>
        </p:spPr>
      </p:pic>
      <p:sp>
        <p:nvSpPr>
          <p:cNvPr id="56" name="TextBox 55">
            <a:extLst>
              <a:ext uri="{FF2B5EF4-FFF2-40B4-BE49-F238E27FC236}">
                <a16:creationId xmlns:a16="http://schemas.microsoft.com/office/drawing/2014/main" id="{627DFD70-FD21-9230-01E0-8ED58D9439CC}"/>
              </a:ext>
            </a:extLst>
          </p:cNvPr>
          <p:cNvSpPr txBox="1"/>
          <p:nvPr/>
        </p:nvSpPr>
        <p:spPr>
          <a:xfrm>
            <a:off x="2944368" y="2008087"/>
            <a:ext cx="4572000" cy="400110"/>
          </a:xfrm>
          <a:prstGeom prst="rect">
            <a:avLst/>
          </a:prstGeom>
          <a:noFill/>
        </p:spPr>
        <p:txBody>
          <a:bodyPr wrap="square">
            <a:spAutoFit/>
          </a:bodyPr>
          <a:lstStyle/>
          <a:p>
            <a:pPr>
              <a:spcAft>
                <a:spcPts val="600"/>
              </a:spcAft>
              <a:defRPr sz="1800" b="1"/>
            </a:pPr>
            <a:r>
              <a:rPr lang="en-US" sz="2000" b="1" dirty="0">
                <a:solidFill>
                  <a:schemeClr val="accent1">
                    <a:lumMod val="75000"/>
                  </a:schemeClr>
                </a:solidFill>
              </a:rPr>
              <a:t>DISSERTATION WORK REVIEW – 1</a:t>
            </a:r>
          </a:p>
        </p:txBody>
      </p:sp>
      <p:sp>
        <p:nvSpPr>
          <p:cNvPr id="58" name="TextBox 57">
            <a:extLst>
              <a:ext uri="{FF2B5EF4-FFF2-40B4-BE49-F238E27FC236}">
                <a16:creationId xmlns:a16="http://schemas.microsoft.com/office/drawing/2014/main" id="{DDEBA848-6D6F-E60F-3565-18CF35915EF2}"/>
              </a:ext>
            </a:extLst>
          </p:cNvPr>
          <p:cNvSpPr txBox="1"/>
          <p:nvPr/>
        </p:nvSpPr>
        <p:spPr>
          <a:xfrm>
            <a:off x="1633728" y="2477917"/>
            <a:ext cx="6431280" cy="565026"/>
          </a:xfrm>
          <a:prstGeom prst="rect">
            <a:avLst/>
          </a:prstGeom>
          <a:noFill/>
        </p:spPr>
        <p:txBody>
          <a:bodyPr wrap="square">
            <a:spAutoFit/>
          </a:bodyPr>
          <a:lstStyle/>
          <a:p>
            <a:pPr marL="0" indent="0" algn="ctr">
              <a:lnSpc>
                <a:spcPct val="96000"/>
              </a:lnSpc>
              <a:buNone/>
            </a:pPr>
            <a:r>
              <a:rPr lang="en-US" sz="1600" b="1" dirty="0">
                <a:solidFill>
                  <a:srgbClr val="FF0000"/>
                </a:solidFill>
                <a:latin typeface="Times New Roman" pitchFamily="34" charset="0"/>
                <a:ea typeface="Times New Roman" pitchFamily="34" charset="-122"/>
                <a:cs typeface="Times New Roman" pitchFamily="34" charset="-120"/>
              </a:rPr>
              <a:t>RESEARCH ON PRODUCT REVIEW ANALYSIS AND SPAM REVIEW DETECTION</a:t>
            </a:r>
            <a:endParaRPr lang="en-US" sz="1600" dirty="0">
              <a:solidFill>
                <a:srgbClr val="FF0000"/>
              </a:solidFill>
            </a:endParaRPr>
          </a:p>
        </p:txBody>
      </p:sp>
      <p:sp>
        <p:nvSpPr>
          <p:cNvPr id="60" name="TextBox 59">
            <a:extLst>
              <a:ext uri="{FF2B5EF4-FFF2-40B4-BE49-F238E27FC236}">
                <a16:creationId xmlns:a16="http://schemas.microsoft.com/office/drawing/2014/main" id="{DFCBCE0B-F77B-70C4-D836-96F4924007CD}"/>
              </a:ext>
            </a:extLst>
          </p:cNvPr>
          <p:cNvSpPr txBox="1"/>
          <p:nvPr/>
        </p:nvSpPr>
        <p:spPr>
          <a:xfrm>
            <a:off x="414529" y="3589228"/>
            <a:ext cx="4572000" cy="1554272"/>
          </a:xfrm>
          <a:prstGeom prst="rect">
            <a:avLst/>
          </a:prstGeom>
          <a:noFill/>
        </p:spPr>
        <p:txBody>
          <a:bodyPr wrap="square">
            <a:spAutoFit/>
          </a:bodyPr>
          <a:lstStyle/>
          <a:p>
            <a:pPr>
              <a:lnSpc>
                <a:spcPct val="100000"/>
              </a:lnSpc>
              <a:spcAft>
                <a:spcPts val="600"/>
              </a:spcAft>
              <a:defRPr sz="1200"/>
            </a:pPr>
            <a:r>
              <a:rPr lang="en-US" sz="1600" b="1" dirty="0">
                <a:solidFill>
                  <a:schemeClr val="accent2">
                    <a:lumMod val="50000"/>
                  </a:schemeClr>
                </a:solidFill>
              </a:rPr>
              <a:t>PRESENTED BY:</a:t>
            </a:r>
          </a:p>
          <a:p>
            <a:pPr>
              <a:defRPr sz="1600" b="1">
                <a:solidFill>
                  <a:srgbClr val="1C221E"/>
                </a:solidFill>
                <a:latin typeface="Calibri"/>
              </a:defRPr>
            </a:pPr>
            <a:r>
              <a:rPr lang="en-US" sz="1600" dirty="0" err="1">
                <a:solidFill>
                  <a:srgbClr val="000000"/>
                </a:solidFill>
                <a:latin typeface="Times New Roman" pitchFamily="34" charset="0"/>
                <a:ea typeface="Times New Roman" pitchFamily="34" charset="-122"/>
                <a:cs typeface="Times New Roman" pitchFamily="34" charset="-120"/>
              </a:rPr>
              <a:t>C.Sai</a:t>
            </a:r>
            <a:r>
              <a:rPr lang="en-US" sz="1600" dirty="0">
                <a:solidFill>
                  <a:srgbClr val="000000"/>
                </a:solidFill>
                <a:latin typeface="Times New Roman" pitchFamily="34" charset="0"/>
                <a:ea typeface="Times New Roman" pitchFamily="34" charset="-122"/>
                <a:cs typeface="Times New Roman" pitchFamily="34" charset="-120"/>
              </a:rPr>
              <a:t> Kiran </a:t>
            </a:r>
            <a:r>
              <a:rPr lang="en-US" sz="1600" dirty="0"/>
              <a:t>(22011P0553)</a:t>
            </a:r>
          </a:p>
          <a:p>
            <a:pPr>
              <a:lnSpc>
                <a:spcPct val="100000"/>
              </a:lnSpc>
              <a:spcAft>
                <a:spcPts val="600"/>
              </a:spcAft>
              <a:defRPr sz="1200"/>
            </a:pPr>
            <a:r>
              <a:rPr lang="en-US" sz="1600" dirty="0" err="1"/>
              <a:t>B.Tech</a:t>
            </a:r>
            <a:r>
              <a:rPr lang="en-US" sz="1600" dirty="0"/>
              <a:t>-IDP ,5</a:t>
            </a:r>
            <a:r>
              <a:rPr lang="en-US" sz="1600" baseline="30000" dirty="0"/>
              <a:t>th</a:t>
            </a:r>
            <a:r>
              <a:rPr lang="en-US" sz="1600" dirty="0"/>
              <a:t> Year I Semester</a:t>
            </a:r>
          </a:p>
          <a:p>
            <a:pPr>
              <a:spcAft>
                <a:spcPts val="600"/>
              </a:spcAft>
              <a:defRPr sz="1200"/>
            </a:pPr>
            <a:r>
              <a:rPr lang="en-US" sz="1600" dirty="0"/>
              <a:t>CSE , JNTUH UCEH</a:t>
            </a:r>
          </a:p>
          <a:p>
            <a:pPr>
              <a:lnSpc>
                <a:spcPct val="100000"/>
              </a:lnSpc>
              <a:spcAft>
                <a:spcPts val="600"/>
              </a:spcAft>
              <a:defRPr sz="1200"/>
            </a:pPr>
            <a:endParaRPr lang="en-US" sz="1600" dirty="0"/>
          </a:p>
        </p:txBody>
      </p:sp>
      <p:sp>
        <p:nvSpPr>
          <p:cNvPr id="64" name="TextBox 63">
            <a:extLst>
              <a:ext uri="{FF2B5EF4-FFF2-40B4-BE49-F238E27FC236}">
                <a16:creationId xmlns:a16="http://schemas.microsoft.com/office/drawing/2014/main" id="{747F872F-98EE-C7BF-886E-788EE5483037}"/>
              </a:ext>
            </a:extLst>
          </p:cNvPr>
          <p:cNvSpPr txBox="1"/>
          <p:nvPr/>
        </p:nvSpPr>
        <p:spPr>
          <a:xfrm>
            <a:off x="6443472" y="3541609"/>
            <a:ext cx="4572000" cy="1231106"/>
          </a:xfrm>
          <a:prstGeom prst="rect">
            <a:avLst/>
          </a:prstGeom>
          <a:noFill/>
        </p:spPr>
        <p:txBody>
          <a:bodyPr wrap="square">
            <a:spAutoFit/>
          </a:bodyPr>
          <a:lstStyle/>
          <a:p>
            <a:pPr>
              <a:lnSpc>
                <a:spcPct val="100000"/>
              </a:lnSpc>
              <a:spcAft>
                <a:spcPts val="600"/>
              </a:spcAft>
              <a:defRPr sz="1200"/>
            </a:pPr>
            <a:r>
              <a:rPr lang="en-US" sz="1600" b="1" dirty="0">
                <a:solidFill>
                  <a:schemeClr val="accent2">
                    <a:lumMod val="50000"/>
                  </a:schemeClr>
                </a:solidFill>
              </a:rPr>
              <a:t>GUIDE:</a:t>
            </a:r>
          </a:p>
          <a:p>
            <a:pPr>
              <a:defRPr sz="1600" b="1">
                <a:solidFill>
                  <a:srgbClr val="1C221E"/>
                </a:solidFill>
                <a:latin typeface="Calibri"/>
              </a:defRPr>
            </a:pPr>
            <a:r>
              <a:rPr lang="en-US" sz="1600" dirty="0">
                <a:solidFill>
                  <a:srgbClr val="000000"/>
                </a:solidFill>
                <a:latin typeface="Times New Roman" pitchFamily="34" charset="0"/>
                <a:ea typeface="Times New Roman" pitchFamily="34" charset="-122"/>
                <a:cs typeface="Times New Roman" pitchFamily="34" charset="-120"/>
              </a:rPr>
              <a:t>N. Naveen </a:t>
            </a:r>
            <a:r>
              <a:rPr lang="en-US" sz="1600" dirty="0" err="1">
                <a:solidFill>
                  <a:srgbClr val="000000"/>
                </a:solidFill>
                <a:latin typeface="Times New Roman" pitchFamily="34" charset="0"/>
                <a:ea typeface="Times New Roman" pitchFamily="34" charset="-122"/>
                <a:cs typeface="Times New Roman" pitchFamily="34" charset="-120"/>
              </a:rPr>
              <a:t>kumar</a:t>
            </a:r>
            <a:endParaRPr lang="en-US" sz="1600" dirty="0"/>
          </a:p>
          <a:p>
            <a:pPr>
              <a:spcAft>
                <a:spcPts val="600"/>
              </a:spcAft>
              <a:defRPr sz="1200"/>
            </a:pPr>
            <a:r>
              <a:rPr lang="en-US" sz="1600" dirty="0">
                <a:solidFill>
                  <a:srgbClr val="000000"/>
                </a:solidFill>
                <a:latin typeface="Times New Roman" pitchFamily="34" charset="0"/>
                <a:ea typeface="Times New Roman" pitchFamily="34" charset="-122"/>
                <a:cs typeface="Times New Roman" pitchFamily="34" charset="-120"/>
              </a:rPr>
              <a:t>Associate professor</a:t>
            </a:r>
            <a:r>
              <a:rPr lang="en-US" sz="1600" dirty="0"/>
              <a:t>, CSE</a:t>
            </a:r>
          </a:p>
          <a:p>
            <a:pPr>
              <a:lnSpc>
                <a:spcPct val="100000"/>
              </a:lnSpc>
              <a:spcAft>
                <a:spcPts val="600"/>
              </a:spcAft>
              <a:defRPr sz="1200"/>
            </a:pPr>
            <a:r>
              <a:rPr lang="en-US" sz="1600" dirty="0"/>
              <a:t>JNTUH UCEH</a:t>
            </a:r>
          </a:p>
        </p:txBody>
      </p:sp>
    </p:spTree>
    <p:extLst>
      <p:ext uri="{BB962C8B-B14F-4D97-AF65-F5344CB8AC3E}">
        <p14:creationId xmlns:p14="http://schemas.microsoft.com/office/powerpoint/2010/main" val="2792182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9A62B8D4-55B5-740E-B510-E080219AA0BB}"/>
              </a:ext>
            </a:extLst>
          </p:cNvPr>
          <p:cNvGraphicFramePr>
            <a:graphicFrameLocks noGrp="1"/>
          </p:cNvGraphicFramePr>
          <p:nvPr>
            <p:extLst>
              <p:ext uri="{D42A27DB-BD31-4B8C-83A1-F6EECF244321}">
                <p14:modId xmlns:p14="http://schemas.microsoft.com/office/powerpoint/2010/main" val="399749328"/>
              </p:ext>
            </p:extLst>
          </p:nvPr>
        </p:nvGraphicFramePr>
        <p:xfrm>
          <a:off x="451104" y="856991"/>
          <a:ext cx="8241791" cy="3908095"/>
        </p:xfrm>
        <a:graphic>
          <a:graphicData uri="http://schemas.openxmlformats.org/drawingml/2006/table">
            <a:tbl>
              <a:tblPr firstRow="1" bandRow="1">
                <a:tableStyleId>{5C22544A-7EE6-4342-B048-85BDC9FD1C3A}</a:tableStyleId>
              </a:tblPr>
              <a:tblGrid>
                <a:gridCol w="1010023">
                  <a:extLst>
                    <a:ext uri="{9D8B030D-6E8A-4147-A177-3AD203B41FA5}">
                      <a16:colId xmlns:a16="http://schemas.microsoft.com/office/drawing/2014/main" val="20000"/>
                    </a:ext>
                  </a:extLst>
                </a:gridCol>
                <a:gridCol w="7231768">
                  <a:extLst>
                    <a:ext uri="{9D8B030D-6E8A-4147-A177-3AD203B41FA5}">
                      <a16:colId xmlns:a16="http://schemas.microsoft.com/office/drawing/2014/main" val="20001"/>
                    </a:ext>
                  </a:extLst>
                </a:gridCol>
              </a:tblGrid>
              <a:tr h="448279">
                <a:tc>
                  <a:txBody>
                    <a:bodyPr/>
                    <a:lstStyle/>
                    <a:p>
                      <a:pPr algn="ctr">
                        <a:spcAft>
                          <a:spcPts val="0"/>
                        </a:spcAft>
                        <a:defRPr sz="1700" b="1">
                          <a:solidFill>
                            <a:srgbClr val="FFFFFF"/>
                          </a:solidFill>
                          <a:latin typeface="Aptos"/>
                        </a:defRPr>
                      </a:pPr>
                      <a:r>
                        <a:rPr dirty="0">
                          <a:latin typeface="Times New Roman" pitchFamily="18" charset="0"/>
                          <a:cs typeface="Times New Roman" pitchFamily="18" charset="0"/>
                        </a:rPr>
                        <a:t>S. No.</a:t>
                      </a:r>
                    </a:p>
                  </a:txBody>
                  <a:tcPr marL="54864" marR="54864" marT="36576" marB="36576" anchor="ctr">
                    <a:solidFill>
                      <a:srgbClr val="142A56"/>
                    </a:solidFill>
                  </a:tcPr>
                </a:tc>
                <a:tc>
                  <a:txBody>
                    <a:bodyPr/>
                    <a:lstStyle/>
                    <a:p>
                      <a:pPr algn="ctr">
                        <a:spcAft>
                          <a:spcPts val="0"/>
                        </a:spcAft>
                        <a:defRPr sz="1700" b="1">
                          <a:solidFill>
                            <a:srgbClr val="FFFFFF"/>
                          </a:solidFill>
                          <a:latin typeface="Aptos"/>
                        </a:defRPr>
                      </a:pPr>
                      <a:r>
                        <a:rPr dirty="0">
                          <a:latin typeface="Times New Roman" pitchFamily="18" charset="0"/>
                          <a:cs typeface="Times New Roman" pitchFamily="18" charset="0"/>
                        </a:rPr>
                        <a:t>Section</a:t>
                      </a:r>
                    </a:p>
                  </a:txBody>
                  <a:tcPr marL="54864" marR="54864" marT="36576" marB="36576" anchor="ctr">
                    <a:solidFill>
                      <a:srgbClr val="142A56"/>
                    </a:solidFill>
                  </a:tcPr>
                </a:tc>
                <a:extLst>
                  <a:ext uri="{0D108BD9-81ED-4DB2-BD59-A6C34878D82A}">
                    <a16:rowId xmlns:a16="http://schemas.microsoft.com/office/drawing/2014/main" val="10000"/>
                  </a:ext>
                </a:extLst>
              </a:tr>
              <a:tr h="448279">
                <a:tc>
                  <a:txBody>
                    <a:bodyPr/>
                    <a:lstStyle/>
                    <a:p>
                      <a:pPr algn="l">
                        <a:spcAft>
                          <a:spcPts val="0"/>
                        </a:spcAft>
                        <a:defRPr sz="1600" b="0">
                          <a:solidFill>
                            <a:srgbClr val="1C1C1C"/>
                          </a:solidFill>
                          <a:latin typeface="Aptos"/>
                        </a:defRPr>
                      </a:pPr>
                      <a:r>
                        <a:rPr dirty="0">
                          <a:latin typeface="Times New Roman" pitchFamily="18" charset="0"/>
                          <a:cs typeface="Times New Roman" pitchFamily="18" charset="0"/>
                        </a:rPr>
                        <a:t>1</a:t>
                      </a:r>
                    </a:p>
                  </a:txBody>
                  <a:tcPr marL="54864" marR="54864" marT="36576" marB="36576" anchor="ctr">
                    <a:solidFill>
                      <a:srgbClr val="FFFFFF"/>
                    </a:solidFill>
                  </a:tcPr>
                </a:tc>
                <a:tc>
                  <a:txBody>
                    <a:bodyPr/>
                    <a:lstStyle/>
                    <a:p>
                      <a:pPr algn="l">
                        <a:spcAft>
                          <a:spcPts val="0"/>
                        </a:spcAft>
                        <a:defRPr sz="1600" b="0">
                          <a:solidFill>
                            <a:srgbClr val="1C1C1C"/>
                          </a:solidFill>
                          <a:latin typeface="Aptos"/>
                        </a:defRPr>
                      </a:pPr>
                      <a:r>
                        <a:rPr dirty="0">
                          <a:latin typeface="Times New Roman" pitchFamily="18" charset="0"/>
                          <a:cs typeface="Times New Roman" pitchFamily="18" charset="0"/>
                        </a:rPr>
                        <a:t>Abstract</a:t>
                      </a:r>
                    </a:p>
                  </a:txBody>
                  <a:tcPr marL="54864" marR="54864" marT="36576" marB="36576" anchor="ctr">
                    <a:solidFill>
                      <a:srgbClr val="FFFFFF"/>
                    </a:solidFill>
                  </a:tcPr>
                </a:tc>
                <a:extLst>
                  <a:ext uri="{0D108BD9-81ED-4DB2-BD59-A6C34878D82A}">
                    <a16:rowId xmlns:a16="http://schemas.microsoft.com/office/drawing/2014/main" val="10001"/>
                  </a:ext>
                </a:extLst>
              </a:tr>
              <a:tr h="385071">
                <a:tc>
                  <a:txBody>
                    <a:bodyPr/>
                    <a:lstStyle/>
                    <a:p>
                      <a:pPr algn="l">
                        <a:spcAft>
                          <a:spcPts val="0"/>
                        </a:spcAft>
                        <a:defRPr sz="1600" b="0">
                          <a:solidFill>
                            <a:srgbClr val="1C1C1C"/>
                          </a:solidFill>
                          <a:latin typeface="Aptos"/>
                        </a:defRPr>
                      </a:pPr>
                      <a:r>
                        <a:rPr dirty="0">
                          <a:latin typeface="Times New Roman" pitchFamily="18" charset="0"/>
                          <a:cs typeface="Times New Roman" pitchFamily="18" charset="0"/>
                        </a:rPr>
                        <a:t>2</a:t>
                      </a:r>
                    </a:p>
                  </a:txBody>
                  <a:tcPr marL="54864" marR="54864" marT="36576" marB="36576" anchor="ctr">
                    <a:solidFill>
                      <a:srgbClr val="F5F7FA"/>
                    </a:solidFill>
                  </a:tcPr>
                </a:tc>
                <a:tc>
                  <a:txBody>
                    <a:bodyPr/>
                    <a:lstStyle/>
                    <a:p>
                      <a:pPr algn="l">
                        <a:spcAft>
                          <a:spcPts val="0"/>
                        </a:spcAft>
                        <a:defRPr sz="1600" b="0">
                          <a:solidFill>
                            <a:srgbClr val="1C1C1C"/>
                          </a:solidFill>
                          <a:latin typeface="Aptos"/>
                        </a:defRPr>
                      </a:pPr>
                      <a:r>
                        <a:rPr dirty="0">
                          <a:latin typeface="Times New Roman" pitchFamily="18" charset="0"/>
                          <a:cs typeface="Times New Roman" pitchFamily="18" charset="0"/>
                        </a:rPr>
                        <a:t>Introduction</a:t>
                      </a:r>
                    </a:p>
                  </a:txBody>
                  <a:tcPr marL="54864" marR="54864" marT="36576" marB="36576" anchor="ctr">
                    <a:solidFill>
                      <a:srgbClr val="F5F7FA"/>
                    </a:solidFill>
                  </a:tcPr>
                </a:tc>
                <a:extLst>
                  <a:ext uri="{0D108BD9-81ED-4DB2-BD59-A6C34878D82A}">
                    <a16:rowId xmlns:a16="http://schemas.microsoft.com/office/drawing/2014/main" val="10002"/>
                  </a:ext>
                </a:extLst>
              </a:tr>
              <a:tr h="385071">
                <a:tc>
                  <a:txBody>
                    <a:bodyPr/>
                    <a:lstStyle/>
                    <a:p>
                      <a:pPr algn="l">
                        <a:spcAft>
                          <a:spcPts val="0"/>
                        </a:spcAft>
                        <a:defRPr sz="1600" b="0">
                          <a:solidFill>
                            <a:srgbClr val="1C1C1C"/>
                          </a:solidFill>
                          <a:latin typeface="Aptos"/>
                        </a:defRPr>
                      </a:pPr>
                      <a:r>
                        <a:rPr>
                          <a:latin typeface="Times New Roman" pitchFamily="18" charset="0"/>
                          <a:cs typeface="Times New Roman" pitchFamily="18" charset="0"/>
                        </a:rPr>
                        <a:t>3</a:t>
                      </a:r>
                    </a:p>
                  </a:txBody>
                  <a:tcPr marL="54864" marR="54864" marT="36576" marB="36576" anchor="ctr">
                    <a:solidFill>
                      <a:srgbClr val="FFFFF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sz="1600" b="0">
                          <a:solidFill>
                            <a:srgbClr val="1C1C1C"/>
                          </a:solidFill>
                          <a:latin typeface="Aptos"/>
                        </a:defRPr>
                      </a:pPr>
                      <a:r>
                        <a:rPr dirty="0">
                          <a:latin typeface="Times New Roman" pitchFamily="18" charset="0"/>
                          <a:cs typeface="Times New Roman" pitchFamily="18" charset="0"/>
                        </a:rPr>
                        <a:t>Problem Statement &amp; Research Gap</a:t>
                      </a:r>
                    </a:p>
                  </a:txBody>
                  <a:tcPr marL="54864" marR="54864" marT="36576" marB="36576" anchor="ctr">
                    <a:solidFill>
                      <a:srgbClr val="FFFFFF"/>
                    </a:solidFill>
                  </a:tcPr>
                </a:tc>
                <a:extLst>
                  <a:ext uri="{0D108BD9-81ED-4DB2-BD59-A6C34878D82A}">
                    <a16:rowId xmlns:a16="http://schemas.microsoft.com/office/drawing/2014/main" val="10003"/>
                  </a:ext>
                </a:extLst>
              </a:tr>
              <a:tr h="448279">
                <a:tc>
                  <a:txBody>
                    <a:bodyPr/>
                    <a:lstStyle/>
                    <a:p>
                      <a:pPr algn="l">
                        <a:spcAft>
                          <a:spcPts val="0"/>
                        </a:spcAft>
                        <a:defRPr sz="1600" b="0">
                          <a:solidFill>
                            <a:srgbClr val="1C1C1C"/>
                          </a:solidFill>
                          <a:latin typeface="Aptos"/>
                        </a:defRPr>
                      </a:pPr>
                      <a:r>
                        <a:rPr lang="en-IN" dirty="0">
                          <a:latin typeface="Times New Roman" pitchFamily="18" charset="0"/>
                          <a:cs typeface="Times New Roman" pitchFamily="18" charset="0"/>
                        </a:rPr>
                        <a:t>4</a:t>
                      </a:r>
                      <a:endParaRPr dirty="0">
                        <a:latin typeface="Times New Roman" pitchFamily="18" charset="0"/>
                        <a:cs typeface="Times New Roman" pitchFamily="18" charset="0"/>
                      </a:endParaRPr>
                    </a:p>
                  </a:txBody>
                  <a:tcPr marL="54864" marR="54864" marT="36576" marB="36576" anchor="ctr">
                    <a:solidFill>
                      <a:srgbClr val="FFFFF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sz="1600" b="0">
                          <a:solidFill>
                            <a:srgbClr val="1C1C1C"/>
                          </a:solidFill>
                          <a:latin typeface="Aptos"/>
                        </a:defRPr>
                      </a:pPr>
                      <a:r>
                        <a:rPr lang="en-IN" dirty="0">
                          <a:latin typeface="Times New Roman" pitchFamily="18" charset="0"/>
                          <a:cs typeface="Times New Roman" pitchFamily="18" charset="0"/>
                        </a:rPr>
                        <a:t>Related Papers</a:t>
                      </a:r>
                    </a:p>
                  </a:txBody>
                  <a:tcPr marL="54864" marR="54864" marT="36576" marB="36576" anchor="ctr">
                    <a:solidFill>
                      <a:srgbClr val="FFFFFF"/>
                    </a:solidFill>
                  </a:tcPr>
                </a:tc>
                <a:extLst>
                  <a:ext uri="{0D108BD9-81ED-4DB2-BD59-A6C34878D82A}">
                    <a16:rowId xmlns:a16="http://schemas.microsoft.com/office/drawing/2014/main" val="791722108"/>
                  </a:ext>
                </a:extLst>
              </a:tr>
              <a:tr h="448279">
                <a:tc>
                  <a:txBody>
                    <a:bodyPr/>
                    <a:lstStyle/>
                    <a:p>
                      <a:pPr algn="l">
                        <a:spcAft>
                          <a:spcPts val="0"/>
                        </a:spcAft>
                        <a:defRPr sz="1600" b="0">
                          <a:solidFill>
                            <a:srgbClr val="1C1C1C"/>
                          </a:solidFill>
                          <a:latin typeface="Aptos"/>
                        </a:defRPr>
                      </a:pPr>
                      <a:r>
                        <a:rPr>
                          <a:latin typeface="Times New Roman" pitchFamily="18" charset="0"/>
                          <a:cs typeface="Times New Roman" pitchFamily="18" charset="0"/>
                        </a:rPr>
                        <a:t>5</a:t>
                      </a:r>
                    </a:p>
                  </a:txBody>
                  <a:tcPr marL="54864" marR="54864" marT="36576" marB="36576" anchor="ctr">
                    <a:solidFill>
                      <a:srgbClr val="F5F7FA"/>
                    </a:solidFill>
                  </a:tcPr>
                </a:tc>
                <a:tc>
                  <a:txBody>
                    <a:bodyPr/>
                    <a:lstStyle/>
                    <a:p>
                      <a:pPr algn="l">
                        <a:spcAft>
                          <a:spcPts val="0"/>
                        </a:spcAft>
                        <a:defRPr sz="1600" b="0">
                          <a:solidFill>
                            <a:srgbClr val="1C1C1C"/>
                          </a:solidFill>
                          <a:latin typeface="Aptos"/>
                        </a:defRPr>
                      </a:pPr>
                      <a:r>
                        <a:rPr lang="en-IN" dirty="0">
                          <a:latin typeface="Times New Roman" pitchFamily="18" charset="0"/>
                          <a:cs typeface="Times New Roman" pitchFamily="18" charset="0"/>
                        </a:rPr>
                        <a:t>Existing Methodology &amp; Results (Base Paper)</a:t>
                      </a:r>
                      <a:endParaRPr dirty="0">
                        <a:latin typeface="Times New Roman" pitchFamily="18" charset="0"/>
                        <a:cs typeface="Times New Roman" pitchFamily="18" charset="0"/>
                      </a:endParaRPr>
                    </a:p>
                  </a:txBody>
                  <a:tcPr marL="54864" marR="54864" marT="36576" marB="36576" anchor="ctr">
                    <a:solidFill>
                      <a:srgbClr val="F5F7FA"/>
                    </a:solidFill>
                  </a:tcPr>
                </a:tc>
                <a:extLst>
                  <a:ext uri="{0D108BD9-81ED-4DB2-BD59-A6C34878D82A}">
                    <a16:rowId xmlns:a16="http://schemas.microsoft.com/office/drawing/2014/main" val="10004"/>
                  </a:ext>
                </a:extLst>
              </a:tr>
              <a:tr h="448279">
                <a:tc>
                  <a:txBody>
                    <a:bodyPr/>
                    <a:lstStyle/>
                    <a:p>
                      <a:pPr algn="l">
                        <a:spcAft>
                          <a:spcPts val="0"/>
                        </a:spcAft>
                        <a:defRPr sz="1600" b="0">
                          <a:solidFill>
                            <a:srgbClr val="1C1C1C"/>
                          </a:solidFill>
                          <a:latin typeface="Aptos"/>
                        </a:defRPr>
                      </a:pPr>
                      <a:r>
                        <a:rPr lang="en-IN" dirty="0">
                          <a:latin typeface="Times New Roman" pitchFamily="18" charset="0"/>
                          <a:cs typeface="Times New Roman" pitchFamily="18" charset="0"/>
                        </a:rPr>
                        <a:t>6</a:t>
                      </a:r>
                      <a:endParaRPr dirty="0">
                        <a:latin typeface="Times New Roman" pitchFamily="18" charset="0"/>
                        <a:cs typeface="Times New Roman" pitchFamily="18" charset="0"/>
                      </a:endParaRPr>
                    </a:p>
                  </a:txBody>
                  <a:tcPr marL="54864" marR="54864" marT="36576" marB="36576" anchor="ctr">
                    <a:solidFill>
                      <a:srgbClr val="F5F7FA"/>
                    </a:solidFill>
                  </a:tcPr>
                </a:tc>
                <a:tc>
                  <a:txBody>
                    <a:bodyPr/>
                    <a:lstStyle/>
                    <a:p>
                      <a:pPr algn="l">
                        <a:spcAft>
                          <a:spcPts val="0"/>
                        </a:spcAft>
                        <a:defRPr sz="1600" b="0">
                          <a:solidFill>
                            <a:srgbClr val="1C1C1C"/>
                          </a:solidFill>
                          <a:latin typeface="Aptos"/>
                        </a:defRPr>
                      </a:pPr>
                      <a:r>
                        <a:rPr dirty="0">
                          <a:latin typeface="Times New Roman" pitchFamily="18" charset="0"/>
                          <a:cs typeface="Times New Roman" pitchFamily="18" charset="0"/>
                        </a:rPr>
                        <a:t>Implementation Plan &amp; Proposed Flow Diagram</a:t>
                      </a:r>
                    </a:p>
                  </a:txBody>
                  <a:tcPr marL="54864" marR="54864" marT="36576" marB="36576" anchor="ctr">
                    <a:solidFill>
                      <a:srgbClr val="F5F7FA"/>
                    </a:solidFill>
                  </a:tcPr>
                </a:tc>
                <a:extLst>
                  <a:ext uri="{0D108BD9-81ED-4DB2-BD59-A6C34878D82A}">
                    <a16:rowId xmlns:a16="http://schemas.microsoft.com/office/drawing/2014/main" val="10006"/>
                  </a:ext>
                </a:extLst>
              </a:tr>
              <a:tr h="448279">
                <a:tc>
                  <a:txBody>
                    <a:bodyPr/>
                    <a:lstStyle/>
                    <a:p>
                      <a:pPr algn="l">
                        <a:spcAft>
                          <a:spcPts val="0"/>
                        </a:spcAft>
                        <a:defRPr sz="1600" b="0">
                          <a:solidFill>
                            <a:srgbClr val="1C1C1C"/>
                          </a:solidFill>
                          <a:latin typeface="Aptos"/>
                        </a:defRPr>
                      </a:pPr>
                      <a:r>
                        <a:rPr lang="en-IN" dirty="0">
                          <a:latin typeface="Times New Roman" pitchFamily="18" charset="0"/>
                          <a:cs typeface="Times New Roman" pitchFamily="18" charset="0"/>
                        </a:rPr>
                        <a:t>7</a:t>
                      </a:r>
                      <a:endParaRPr dirty="0">
                        <a:latin typeface="Times New Roman" pitchFamily="18" charset="0"/>
                        <a:cs typeface="Times New Roman" pitchFamily="18" charset="0"/>
                      </a:endParaRPr>
                    </a:p>
                  </a:txBody>
                  <a:tcPr marL="54864" marR="54864" marT="36576" marB="36576" anchor="ctr">
                    <a:solidFill>
                      <a:srgbClr val="FFFFFF"/>
                    </a:solidFill>
                  </a:tcPr>
                </a:tc>
                <a:tc>
                  <a:txBody>
                    <a:bodyPr/>
                    <a:lstStyle/>
                    <a:p>
                      <a:pPr algn="l">
                        <a:spcAft>
                          <a:spcPts val="0"/>
                        </a:spcAft>
                        <a:defRPr sz="1600" b="0">
                          <a:solidFill>
                            <a:srgbClr val="1C1C1C"/>
                          </a:solidFill>
                          <a:latin typeface="Aptos"/>
                        </a:defRPr>
                      </a:pPr>
                      <a:r>
                        <a:rPr dirty="0">
                          <a:latin typeface="Times New Roman" pitchFamily="18" charset="0"/>
                          <a:cs typeface="Times New Roman" pitchFamily="18" charset="0"/>
                        </a:rPr>
                        <a:t>Expected Outcomes &amp; Conclusion</a:t>
                      </a:r>
                    </a:p>
                  </a:txBody>
                  <a:tcPr marL="54864" marR="54864" marT="36576" marB="36576" anchor="ctr">
                    <a:solidFill>
                      <a:srgbClr val="FFFFFF"/>
                    </a:solidFill>
                  </a:tcPr>
                </a:tc>
                <a:extLst>
                  <a:ext uri="{0D108BD9-81ED-4DB2-BD59-A6C34878D82A}">
                    <a16:rowId xmlns:a16="http://schemas.microsoft.com/office/drawing/2014/main" val="10011"/>
                  </a:ext>
                </a:extLst>
              </a:tr>
              <a:tr h="448279">
                <a:tc>
                  <a:txBody>
                    <a:bodyPr/>
                    <a:lstStyle/>
                    <a:p>
                      <a:pPr algn="l">
                        <a:spcAft>
                          <a:spcPts val="0"/>
                        </a:spcAft>
                        <a:defRPr sz="1600" b="0">
                          <a:solidFill>
                            <a:srgbClr val="1C1C1C"/>
                          </a:solidFill>
                          <a:latin typeface="Aptos"/>
                        </a:defRPr>
                      </a:pPr>
                      <a:r>
                        <a:rPr lang="en-IN" dirty="0">
                          <a:latin typeface="Times New Roman" pitchFamily="18" charset="0"/>
                          <a:cs typeface="Times New Roman" pitchFamily="18" charset="0"/>
                        </a:rPr>
                        <a:t>8</a:t>
                      </a:r>
                      <a:endParaRPr dirty="0">
                        <a:latin typeface="Times New Roman" pitchFamily="18" charset="0"/>
                        <a:cs typeface="Times New Roman" pitchFamily="18" charset="0"/>
                      </a:endParaRPr>
                    </a:p>
                  </a:txBody>
                  <a:tcPr marL="54864" marR="54864" marT="36576" marB="36576" anchor="ctr">
                    <a:solidFill>
                      <a:srgbClr val="F5F7FA"/>
                    </a:solidFill>
                  </a:tcPr>
                </a:tc>
                <a:tc>
                  <a:txBody>
                    <a:bodyPr/>
                    <a:lstStyle/>
                    <a:p>
                      <a:pPr algn="l">
                        <a:spcAft>
                          <a:spcPts val="0"/>
                        </a:spcAft>
                        <a:defRPr sz="1600" b="0">
                          <a:solidFill>
                            <a:srgbClr val="1C1C1C"/>
                          </a:solidFill>
                          <a:latin typeface="Aptos"/>
                        </a:defRPr>
                      </a:pPr>
                      <a:r>
                        <a:rPr lang="en-IN" dirty="0">
                          <a:latin typeface="Times New Roman" pitchFamily="18" charset="0"/>
                          <a:cs typeface="Times New Roman" pitchFamily="18" charset="0"/>
                        </a:rPr>
                        <a:t>References</a:t>
                      </a:r>
                      <a:endParaRPr dirty="0">
                        <a:latin typeface="Times New Roman" pitchFamily="18" charset="0"/>
                        <a:cs typeface="Times New Roman" pitchFamily="18" charset="0"/>
                      </a:endParaRPr>
                    </a:p>
                  </a:txBody>
                  <a:tcPr marL="54864" marR="54864" marT="36576" marB="36576" anchor="ctr">
                    <a:solidFill>
                      <a:srgbClr val="F5F7FA"/>
                    </a:solidFill>
                  </a:tcPr>
                </a:tc>
                <a:extLst>
                  <a:ext uri="{0D108BD9-81ED-4DB2-BD59-A6C34878D82A}">
                    <a16:rowId xmlns:a16="http://schemas.microsoft.com/office/drawing/2014/main" val="10012"/>
                  </a:ext>
                </a:extLst>
              </a:tr>
            </a:tbl>
          </a:graphicData>
        </a:graphic>
      </p:graphicFrame>
      <p:sp>
        <p:nvSpPr>
          <p:cNvPr id="9" name="TextBox 8">
            <a:extLst>
              <a:ext uri="{FF2B5EF4-FFF2-40B4-BE49-F238E27FC236}">
                <a16:creationId xmlns:a16="http://schemas.microsoft.com/office/drawing/2014/main" id="{66240105-58B7-F988-5015-806B6D9AB26E}"/>
              </a:ext>
            </a:extLst>
          </p:cNvPr>
          <p:cNvSpPr txBox="1"/>
          <p:nvPr/>
        </p:nvSpPr>
        <p:spPr>
          <a:xfrm>
            <a:off x="2871216" y="139887"/>
            <a:ext cx="4572000" cy="477054"/>
          </a:xfrm>
          <a:prstGeom prst="rect">
            <a:avLst/>
          </a:prstGeom>
          <a:noFill/>
        </p:spPr>
        <p:txBody>
          <a:bodyPr wrap="square">
            <a:spAutoFit/>
          </a:bodyPr>
          <a:lstStyle/>
          <a:p>
            <a:pPr algn="ctr">
              <a:defRPr sz="2500" b="1">
                <a:solidFill>
                  <a:srgbClr val="142A56"/>
                </a:solidFill>
                <a:latin typeface="Aptos"/>
              </a:defRPr>
            </a:pPr>
            <a:r>
              <a:rPr lang="en-US" sz="2500" dirty="0">
                <a:latin typeface="Times New Roman" panose="02020603050405020304" pitchFamily="18" charset="0"/>
                <a:cs typeface="Times New Roman" panose="02020603050405020304" pitchFamily="18" charset="0"/>
              </a:rPr>
              <a:t>TABLE OF CONTENTS</a:t>
            </a:r>
          </a:p>
        </p:txBody>
      </p:sp>
    </p:spTree>
    <p:extLst>
      <p:ext uri="{BB962C8B-B14F-4D97-AF65-F5344CB8AC3E}">
        <p14:creationId xmlns:p14="http://schemas.microsoft.com/office/powerpoint/2010/main" val="2190956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638290" y="571500"/>
            <a:ext cx="1867365" cy="396478"/>
          </a:xfrm>
          <a:prstGeom prst="rect">
            <a:avLst/>
          </a:prstGeom>
          <a:noFill/>
          <a:ln/>
        </p:spPr>
        <p:txBody>
          <a:bodyPr wrap="square" lIns="0" tIns="0" rIns="0" bIns="0" rtlCol="0" anchor="t">
            <a:spAutoFit/>
          </a:bodyPr>
          <a:lstStyle/>
          <a:p>
            <a:pPr marL="0" indent="0" algn="l">
              <a:buNone/>
            </a:pPr>
            <a:r>
              <a:rPr lang="en-US" sz="2450" b="1" dirty="0">
                <a:solidFill>
                  <a:srgbClr val="000000"/>
                </a:solidFill>
                <a:latin typeface="Times New Roman" pitchFamily="34" charset="0"/>
                <a:ea typeface="Times New Roman" pitchFamily="34" charset="-122"/>
                <a:cs typeface="Times New Roman" pitchFamily="34" charset="-120"/>
              </a:rPr>
              <a:t>ABSTRACT</a:t>
            </a:r>
            <a:endParaRPr lang="en-US" sz="2450" dirty="0"/>
          </a:p>
        </p:txBody>
      </p:sp>
      <p:sp>
        <p:nvSpPr>
          <p:cNvPr id="4" name="Text 1"/>
          <p:cNvSpPr/>
          <p:nvPr/>
        </p:nvSpPr>
        <p:spPr>
          <a:xfrm>
            <a:off x="714375" y="1396603"/>
            <a:ext cx="7715250" cy="1782812"/>
          </a:xfrm>
          <a:prstGeom prst="rect">
            <a:avLst/>
          </a:prstGeom>
          <a:noFill/>
          <a:ln/>
        </p:spPr>
        <p:txBody>
          <a:bodyPr wrap="square" lIns="0" tIns="0" rIns="0" bIns="0" rtlCol="0" anchor="t">
            <a:spAutoFit/>
          </a:bodyPr>
          <a:lstStyle/>
          <a:p>
            <a:pPr marL="0" indent="0" algn="just">
              <a:lnSpc>
                <a:spcPct val="128000"/>
              </a:lnSpc>
              <a:buNone/>
            </a:pPr>
            <a:r>
              <a:rPr lang="en-US" sz="1400" dirty="0">
                <a:solidFill>
                  <a:srgbClr val="000000"/>
                </a:solidFill>
                <a:latin typeface="Times New Roman" pitchFamily="34" charset="0"/>
                <a:ea typeface="Times New Roman" pitchFamily="34" charset="-122"/>
                <a:cs typeface="Times New Roman" pitchFamily="34" charset="-120"/>
              </a:rPr>
              <a:t>The proposed research focuses on developing an intelligent framework for identifying spam and fake reviews in e-commerce platforms. By analyzing the inconsistency between textual sentiment and numerical star ratings, the system aims to improve review reliability. The project integrates advanced NLP techniques like BERT with Machine Learning classifiers to move beyond static, lexicon-based approaches, ensuring a robust and automated solution for maintaining the integrity of online consumer opinions.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2611208" y="571500"/>
            <a:ext cx="3921584" cy="396478"/>
          </a:xfrm>
          <a:prstGeom prst="rect">
            <a:avLst/>
          </a:prstGeom>
          <a:noFill/>
          <a:ln/>
        </p:spPr>
        <p:txBody>
          <a:bodyPr wrap="square" lIns="0" tIns="0" rIns="0" bIns="0" rtlCol="0" anchor="t">
            <a:spAutoFit/>
          </a:bodyPr>
          <a:lstStyle/>
          <a:p>
            <a:pPr marL="0" indent="0" algn="l">
              <a:buNone/>
            </a:pPr>
            <a:r>
              <a:rPr lang="en-US" sz="2450" b="1" dirty="0">
                <a:solidFill>
                  <a:srgbClr val="000000"/>
                </a:solidFill>
                <a:latin typeface="Times New Roman" pitchFamily="34" charset="0"/>
                <a:ea typeface="Times New Roman" pitchFamily="34" charset="-122"/>
                <a:cs typeface="Times New Roman" pitchFamily="34" charset="-120"/>
              </a:rPr>
              <a:t>PROBLEM STATEMENT</a:t>
            </a:r>
            <a:endParaRPr lang="en-US" sz="2450" dirty="0"/>
          </a:p>
        </p:txBody>
      </p:sp>
      <p:sp>
        <p:nvSpPr>
          <p:cNvPr id="4" name="Text 1"/>
          <p:cNvSpPr/>
          <p:nvPr/>
        </p:nvSpPr>
        <p:spPr>
          <a:xfrm>
            <a:off x="208280" y="1391126"/>
            <a:ext cx="8727440" cy="738664"/>
          </a:xfrm>
          <a:prstGeom prst="rect">
            <a:avLst/>
          </a:prstGeom>
          <a:noFill/>
          <a:ln/>
        </p:spPr>
        <p:txBody>
          <a:bodyPr wrap="square" lIns="0" tIns="0" rIns="0" bIns="0" rtlCol="0" anchor="t">
            <a:spAutoFit/>
          </a:bodyPr>
          <a:lstStyle/>
          <a:p>
            <a:pPr algn="just"/>
            <a:r>
              <a:rPr lang="en-US" sz="1600" dirty="0"/>
              <a:t>Fake and spam reviews can mislead customers and reduce the reliability of online product-review Existing Systems . lexicon-based methods rely on fixed dictionaries and thresholds, so they often fail to understand context and new spam patterns.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200233" y="571500"/>
            <a:ext cx="2743535" cy="396478"/>
          </a:xfrm>
          <a:prstGeom prst="rect">
            <a:avLst/>
          </a:prstGeom>
          <a:noFill/>
          <a:ln/>
        </p:spPr>
        <p:txBody>
          <a:bodyPr wrap="square" lIns="0" tIns="0" rIns="0" bIns="0" rtlCol="0" anchor="t">
            <a:spAutoFit/>
          </a:bodyPr>
          <a:lstStyle/>
          <a:p>
            <a:pPr marL="0" indent="0" algn="l">
              <a:buNone/>
            </a:pPr>
            <a:r>
              <a:rPr lang="en-US" sz="2450" b="1" dirty="0">
                <a:solidFill>
                  <a:srgbClr val="000000"/>
                </a:solidFill>
                <a:latin typeface="Times New Roman" pitchFamily="34" charset="0"/>
                <a:ea typeface="Times New Roman" pitchFamily="34" charset="-122"/>
                <a:cs typeface="Times New Roman" pitchFamily="34" charset="-120"/>
              </a:rPr>
              <a:t>INTRODUCTION</a:t>
            </a:r>
            <a:endParaRPr lang="en-US" sz="2450" dirty="0"/>
          </a:p>
        </p:txBody>
      </p:sp>
      <p:sp>
        <p:nvSpPr>
          <p:cNvPr id="4" name="Text 1"/>
          <p:cNvSpPr/>
          <p:nvPr/>
        </p:nvSpPr>
        <p:spPr>
          <a:xfrm>
            <a:off x="348615" y="1190741"/>
            <a:ext cx="7715250" cy="1864998"/>
          </a:xfrm>
          <a:prstGeom prst="rect">
            <a:avLst/>
          </a:prstGeom>
          <a:noFill/>
          <a:ln/>
        </p:spPr>
        <p:txBody>
          <a:bodyPr wrap="square" lIns="0" tIns="0" rIns="0" bIns="0" rtlCol="0" anchor="t">
            <a:spAutoFit/>
          </a:bodyPr>
          <a:lstStyle/>
          <a:p>
            <a:pPr marL="0" indent="0" algn="just">
              <a:lnSpc>
                <a:spcPct val="128000"/>
              </a:lnSpc>
              <a:buNone/>
            </a:pPr>
            <a:r>
              <a:rPr lang="en-US" sz="1600" dirty="0">
                <a:solidFill>
                  <a:srgbClr val="000000"/>
                </a:solidFill>
                <a:latin typeface="Times New Roman" pitchFamily="34" charset="0"/>
                <a:ea typeface="Times New Roman" pitchFamily="34" charset="-122"/>
                <a:cs typeface="Times New Roman" pitchFamily="34" charset="-120"/>
              </a:rPr>
              <a:t>Product reviews are a vital source of information for consumers and businesses alike, serving as a cornerstone for purchasing decisions in the e-commerce landscape. The "Spam Threat" involves reviews that are deceptive, biased, or promotional, which can mislead customers and harm business reputations. This project leverages Artificial Intelligence, Natural Language Processing, and Machine Learning to provide a robust, automated solution for detecting these suspicious patterns and ensuring the integrity of online consumer feedback.</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7210"/>
            <a:ext cx="9144000" cy="5146849"/>
          </a:xfrm>
          <a:prstGeom prst="rect">
            <a:avLst/>
          </a:prstGeom>
        </p:spPr>
      </p:pic>
      <p:sp>
        <p:nvSpPr>
          <p:cNvPr id="3" name="Text 0"/>
          <p:cNvSpPr/>
          <p:nvPr/>
        </p:nvSpPr>
        <p:spPr>
          <a:xfrm>
            <a:off x="2985585" y="571500"/>
            <a:ext cx="3172830" cy="396478"/>
          </a:xfrm>
          <a:prstGeom prst="rect">
            <a:avLst/>
          </a:prstGeom>
          <a:noFill/>
          <a:ln/>
        </p:spPr>
        <p:txBody>
          <a:bodyPr wrap="square" lIns="0" tIns="0" rIns="0" bIns="0" rtlCol="0" anchor="t">
            <a:spAutoFit/>
          </a:bodyPr>
          <a:lstStyle/>
          <a:p>
            <a:pPr marL="0" indent="0" algn="l">
              <a:buNone/>
            </a:pPr>
            <a:r>
              <a:rPr lang="en-US" sz="2450" b="1" dirty="0">
                <a:solidFill>
                  <a:srgbClr val="000000"/>
                </a:solidFill>
                <a:latin typeface="Times New Roman" pitchFamily="34" charset="0"/>
                <a:ea typeface="Times New Roman" pitchFamily="34" charset="-122"/>
                <a:cs typeface="Times New Roman" pitchFamily="34" charset="-120"/>
              </a:rPr>
              <a:t>EXISTING SYSTEM</a:t>
            </a:r>
            <a:endParaRPr lang="en-US" sz="2450" dirty="0"/>
          </a:p>
        </p:txBody>
      </p:sp>
      <p:sp>
        <p:nvSpPr>
          <p:cNvPr id="4" name="Text 1"/>
          <p:cNvSpPr/>
          <p:nvPr/>
        </p:nvSpPr>
        <p:spPr>
          <a:xfrm>
            <a:off x="71120" y="1121087"/>
            <a:ext cx="9072880" cy="673389"/>
          </a:xfrm>
          <a:prstGeom prst="rect">
            <a:avLst/>
          </a:prstGeom>
          <a:noFill/>
          <a:ln/>
        </p:spPr>
        <p:txBody>
          <a:bodyPr wrap="square" lIns="0" tIns="0" rIns="0" bIns="0" rtlCol="0" anchor="t">
            <a:spAutoFit/>
          </a:bodyPr>
          <a:lstStyle/>
          <a:p>
            <a:pPr marL="0" indent="0" algn="ctr">
              <a:lnSpc>
                <a:spcPct val="144000"/>
              </a:lnSpc>
              <a:buNone/>
            </a:pPr>
            <a:r>
              <a:rPr lang="en-US" sz="1600" b="1" dirty="0">
                <a:solidFill>
                  <a:srgbClr val="000000"/>
                </a:solidFill>
                <a:latin typeface="Times New Roman" pitchFamily="34" charset="0"/>
                <a:ea typeface="Times New Roman" pitchFamily="34" charset="-122"/>
                <a:cs typeface="Times New Roman" pitchFamily="34" charset="-120"/>
              </a:rPr>
              <a:t>The base paper by Chauhan et al. (2017) established a fundamental framework for spam detection using:</a:t>
            </a:r>
            <a:endParaRPr lang="en-US" sz="1600" b="1" dirty="0"/>
          </a:p>
        </p:txBody>
      </p:sp>
      <p:sp>
        <p:nvSpPr>
          <p:cNvPr id="5" name="Text 2"/>
          <p:cNvSpPr/>
          <p:nvPr/>
        </p:nvSpPr>
        <p:spPr>
          <a:xfrm>
            <a:off x="362267" y="1864274"/>
            <a:ext cx="6143625" cy="668610"/>
          </a:xfrm>
          <a:prstGeom prst="rect">
            <a:avLst/>
          </a:prstGeom>
          <a:noFill/>
          <a:ln/>
        </p:spPr>
        <p:txBody>
          <a:bodyPr wrap="square" lIns="0" tIns="0" rIns="0" bIns="0" rtlCol="0" anchor="t">
            <a:spAutoFit/>
          </a:bodyPr>
          <a:lstStyle/>
          <a:p>
            <a:pPr marL="127000" indent="-127000" algn="l">
              <a:lnSpc>
                <a:spcPct val="144000"/>
              </a:lnSpc>
              <a:buSzPct val="100000"/>
              <a:buChar char="•"/>
            </a:pPr>
            <a:r>
              <a:rPr lang="en-US" sz="1600" b="1" dirty="0">
                <a:solidFill>
                  <a:srgbClr val="000000"/>
                </a:solidFill>
                <a:latin typeface="Times New Roman" pitchFamily="34" charset="0"/>
                <a:ea typeface="Times New Roman" pitchFamily="34" charset="-122"/>
                <a:cs typeface="Times New Roman" pitchFamily="34" charset="-120"/>
              </a:rPr>
              <a:t>Lexicon-Based Sentiment Analysis:</a:t>
            </a:r>
            <a:r>
              <a:rPr lang="en-US" sz="1600" dirty="0">
                <a:solidFill>
                  <a:srgbClr val="000000"/>
                </a:solidFill>
                <a:latin typeface="Times New Roman" pitchFamily="34" charset="0"/>
                <a:ea typeface="Times New Roman" pitchFamily="34" charset="-122"/>
                <a:cs typeface="Times New Roman" pitchFamily="34" charset="-120"/>
              </a:rPr>
              <a:t> Utilizing a custom weighted dictionary to assign polarity scores to review tokens.</a:t>
            </a:r>
            <a:endParaRPr lang="en-US" sz="1600" dirty="0"/>
          </a:p>
        </p:txBody>
      </p:sp>
      <p:sp>
        <p:nvSpPr>
          <p:cNvPr id="6" name="Text 3"/>
          <p:cNvSpPr/>
          <p:nvPr/>
        </p:nvSpPr>
        <p:spPr>
          <a:xfrm>
            <a:off x="362267" y="2654328"/>
            <a:ext cx="6143625" cy="668610"/>
          </a:xfrm>
          <a:prstGeom prst="rect">
            <a:avLst/>
          </a:prstGeom>
          <a:noFill/>
          <a:ln/>
        </p:spPr>
        <p:txBody>
          <a:bodyPr wrap="square" lIns="0" tIns="0" rIns="0" bIns="0" rtlCol="0" anchor="t">
            <a:spAutoFit/>
          </a:bodyPr>
          <a:lstStyle/>
          <a:p>
            <a:pPr marL="127000" indent="-127000" algn="l">
              <a:lnSpc>
                <a:spcPct val="144000"/>
              </a:lnSpc>
              <a:buSzPct val="100000"/>
              <a:buChar char="•"/>
            </a:pPr>
            <a:r>
              <a:rPr lang="en-US" sz="1600" b="1" dirty="0">
                <a:solidFill>
                  <a:srgbClr val="000000"/>
                </a:solidFill>
                <a:latin typeface="Times New Roman" pitchFamily="34" charset="0"/>
                <a:ea typeface="Times New Roman" pitchFamily="34" charset="-122"/>
                <a:cs typeface="Times New Roman" pitchFamily="34" charset="-120"/>
              </a:rPr>
              <a:t>Star-Rating Normalization:</a:t>
            </a:r>
            <a:r>
              <a:rPr lang="en-US" sz="1600" dirty="0">
                <a:solidFill>
                  <a:srgbClr val="000000"/>
                </a:solidFill>
                <a:latin typeface="Times New Roman" pitchFamily="34" charset="0"/>
                <a:ea typeface="Times New Roman" pitchFamily="34" charset="-122"/>
                <a:cs typeface="Times New Roman" pitchFamily="34" charset="-120"/>
              </a:rPr>
              <a:t> Converting numerical ratings (1-5) into a normalized scale (-1 to +1) for direct comparison.</a:t>
            </a:r>
            <a:endParaRPr lang="en-US" sz="1600" dirty="0"/>
          </a:p>
        </p:txBody>
      </p:sp>
      <p:sp>
        <p:nvSpPr>
          <p:cNvPr id="7" name="Text 4"/>
          <p:cNvSpPr/>
          <p:nvPr/>
        </p:nvSpPr>
        <p:spPr>
          <a:xfrm>
            <a:off x="362267" y="3489303"/>
            <a:ext cx="6143625" cy="668610"/>
          </a:xfrm>
          <a:prstGeom prst="rect">
            <a:avLst/>
          </a:prstGeom>
          <a:noFill/>
          <a:ln/>
        </p:spPr>
        <p:txBody>
          <a:bodyPr wrap="square" lIns="0" tIns="0" rIns="0" bIns="0" rtlCol="0" anchor="t">
            <a:spAutoFit/>
          </a:bodyPr>
          <a:lstStyle/>
          <a:p>
            <a:pPr marL="127000" indent="-127000" algn="l">
              <a:lnSpc>
                <a:spcPct val="144000"/>
              </a:lnSpc>
              <a:buSzPct val="100000"/>
              <a:buChar char="•"/>
            </a:pPr>
            <a:r>
              <a:rPr lang="en-US" sz="1600" b="1" dirty="0">
                <a:solidFill>
                  <a:srgbClr val="000000"/>
                </a:solidFill>
                <a:latin typeface="Times New Roman" pitchFamily="34" charset="0"/>
                <a:ea typeface="Times New Roman" pitchFamily="34" charset="-122"/>
                <a:cs typeface="Times New Roman" pitchFamily="34" charset="-120"/>
              </a:rPr>
              <a:t>Inconsistency Detection:</a:t>
            </a:r>
            <a:r>
              <a:rPr lang="en-US" sz="1600" dirty="0">
                <a:solidFill>
                  <a:srgbClr val="000000"/>
                </a:solidFill>
                <a:latin typeface="Times New Roman" pitchFamily="34" charset="0"/>
                <a:ea typeface="Times New Roman" pitchFamily="34" charset="-122"/>
                <a:cs typeface="Times New Roman" pitchFamily="34" charset="-120"/>
              </a:rPr>
              <a:t> Flagging reviews where the sentiment score significantly deviates from the normalized rating.</a:t>
            </a:r>
            <a:endParaRPr lang="en-US" sz="1600" dirty="0"/>
          </a:p>
        </p:txBody>
      </p:sp>
      <p:sp>
        <p:nvSpPr>
          <p:cNvPr id="8" name="Text 5"/>
          <p:cNvSpPr/>
          <p:nvPr/>
        </p:nvSpPr>
        <p:spPr>
          <a:xfrm>
            <a:off x="362267" y="4279358"/>
            <a:ext cx="6143625" cy="668610"/>
          </a:xfrm>
          <a:prstGeom prst="rect">
            <a:avLst/>
          </a:prstGeom>
          <a:noFill/>
          <a:ln/>
        </p:spPr>
        <p:txBody>
          <a:bodyPr wrap="square" lIns="0" tIns="0" rIns="0" bIns="0" rtlCol="0" anchor="t">
            <a:spAutoFit/>
          </a:bodyPr>
          <a:lstStyle/>
          <a:p>
            <a:pPr marL="127000" indent="-127000" algn="l">
              <a:lnSpc>
                <a:spcPct val="144000"/>
              </a:lnSpc>
              <a:buSzPct val="100000"/>
              <a:buChar char="•"/>
            </a:pPr>
            <a:r>
              <a:rPr lang="en-US" sz="1600" b="1" dirty="0">
                <a:solidFill>
                  <a:srgbClr val="000000"/>
                </a:solidFill>
                <a:latin typeface="Times New Roman" pitchFamily="34" charset="0"/>
                <a:ea typeface="Times New Roman" pitchFamily="34" charset="-122"/>
                <a:cs typeface="Times New Roman" pitchFamily="34" charset="-120"/>
              </a:rPr>
              <a:t>Fixed Threshold Logic:</a:t>
            </a:r>
            <a:r>
              <a:rPr lang="en-US" sz="1600" dirty="0">
                <a:solidFill>
                  <a:srgbClr val="000000"/>
                </a:solidFill>
                <a:latin typeface="Times New Roman" pitchFamily="34" charset="0"/>
                <a:ea typeface="Times New Roman" pitchFamily="34" charset="-122"/>
                <a:cs typeface="Times New Roman" pitchFamily="34" charset="-120"/>
              </a:rPr>
              <a:t> Applying a static threshold (e.g., 0.5) to classify reviews as suspicious or genuine.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72720" y="7223"/>
            <a:ext cx="9144000" cy="5143500"/>
          </a:xfrm>
          <a:prstGeom prst="rect">
            <a:avLst/>
          </a:prstGeom>
        </p:spPr>
      </p:pic>
      <p:sp>
        <p:nvSpPr>
          <p:cNvPr id="3" name="Text 0"/>
          <p:cNvSpPr/>
          <p:nvPr/>
        </p:nvSpPr>
        <p:spPr>
          <a:xfrm>
            <a:off x="1658187" y="571500"/>
            <a:ext cx="5827626" cy="396478"/>
          </a:xfrm>
          <a:prstGeom prst="rect">
            <a:avLst/>
          </a:prstGeom>
          <a:noFill/>
          <a:ln/>
        </p:spPr>
        <p:txBody>
          <a:bodyPr wrap="square" lIns="0" tIns="0" rIns="0" bIns="0" rtlCol="0" anchor="t">
            <a:spAutoFit/>
          </a:bodyPr>
          <a:lstStyle/>
          <a:p>
            <a:pPr marL="0" indent="0" algn="ctr">
              <a:buNone/>
            </a:pPr>
            <a:r>
              <a:rPr lang="en-US" sz="2450" b="1" dirty="0">
                <a:solidFill>
                  <a:srgbClr val="000000"/>
                </a:solidFill>
                <a:latin typeface="Times New Roman" pitchFamily="34" charset="0"/>
                <a:ea typeface="Times New Roman" pitchFamily="34" charset="-122"/>
                <a:cs typeface="Times New Roman" pitchFamily="34" charset="-120"/>
              </a:rPr>
              <a:t>EXISTING SYSTEM – LIMITATIONS</a:t>
            </a:r>
            <a:endParaRPr lang="en-US" sz="2450" dirty="0"/>
          </a:p>
        </p:txBody>
      </p:sp>
      <p:sp>
        <p:nvSpPr>
          <p:cNvPr id="4" name="Text 1"/>
          <p:cNvSpPr/>
          <p:nvPr/>
        </p:nvSpPr>
        <p:spPr>
          <a:xfrm>
            <a:off x="307975" y="1403826"/>
            <a:ext cx="7715250" cy="673389"/>
          </a:xfrm>
          <a:prstGeom prst="rect">
            <a:avLst/>
          </a:prstGeom>
          <a:noFill/>
          <a:ln/>
        </p:spPr>
        <p:txBody>
          <a:bodyPr wrap="square" lIns="0" tIns="0" rIns="0" bIns="0" rtlCol="0" anchor="t">
            <a:spAutoFit/>
          </a:bodyPr>
          <a:lstStyle/>
          <a:p>
            <a:pPr marL="127000" indent="-127000" algn="l">
              <a:lnSpc>
                <a:spcPct val="144000"/>
              </a:lnSpc>
              <a:buSzPct val="100000"/>
              <a:buChar char="•"/>
            </a:pPr>
            <a:r>
              <a:rPr lang="en-US" sz="1600" b="1" dirty="0">
                <a:solidFill>
                  <a:srgbClr val="000000"/>
                </a:solidFill>
                <a:latin typeface="Times New Roman" pitchFamily="34" charset="0"/>
                <a:ea typeface="Times New Roman" pitchFamily="34" charset="-122"/>
                <a:cs typeface="Times New Roman" pitchFamily="34" charset="-120"/>
              </a:rPr>
              <a:t>Static Dictionaries:</a:t>
            </a:r>
            <a:r>
              <a:rPr lang="en-US" sz="1600" dirty="0">
                <a:solidFill>
                  <a:srgbClr val="000000"/>
                </a:solidFill>
                <a:latin typeface="Times New Roman" pitchFamily="34" charset="0"/>
                <a:ea typeface="Times New Roman" pitchFamily="34" charset="-122"/>
                <a:cs typeface="Times New Roman" pitchFamily="34" charset="-120"/>
              </a:rPr>
              <a:t> Manual lexicons cannot keep up with evolving slang and domain-specific context.</a:t>
            </a:r>
            <a:endParaRPr lang="en-US" sz="1600" dirty="0"/>
          </a:p>
        </p:txBody>
      </p:sp>
      <p:sp>
        <p:nvSpPr>
          <p:cNvPr id="5" name="Text 2"/>
          <p:cNvSpPr/>
          <p:nvPr/>
        </p:nvSpPr>
        <p:spPr>
          <a:xfrm>
            <a:off x="307975" y="2298338"/>
            <a:ext cx="7755136" cy="318805"/>
          </a:xfrm>
          <a:prstGeom prst="rect">
            <a:avLst/>
          </a:prstGeom>
          <a:noFill/>
          <a:ln/>
        </p:spPr>
        <p:txBody>
          <a:bodyPr wrap="none" lIns="0" tIns="0" rIns="0" bIns="0" rtlCol="0" anchor="t">
            <a:spAutoFit/>
          </a:bodyPr>
          <a:lstStyle/>
          <a:p>
            <a:pPr marL="127000" indent="-127000" algn="l">
              <a:lnSpc>
                <a:spcPct val="144000"/>
              </a:lnSpc>
              <a:buSzPct val="100000"/>
              <a:buChar char="•"/>
            </a:pPr>
            <a:r>
              <a:rPr lang="en-US" sz="1600" b="1" dirty="0">
                <a:solidFill>
                  <a:srgbClr val="000000"/>
                </a:solidFill>
                <a:latin typeface="Times New Roman" pitchFamily="34" charset="0"/>
                <a:ea typeface="Times New Roman" pitchFamily="34" charset="-122"/>
                <a:cs typeface="Times New Roman" pitchFamily="34" charset="-120"/>
              </a:rPr>
              <a:t>Fixed Thresholds:</a:t>
            </a:r>
            <a:r>
              <a:rPr lang="en-US" sz="1600" dirty="0">
                <a:solidFill>
                  <a:srgbClr val="000000"/>
                </a:solidFill>
                <a:latin typeface="Times New Roman" pitchFamily="34" charset="0"/>
                <a:ea typeface="Times New Roman" pitchFamily="34" charset="-122"/>
                <a:cs typeface="Times New Roman" pitchFamily="34" charset="-120"/>
              </a:rPr>
              <a:t> A one-size-fits-all threshold fails to adapt to different product categories.</a:t>
            </a:r>
            <a:endParaRPr lang="en-US" sz="1600" dirty="0"/>
          </a:p>
        </p:txBody>
      </p:sp>
      <p:sp>
        <p:nvSpPr>
          <p:cNvPr id="6" name="Text 3"/>
          <p:cNvSpPr/>
          <p:nvPr/>
        </p:nvSpPr>
        <p:spPr>
          <a:xfrm>
            <a:off x="307975" y="2763288"/>
            <a:ext cx="7715250" cy="673389"/>
          </a:xfrm>
          <a:prstGeom prst="rect">
            <a:avLst/>
          </a:prstGeom>
          <a:noFill/>
          <a:ln/>
        </p:spPr>
        <p:txBody>
          <a:bodyPr wrap="square" lIns="0" tIns="0" rIns="0" bIns="0" rtlCol="0" anchor="t">
            <a:spAutoFit/>
          </a:bodyPr>
          <a:lstStyle/>
          <a:p>
            <a:pPr marL="127000" indent="-127000" algn="l">
              <a:lnSpc>
                <a:spcPct val="144000"/>
              </a:lnSpc>
              <a:buSzPct val="100000"/>
              <a:buChar char="•"/>
            </a:pPr>
            <a:r>
              <a:rPr lang="en-US" sz="1600" b="1" dirty="0">
                <a:solidFill>
                  <a:srgbClr val="000000"/>
                </a:solidFill>
                <a:latin typeface="Times New Roman" pitchFamily="34" charset="0"/>
                <a:ea typeface="Times New Roman" pitchFamily="34" charset="-122"/>
                <a:cs typeface="Times New Roman" pitchFamily="34" charset="-120"/>
              </a:rPr>
              <a:t>Low Accuracy:</a:t>
            </a:r>
            <a:r>
              <a:rPr lang="en-US" sz="1600" dirty="0">
                <a:solidFill>
                  <a:srgbClr val="000000"/>
                </a:solidFill>
                <a:latin typeface="Times New Roman" pitchFamily="34" charset="0"/>
                <a:ea typeface="Times New Roman" pitchFamily="34" charset="-122"/>
                <a:cs typeface="Times New Roman" pitchFamily="34" charset="-120"/>
              </a:rPr>
              <a:t> The baseline dictionary approach achieved only 57.2% accuracy on the iPhone review dataset.</a:t>
            </a:r>
            <a:endParaRPr lang="en-US" sz="1600" dirty="0"/>
          </a:p>
        </p:txBody>
      </p:sp>
      <p:sp>
        <p:nvSpPr>
          <p:cNvPr id="7" name="Text 4"/>
          <p:cNvSpPr/>
          <p:nvPr/>
        </p:nvSpPr>
        <p:spPr>
          <a:xfrm>
            <a:off x="307975" y="3626230"/>
            <a:ext cx="7715250" cy="673389"/>
          </a:xfrm>
          <a:prstGeom prst="rect">
            <a:avLst/>
          </a:prstGeom>
          <a:noFill/>
          <a:ln/>
        </p:spPr>
        <p:txBody>
          <a:bodyPr wrap="square" lIns="0" tIns="0" rIns="0" bIns="0" rtlCol="0" anchor="t">
            <a:spAutoFit/>
          </a:bodyPr>
          <a:lstStyle/>
          <a:p>
            <a:pPr marL="127000" indent="-127000" algn="l">
              <a:lnSpc>
                <a:spcPct val="144000"/>
              </a:lnSpc>
              <a:buSzPct val="100000"/>
              <a:buChar char="•"/>
            </a:pPr>
            <a:r>
              <a:rPr lang="en-US" sz="1600" b="1" dirty="0">
                <a:solidFill>
                  <a:srgbClr val="000000"/>
                </a:solidFill>
                <a:latin typeface="Times New Roman" pitchFamily="34" charset="0"/>
                <a:ea typeface="Times New Roman" pitchFamily="34" charset="-122"/>
                <a:cs typeface="Times New Roman" pitchFamily="34" charset="-120"/>
              </a:rPr>
              <a:t>Context Blindness:</a:t>
            </a:r>
            <a:r>
              <a:rPr lang="en-US" sz="1600" dirty="0">
                <a:solidFill>
                  <a:srgbClr val="000000"/>
                </a:solidFill>
                <a:latin typeface="Times New Roman" pitchFamily="34" charset="0"/>
                <a:ea typeface="Times New Roman" pitchFamily="34" charset="-122"/>
                <a:cs typeface="Times New Roman" pitchFamily="34" charset="-120"/>
              </a:rPr>
              <a:t> Rule-based methods often miss subtle sarcasm or complex sentiment structures.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485759" y="571500"/>
            <a:ext cx="2172426" cy="396478"/>
          </a:xfrm>
          <a:prstGeom prst="rect">
            <a:avLst/>
          </a:prstGeom>
          <a:noFill/>
          <a:ln/>
        </p:spPr>
        <p:txBody>
          <a:bodyPr wrap="square" lIns="0" tIns="0" rIns="0" bIns="0" rtlCol="0" anchor="t">
            <a:spAutoFit/>
          </a:bodyPr>
          <a:lstStyle/>
          <a:p>
            <a:pPr marL="0" indent="0" algn="l">
              <a:buNone/>
            </a:pPr>
            <a:r>
              <a:rPr lang="en-US" sz="2450" b="1" dirty="0">
                <a:solidFill>
                  <a:srgbClr val="000000"/>
                </a:solidFill>
                <a:latin typeface="Times New Roman" pitchFamily="34" charset="0"/>
                <a:ea typeface="Times New Roman" pitchFamily="34" charset="-122"/>
                <a:cs typeface="Times New Roman" pitchFamily="34" charset="-120"/>
              </a:rPr>
              <a:t>OBJECTIVES</a:t>
            </a:r>
            <a:endParaRPr lang="en-US" sz="2450" dirty="0"/>
          </a:p>
        </p:txBody>
      </p:sp>
      <p:sp>
        <p:nvSpPr>
          <p:cNvPr id="4" name="Text 1"/>
          <p:cNvSpPr/>
          <p:nvPr/>
        </p:nvSpPr>
        <p:spPr>
          <a:xfrm>
            <a:off x="494348" y="1391126"/>
            <a:ext cx="7165359" cy="358624"/>
          </a:xfrm>
          <a:prstGeom prst="rect">
            <a:avLst/>
          </a:prstGeom>
          <a:noFill/>
          <a:ln/>
        </p:spPr>
        <p:txBody>
          <a:bodyPr wrap="none" lIns="0" tIns="0" rIns="0" bIns="0" rtlCol="0" anchor="t">
            <a:spAutoFit/>
          </a:bodyPr>
          <a:lstStyle/>
          <a:p>
            <a:pPr marL="127000" indent="-127000" algn="l">
              <a:lnSpc>
                <a:spcPct val="144000"/>
              </a:lnSpc>
              <a:buSzPct val="100000"/>
              <a:buChar char="•"/>
            </a:pPr>
            <a:r>
              <a:rPr lang="en-US" dirty="0">
                <a:solidFill>
                  <a:srgbClr val="000000"/>
                </a:solidFill>
                <a:latin typeface="Times New Roman" pitchFamily="34" charset="0"/>
                <a:ea typeface="Times New Roman" pitchFamily="34" charset="-122"/>
                <a:cs typeface="Times New Roman" pitchFamily="34" charset="-120"/>
              </a:rPr>
              <a:t>To develop an adaptive spam detection framework using Machine Learning.</a:t>
            </a:r>
            <a:endParaRPr lang="en-US" dirty="0"/>
          </a:p>
        </p:txBody>
      </p:sp>
      <p:sp>
        <p:nvSpPr>
          <p:cNvPr id="5" name="Text 2"/>
          <p:cNvSpPr/>
          <p:nvPr/>
        </p:nvSpPr>
        <p:spPr>
          <a:xfrm>
            <a:off x="494347" y="1964012"/>
            <a:ext cx="6429375" cy="757515"/>
          </a:xfrm>
          <a:prstGeom prst="rect">
            <a:avLst/>
          </a:prstGeom>
          <a:noFill/>
          <a:ln/>
        </p:spPr>
        <p:txBody>
          <a:bodyPr wrap="square" lIns="0" tIns="0" rIns="0" bIns="0" rtlCol="0" anchor="t">
            <a:spAutoFit/>
          </a:bodyPr>
          <a:lstStyle/>
          <a:p>
            <a:pPr marL="127000" indent="-127000" algn="l">
              <a:lnSpc>
                <a:spcPct val="144000"/>
              </a:lnSpc>
              <a:buSzPct val="100000"/>
              <a:buChar char="•"/>
            </a:pPr>
            <a:r>
              <a:rPr lang="en-US" dirty="0">
                <a:solidFill>
                  <a:srgbClr val="000000"/>
                </a:solidFill>
                <a:latin typeface="Times New Roman" pitchFamily="34" charset="0"/>
                <a:ea typeface="Times New Roman" pitchFamily="34" charset="-122"/>
                <a:cs typeface="Times New Roman" pitchFamily="34" charset="-120"/>
              </a:rPr>
              <a:t>To implement contextual sentiment analysis using Transformer-based models (BERT).</a:t>
            </a:r>
            <a:endParaRPr lang="en-US" dirty="0"/>
          </a:p>
        </p:txBody>
      </p:sp>
      <p:sp>
        <p:nvSpPr>
          <p:cNvPr id="6" name="Text 3"/>
          <p:cNvSpPr/>
          <p:nvPr/>
        </p:nvSpPr>
        <p:spPr>
          <a:xfrm>
            <a:off x="494345" y="2689109"/>
            <a:ext cx="6429375" cy="757515"/>
          </a:xfrm>
          <a:prstGeom prst="rect">
            <a:avLst/>
          </a:prstGeom>
          <a:noFill/>
          <a:ln/>
        </p:spPr>
        <p:txBody>
          <a:bodyPr wrap="square" lIns="0" tIns="0" rIns="0" bIns="0" rtlCol="0" anchor="t">
            <a:spAutoFit/>
          </a:bodyPr>
          <a:lstStyle/>
          <a:p>
            <a:pPr marL="127000" indent="-127000" algn="l">
              <a:lnSpc>
                <a:spcPct val="144000"/>
              </a:lnSpc>
              <a:buSzPct val="100000"/>
              <a:buChar char="•"/>
            </a:pPr>
            <a:r>
              <a:rPr lang="en-US" dirty="0">
                <a:solidFill>
                  <a:srgbClr val="000000"/>
                </a:solidFill>
                <a:latin typeface="Times New Roman" pitchFamily="34" charset="0"/>
                <a:ea typeface="Times New Roman" pitchFamily="34" charset="-122"/>
                <a:cs typeface="Times New Roman" pitchFamily="34" charset="-120"/>
              </a:rPr>
              <a:t>To evaluate the relationship between text sentiment and numerical ratings across diverse categories.</a:t>
            </a:r>
            <a:endParaRPr lang="en-US" dirty="0"/>
          </a:p>
        </p:txBody>
      </p:sp>
      <p:sp>
        <p:nvSpPr>
          <p:cNvPr id="7" name="Text 4"/>
          <p:cNvSpPr/>
          <p:nvPr/>
        </p:nvSpPr>
        <p:spPr>
          <a:xfrm>
            <a:off x="494346" y="3547320"/>
            <a:ext cx="6429375" cy="757515"/>
          </a:xfrm>
          <a:prstGeom prst="rect">
            <a:avLst/>
          </a:prstGeom>
          <a:noFill/>
          <a:ln/>
        </p:spPr>
        <p:txBody>
          <a:bodyPr wrap="square" lIns="0" tIns="0" rIns="0" bIns="0" rtlCol="0" anchor="t">
            <a:spAutoFit/>
          </a:bodyPr>
          <a:lstStyle/>
          <a:p>
            <a:pPr marL="127000" indent="-127000" algn="l">
              <a:lnSpc>
                <a:spcPct val="144000"/>
              </a:lnSpc>
              <a:buSzPct val="100000"/>
              <a:buChar char="•"/>
            </a:pPr>
            <a:r>
              <a:rPr lang="en-US" dirty="0">
                <a:solidFill>
                  <a:srgbClr val="000000"/>
                </a:solidFill>
                <a:latin typeface="Times New Roman" pitchFamily="34" charset="0"/>
                <a:ea typeface="Times New Roman" pitchFamily="34" charset="-122"/>
                <a:cs typeface="Times New Roman" pitchFamily="34" charset="-120"/>
              </a:rPr>
              <a:t>To improve detection precision and recall compared to traditional lexicon-based systems.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444683" y="571500"/>
            <a:ext cx="2254634" cy="396478"/>
          </a:xfrm>
          <a:prstGeom prst="rect">
            <a:avLst/>
          </a:prstGeom>
          <a:noFill/>
          <a:ln/>
        </p:spPr>
        <p:txBody>
          <a:bodyPr wrap="square" lIns="0" tIns="0" rIns="0" bIns="0" rtlCol="0" anchor="t">
            <a:spAutoFit/>
          </a:bodyPr>
          <a:lstStyle/>
          <a:p>
            <a:pPr marL="0" indent="0" algn="l">
              <a:buNone/>
            </a:pPr>
            <a:r>
              <a:rPr lang="en-US" sz="2450" b="1" dirty="0">
                <a:solidFill>
                  <a:srgbClr val="000000"/>
                </a:solidFill>
                <a:latin typeface="Times New Roman" pitchFamily="34" charset="0"/>
                <a:ea typeface="Times New Roman" pitchFamily="34" charset="-122"/>
                <a:cs typeface="Times New Roman" pitchFamily="34" charset="-120"/>
              </a:rPr>
              <a:t>MOTIVATION</a:t>
            </a:r>
            <a:endParaRPr lang="en-US" sz="2450" dirty="0"/>
          </a:p>
        </p:txBody>
      </p:sp>
      <p:sp>
        <p:nvSpPr>
          <p:cNvPr id="4" name="Text 1"/>
          <p:cNvSpPr/>
          <p:nvPr/>
        </p:nvSpPr>
        <p:spPr>
          <a:xfrm>
            <a:off x="517187" y="1226415"/>
            <a:ext cx="6924716" cy="348300"/>
          </a:xfrm>
          <a:prstGeom prst="rect">
            <a:avLst/>
          </a:prstGeom>
          <a:noFill/>
          <a:ln/>
        </p:spPr>
        <p:txBody>
          <a:bodyPr wrap="none" lIns="0" tIns="0" rIns="0" bIns="0" rtlCol="0" anchor="t">
            <a:spAutoFit/>
          </a:bodyPr>
          <a:lstStyle/>
          <a:p>
            <a:pPr marL="0" indent="0" algn="ctr">
              <a:lnSpc>
                <a:spcPct val="160000"/>
              </a:lnSpc>
              <a:buNone/>
            </a:pPr>
            <a:r>
              <a:rPr lang="en-US" sz="1600" b="1" dirty="0">
                <a:solidFill>
                  <a:srgbClr val="C00000"/>
                </a:solidFill>
                <a:latin typeface="Times New Roman" pitchFamily="34" charset="0"/>
                <a:ea typeface="Times New Roman" pitchFamily="34" charset="-122"/>
                <a:cs typeface="Times New Roman" pitchFamily="34" charset="-120"/>
              </a:rPr>
              <a:t>Consumer Trust:</a:t>
            </a:r>
            <a:r>
              <a:rPr lang="en-US" sz="1600" dirty="0">
                <a:solidFill>
                  <a:srgbClr val="000000"/>
                </a:solidFill>
                <a:latin typeface="Times New Roman" pitchFamily="34" charset="0"/>
                <a:ea typeface="Times New Roman" pitchFamily="34" charset="-122"/>
                <a:cs typeface="Times New Roman" pitchFamily="34" charset="-120"/>
              </a:rPr>
              <a:t> Protecting buyers from misleading information and fake reviews.</a:t>
            </a:r>
            <a:endParaRPr lang="en-US" sz="1600" dirty="0"/>
          </a:p>
        </p:txBody>
      </p:sp>
      <p:sp>
        <p:nvSpPr>
          <p:cNvPr id="5" name="Text 2"/>
          <p:cNvSpPr/>
          <p:nvPr/>
        </p:nvSpPr>
        <p:spPr>
          <a:xfrm>
            <a:off x="459388" y="1697009"/>
            <a:ext cx="7229543" cy="348300"/>
          </a:xfrm>
          <a:prstGeom prst="rect">
            <a:avLst/>
          </a:prstGeom>
          <a:noFill/>
          <a:ln/>
        </p:spPr>
        <p:txBody>
          <a:bodyPr wrap="none" lIns="0" tIns="0" rIns="0" bIns="0" rtlCol="0" anchor="t">
            <a:spAutoFit/>
          </a:bodyPr>
          <a:lstStyle/>
          <a:p>
            <a:pPr marL="0" indent="0" algn="ctr">
              <a:lnSpc>
                <a:spcPct val="160000"/>
              </a:lnSpc>
              <a:buNone/>
            </a:pPr>
            <a:r>
              <a:rPr lang="en-US" sz="1600" b="1" dirty="0">
                <a:solidFill>
                  <a:srgbClr val="C00000"/>
                </a:solidFill>
                <a:latin typeface="Times New Roman" pitchFamily="34" charset="0"/>
                <a:ea typeface="Times New Roman" pitchFamily="34" charset="-122"/>
                <a:cs typeface="Times New Roman" pitchFamily="34" charset="-120"/>
              </a:rPr>
              <a:t>Business Integrity:</a:t>
            </a:r>
            <a:r>
              <a:rPr lang="en-US" sz="1600" dirty="0">
                <a:solidFill>
                  <a:srgbClr val="000000"/>
                </a:solidFill>
                <a:latin typeface="Times New Roman" pitchFamily="34" charset="0"/>
                <a:ea typeface="Times New Roman" pitchFamily="34" charset="-122"/>
                <a:cs typeface="Times New Roman" pitchFamily="34" charset="-120"/>
              </a:rPr>
              <a:t> Helping brands maintain a fair and honest reputation in the market.</a:t>
            </a:r>
            <a:endParaRPr lang="en-US" sz="1600" dirty="0"/>
          </a:p>
        </p:txBody>
      </p:sp>
      <p:sp>
        <p:nvSpPr>
          <p:cNvPr id="6" name="Text 3"/>
          <p:cNvSpPr/>
          <p:nvPr/>
        </p:nvSpPr>
        <p:spPr>
          <a:xfrm>
            <a:off x="400029" y="2146971"/>
            <a:ext cx="8343942" cy="348300"/>
          </a:xfrm>
          <a:prstGeom prst="rect">
            <a:avLst/>
          </a:prstGeom>
          <a:noFill/>
          <a:ln/>
        </p:spPr>
        <p:txBody>
          <a:bodyPr wrap="square" lIns="0" tIns="0" rIns="0" bIns="0" rtlCol="0" anchor="t">
            <a:spAutoFit/>
          </a:bodyPr>
          <a:lstStyle/>
          <a:p>
            <a:pPr marL="0" indent="0" algn="ctr">
              <a:lnSpc>
                <a:spcPct val="160000"/>
              </a:lnSpc>
              <a:buNone/>
            </a:pPr>
            <a:r>
              <a:rPr lang="en-US" sz="1600" b="1" dirty="0">
                <a:solidFill>
                  <a:srgbClr val="C00000"/>
                </a:solidFill>
                <a:latin typeface="Times New Roman" pitchFamily="34" charset="0"/>
                <a:ea typeface="Times New Roman" pitchFamily="34" charset="-122"/>
                <a:cs typeface="Times New Roman" pitchFamily="34" charset="-120"/>
              </a:rPr>
              <a:t>Technical Advancement:</a:t>
            </a:r>
            <a:r>
              <a:rPr lang="en-US" sz="1600" dirty="0">
                <a:solidFill>
                  <a:srgbClr val="000000"/>
                </a:solidFill>
                <a:latin typeface="Times New Roman" pitchFamily="34" charset="0"/>
                <a:ea typeface="Times New Roman" pitchFamily="34" charset="-122"/>
                <a:cs typeface="Times New Roman" pitchFamily="34" charset="-120"/>
              </a:rPr>
              <a:t> Moving from rule-based systems to intelligent, self-learning architectures.</a:t>
            </a:r>
            <a:endParaRPr lang="en-US" sz="1600" dirty="0"/>
          </a:p>
        </p:txBody>
      </p:sp>
      <p:sp>
        <p:nvSpPr>
          <p:cNvPr id="7" name="Text 4"/>
          <p:cNvSpPr/>
          <p:nvPr/>
        </p:nvSpPr>
        <p:spPr>
          <a:xfrm>
            <a:off x="474938" y="2547562"/>
            <a:ext cx="7198444" cy="348300"/>
          </a:xfrm>
          <a:prstGeom prst="rect">
            <a:avLst/>
          </a:prstGeom>
          <a:noFill/>
          <a:ln/>
        </p:spPr>
        <p:txBody>
          <a:bodyPr wrap="none" lIns="0" tIns="0" rIns="0" bIns="0" rtlCol="0" anchor="t">
            <a:spAutoFit/>
          </a:bodyPr>
          <a:lstStyle/>
          <a:p>
            <a:pPr marL="0" indent="0" algn="ctr">
              <a:lnSpc>
                <a:spcPct val="160000"/>
              </a:lnSpc>
              <a:buNone/>
            </a:pPr>
            <a:r>
              <a:rPr lang="en-US" sz="1600" b="1" dirty="0">
                <a:solidFill>
                  <a:srgbClr val="C00000"/>
                </a:solidFill>
                <a:latin typeface="Times New Roman" pitchFamily="34" charset="0"/>
                <a:ea typeface="Times New Roman" pitchFamily="34" charset="-122"/>
                <a:cs typeface="Times New Roman" pitchFamily="34" charset="-120"/>
              </a:rPr>
              <a:t>Academic Impact:</a:t>
            </a:r>
            <a:r>
              <a:rPr lang="en-US" sz="1600" dirty="0">
                <a:solidFill>
                  <a:srgbClr val="000000"/>
                </a:solidFill>
                <a:latin typeface="Times New Roman" pitchFamily="34" charset="0"/>
                <a:ea typeface="Times New Roman" pitchFamily="34" charset="-122"/>
                <a:cs typeface="Times New Roman" pitchFamily="34" charset="-120"/>
              </a:rPr>
              <a:t> Contributing to the field of Explainable AI in e-commerce security.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152682" y="428625"/>
            <a:ext cx="2838636" cy="396478"/>
          </a:xfrm>
          <a:prstGeom prst="rect">
            <a:avLst/>
          </a:prstGeom>
          <a:noFill/>
          <a:ln/>
        </p:spPr>
        <p:txBody>
          <a:bodyPr wrap="square" lIns="0" tIns="0" rIns="0" bIns="0" rtlCol="0" anchor="t">
            <a:spAutoFit/>
          </a:bodyPr>
          <a:lstStyle/>
          <a:p>
            <a:pPr marL="0" indent="0" algn="l">
              <a:buNone/>
            </a:pPr>
            <a:r>
              <a:rPr lang="en-US" sz="2450" b="1" dirty="0">
                <a:solidFill>
                  <a:srgbClr val="000000"/>
                </a:solidFill>
                <a:latin typeface="Times New Roman" pitchFamily="34" charset="0"/>
                <a:ea typeface="Times New Roman" pitchFamily="34" charset="-122"/>
                <a:cs typeface="Times New Roman" pitchFamily="34" charset="-120"/>
              </a:rPr>
              <a:t>METHODOLOGY</a:t>
            </a:r>
            <a:endParaRPr lang="en-US" sz="2450" dirty="0"/>
          </a:p>
        </p:txBody>
      </p:sp>
      <p:sp>
        <p:nvSpPr>
          <p:cNvPr id="4" name="Text 1"/>
          <p:cNvSpPr/>
          <p:nvPr/>
        </p:nvSpPr>
        <p:spPr>
          <a:xfrm>
            <a:off x="2786063" y="1132284"/>
            <a:ext cx="3571875" cy="479618"/>
          </a:xfrm>
          <a:prstGeom prst="rect">
            <a:avLst/>
          </a:prstGeom>
          <a:noFill/>
          <a:ln/>
        </p:spPr>
        <p:txBody>
          <a:bodyPr wrap="square" lIns="340233" tIns="85090" rIns="340233" bIns="85090" rtlCol="0" anchor="t">
            <a:sp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Data Acquisition</a:t>
            </a:r>
            <a:endParaRPr lang="en-US" sz="2000" dirty="0"/>
          </a:p>
        </p:txBody>
      </p:sp>
      <p:sp>
        <p:nvSpPr>
          <p:cNvPr id="5" name="Text 2"/>
          <p:cNvSpPr/>
          <p:nvPr/>
        </p:nvSpPr>
        <p:spPr>
          <a:xfrm>
            <a:off x="4514850" y="1575197"/>
            <a:ext cx="114300" cy="264319"/>
          </a:xfrm>
          <a:prstGeom prst="rect">
            <a:avLst/>
          </a:prstGeom>
          <a:noFill/>
          <a:ln/>
        </p:spPr>
        <p:txBody>
          <a:bodyPr wrap="none" lIns="0" tIns="0" rIns="0" bIns="0" rtlCol="0" anchor="t">
            <a:spAutoFit/>
          </a:bodyP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a:t>
            </a:r>
            <a:endParaRPr lang="en-US" sz="1600" dirty="0"/>
          </a:p>
        </p:txBody>
      </p:sp>
      <p:sp>
        <p:nvSpPr>
          <p:cNvPr id="6" name="Text 3"/>
          <p:cNvSpPr/>
          <p:nvPr/>
        </p:nvSpPr>
        <p:spPr>
          <a:xfrm>
            <a:off x="2786063" y="1882378"/>
            <a:ext cx="3571875" cy="479618"/>
          </a:xfrm>
          <a:prstGeom prst="rect">
            <a:avLst/>
          </a:prstGeom>
          <a:noFill/>
          <a:ln/>
        </p:spPr>
        <p:txBody>
          <a:bodyPr wrap="square" lIns="340233" tIns="85090" rIns="340233" bIns="85090" rtlCol="0" anchor="t">
            <a:sp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Preprocessing</a:t>
            </a:r>
            <a:endParaRPr lang="en-US" sz="2000" dirty="0"/>
          </a:p>
        </p:txBody>
      </p:sp>
      <p:sp>
        <p:nvSpPr>
          <p:cNvPr id="7" name="Text 4"/>
          <p:cNvSpPr/>
          <p:nvPr/>
        </p:nvSpPr>
        <p:spPr>
          <a:xfrm>
            <a:off x="4514850" y="2325291"/>
            <a:ext cx="114300" cy="264319"/>
          </a:xfrm>
          <a:prstGeom prst="rect">
            <a:avLst/>
          </a:prstGeom>
          <a:noFill/>
          <a:ln/>
        </p:spPr>
        <p:txBody>
          <a:bodyPr wrap="none" lIns="0" tIns="0" rIns="0" bIns="0" rtlCol="0" anchor="t">
            <a:spAutoFit/>
          </a:bodyP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a:t>
            </a:r>
            <a:endParaRPr lang="en-US" sz="1600" dirty="0"/>
          </a:p>
        </p:txBody>
      </p:sp>
      <p:sp>
        <p:nvSpPr>
          <p:cNvPr id="8" name="Text 5"/>
          <p:cNvSpPr/>
          <p:nvPr/>
        </p:nvSpPr>
        <p:spPr>
          <a:xfrm>
            <a:off x="2786063" y="2632472"/>
            <a:ext cx="3571875" cy="479618"/>
          </a:xfrm>
          <a:prstGeom prst="rect">
            <a:avLst/>
          </a:prstGeom>
          <a:noFill/>
          <a:ln/>
        </p:spPr>
        <p:txBody>
          <a:bodyPr wrap="square" lIns="340233" tIns="85090" rIns="340233" bIns="85090" rtlCol="0" anchor="t">
            <a:sp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Feature Engineering</a:t>
            </a:r>
            <a:endParaRPr lang="en-US" sz="2000" dirty="0"/>
          </a:p>
        </p:txBody>
      </p:sp>
      <p:sp>
        <p:nvSpPr>
          <p:cNvPr id="9" name="Text 6"/>
          <p:cNvSpPr/>
          <p:nvPr/>
        </p:nvSpPr>
        <p:spPr>
          <a:xfrm>
            <a:off x="4514850" y="3075384"/>
            <a:ext cx="114300" cy="264319"/>
          </a:xfrm>
          <a:prstGeom prst="rect">
            <a:avLst/>
          </a:prstGeom>
          <a:noFill/>
          <a:ln/>
        </p:spPr>
        <p:txBody>
          <a:bodyPr wrap="none" lIns="0" tIns="0" rIns="0" bIns="0" rtlCol="0" anchor="t">
            <a:spAutoFit/>
          </a:bodyP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a:t>
            </a:r>
            <a:endParaRPr lang="en-US" sz="1600" dirty="0"/>
          </a:p>
        </p:txBody>
      </p:sp>
      <p:sp>
        <p:nvSpPr>
          <p:cNvPr id="10" name="Text 7"/>
          <p:cNvSpPr/>
          <p:nvPr/>
        </p:nvSpPr>
        <p:spPr>
          <a:xfrm>
            <a:off x="2786063" y="3382566"/>
            <a:ext cx="3571875" cy="479618"/>
          </a:xfrm>
          <a:prstGeom prst="rect">
            <a:avLst/>
          </a:prstGeom>
          <a:noFill/>
          <a:ln/>
        </p:spPr>
        <p:txBody>
          <a:bodyPr wrap="square" lIns="340233" tIns="85090" rIns="340233" bIns="85090" rtlCol="0" anchor="t">
            <a:sp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Model Training</a:t>
            </a:r>
            <a:endParaRPr lang="en-US" sz="2000" dirty="0"/>
          </a:p>
        </p:txBody>
      </p:sp>
      <p:sp>
        <p:nvSpPr>
          <p:cNvPr id="11" name="Text 8"/>
          <p:cNvSpPr/>
          <p:nvPr/>
        </p:nvSpPr>
        <p:spPr>
          <a:xfrm>
            <a:off x="4514850" y="3825478"/>
            <a:ext cx="114300" cy="264319"/>
          </a:xfrm>
          <a:prstGeom prst="rect">
            <a:avLst/>
          </a:prstGeom>
          <a:noFill/>
          <a:ln/>
        </p:spPr>
        <p:txBody>
          <a:bodyPr wrap="none" lIns="0" tIns="0" rIns="0" bIns="0" rtlCol="0" anchor="t">
            <a:spAutoFit/>
          </a:bodyP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a:t>
            </a:r>
            <a:endParaRPr lang="en-US" sz="1600" dirty="0"/>
          </a:p>
        </p:txBody>
      </p:sp>
      <p:sp>
        <p:nvSpPr>
          <p:cNvPr id="12" name="Text 9"/>
          <p:cNvSpPr/>
          <p:nvPr/>
        </p:nvSpPr>
        <p:spPr>
          <a:xfrm>
            <a:off x="2786063" y="4132659"/>
            <a:ext cx="3571875" cy="479618"/>
          </a:xfrm>
          <a:prstGeom prst="rect">
            <a:avLst/>
          </a:prstGeom>
          <a:noFill/>
          <a:ln/>
        </p:spPr>
        <p:txBody>
          <a:bodyPr wrap="square" lIns="340233" tIns="85090" rIns="340233" bIns="85090" rtlCol="0" anchor="t">
            <a:spAutoFit/>
          </a:bodyP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Evaluation</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2709546" y="571500"/>
            <a:ext cx="3724852" cy="396478"/>
          </a:xfrm>
          <a:prstGeom prst="rect">
            <a:avLst/>
          </a:prstGeom>
          <a:noFill/>
          <a:ln/>
        </p:spPr>
        <p:txBody>
          <a:bodyPr wrap="square" lIns="0" tIns="0" rIns="0" bIns="0" rtlCol="0" anchor="t">
            <a:spAutoFit/>
          </a:bodyPr>
          <a:lstStyle/>
          <a:p>
            <a:pPr marL="0" indent="0" algn="l">
              <a:buNone/>
            </a:pPr>
            <a:r>
              <a:rPr lang="en-US" sz="2450" b="1" dirty="0">
                <a:solidFill>
                  <a:srgbClr val="000000"/>
                </a:solidFill>
                <a:latin typeface="Times New Roman" pitchFamily="34" charset="0"/>
                <a:ea typeface="Times New Roman" pitchFamily="34" charset="-122"/>
                <a:cs typeface="Times New Roman" pitchFamily="34" charset="-120"/>
              </a:rPr>
              <a:t>TECHNOLOGY STACK</a:t>
            </a:r>
            <a:endParaRPr lang="en-US" sz="2450" dirty="0"/>
          </a:p>
        </p:txBody>
      </p:sp>
      <p:sp>
        <p:nvSpPr>
          <p:cNvPr id="4" name="Text 1"/>
          <p:cNvSpPr/>
          <p:nvPr/>
        </p:nvSpPr>
        <p:spPr>
          <a:xfrm>
            <a:off x="1000125" y="1396603"/>
            <a:ext cx="2145908" cy="289246"/>
          </a:xfrm>
          <a:prstGeom prst="rect">
            <a:avLst/>
          </a:prstGeom>
          <a:noFill/>
          <a:ln/>
        </p:spPr>
        <p:txBody>
          <a:bodyPr wrap="none" lIns="0" tIns="0" rIns="0" bIns="0" rtlCol="0" anchor="t">
            <a:spAutoFit/>
          </a:bodyPr>
          <a:lstStyle/>
          <a:p>
            <a:pPr marL="0" indent="0" algn="l">
              <a:lnSpc>
                <a:spcPct val="128000"/>
              </a:lnSpc>
              <a:buNone/>
            </a:pPr>
            <a:r>
              <a:rPr lang="en-US" sz="1600" b="1" u="sng" dirty="0">
                <a:solidFill>
                  <a:srgbClr val="000000"/>
                </a:solidFill>
                <a:uFill>
                  <a:solidFill>
                    <a:srgbClr val="000000"/>
                  </a:solidFill>
                </a:uFill>
                <a:latin typeface="Times New Roman" pitchFamily="34" charset="0"/>
                <a:ea typeface="Times New Roman" pitchFamily="34" charset="-122"/>
                <a:cs typeface="Times New Roman" pitchFamily="34" charset="-120"/>
              </a:rPr>
              <a:t>Programming Language</a:t>
            </a:r>
            <a:endParaRPr lang="en-US" sz="1600" dirty="0"/>
          </a:p>
        </p:txBody>
      </p:sp>
      <p:sp>
        <p:nvSpPr>
          <p:cNvPr id="5" name="Text 2"/>
          <p:cNvSpPr/>
          <p:nvPr/>
        </p:nvSpPr>
        <p:spPr>
          <a:xfrm>
            <a:off x="1000125" y="1765176"/>
            <a:ext cx="679866" cy="253083"/>
          </a:xfrm>
          <a:prstGeom prst="rect">
            <a:avLst/>
          </a:prstGeom>
          <a:noFill/>
          <a:ln/>
        </p:spPr>
        <p:txBody>
          <a:bodyPr wrap="none" lIns="170053" tIns="0" rIns="0" bIns="0" rtlCol="0" anchor="t">
            <a:spAutoFit/>
          </a:bodyPr>
          <a:lstStyle/>
          <a:p>
            <a:pPr marL="0" indent="0" algn="l">
              <a:lnSpc>
                <a:spcPct val="128000"/>
              </a:lnSpc>
              <a:buNone/>
            </a:pPr>
            <a:r>
              <a:rPr lang="en-US" sz="1400" dirty="0">
                <a:solidFill>
                  <a:srgbClr val="000000"/>
                </a:solidFill>
                <a:latin typeface="Times New Roman" pitchFamily="34" charset="0"/>
                <a:ea typeface="Times New Roman" pitchFamily="34" charset="-122"/>
                <a:cs typeface="Times New Roman" pitchFamily="34" charset="-120"/>
              </a:rPr>
              <a:t>Python</a:t>
            </a:r>
            <a:endParaRPr lang="en-US" sz="1400" dirty="0"/>
          </a:p>
        </p:txBody>
      </p:sp>
      <p:sp>
        <p:nvSpPr>
          <p:cNvPr id="6" name="Text 3"/>
          <p:cNvSpPr/>
          <p:nvPr/>
        </p:nvSpPr>
        <p:spPr>
          <a:xfrm>
            <a:off x="4714875" y="1396603"/>
            <a:ext cx="1271054" cy="289246"/>
          </a:xfrm>
          <a:prstGeom prst="rect">
            <a:avLst/>
          </a:prstGeom>
          <a:noFill/>
          <a:ln/>
        </p:spPr>
        <p:txBody>
          <a:bodyPr wrap="none" lIns="0" tIns="0" rIns="0" bIns="0" rtlCol="0" anchor="t">
            <a:spAutoFit/>
          </a:bodyPr>
          <a:lstStyle/>
          <a:p>
            <a:pPr marL="0" indent="0" algn="l">
              <a:lnSpc>
                <a:spcPct val="128000"/>
              </a:lnSpc>
              <a:buNone/>
            </a:pPr>
            <a:r>
              <a:rPr lang="en-US" sz="1600" b="1" u="sng" dirty="0">
                <a:solidFill>
                  <a:srgbClr val="000000"/>
                </a:solidFill>
                <a:uFill>
                  <a:solidFill>
                    <a:srgbClr val="000000"/>
                  </a:solidFill>
                </a:uFill>
                <a:latin typeface="Times New Roman" pitchFamily="34" charset="0"/>
                <a:ea typeface="Times New Roman" pitchFamily="34" charset="-122"/>
                <a:cs typeface="Times New Roman" pitchFamily="34" charset="-120"/>
              </a:rPr>
              <a:t>NLP Libraries</a:t>
            </a:r>
            <a:endParaRPr lang="en-US" sz="1600" dirty="0"/>
          </a:p>
        </p:txBody>
      </p:sp>
      <p:sp>
        <p:nvSpPr>
          <p:cNvPr id="7" name="Text 4"/>
          <p:cNvSpPr/>
          <p:nvPr/>
        </p:nvSpPr>
        <p:spPr>
          <a:xfrm>
            <a:off x="4714875" y="1765176"/>
            <a:ext cx="3255058" cy="253083"/>
          </a:xfrm>
          <a:prstGeom prst="rect">
            <a:avLst/>
          </a:prstGeom>
          <a:noFill/>
          <a:ln/>
        </p:spPr>
        <p:txBody>
          <a:bodyPr wrap="none" lIns="170053" tIns="0" rIns="0" bIns="0" rtlCol="0" anchor="t">
            <a:spAutoFit/>
          </a:bodyPr>
          <a:lstStyle/>
          <a:p>
            <a:pPr marL="0" indent="0" algn="l">
              <a:lnSpc>
                <a:spcPct val="128000"/>
              </a:lnSpc>
              <a:buNone/>
            </a:pPr>
            <a:r>
              <a:rPr lang="en-US" sz="1400" dirty="0">
                <a:solidFill>
                  <a:srgbClr val="000000"/>
                </a:solidFill>
                <a:latin typeface="Times New Roman" pitchFamily="34" charset="0"/>
                <a:ea typeface="Times New Roman" pitchFamily="34" charset="-122"/>
                <a:cs typeface="Times New Roman" pitchFamily="34" charset="-120"/>
              </a:rPr>
              <a:t>NLTK, Spacy, Hugging Face Transformers</a:t>
            </a:r>
            <a:endParaRPr lang="en-US" sz="1400" dirty="0"/>
          </a:p>
        </p:txBody>
      </p:sp>
      <p:sp>
        <p:nvSpPr>
          <p:cNvPr id="8" name="Text 5"/>
          <p:cNvSpPr/>
          <p:nvPr/>
        </p:nvSpPr>
        <p:spPr>
          <a:xfrm>
            <a:off x="1000125" y="2468110"/>
            <a:ext cx="1625445" cy="289246"/>
          </a:xfrm>
          <a:prstGeom prst="rect">
            <a:avLst/>
          </a:prstGeom>
          <a:noFill/>
          <a:ln/>
        </p:spPr>
        <p:txBody>
          <a:bodyPr wrap="none" lIns="0" tIns="0" rIns="0" bIns="0" rtlCol="0" anchor="t">
            <a:spAutoFit/>
          </a:bodyPr>
          <a:lstStyle/>
          <a:p>
            <a:pPr marL="0" indent="0" algn="l">
              <a:lnSpc>
                <a:spcPct val="128000"/>
              </a:lnSpc>
              <a:buNone/>
            </a:pPr>
            <a:r>
              <a:rPr lang="en-US" sz="1600" b="1" u="sng" dirty="0">
                <a:solidFill>
                  <a:srgbClr val="000000"/>
                </a:solidFill>
                <a:uFill>
                  <a:solidFill>
                    <a:srgbClr val="000000"/>
                  </a:solidFill>
                </a:uFill>
                <a:latin typeface="Times New Roman" pitchFamily="34" charset="0"/>
                <a:ea typeface="Times New Roman" pitchFamily="34" charset="-122"/>
                <a:cs typeface="Times New Roman" pitchFamily="34" charset="-120"/>
              </a:rPr>
              <a:t>Machine Learning</a:t>
            </a:r>
            <a:endParaRPr lang="en-US" sz="1600" dirty="0"/>
          </a:p>
        </p:txBody>
      </p:sp>
      <p:sp>
        <p:nvSpPr>
          <p:cNvPr id="9" name="Text 6"/>
          <p:cNvSpPr/>
          <p:nvPr/>
        </p:nvSpPr>
        <p:spPr>
          <a:xfrm>
            <a:off x="1000125" y="2836683"/>
            <a:ext cx="1777923" cy="253083"/>
          </a:xfrm>
          <a:prstGeom prst="rect">
            <a:avLst/>
          </a:prstGeom>
          <a:noFill/>
          <a:ln/>
        </p:spPr>
        <p:txBody>
          <a:bodyPr wrap="none" lIns="170053" tIns="0" rIns="0" bIns="0" rtlCol="0" anchor="t">
            <a:spAutoFit/>
          </a:bodyPr>
          <a:lstStyle/>
          <a:p>
            <a:pPr marL="0" indent="0" algn="l">
              <a:lnSpc>
                <a:spcPct val="128000"/>
              </a:lnSpc>
              <a:buNone/>
            </a:pPr>
            <a:r>
              <a:rPr lang="en-US" sz="1400" dirty="0">
                <a:solidFill>
                  <a:srgbClr val="000000"/>
                </a:solidFill>
                <a:latin typeface="Times New Roman" pitchFamily="34" charset="0"/>
                <a:ea typeface="Times New Roman" pitchFamily="34" charset="-122"/>
                <a:cs typeface="Times New Roman" pitchFamily="34" charset="-120"/>
              </a:rPr>
              <a:t>Scikit-learn, XGBoost</a:t>
            </a:r>
            <a:endParaRPr lang="en-US" sz="1400" dirty="0"/>
          </a:p>
        </p:txBody>
      </p:sp>
      <p:sp>
        <p:nvSpPr>
          <p:cNvPr id="10" name="Text 7"/>
          <p:cNvSpPr/>
          <p:nvPr/>
        </p:nvSpPr>
        <p:spPr>
          <a:xfrm>
            <a:off x="4714875" y="2468110"/>
            <a:ext cx="1304844" cy="289246"/>
          </a:xfrm>
          <a:prstGeom prst="rect">
            <a:avLst/>
          </a:prstGeom>
          <a:noFill/>
          <a:ln/>
        </p:spPr>
        <p:txBody>
          <a:bodyPr wrap="none" lIns="0" tIns="0" rIns="0" bIns="0" rtlCol="0" anchor="t">
            <a:spAutoFit/>
          </a:bodyPr>
          <a:lstStyle/>
          <a:p>
            <a:pPr marL="0" indent="0" algn="l">
              <a:lnSpc>
                <a:spcPct val="128000"/>
              </a:lnSpc>
              <a:buNone/>
            </a:pPr>
            <a:r>
              <a:rPr lang="en-US" sz="1600" b="1" u="sng" dirty="0">
                <a:solidFill>
                  <a:srgbClr val="000000"/>
                </a:solidFill>
                <a:uFill>
                  <a:solidFill>
                    <a:srgbClr val="000000"/>
                  </a:solidFill>
                </a:uFill>
                <a:latin typeface="Times New Roman" pitchFamily="34" charset="0"/>
                <a:ea typeface="Times New Roman" pitchFamily="34" charset="-122"/>
                <a:cs typeface="Times New Roman" pitchFamily="34" charset="-120"/>
              </a:rPr>
              <a:t>Deep Learning</a:t>
            </a:r>
            <a:endParaRPr lang="en-US" sz="1600" dirty="0"/>
          </a:p>
        </p:txBody>
      </p:sp>
      <p:sp>
        <p:nvSpPr>
          <p:cNvPr id="11" name="Text 8"/>
          <p:cNvSpPr/>
          <p:nvPr/>
        </p:nvSpPr>
        <p:spPr>
          <a:xfrm>
            <a:off x="4714875" y="2836683"/>
            <a:ext cx="1709058" cy="253083"/>
          </a:xfrm>
          <a:prstGeom prst="rect">
            <a:avLst/>
          </a:prstGeom>
          <a:noFill/>
          <a:ln/>
        </p:spPr>
        <p:txBody>
          <a:bodyPr wrap="none" lIns="170053" tIns="0" rIns="0" bIns="0" rtlCol="0" anchor="t">
            <a:spAutoFit/>
          </a:bodyPr>
          <a:lstStyle/>
          <a:p>
            <a:pPr marL="0" indent="0" algn="l">
              <a:lnSpc>
                <a:spcPct val="128000"/>
              </a:lnSpc>
              <a:buNone/>
            </a:pPr>
            <a:r>
              <a:rPr lang="en-US" sz="1400" dirty="0">
                <a:solidFill>
                  <a:srgbClr val="000000"/>
                </a:solidFill>
                <a:latin typeface="Times New Roman" pitchFamily="34" charset="0"/>
                <a:ea typeface="Times New Roman" pitchFamily="34" charset="-122"/>
                <a:cs typeface="Times New Roman" pitchFamily="34" charset="-120"/>
              </a:rPr>
              <a:t>TensorFlow, PyTorch</a:t>
            </a:r>
            <a:endParaRPr lang="en-US" sz="1400" dirty="0"/>
          </a:p>
        </p:txBody>
      </p:sp>
      <p:sp>
        <p:nvSpPr>
          <p:cNvPr id="12" name="Text 9"/>
          <p:cNvSpPr/>
          <p:nvPr/>
        </p:nvSpPr>
        <p:spPr>
          <a:xfrm>
            <a:off x="1000125" y="3539617"/>
            <a:ext cx="1295226" cy="289246"/>
          </a:xfrm>
          <a:prstGeom prst="rect">
            <a:avLst/>
          </a:prstGeom>
          <a:noFill/>
          <a:ln/>
        </p:spPr>
        <p:txBody>
          <a:bodyPr wrap="none" lIns="0" tIns="0" rIns="0" bIns="0" rtlCol="0" anchor="t">
            <a:spAutoFit/>
          </a:bodyPr>
          <a:lstStyle/>
          <a:p>
            <a:pPr marL="0" indent="0" algn="l">
              <a:lnSpc>
                <a:spcPct val="128000"/>
              </a:lnSpc>
              <a:buNone/>
            </a:pPr>
            <a:r>
              <a:rPr lang="en-US" sz="1600" b="1" u="sng" dirty="0">
                <a:solidFill>
                  <a:srgbClr val="000000"/>
                </a:solidFill>
                <a:uFill>
                  <a:solidFill>
                    <a:srgbClr val="000000"/>
                  </a:solidFill>
                </a:uFill>
                <a:latin typeface="Times New Roman" pitchFamily="34" charset="0"/>
                <a:ea typeface="Times New Roman" pitchFamily="34" charset="-122"/>
                <a:cs typeface="Times New Roman" pitchFamily="34" charset="-120"/>
              </a:rPr>
              <a:t>Data Handling</a:t>
            </a:r>
            <a:endParaRPr lang="en-US" sz="1600" dirty="0"/>
          </a:p>
        </p:txBody>
      </p:sp>
      <p:sp>
        <p:nvSpPr>
          <p:cNvPr id="13" name="Text 10"/>
          <p:cNvSpPr/>
          <p:nvPr/>
        </p:nvSpPr>
        <p:spPr>
          <a:xfrm>
            <a:off x="1000125" y="3908189"/>
            <a:ext cx="1319464" cy="253083"/>
          </a:xfrm>
          <a:prstGeom prst="rect">
            <a:avLst/>
          </a:prstGeom>
          <a:noFill/>
          <a:ln/>
        </p:spPr>
        <p:txBody>
          <a:bodyPr wrap="none" lIns="170053" tIns="0" rIns="0" bIns="0" rtlCol="0" anchor="t">
            <a:spAutoFit/>
          </a:bodyPr>
          <a:lstStyle/>
          <a:p>
            <a:pPr marL="0" indent="0" algn="l">
              <a:lnSpc>
                <a:spcPct val="128000"/>
              </a:lnSpc>
              <a:buNone/>
            </a:pPr>
            <a:r>
              <a:rPr lang="en-US" sz="1400" dirty="0">
                <a:solidFill>
                  <a:srgbClr val="000000"/>
                </a:solidFill>
                <a:latin typeface="Times New Roman" pitchFamily="34" charset="0"/>
                <a:ea typeface="Times New Roman" pitchFamily="34" charset="-122"/>
                <a:cs typeface="Times New Roman" pitchFamily="34" charset="-120"/>
              </a:rPr>
              <a:t>Pandas, NumPy</a:t>
            </a:r>
            <a:endParaRPr lang="en-US" sz="1400" dirty="0"/>
          </a:p>
        </p:txBody>
      </p:sp>
      <p:sp>
        <p:nvSpPr>
          <p:cNvPr id="14" name="Text 11"/>
          <p:cNvSpPr/>
          <p:nvPr/>
        </p:nvSpPr>
        <p:spPr>
          <a:xfrm>
            <a:off x="4714875" y="3539617"/>
            <a:ext cx="2363917" cy="289246"/>
          </a:xfrm>
          <a:prstGeom prst="rect">
            <a:avLst/>
          </a:prstGeom>
          <a:noFill/>
          <a:ln/>
        </p:spPr>
        <p:txBody>
          <a:bodyPr wrap="none" lIns="0" tIns="0" rIns="0" bIns="0" rtlCol="0" anchor="t">
            <a:spAutoFit/>
          </a:bodyPr>
          <a:lstStyle/>
          <a:p>
            <a:pPr marL="0" indent="0" algn="l">
              <a:lnSpc>
                <a:spcPct val="128000"/>
              </a:lnSpc>
              <a:buNone/>
            </a:pPr>
            <a:r>
              <a:rPr lang="en-US" sz="1600" b="1" u="sng" dirty="0">
                <a:solidFill>
                  <a:srgbClr val="000000"/>
                </a:solidFill>
                <a:uFill>
                  <a:solidFill>
                    <a:srgbClr val="000000"/>
                  </a:solidFill>
                </a:uFill>
                <a:latin typeface="Times New Roman" pitchFamily="34" charset="0"/>
                <a:ea typeface="Times New Roman" pitchFamily="34" charset="-122"/>
                <a:cs typeface="Times New Roman" pitchFamily="34" charset="-120"/>
              </a:rPr>
              <a:t>Development Environment</a:t>
            </a:r>
            <a:endParaRPr lang="en-US" sz="1600" dirty="0"/>
          </a:p>
        </p:txBody>
      </p:sp>
      <p:sp>
        <p:nvSpPr>
          <p:cNvPr id="15" name="Text 12"/>
          <p:cNvSpPr/>
          <p:nvPr/>
        </p:nvSpPr>
        <p:spPr>
          <a:xfrm>
            <a:off x="4714875" y="3908189"/>
            <a:ext cx="2617896" cy="253083"/>
          </a:xfrm>
          <a:prstGeom prst="rect">
            <a:avLst/>
          </a:prstGeom>
          <a:noFill/>
          <a:ln/>
        </p:spPr>
        <p:txBody>
          <a:bodyPr wrap="none" lIns="170053" tIns="0" rIns="0" bIns="0" rtlCol="0" anchor="t">
            <a:spAutoFit/>
          </a:bodyPr>
          <a:lstStyle/>
          <a:p>
            <a:pPr marL="0" indent="0" algn="l">
              <a:lnSpc>
                <a:spcPct val="128000"/>
              </a:lnSpc>
              <a:buNone/>
            </a:pPr>
            <a:r>
              <a:rPr lang="en-US" sz="1400" dirty="0">
                <a:solidFill>
                  <a:srgbClr val="000000"/>
                </a:solidFill>
                <a:latin typeface="Times New Roman" pitchFamily="34" charset="0"/>
                <a:ea typeface="Times New Roman" pitchFamily="34" charset="-122"/>
                <a:cs typeface="Times New Roman" pitchFamily="34" charset="-120"/>
              </a:rPr>
              <a:t>Google Colab, Jupyter Notebooks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878" y="0"/>
            <a:ext cx="9144000" cy="5143500"/>
          </a:xfrm>
          <a:prstGeom prst="rect">
            <a:avLst/>
          </a:prstGeom>
        </p:spPr>
      </p:pic>
      <p:sp>
        <p:nvSpPr>
          <p:cNvPr id="3" name="Text 0"/>
          <p:cNvSpPr/>
          <p:nvPr/>
        </p:nvSpPr>
        <p:spPr>
          <a:xfrm>
            <a:off x="2433117" y="571500"/>
            <a:ext cx="4277711" cy="396478"/>
          </a:xfrm>
          <a:prstGeom prst="rect">
            <a:avLst/>
          </a:prstGeom>
          <a:noFill/>
          <a:ln/>
        </p:spPr>
        <p:txBody>
          <a:bodyPr wrap="square" lIns="0" tIns="0" rIns="0" bIns="0" rtlCol="0" anchor="t">
            <a:spAutoFit/>
          </a:bodyPr>
          <a:lstStyle/>
          <a:p>
            <a:pPr marL="0" indent="0" algn="ctr">
              <a:buNone/>
            </a:pPr>
            <a:r>
              <a:rPr lang="en-US" sz="2450" b="1" dirty="0">
                <a:solidFill>
                  <a:srgbClr val="000000"/>
                </a:solidFill>
                <a:latin typeface="Times New Roman" pitchFamily="34" charset="0"/>
                <a:ea typeface="Times New Roman" pitchFamily="34" charset="-122"/>
                <a:cs typeface="Times New Roman" pitchFamily="34" charset="-120"/>
              </a:rPr>
              <a:t>SYSTEM ARCHITECTURE</a:t>
            </a:r>
            <a:endParaRPr lang="en-US" sz="2450" dirty="0"/>
          </a:p>
        </p:txBody>
      </p:sp>
      <p:sp>
        <p:nvSpPr>
          <p:cNvPr id="4" name="Text 1"/>
          <p:cNvSpPr/>
          <p:nvPr/>
        </p:nvSpPr>
        <p:spPr>
          <a:xfrm>
            <a:off x="332067" y="1973384"/>
            <a:ext cx="1282723" cy="418063"/>
          </a:xfrm>
          <a:prstGeom prst="rect">
            <a:avLst/>
          </a:prstGeom>
          <a:noFill/>
          <a:ln/>
        </p:spPr>
        <p:txBody>
          <a:bodyPr wrap="none" lIns="85090" tIns="85090" rIns="85090" bIns="85090" rtlCol="0" anchor="ctr">
            <a:spAutoFit/>
          </a:bodyP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Review Data</a:t>
            </a:r>
            <a:endParaRPr lang="en-US" sz="1600" dirty="0"/>
          </a:p>
        </p:txBody>
      </p:sp>
      <p:sp>
        <p:nvSpPr>
          <p:cNvPr id="5" name="Text 2"/>
          <p:cNvSpPr/>
          <p:nvPr/>
        </p:nvSpPr>
        <p:spPr>
          <a:xfrm>
            <a:off x="1757363" y="2050256"/>
            <a:ext cx="228600" cy="264319"/>
          </a:xfrm>
          <a:prstGeom prst="rect">
            <a:avLst/>
          </a:prstGeom>
          <a:noFill/>
          <a:ln/>
        </p:spPr>
        <p:txBody>
          <a:bodyPr wrap="none" lIns="0" tIns="0" rIns="0" bIns="0" rtlCol="0" anchor="t">
            <a:spAutoFit/>
          </a:bodyP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a:t>
            </a:r>
            <a:endParaRPr lang="en-US" sz="1600" dirty="0"/>
          </a:p>
        </p:txBody>
      </p:sp>
      <p:sp>
        <p:nvSpPr>
          <p:cNvPr id="6" name="Text 3"/>
          <p:cNvSpPr/>
          <p:nvPr/>
        </p:nvSpPr>
        <p:spPr>
          <a:xfrm>
            <a:off x="2075097" y="1973384"/>
            <a:ext cx="1397114" cy="418063"/>
          </a:xfrm>
          <a:prstGeom prst="rect">
            <a:avLst/>
          </a:prstGeom>
          <a:noFill/>
          <a:ln/>
        </p:spPr>
        <p:txBody>
          <a:bodyPr wrap="none" lIns="85090" tIns="85090" rIns="85090" bIns="85090" rtlCol="0" anchor="ctr">
            <a:spAutoFit/>
          </a:bodyP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Preprocessing</a:t>
            </a:r>
            <a:endParaRPr lang="en-US" sz="1600" dirty="0"/>
          </a:p>
        </p:txBody>
      </p:sp>
      <p:sp>
        <p:nvSpPr>
          <p:cNvPr id="7" name="Text 4"/>
          <p:cNvSpPr/>
          <p:nvPr/>
        </p:nvSpPr>
        <p:spPr>
          <a:xfrm>
            <a:off x="3557588" y="2050256"/>
            <a:ext cx="228600" cy="264319"/>
          </a:xfrm>
          <a:prstGeom prst="rect">
            <a:avLst/>
          </a:prstGeom>
          <a:noFill/>
          <a:ln/>
        </p:spPr>
        <p:txBody>
          <a:bodyPr wrap="none" lIns="0" tIns="0" rIns="0" bIns="0" rtlCol="0" anchor="t">
            <a:spAutoFit/>
          </a:bodyP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a:t>
            </a:r>
            <a:endParaRPr lang="en-US" sz="1600" dirty="0"/>
          </a:p>
        </p:txBody>
      </p:sp>
      <p:sp>
        <p:nvSpPr>
          <p:cNvPr id="8" name="Text 5"/>
          <p:cNvSpPr/>
          <p:nvPr/>
        </p:nvSpPr>
        <p:spPr>
          <a:xfrm>
            <a:off x="3771211" y="1898721"/>
            <a:ext cx="1553307" cy="664284"/>
          </a:xfrm>
          <a:prstGeom prst="rect">
            <a:avLst/>
          </a:prstGeom>
          <a:noFill/>
          <a:ln/>
        </p:spPr>
        <p:txBody>
          <a:bodyPr wrap="square" lIns="85090" tIns="85090" rIns="85090" bIns="85090" rtlCol="0" anchor="ctr">
            <a:spAutoFit/>
          </a:bodyP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Feature Extraction</a:t>
            </a:r>
            <a:endParaRPr lang="en-US" sz="1600" dirty="0"/>
          </a:p>
        </p:txBody>
      </p:sp>
      <p:sp>
        <p:nvSpPr>
          <p:cNvPr id="9" name="Text 6"/>
          <p:cNvSpPr/>
          <p:nvPr/>
        </p:nvSpPr>
        <p:spPr>
          <a:xfrm>
            <a:off x="5357813" y="2050256"/>
            <a:ext cx="228600" cy="264319"/>
          </a:xfrm>
          <a:prstGeom prst="rect">
            <a:avLst/>
          </a:prstGeom>
          <a:noFill/>
          <a:ln/>
        </p:spPr>
        <p:txBody>
          <a:bodyPr wrap="none" lIns="0" tIns="0" rIns="0" bIns="0" rtlCol="0" anchor="t">
            <a:spAutoFit/>
          </a:bodyP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a:t>
            </a:r>
            <a:endParaRPr lang="en-US" sz="1600" dirty="0"/>
          </a:p>
        </p:txBody>
      </p:sp>
      <p:sp>
        <p:nvSpPr>
          <p:cNvPr id="10" name="Text 7"/>
          <p:cNvSpPr/>
          <p:nvPr/>
        </p:nvSpPr>
        <p:spPr>
          <a:xfrm>
            <a:off x="5571436" y="1985888"/>
            <a:ext cx="1798762" cy="418063"/>
          </a:xfrm>
          <a:prstGeom prst="rect">
            <a:avLst/>
          </a:prstGeom>
          <a:noFill/>
          <a:ln/>
        </p:spPr>
        <p:txBody>
          <a:bodyPr wrap="none" lIns="85090" tIns="85090" rIns="85090" bIns="85090" rtlCol="0" anchor="ctr">
            <a:spAutoFit/>
          </a:bodyP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ML/DL Classifiers</a:t>
            </a:r>
            <a:endParaRPr lang="en-US" sz="1600" dirty="0"/>
          </a:p>
        </p:txBody>
      </p:sp>
      <p:sp>
        <p:nvSpPr>
          <p:cNvPr id="11" name="Text 8"/>
          <p:cNvSpPr/>
          <p:nvPr/>
        </p:nvSpPr>
        <p:spPr>
          <a:xfrm>
            <a:off x="7325922" y="2050256"/>
            <a:ext cx="228600" cy="264319"/>
          </a:xfrm>
          <a:prstGeom prst="rect">
            <a:avLst/>
          </a:prstGeom>
          <a:noFill/>
          <a:ln/>
        </p:spPr>
        <p:txBody>
          <a:bodyPr wrap="none" lIns="0" tIns="0" rIns="0" bIns="0" rtlCol="0" anchor="t">
            <a:spAutoFit/>
          </a:bodyP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a:t>
            </a:r>
            <a:endParaRPr lang="en-US" sz="1600" dirty="0"/>
          </a:p>
        </p:txBody>
      </p:sp>
      <p:sp>
        <p:nvSpPr>
          <p:cNvPr id="12" name="Text 9"/>
          <p:cNvSpPr/>
          <p:nvPr/>
        </p:nvSpPr>
        <p:spPr>
          <a:xfrm>
            <a:off x="7768608" y="1973384"/>
            <a:ext cx="811440" cy="418063"/>
          </a:xfrm>
          <a:prstGeom prst="rect">
            <a:avLst/>
          </a:prstGeom>
          <a:noFill/>
          <a:ln/>
        </p:spPr>
        <p:txBody>
          <a:bodyPr wrap="none" lIns="85090" tIns="85090" rIns="85090" bIns="85090" rtlCol="0" anchor="ctr">
            <a:spAutoFit/>
          </a:bodyP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Output</a:t>
            </a:r>
            <a:endParaRPr lang="en-US" sz="1600" dirty="0"/>
          </a:p>
        </p:txBody>
      </p:sp>
      <p:sp>
        <p:nvSpPr>
          <p:cNvPr id="13" name="Shape 10"/>
          <p:cNvSpPr/>
          <p:nvPr/>
        </p:nvSpPr>
        <p:spPr>
          <a:xfrm>
            <a:off x="518160" y="3174001"/>
            <a:ext cx="7596822" cy="910047"/>
          </a:xfrm>
          <a:prstGeom prst="rect">
            <a:avLst/>
          </a:prstGeom>
          <a:solidFill>
            <a:srgbClr val="000000">
              <a:alpha val="0"/>
            </a:srgbClr>
          </a:solidFill>
          <a:ln/>
        </p:spPr>
      </p:sp>
      <p:sp>
        <p:nvSpPr>
          <p:cNvPr id="14" name="Shape 11"/>
          <p:cNvSpPr/>
          <p:nvPr/>
        </p:nvSpPr>
        <p:spPr>
          <a:xfrm>
            <a:off x="1000125" y="2968228"/>
            <a:ext cx="7143750" cy="7144"/>
          </a:xfrm>
          <a:prstGeom prst="rect">
            <a:avLst/>
          </a:prstGeom>
          <a:solidFill>
            <a:srgbClr val="CCCCCC"/>
          </a:solidFill>
          <a:ln/>
        </p:spPr>
      </p:sp>
      <p:sp>
        <p:nvSpPr>
          <p:cNvPr id="15" name="Text 12"/>
          <p:cNvSpPr/>
          <p:nvPr/>
        </p:nvSpPr>
        <p:spPr>
          <a:xfrm>
            <a:off x="1459119" y="3182541"/>
            <a:ext cx="490519" cy="289246"/>
          </a:xfrm>
          <a:prstGeom prst="rect">
            <a:avLst/>
          </a:prstGeom>
          <a:noFill/>
          <a:ln/>
        </p:spPr>
        <p:txBody>
          <a:bodyPr wrap="none" lIns="0" tIns="0" rIns="0" bIns="0" rtlCol="0" anchor="t">
            <a:spAutoFit/>
          </a:bodyPr>
          <a:lstStyle/>
          <a:p>
            <a:pPr marL="0" indent="0" algn="ctr">
              <a:lnSpc>
                <a:spcPct val="128000"/>
              </a:lnSpc>
              <a:buNone/>
            </a:pPr>
            <a:r>
              <a:rPr lang="en-US" sz="1600" b="1" u="sng" dirty="0">
                <a:solidFill>
                  <a:srgbClr val="000000"/>
                </a:solidFill>
                <a:uFill>
                  <a:solidFill>
                    <a:srgbClr val="000000"/>
                  </a:solidFill>
                </a:uFill>
                <a:latin typeface="Times New Roman" pitchFamily="34" charset="0"/>
                <a:ea typeface="Times New Roman" pitchFamily="34" charset="-122"/>
                <a:cs typeface="Times New Roman" pitchFamily="34" charset="-120"/>
              </a:rPr>
              <a:t>Input</a:t>
            </a:r>
            <a:endParaRPr lang="en-US" sz="1600" dirty="0"/>
          </a:p>
        </p:txBody>
      </p:sp>
      <p:sp>
        <p:nvSpPr>
          <p:cNvPr id="16" name="Text 13"/>
          <p:cNvSpPr/>
          <p:nvPr/>
        </p:nvSpPr>
        <p:spPr>
          <a:xfrm>
            <a:off x="1044743" y="3488271"/>
            <a:ext cx="1319272" cy="253083"/>
          </a:xfrm>
          <a:prstGeom prst="rect">
            <a:avLst/>
          </a:prstGeom>
          <a:noFill/>
          <a:ln/>
        </p:spPr>
        <p:txBody>
          <a:bodyPr wrap="none" lIns="0" tIns="0" rIns="0" bIns="0" rtlCol="0" anchor="t">
            <a:spAutoFit/>
          </a:bodyPr>
          <a:lstStyle/>
          <a:p>
            <a:pPr marL="0" indent="0" algn="ctr">
              <a:lnSpc>
                <a:spcPct val="128000"/>
              </a:lnSpc>
              <a:buNone/>
            </a:pPr>
            <a:r>
              <a:rPr lang="en-US" sz="1400" dirty="0">
                <a:solidFill>
                  <a:srgbClr val="000000"/>
                </a:solidFill>
                <a:latin typeface="Times New Roman" pitchFamily="34" charset="0"/>
                <a:ea typeface="Times New Roman" pitchFamily="34" charset="-122"/>
                <a:cs typeface="Times New Roman" pitchFamily="34" charset="-120"/>
              </a:rPr>
              <a:t>Amazon Reviews </a:t>
            </a:r>
            <a:endParaRPr lang="en-US" sz="1400" dirty="0"/>
          </a:p>
        </p:txBody>
      </p:sp>
      <p:sp>
        <p:nvSpPr>
          <p:cNvPr id="17" name="Text 14"/>
          <p:cNvSpPr/>
          <p:nvPr/>
        </p:nvSpPr>
        <p:spPr>
          <a:xfrm>
            <a:off x="1156825" y="3693988"/>
            <a:ext cx="1095107" cy="253083"/>
          </a:xfrm>
          <a:prstGeom prst="rect">
            <a:avLst/>
          </a:prstGeom>
          <a:noFill/>
          <a:ln/>
        </p:spPr>
        <p:txBody>
          <a:bodyPr wrap="none" lIns="0" tIns="0" rIns="0" bIns="0" rtlCol="0" anchor="t">
            <a:spAutoFit/>
          </a:bodyPr>
          <a:lstStyle/>
          <a:p>
            <a:pPr marL="0" indent="0" algn="ctr">
              <a:lnSpc>
                <a:spcPct val="128000"/>
              </a:lnSpc>
              <a:buNone/>
            </a:pPr>
            <a:r>
              <a:rPr lang="en-US" sz="1400" dirty="0">
                <a:solidFill>
                  <a:srgbClr val="000000"/>
                </a:solidFill>
                <a:latin typeface="Times New Roman" pitchFamily="34" charset="0"/>
                <a:ea typeface="Times New Roman" pitchFamily="34" charset="-122"/>
                <a:cs typeface="Times New Roman" pitchFamily="34" charset="-120"/>
              </a:rPr>
              <a:t>Text &amp; Ratings</a:t>
            </a:r>
            <a:endParaRPr lang="en-US" sz="1400" dirty="0"/>
          </a:p>
        </p:txBody>
      </p:sp>
      <p:sp>
        <p:nvSpPr>
          <p:cNvPr id="18" name="Text 15"/>
          <p:cNvSpPr/>
          <p:nvPr/>
        </p:nvSpPr>
        <p:spPr>
          <a:xfrm>
            <a:off x="2585819" y="3182541"/>
            <a:ext cx="932435" cy="289246"/>
          </a:xfrm>
          <a:prstGeom prst="rect">
            <a:avLst/>
          </a:prstGeom>
          <a:noFill/>
          <a:ln/>
        </p:spPr>
        <p:txBody>
          <a:bodyPr wrap="none" lIns="0" tIns="0" rIns="0" bIns="0" rtlCol="0" anchor="t">
            <a:spAutoFit/>
          </a:bodyPr>
          <a:lstStyle/>
          <a:p>
            <a:pPr marL="0" indent="0" algn="ctr">
              <a:lnSpc>
                <a:spcPct val="128000"/>
              </a:lnSpc>
              <a:buNone/>
            </a:pPr>
            <a:r>
              <a:rPr lang="en-US" sz="1600" b="1" u="sng" dirty="0">
                <a:solidFill>
                  <a:srgbClr val="000000"/>
                </a:solidFill>
                <a:uFill>
                  <a:solidFill>
                    <a:srgbClr val="000000"/>
                  </a:solidFill>
                </a:uFill>
                <a:latin typeface="Times New Roman" pitchFamily="34" charset="0"/>
                <a:ea typeface="Times New Roman" pitchFamily="34" charset="-122"/>
                <a:cs typeface="Times New Roman" pitchFamily="34" charset="-120"/>
              </a:rPr>
              <a:t>Processing</a:t>
            </a:r>
            <a:endParaRPr lang="en-US" sz="1600" dirty="0"/>
          </a:p>
        </p:txBody>
      </p:sp>
      <p:sp>
        <p:nvSpPr>
          <p:cNvPr id="19" name="Text 16"/>
          <p:cNvSpPr/>
          <p:nvPr/>
        </p:nvSpPr>
        <p:spPr>
          <a:xfrm>
            <a:off x="2547920" y="3488271"/>
            <a:ext cx="1114087" cy="253083"/>
          </a:xfrm>
          <a:prstGeom prst="rect">
            <a:avLst/>
          </a:prstGeom>
          <a:noFill/>
          <a:ln/>
        </p:spPr>
        <p:txBody>
          <a:bodyPr wrap="none" lIns="0" tIns="0" rIns="0" bIns="0" rtlCol="0" anchor="t">
            <a:spAutoFit/>
          </a:bodyPr>
          <a:lstStyle/>
          <a:p>
            <a:pPr marL="0" indent="0" algn="ctr">
              <a:lnSpc>
                <a:spcPct val="128000"/>
              </a:lnSpc>
              <a:buNone/>
            </a:pPr>
            <a:r>
              <a:rPr lang="en-US" sz="1400" dirty="0">
                <a:solidFill>
                  <a:srgbClr val="000000"/>
                </a:solidFill>
                <a:latin typeface="Times New Roman" pitchFamily="34" charset="0"/>
                <a:ea typeface="Times New Roman" pitchFamily="34" charset="-122"/>
                <a:cs typeface="Times New Roman" pitchFamily="34" charset="-120"/>
              </a:rPr>
              <a:t>Noise Removal</a:t>
            </a:r>
            <a:endParaRPr lang="en-US" sz="1400" dirty="0"/>
          </a:p>
        </p:txBody>
      </p:sp>
      <p:sp>
        <p:nvSpPr>
          <p:cNvPr id="20" name="Text 17"/>
          <p:cNvSpPr/>
          <p:nvPr/>
        </p:nvSpPr>
        <p:spPr>
          <a:xfrm>
            <a:off x="2584604" y="3693988"/>
            <a:ext cx="934807" cy="253083"/>
          </a:xfrm>
          <a:prstGeom prst="rect">
            <a:avLst/>
          </a:prstGeom>
          <a:noFill/>
          <a:ln/>
        </p:spPr>
        <p:txBody>
          <a:bodyPr wrap="none" lIns="0" tIns="0" rIns="0" bIns="0" rtlCol="0" anchor="t">
            <a:spAutoFit/>
          </a:bodyPr>
          <a:lstStyle/>
          <a:p>
            <a:pPr marL="0" indent="0" algn="ctr">
              <a:lnSpc>
                <a:spcPct val="128000"/>
              </a:lnSpc>
              <a:buNone/>
            </a:pPr>
            <a:r>
              <a:rPr lang="en-US" sz="1400" dirty="0">
                <a:solidFill>
                  <a:srgbClr val="000000"/>
                </a:solidFill>
                <a:latin typeface="Times New Roman" pitchFamily="34" charset="0"/>
                <a:ea typeface="Times New Roman" pitchFamily="34" charset="-122"/>
                <a:cs typeface="Times New Roman" pitchFamily="34" charset="-120"/>
              </a:rPr>
              <a:t>Tokenization</a:t>
            </a:r>
            <a:endParaRPr lang="en-US" sz="1400" dirty="0"/>
          </a:p>
        </p:txBody>
      </p:sp>
      <p:sp>
        <p:nvSpPr>
          <p:cNvPr id="21" name="Text 18"/>
          <p:cNvSpPr/>
          <p:nvPr/>
        </p:nvSpPr>
        <p:spPr>
          <a:xfrm>
            <a:off x="4060760" y="3182541"/>
            <a:ext cx="760913" cy="289246"/>
          </a:xfrm>
          <a:prstGeom prst="rect">
            <a:avLst/>
          </a:prstGeom>
          <a:noFill/>
          <a:ln/>
        </p:spPr>
        <p:txBody>
          <a:bodyPr wrap="none" lIns="0" tIns="0" rIns="0" bIns="0" rtlCol="0" anchor="t">
            <a:spAutoFit/>
          </a:bodyPr>
          <a:lstStyle/>
          <a:p>
            <a:pPr marL="0" indent="0" algn="ctr">
              <a:lnSpc>
                <a:spcPct val="128000"/>
              </a:lnSpc>
              <a:buNone/>
            </a:pPr>
            <a:r>
              <a:rPr lang="en-US" sz="1600" b="1" u="sng" dirty="0">
                <a:solidFill>
                  <a:srgbClr val="000000"/>
                </a:solidFill>
                <a:uFill>
                  <a:solidFill>
                    <a:srgbClr val="000000"/>
                  </a:solidFill>
                </a:uFill>
                <a:latin typeface="Times New Roman" pitchFamily="34" charset="0"/>
                <a:ea typeface="Times New Roman" pitchFamily="34" charset="-122"/>
                <a:cs typeface="Times New Roman" pitchFamily="34" charset="-120"/>
              </a:rPr>
              <a:t>Features</a:t>
            </a:r>
            <a:endParaRPr lang="en-US" sz="1600" dirty="0"/>
          </a:p>
        </p:txBody>
      </p:sp>
      <p:sp>
        <p:nvSpPr>
          <p:cNvPr id="22" name="Text 19"/>
          <p:cNvSpPr/>
          <p:nvPr/>
        </p:nvSpPr>
        <p:spPr>
          <a:xfrm>
            <a:off x="3765551" y="3488271"/>
            <a:ext cx="1351332" cy="253083"/>
          </a:xfrm>
          <a:prstGeom prst="rect">
            <a:avLst/>
          </a:prstGeom>
          <a:noFill/>
          <a:ln/>
        </p:spPr>
        <p:txBody>
          <a:bodyPr wrap="none" lIns="0" tIns="0" rIns="0" bIns="0" rtlCol="0" anchor="t">
            <a:spAutoFit/>
          </a:bodyPr>
          <a:lstStyle/>
          <a:p>
            <a:pPr marL="0" indent="0" algn="ctr">
              <a:lnSpc>
                <a:spcPct val="128000"/>
              </a:lnSpc>
              <a:buNone/>
            </a:pPr>
            <a:r>
              <a:rPr lang="en-US" sz="1400" dirty="0">
                <a:solidFill>
                  <a:srgbClr val="000000"/>
                </a:solidFill>
                <a:latin typeface="Times New Roman" pitchFamily="34" charset="0"/>
                <a:ea typeface="Times New Roman" pitchFamily="34" charset="-122"/>
                <a:cs typeface="Times New Roman" pitchFamily="34" charset="-120"/>
              </a:rPr>
              <a:t>Linguistic Patterns</a:t>
            </a:r>
            <a:endParaRPr lang="en-US" sz="1400" dirty="0"/>
          </a:p>
        </p:txBody>
      </p:sp>
      <p:sp>
        <p:nvSpPr>
          <p:cNvPr id="23" name="Text 20"/>
          <p:cNvSpPr/>
          <p:nvPr/>
        </p:nvSpPr>
        <p:spPr>
          <a:xfrm>
            <a:off x="3747726" y="3693988"/>
            <a:ext cx="1386982" cy="253083"/>
          </a:xfrm>
          <a:prstGeom prst="rect">
            <a:avLst/>
          </a:prstGeom>
          <a:noFill/>
          <a:ln/>
        </p:spPr>
        <p:txBody>
          <a:bodyPr wrap="none" lIns="0" tIns="0" rIns="0" bIns="0" rtlCol="0" anchor="t">
            <a:spAutoFit/>
          </a:bodyPr>
          <a:lstStyle/>
          <a:p>
            <a:pPr marL="0" indent="0" algn="ctr">
              <a:lnSpc>
                <a:spcPct val="128000"/>
              </a:lnSpc>
              <a:buNone/>
            </a:pPr>
            <a:r>
              <a:rPr lang="en-US" sz="1400" dirty="0">
                <a:solidFill>
                  <a:srgbClr val="000000"/>
                </a:solidFill>
                <a:latin typeface="Times New Roman" pitchFamily="34" charset="0"/>
                <a:ea typeface="Times New Roman" pitchFamily="34" charset="-122"/>
                <a:cs typeface="Times New Roman" pitchFamily="34" charset="-120"/>
              </a:rPr>
              <a:t>BERT Embeddings</a:t>
            </a:r>
            <a:endParaRPr lang="en-US" sz="1400" dirty="0"/>
          </a:p>
        </p:txBody>
      </p:sp>
      <p:sp>
        <p:nvSpPr>
          <p:cNvPr id="24" name="Text 21"/>
          <p:cNvSpPr/>
          <p:nvPr/>
        </p:nvSpPr>
        <p:spPr>
          <a:xfrm>
            <a:off x="5632459" y="3182541"/>
            <a:ext cx="639599" cy="289246"/>
          </a:xfrm>
          <a:prstGeom prst="rect">
            <a:avLst/>
          </a:prstGeom>
          <a:noFill/>
          <a:ln/>
        </p:spPr>
        <p:txBody>
          <a:bodyPr wrap="none" lIns="0" tIns="0" rIns="0" bIns="0" rtlCol="0" anchor="t">
            <a:spAutoFit/>
          </a:bodyPr>
          <a:lstStyle/>
          <a:p>
            <a:pPr marL="0" indent="0" algn="ctr">
              <a:lnSpc>
                <a:spcPct val="128000"/>
              </a:lnSpc>
              <a:buNone/>
            </a:pPr>
            <a:r>
              <a:rPr lang="en-US" sz="1600" b="1" u="sng" dirty="0">
                <a:solidFill>
                  <a:srgbClr val="000000"/>
                </a:solidFill>
                <a:uFill>
                  <a:solidFill>
                    <a:srgbClr val="000000"/>
                  </a:solidFill>
                </a:uFill>
                <a:latin typeface="Times New Roman" pitchFamily="34" charset="0"/>
                <a:ea typeface="Times New Roman" pitchFamily="34" charset="-122"/>
                <a:cs typeface="Times New Roman" pitchFamily="34" charset="-120"/>
              </a:rPr>
              <a:t>Models</a:t>
            </a:r>
            <a:endParaRPr lang="en-US" sz="1600" dirty="0"/>
          </a:p>
        </p:txBody>
      </p:sp>
      <p:sp>
        <p:nvSpPr>
          <p:cNvPr id="25" name="Text 22"/>
          <p:cNvSpPr/>
          <p:nvPr/>
        </p:nvSpPr>
        <p:spPr>
          <a:xfrm>
            <a:off x="5225265" y="3488271"/>
            <a:ext cx="1453988" cy="253083"/>
          </a:xfrm>
          <a:prstGeom prst="rect">
            <a:avLst/>
          </a:prstGeom>
          <a:noFill/>
          <a:ln/>
        </p:spPr>
        <p:txBody>
          <a:bodyPr wrap="none" lIns="0" tIns="0" rIns="0" bIns="0" rtlCol="0" anchor="t">
            <a:spAutoFit/>
          </a:bodyPr>
          <a:lstStyle/>
          <a:p>
            <a:pPr marL="0" indent="0" algn="ctr">
              <a:lnSpc>
                <a:spcPct val="128000"/>
              </a:lnSpc>
              <a:buNone/>
            </a:pPr>
            <a:r>
              <a:rPr lang="en-US" sz="1400" dirty="0">
                <a:solidFill>
                  <a:srgbClr val="000000"/>
                </a:solidFill>
                <a:latin typeface="Times New Roman" pitchFamily="34" charset="0"/>
                <a:ea typeface="Times New Roman" pitchFamily="34" charset="-122"/>
                <a:cs typeface="Times New Roman" pitchFamily="34" charset="-120"/>
              </a:rPr>
              <a:t>SVM, RF, XGBoost</a:t>
            </a:r>
            <a:endParaRPr lang="en-US" sz="1400" dirty="0"/>
          </a:p>
        </p:txBody>
      </p:sp>
      <p:sp>
        <p:nvSpPr>
          <p:cNvPr id="26" name="Text 23"/>
          <p:cNvSpPr/>
          <p:nvPr/>
        </p:nvSpPr>
        <p:spPr>
          <a:xfrm>
            <a:off x="5421445" y="3693988"/>
            <a:ext cx="1061573" cy="253083"/>
          </a:xfrm>
          <a:prstGeom prst="rect">
            <a:avLst/>
          </a:prstGeom>
          <a:noFill/>
          <a:ln/>
        </p:spPr>
        <p:txBody>
          <a:bodyPr wrap="none" lIns="0" tIns="0" rIns="0" bIns="0" rtlCol="0" anchor="t">
            <a:spAutoFit/>
          </a:bodyPr>
          <a:lstStyle/>
          <a:p>
            <a:pPr marL="0" indent="0" algn="ctr">
              <a:lnSpc>
                <a:spcPct val="128000"/>
              </a:lnSpc>
              <a:buNone/>
            </a:pPr>
            <a:r>
              <a:rPr lang="en-US" sz="1400" dirty="0">
                <a:solidFill>
                  <a:srgbClr val="000000"/>
                </a:solidFill>
                <a:latin typeface="Times New Roman" pitchFamily="34" charset="0"/>
                <a:ea typeface="Times New Roman" pitchFamily="34" charset="-122"/>
                <a:cs typeface="Times New Roman" pitchFamily="34" charset="-120"/>
              </a:rPr>
              <a:t>BERT / LSTM</a:t>
            </a:r>
            <a:endParaRPr lang="en-US" sz="1400" dirty="0"/>
          </a:p>
        </p:txBody>
      </p:sp>
      <p:sp>
        <p:nvSpPr>
          <p:cNvPr id="27" name="Text 24"/>
          <p:cNvSpPr/>
          <p:nvPr/>
        </p:nvSpPr>
        <p:spPr>
          <a:xfrm>
            <a:off x="7152826" y="3182541"/>
            <a:ext cx="559448" cy="289246"/>
          </a:xfrm>
          <a:prstGeom prst="rect">
            <a:avLst/>
          </a:prstGeom>
          <a:noFill/>
          <a:ln/>
        </p:spPr>
        <p:txBody>
          <a:bodyPr wrap="none" lIns="0" tIns="0" rIns="0" bIns="0" rtlCol="0" anchor="t">
            <a:spAutoFit/>
          </a:bodyPr>
          <a:lstStyle/>
          <a:p>
            <a:pPr marL="0" indent="0" algn="ctr">
              <a:lnSpc>
                <a:spcPct val="128000"/>
              </a:lnSpc>
              <a:buNone/>
            </a:pPr>
            <a:r>
              <a:rPr lang="en-US" sz="1600" b="1" u="sng" dirty="0">
                <a:solidFill>
                  <a:srgbClr val="000000"/>
                </a:solidFill>
                <a:uFill>
                  <a:solidFill>
                    <a:srgbClr val="000000"/>
                  </a:solidFill>
                </a:uFill>
                <a:latin typeface="Times New Roman" pitchFamily="34" charset="0"/>
                <a:ea typeface="Times New Roman" pitchFamily="34" charset="-122"/>
                <a:cs typeface="Times New Roman" pitchFamily="34" charset="-120"/>
              </a:rPr>
              <a:t>Result</a:t>
            </a:r>
            <a:endParaRPr lang="en-US" sz="1600" dirty="0"/>
          </a:p>
        </p:txBody>
      </p:sp>
      <p:sp>
        <p:nvSpPr>
          <p:cNvPr id="28" name="Text 25"/>
          <p:cNvSpPr/>
          <p:nvPr/>
        </p:nvSpPr>
        <p:spPr>
          <a:xfrm>
            <a:off x="6851988" y="3488271"/>
            <a:ext cx="1157368" cy="253083"/>
          </a:xfrm>
          <a:prstGeom prst="rect">
            <a:avLst/>
          </a:prstGeom>
          <a:noFill/>
          <a:ln/>
        </p:spPr>
        <p:txBody>
          <a:bodyPr wrap="none" lIns="0" tIns="0" rIns="0" bIns="0" rtlCol="0" anchor="t">
            <a:spAutoFit/>
          </a:bodyPr>
          <a:lstStyle/>
          <a:p>
            <a:pPr marL="0" indent="0" algn="ctr">
              <a:lnSpc>
                <a:spcPct val="128000"/>
              </a:lnSpc>
              <a:buNone/>
            </a:pPr>
            <a:r>
              <a:rPr lang="en-US" sz="1400" dirty="0">
                <a:solidFill>
                  <a:srgbClr val="000000"/>
                </a:solidFill>
                <a:latin typeface="Times New Roman" pitchFamily="34" charset="0"/>
                <a:ea typeface="Times New Roman" pitchFamily="34" charset="-122"/>
                <a:cs typeface="Times New Roman" pitchFamily="34" charset="-120"/>
              </a:rPr>
              <a:t>Spam / Genuine</a:t>
            </a:r>
            <a:endParaRPr lang="en-US" sz="1400" dirty="0"/>
          </a:p>
        </p:txBody>
      </p:sp>
      <p:sp>
        <p:nvSpPr>
          <p:cNvPr id="29" name="Text 26"/>
          <p:cNvSpPr/>
          <p:nvPr/>
        </p:nvSpPr>
        <p:spPr>
          <a:xfrm>
            <a:off x="6780929" y="3693988"/>
            <a:ext cx="1303241" cy="253083"/>
          </a:xfrm>
          <a:prstGeom prst="rect">
            <a:avLst/>
          </a:prstGeom>
          <a:noFill/>
          <a:ln/>
        </p:spPr>
        <p:txBody>
          <a:bodyPr wrap="none" lIns="0" tIns="0" rIns="0" bIns="0" rtlCol="0" anchor="t">
            <a:spAutoFit/>
          </a:bodyPr>
          <a:lstStyle/>
          <a:p>
            <a:pPr marL="0" indent="0" algn="ctr">
              <a:lnSpc>
                <a:spcPct val="128000"/>
              </a:lnSpc>
              <a:buNone/>
            </a:pPr>
            <a:r>
              <a:rPr lang="en-US" sz="1400" dirty="0">
                <a:solidFill>
                  <a:srgbClr val="000000"/>
                </a:solidFill>
                <a:latin typeface="Times New Roman" pitchFamily="34" charset="0"/>
                <a:ea typeface="Times New Roman" pitchFamily="34" charset="-122"/>
                <a:cs typeface="Times New Roman" pitchFamily="34" charset="-120"/>
              </a:rPr>
              <a:t>Reliable Opinions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083EFA-15BA-7686-0682-CECA3FA3BF3F}"/>
              </a:ext>
            </a:extLst>
          </p:cNvPr>
          <p:cNvSpPr txBox="1"/>
          <p:nvPr/>
        </p:nvSpPr>
        <p:spPr>
          <a:xfrm>
            <a:off x="3505200" y="294640"/>
            <a:ext cx="2255520"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CONCLUSION</a:t>
            </a:r>
          </a:p>
          <a:p>
            <a:endParaRPr lang="en-US" sz="2400" b="1" dirty="0"/>
          </a:p>
        </p:txBody>
      </p:sp>
      <p:sp>
        <p:nvSpPr>
          <p:cNvPr id="4" name="TextBox 3">
            <a:extLst>
              <a:ext uri="{FF2B5EF4-FFF2-40B4-BE49-F238E27FC236}">
                <a16:creationId xmlns:a16="http://schemas.microsoft.com/office/drawing/2014/main" id="{05CBDA37-3315-C8BE-B3F1-76C796E4C212}"/>
              </a:ext>
            </a:extLst>
          </p:cNvPr>
          <p:cNvSpPr txBox="1"/>
          <p:nvPr/>
        </p:nvSpPr>
        <p:spPr>
          <a:xfrm>
            <a:off x="223520" y="954485"/>
            <a:ext cx="8747760" cy="2031325"/>
          </a:xfrm>
          <a:prstGeom prst="rect">
            <a:avLst/>
          </a:prstGeom>
          <a:noFill/>
        </p:spPr>
        <p:txBody>
          <a:bodyPr wrap="square">
            <a:spAutoFit/>
          </a:bodyPr>
          <a:lstStyle/>
          <a:p>
            <a:pPr marL="285750" lvl="0" indent="-285750" algn="just">
              <a:buFont typeface="Arial" panose="020B0604020202020204" pitchFamily="34" charset="0"/>
              <a:buChar char="•"/>
            </a:pPr>
            <a:r>
              <a:rPr lang="en-IN" dirty="0"/>
              <a:t>Online reviews are essential for purchase decisions but remain vulnerable to </a:t>
            </a:r>
            <a:r>
              <a:rPr lang="en-IN" b="1" dirty="0"/>
              <a:t>spam, fake, and manipulated content</a:t>
            </a:r>
            <a:r>
              <a:rPr lang="en-IN" dirty="0"/>
              <a:t>. </a:t>
            </a:r>
          </a:p>
          <a:p>
            <a:pPr marL="285750" lvl="0" indent="-285750" algn="just">
              <a:buFont typeface="Arial" panose="020B0604020202020204" pitchFamily="34" charset="0"/>
              <a:buChar char="•"/>
            </a:pPr>
            <a:r>
              <a:rPr lang="en-IN" dirty="0"/>
              <a:t>Lexicon-based, threshold-driven detection (the base paper) is effective but limited in accuracy and scalability. </a:t>
            </a:r>
          </a:p>
          <a:p>
            <a:pPr lvl="0"/>
            <a:r>
              <a:rPr lang="en-IN" dirty="0"/>
              <a:t>     The objective is to build an </a:t>
            </a:r>
            <a:r>
              <a:rPr lang="en-IN" b="1" dirty="0"/>
              <a:t>NLP- and ML-driven spam-detection framework</a:t>
            </a:r>
            <a:r>
              <a:rPr lang="en-IN" dirty="0"/>
              <a:t> that is more</a:t>
            </a:r>
          </a:p>
          <a:p>
            <a:pPr lvl="0"/>
            <a:r>
              <a:rPr lang="en-IN" dirty="0"/>
              <a:t>     accurate, scalable, and delivers actionable product-feature sentiment insights.</a:t>
            </a:r>
          </a:p>
          <a:p>
            <a:pPr algn="just"/>
            <a:endParaRPr lang="en-IN" dirty="0"/>
          </a:p>
        </p:txBody>
      </p:sp>
    </p:spTree>
    <p:extLst>
      <p:ext uri="{BB962C8B-B14F-4D97-AF65-F5344CB8AC3E}">
        <p14:creationId xmlns:p14="http://schemas.microsoft.com/office/powerpoint/2010/main" val="757644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1D7E0D-55C3-51AD-67EC-1A6CF433D8C2}"/>
              </a:ext>
            </a:extLst>
          </p:cNvPr>
          <p:cNvSpPr txBox="1"/>
          <p:nvPr/>
        </p:nvSpPr>
        <p:spPr>
          <a:xfrm>
            <a:off x="2286000" y="226368"/>
            <a:ext cx="4572000" cy="461665"/>
          </a:xfrm>
          <a:prstGeom prst="rect">
            <a:avLst/>
          </a:prstGeom>
          <a:noFill/>
        </p:spPr>
        <p:txBody>
          <a:bodyPr wrap="square">
            <a:spAutoFit/>
          </a:bodyPr>
          <a:lstStyle/>
          <a:p>
            <a:pPr algn="ctr"/>
            <a:r>
              <a:rPr lang="en-US" sz="2400" b="1" dirty="0">
                <a:latin typeface="Times New Roman" pitchFamily="18" charset="0"/>
                <a:cs typeface="Times New Roman" pitchFamily="18" charset="0"/>
              </a:rPr>
              <a:t>REFERENCES</a:t>
            </a:r>
            <a:endParaRPr lang="en-US" b="1" dirty="0"/>
          </a:p>
        </p:txBody>
      </p:sp>
      <p:sp>
        <p:nvSpPr>
          <p:cNvPr id="6" name="TextBox 5">
            <a:extLst>
              <a:ext uri="{FF2B5EF4-FFF2-40B4-BE49-F238E27FC236}">
                <a16:creationId xmlns:a16="http://schemas.microsoft.com/office/drawing/2014/main" id="{F8A95B44-2AD1-D813-8027-D1123EFA0537}"/>
              </a:ext>
            </a:extLst>
          </p:cNvPr>
          <p:cNvSpPr txBox="1"/>
          <p:nvPr/>
        </p:nvSpPr>
        <p:spPr>
          <a:xfrm>
            <a:off x="386080" y="784562"/>
            <a:ext cx="3474720" cy="1169551"/>
          </a:xfrm>
          <a:prstGeom prst="rect">
            <a:avLst/>
          </a:prstGeom>
          <a:noFill/>
        </p:spPr>
        <p:txBody>
          <a:bodyPr wrap="square">
            <a:spAutoFit/>
          </a:bodyPr>
          <a:lstStyle/>
          <a:p>
            <a:pPr>
              <a:defRPr sz="1080" b="0">
                <a:solidFill>
                  <a:srgbClr val="1C1C1C"/>
                </a:solidFill>
                <a:latin typeface="Aptos"/>
              </a:defRPr>
            </a:pPr>
            <a:r>
              <a:rPr lang="en-IN" sz="1400" dirty="0">
                <a:solidFill>
                  <a:srgbClr val="1C1C1C"/>
                </a:solidFill>
                <a:latin typeface="Times New Roman" panose="02020603050405020304" pitchFamily="18" charset="0"/>
                <a:cs typeface="Times New Roman" panose="02020603050405020304" pitchFamily="18" charset="0"/>
              </a:rPr>
              <a:t>1. Chauhan, S.K., Goel, A., Goel, P., Chauhan, A., Gurve, M.K., “Research on Product Review Analysis and Spam Review Detection,” 2017 4th IEEE SPIN, pp. 390-393.</a:t>
            </a:r>
            <a:endParaRPr sz="1400" dirty="0">
              <a:latin typeface="Times New Roman" panose="02020603050405020304" pitchFamily="18" charset="0"/>
              <a:cs typeface="Times New Roman" pitchFamily="18" charset="0"/>
            </a:endParaRPr>
          </a:p>
        </p:txBody>
      </p:sp>
      <p:sp>
        <p:nvSpPr>
          <p:cNvPr id="8" name="TextBox 7">
            <a:extLst>
              <a:ext uri="{FF2B5EF4-FFF2-40B4-BE49-F238E27FC236}">
                <a16:creationId xmlns:a16="http://schemas.microsoft.com/office/drawing/2014/main" id="{E3A3BBBA-4A1F-7D40-F213-779643094ED8}"/>
              </a:ext>
            </a:extLst>
          </p:cNvPr>
          <p:cNvSpPr txBox="1"/>
          <p:nvPr/>
        </p:nvSpPr>
        <p:spPr>
          <a:xfrm>
            <a:off x="386080" y="2068629"/>
            <a:ext cx="3474720" cy="738664"/>
          </a:xfrm>
          <a:prstGeom prst="rect">
            <a:avLst/>
          </a:prstGeom>
          <a:noFill/>
        </p:spPr>
        <p:txBody>
          <a:bodyPr wrap="square">
            <a:spAutoFit/>
          </a:bodyPr>
          <a:lstStyle/>
          <a:p>
            <a:pPr>
              <a:defRPr sz="1080" b="0">
                <a:solidFill>
                  <a:srgbClr val="1C1C1C"/>
                </a:solidFill>
                <a:latin typeface="Aptos"/>
              </a:defRPr>
            </a:pPr>
            <a:r>
              <a:rPr lang="en-IN" sz="1400" dirty="0">
                <a:solidFill>
                  <a:srgbClr val="1C1C1C"/>
                </a:solidFill>
                <a:latin typeface="Times New Roman" panose="02020603050405020304" pitchFamily="18" charset="0"/>
                <a:cs typeface="Times New Roman" panose="02020603050405020304" pitchFamily="18" charset="0"/>
              </a:rPr>
              <a:t>2. Hu, M. and Liu, B., “Mining and Summarizing Customer Reviews,” ACM SIGKDD, 2004:168-177.</a:t>
            </a:r>
            <a:endParaRPr lang="en-US" sz="1400" dirty="0">
              <a:latin typeface="Times New Roman" panose="02020603050405020304" pitchFamily="18" charset="0"/>
              <a:cs typeface="Times New Roman" pitchFamily="18" charset="0"/>
            </a:endParaRPr>
          </a:p>
        </p:txBody>
      </p:sp>
      <p:sp>
        <p:nvSpPr>
          <p:cNvPr id="10" name="TextBox 9">
            <a:extLst>
              <a:ext uri="{FF2B5EF4-FFF2-40B4-BE49-F238E27FC236}">
                <a16:creationId xmlns:a16="http://schemas.microsoft.com/office/drawing/2014/main" id="{F199587E-130E-3FA3-B07A-4525019874D9}"/>
              </a:ext>
            </a:extLst>
          </p:cNvPr>
          <p:cNvSpPr txBox="1"/>
          <p:nvPr/>
        </p:nvSpPr>
        <p:spPr>
          <a:xfrm>
            <a:off x="386080" y="2980954"/>
            <a:ext cx="3474720" cy="738664"/>
          </a:xfrm>
          <a:prstGeom prst="rect">
            <a:avLst/>
          </a:prstGeom>
          <a:noFill/>
        </p:spPr>
        <p:txBody>
          <a:bodyPr wrap="square">
            <a:spAutoFit/>
          </a:bodyPr>
          <a:lstStyle/>
          <a:p>
            <a:pPr>
              <a:defRPr sz="1080" b="0">
                <a:solidFill>
                  <a:srgbClr val="1C1C1C"/>
                </a:solidFill>
                <a:latin typeface="Aptos"/>
              </a:defRPr>
            </a:pPr>
            <a:r>
              <a:rPr lang="en-IN" sz="1400" dirty="0">
                <a:latin typeface="Times New Roman" panose="02020603050405020304" pitchFamily="18" charset="0"/>
                <a:cs typeface="Times New Roman" pitchFamily="18" charset="0"/>
              </a:rPr>
              <a:t>3. Kim, S-M and Hovy, E., “Determining the Sentiment of Opinions,” COLING, Philadelphia, 2004:1367.</a:t>
            </a:r>
            <a:endParaRPr sz="1400" dirty="0">
              <a:latin typeface="Times New Roman" panose="02020603050405020304" pitchFamily="18" charset="0"/>
              <a:cs typeface="Times New Roman" pitchFamily="18" charset="0"/>
            </a:endParaRPr>
          </a:p>
        </p:txBody>
      </p:sp>
      <p:sp>
        <p:nvSpPr>
          <p:cNvPr id="12" name="TextBox 11">
            <a:extLst>
              <a:ext uri="{FF2B5EF4-FFF2-40B4-BE49-F238E27FC236}">
                <a16:creationId xmlns:a16="http://schemas.microsoft.com/office/drawing/2014/main" id="{71812A07-246D-EF9C-E137-847BB8CA7026}"/>
              </a:ext>
            </a:extLst>
          </p:cNvPr>
          <p:cNvSpPr txBox="1"/>
          <p:nvPr/>
        </p:nvSpPr>
        <p:spPr>
          <a:xfrm>
            <a:off x="386080" y="3971355"/>
            <a:ext cx="3474720" cy="523220"/>
          </a:xfrm>
          <a:prstGeom prst="rect">
            <a:avLst/>
          </a:prstGeom>
          <a:noFill/>
        </p:spPr>
        <p:txBody>
          <a:bodyPr wrap="square">
            <a:spAutoFit/>
          </a:bodyPr>
          <a:lstStyle/>
          <a:p>
            <a:pPr>
              <a:defRPr sz="1080" b="0">
                <a:solidFill>
                  <a:srgbClr val="1C1C1C"/>
                </a:solidFill>
                <a:latin typeface="Aptos"/>
              </a:defRPr>
            </a:pPr>
            <a:r>
              <a:rPr lang="en-IN" sz="1400" dirty="0">
                <a:latin typeface="Times New Roman" panose="02020603050405020304" pitchFamily="18" charset="0"/>
                <a:cs typeface="Times New Roman" pitchFamily="18" charset="0"/>
              </a:rPr>
              <a:t>4. Jindal, N. and Liu, B., “Review Spam Detection,” WWW, Canada, 2007:1189-1190.</a:t>
            </a:r>
            <a:endParaRPr sz="1400" dirty="0">
              <a:latin typeface="Times New Roman" panose="02020603050405020304" pitchFamily="18" charset="0"/>
              <a:cs typeface="Times New Roman" pitchFamily="18" charset="0"/>
            </a:endParaRPr>
          </a:p>
        </p:txBody>
      </p:sp>
      <p:sp>
        <p:nvSpPr>
          <p:cNvPr id="14" name="TextBox 13">
            <a:extLst>
              <a:ext uri="{FF2B5EF4-FFF2-40B4-BE49-F238E27FC236}">
                <a16:creationId xmlns:a16="http://schemas.microsoft.com/office/drawing/2014/main" id="{32614DED-09E8-37D9-EADD-3585D5AC29F2}"/>
              </a:ext>
            </a:extLst>
          </p:cNvPr>
          <p:cNvSpPr txBox="1"/>
          <p:nvPr/>
        </p:nvSpPr>
        <p:spPr>
          <a:xfrm>
            <a:off x="5384800" y="833221"/>
            <a:ext cx="3474720" cy="523220"/>
          </a:xfrm>
          <a:prstGeom prst="rect">
            <a:avLst/>
          </a:prstGeom>
          <a:noFill/>
        </p:spPr>
        <p:txBody>
          <a:bodyPr wrap="square">
            <a:spAutoFit/>
          </a:bodyPr>
          <a:lstStyle/>
          <a:p>
            <a:pPr>
              <a:defRPr sz="1080" b="0">
                <a:solidFill>
                  <a:srgbClr val="1C1C1C"/>
                </a:solidFill>
                <a:latin typeface="Aptos"/>
              </a:defRPr>
            </a:pPr>
            <a:r>
              <a:rPr lang="en-US" sz="1400" dirty="0">
                <a:latin typeface="Times New Roman" panose="02020603050405020304" pitchFamily="18" charset="0"/>
                <a:cs typeface="Times New Roman" pitchFamily="18" charset="0"/>
              </a:rPr>
              <a:t>5. Jindal, N. and Liu, B., “Opinion Spam and Analysis,” WSDM, 2008:219-230.</a:t>
            </a:r>
          </a:p>
        </p:txBody>
      </p:sp>
      <p:sp>
        <p:nvSpPr>
          <p:cNvPr id="16" name="TextBox 15">
            <a:extLst>
              <a:ext uri="{FF2B5EF4-FFF2-40B4-BE49-F238E27FC236}">
                <a16:creationId xmlns:a16="http://schemas.microsoft.com/office/drawing/2014/main" id="{15133FBA-0B23-DDDF-9180-B58577EE9ABF}"/>
              </a:ext>
            </a:extLst>
          </p:cNvPr>
          <p:cNvSpPr txBox="1"/>
          <p:nvPr/>
        </p:nvSpPr>
        <p:spPr>
          <a:xfrm>
            <a:off x="5384800" y="1918126"/>
            <a:ext cx="3474720" cy="954107"/>
          </a:xfrm>
          <a:prstGeom prst="rect">
            <a:avLst/>
          </a:prstGeom>
          <a:noFill/>
        </p:spPr>
        <p:txBody>
          <a:bodyPr wrap="square">
            <a:spAutoFit/>
          </a:bodyPr>
          <a:lstStyle/>
          <a:p>
            <a:pPr>
              <a:defRPr sz="1080" b="0">
                <a:solidFill>
                  <a:srgbClr val="1C1C1C"/>
                </a:solidFill>
                <a:latin typeface="Aptos"/>
              </a:defRPr>
            </a:pPr>
            <a:r>
              <a:rPr lang="en-US" sz="1400" dirty="0">
                <a:latin typeface="Times New Roman" panose="02020603050405020304" pitchFamily="18" charset="0"/>
                <a:cs typeface="Times New Roman" pitchFamily="18" charset="0"/>
              </a:rPr>
              <a:t>6. Ott, M., Choi, Y., Cardie, C., Hancock, T., “Finding Deceptive Opinion Spam by Any Stretch of the Imagination,” ACL, 2011:309-319.</a:t>
            </a:r>
          </a:p>
        </p:txBody>
      </p:sp>
      <p:sp>
        <p:nvSpPr>
          <p:cNvPr id="18" name="TextBox 17">
            <a:extLst>
              <a:ext uri="{FF2B5EF4-FFF2-40B4-BE49-F238E27FC236}">
                <a16:creationId xmlns:a16="http://schemas.microsoft.com/office/drawing/2014/main" id="{1B4E12EF-1F42-3F61-BA2E-9FD11B88AA13}"/>
              </a:ext>
            </a:extLst>
          </p:cNvPr>
          <p:cNvSpPr txBox="1"/>
          <p:nvPr/>
        </p:nvSpPr>
        <p:spPr>
          <a:xfrm>
            <a:off x="5384800" y="2968659"/>
            <a:ext cx="3474720" cy="750959"/>
          </a:xfrm>
          <a:prstGeom prst="rect">
            <a:avLst/>
          </a:prstGeom>
          <a:noFill/>
        </p:spPr>
        <p:txBody>
          <a:bodyPr wrap="square">
            <a:spAutoFit/>
          </a:bodyPr>
          <a:lstStyle/>
          <a:p>
            <a:pPr>
              <a:defRPr sz="1080" b="0">
                <a:solidFill>
                  <a:srgbClr val="1C1C1C"/>
                </a:solidFill>
                <a:latin typeface="Aptos"/>
              </a:defRPr>
            </a:pPr>
            <a:r>
              <a:rPr lang="en-US" sz="1400" dirty="0">
                <a:latin typeface="Times New Roman" panose="02020603050405020304" pitchFamily="18" charset="0"/>
                <a:cs typeface="Times New Roman" pitchFamily="18" charset="0"/>
              </a:rPr>
              <a:t>7. Xie, S., Wang, G., Lin, S. et al., “Review Spam Detection via Temporal Pattern Discovery,” ACM SIGKDD, 2012:823-831.</a:t>
            </a:r>
            <a:endParaRPr sz="14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3118170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2828311" y="1177323"/>
            <a:ext cx="3487322" cy="660797"/>
          </a:xfrm>
          <a:prstGeom prst="rect">
            <a:avLst/>
          </a:prstGeom>
          <a:noFill/>
          <a:ln/>
        </p:spPr>
        <p:txBody>
          <a:bodyPr wrap="square" lIns="0" tIns="0" rIns="0" bIns="0" rtlCol="0" anchor="t">
            <a:spAutoFit/>
          </a:bodyPr>
          <a:lstStyle/>
          <a:p>
            <a:pPr marL="0" indent="0" algn="l">
              <a:buNone/>
            </a:pPr>
            <a:r>
              <a:rPr lang="en-US" sz="4150" b="1" dirty="0">
                <a:solidFill>
                  <a:srgbClr val="000000"/>
                </a:solidFill>
                <a:latin typeface="Times New Roman" pitchFamily="34" charset="0"/>
                <a:ea typeface="Times New Roman" pitchFamily="34" charset="-122"/>
                <a:cs typeface="Times New Roman" pitchFamily="34" charset="-120"/>
              </a:rPr>
              <a:t>THANK YOU</a:t>
            </a:r>
            <a:endParaRPr lang="en-US" sz="4150" dirty="0"/>
          </a:p>
        </p:txBody>
      </p:sp>
      <p:sp>
        <p:nvSpPr>
          <p:cNvPr id="4" name="Text 1"/>
          <p:cNvSpPr/>
          <p:nvPr/>
        </p:nvSpPr>
        <p:spPr>
          <a:xfrm>
            <a:off x="2547417" y="2123870"/>
            <a:ext cx="4049167" cy="1645797"/>
          </a:xfrm>
          <a:prstGeom prst="rect">
            <a:avLst/>
          </a:prstGeom>
          <a:noFill/>
          <a:ln/>
        </p:spPr>
        <p:txBody>
          <a:bodyPr wrap="square" lIns="0" tIns="0" rIns="0" bIns="0" rtlCol="0" anchor="t">
            <a:spAutoFit/>
          </a:bodyPr>
          <a:lstStyle/>
          <a:p>
            <a:pPr marL="0" indent="0" algn="ctr">
              <a:lnSpc>
                <a:spcPct val="128000"/>
              </a:lnSpc>
              <a:buNone/>
            </a:pPr>
            <a:r>
              <a:rPr lang="en-US" sz="1600" b="1" dirty="0">
                <a:solidFill>
                  <a:srgbClr val="000000"/>
                </a:solidFill>
                <a:latin typeface="Times New Roman" pitchFamily="34" charset="0"/>
                <a:ea typeface="Times New Roman" pitchFamily="34" charset="-122"/>
                <a:cs typeface="Times New Roman" pitchFamily="34" charset="-120"/>
              </a:rPr>
              <a:t>Sai Kiran</a:t>
            </a:r>
            <a:r>
              <a:rPr lang="en-US" sz="1500" dirty="0">
                <a:solidFill>
                  <a:srgbClr val="000000"/>
                </a:solidFill>
                <a:latin typeface="Times New Roman" pitchFamily="34" charset="0"/>
                <a:ea typeface="Times New Roman" pitchFamily="34" charset="-122"/>
                <a:cs typeface="Times New Roman" pitchFamily="34" charset="-120"/>
              </a:rPr>
              <a:t>
Roll No: 22011P0553
B.Tech-IDP, 5th Year I Semester
Department of Computer Science and Engineering
JNTUH UCEH</a:t>
            </a:r>
            <a:endParaRPr lang="en-US" sz="1500" dirty="0"/>
          </a:p>
        </p:txBody>
      </p:sp>
      <p:sp>
        <p:nvSpPr>
          <p:cNvPr id="5" name="Text 2"/>
          <p:cNvSpPr/>
          <p:nvPr/>
        </p:nvSpPr>
        <p:spPr>
          <a:xfrm>
            <a:off x="3326141" y="4198293"/>
            <a:ext cx="2491662" cy="196453"/>
          </a:xfrm>
          <a:prstGeom prst="rect">
            <a:avLst/>
          </a:prstGeom>
          <a:noFill/>
          <a:ln/>
        </p:spPr>
        <p:txBody>
          <a:bodyPr wrap="square" lIns="0" tIns="0" rIns="0" bIns="0" rtlCol="0" anchor="t">
            <a:spAutoFit/>
          </a:bodyPr>
          <a:lstStyle/>
          <a:p>
            <a:pPr marL="0" indent="0" algn="l">
              <a:buNone/>
            </a:pPr>
            <a:r>
              <a:rPr lang="en-US" sz="1250" i="1" dirty="0">
                <a:solidFill>
                  <a:srgbClr val="555555"/>
                </a:solidFill>
                <a:latin typeface="Times New Roman" pitchFamily="34" charset="0"/>
                <a:ea typeface="Times New Roman" pitchFamily="34" charset="-122"/>
                <a:cs typeface="Times New Roman" pitchFamily="34" charset="-120"/>
              </a:rPr>
              <a:t>Questions &amp; Feedback are Welcome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995</Words>
  <Application>Microsoft Office PowerPoint</Application>
  <PresentationFormat>On-screen Show (16:9)</PresentationFormat>
  <Paragraphs>135</Paragraphs>
  <Slides>15</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RAHUL G</cp:lastModifiedBy>
  <cp:revision>6</cp:revision>
  <dcterms:created xsi:type="dcterms:W3CDTF">2026-08-26T18:25:33Z</dcterms:created>
  <dcterms:modified xsi:type="dcterms:W3CDTF">2026-08-27T03:45:11Z</dcterms:modified>
</cp:coreProperties>
</file>