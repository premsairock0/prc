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72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A785D-A43D-4230-8974-26685B702C63}" type="datetimeFigureOut">
              <a:rPr lang="en-IN" smtClean="0"/>
              <a:t>26-08-2026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FE76C8-A752-4174-9433-EF0A9DDDB3CA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9DB7F1-4DF4-18A5-CD54-B75A35F8B664}"/>
              </a:ext>
            </a:extLst>
          </p:cNvPr>
          <p:cNvSpPr/>
          <p:nvPr/>
        </p:nvSpPr>
        <p:spPr>
          <a:xfrm>
            <a:off x="832338" y="1324708"/>
            <a:ext cx="5193324" cy="271975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3367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3905A-66FF-4614-E2BD-CFBAEC284B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E81AC-AB33-3EBC-478C-FC6081521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9A0B2-E6F9-2CE2-513B-96EAE8BE0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6E19E-B94D-4C88-A414-EA7BAD9B3B25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C8F2B0-A45A-3783-BBB3-5F17600B2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534A01-3D05-C33D-D633-23A1CAF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165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F7712-C7BB-98D5-79C9-ABC26ABC3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136F4-461D-7904-0FBA-3185F6E707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C52D8-0980-6FB0-A3B9-EC41BE9F8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88C09-EC64-421C-93BB-32997A000903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4B6FE-CEC5-98A2-539B-AB8C757A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BC446-41FB-4287-6CD5-390A594FA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70712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169E9F-F854-5772-E060-B9D13E3BF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F2BF34-5EC9-BEA0-BABA-FFABF2CCB1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F4948B-1F5A-8423-3109-F8F0A3D7C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CC853-2C06-41B1-BF25-AFD0976E7A77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21372-90AA-5888-D2CD-24FC39138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23ACE1-DD5B-BBD5-FC0B-E7D9BF84D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335141-2CCE-CE3C-3224-93A638768D29}"/>
              </a:ext>
            </a:extLst>
          </p:cNvPr>
          <p:cNvSpPr/>
          <p:nvPr userDrawn="1"/>
        </p:nvSpPr>
        <p:spPr>
          <a:xfrm>
            <a:off x="319596" y="337351"/>
            <a:ext cx="11469950" cy="622324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4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156F-6AB3-7DE1-4A70-0C584F670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31377-F8C8-0E87-948C-EC8DD6A35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44AF7-44B4-7E8D-785F-F03234AE64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E350D8-DCC1-7618-9D4D-6B0469857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EF51D1-1473-4DEE-ABCA-5C5B6CABA4A4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0B8E73-BD58-9BC3-6717-E1C24046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32166D-2CB5-2991-9845-408B09860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229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4F0D9-06B4-F458-A8CC-8DD44B9AC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7387E-A9E1-4C2A-2CE8-E1C21F965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BEECAD-A7E8-5267-6F8D-769B2AE48A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D51CF-33B1-ED4A-7734-81BB381ED0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16133B6-3045-701F-564E-85377BCA33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1E0F34-3145-53A2-0B26-1421E33FF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70363-93A8-4A08-B10E-225A9FBECFFF}" type="datetime1">
              <a:rPr lang="en-IN" smtClean="0"/>
              <a:t>26-08-2026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B24FF8-6F67-81B3-A3AC-1B3751D98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E01CA3-EEE1-2B6D-CA8D-1437B4F4A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1326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F2A38-B921-F413-EFED-10C14F5C6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669EC2-8936-000E-A703-6106BBC1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6CF1B0-C609-4E3D-B28A-9856E5B0E8AF}" type="datetime1">
              <a:rPr lang="en-IN" smtClean="0"/>
              <a:t>26-08-2026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C8C8B-6BD1-6AC7-FA74-9957EE9B8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D54B93-D600-1043-FCF4-8C95962D8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53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EF3FC2-FD41-1E30-16D7-223F8DE2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D3A10-F79F-4506-8CD3-4E27A42BA17E}" type="datetime1">
              <a:rPr lang="en-IN" smtClean="0"/>
              <a:t>26-08-2026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DF4DD2-69D0-9920-76A2-30EBE757A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7EC498-4DC9-B936-593B-0F6498AEA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8097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BF7E4-F58D-7016-FE65-5F62727B3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8903B-8412-D953-C035-DC117F661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E556CB-44E6-95BD-4BEE-4E18BB08E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E7B9A7-B0A0-D196-7032-A070851D6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A95C15-D0C0-4D47-9D46-959AD55448A0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75A7E-7F8B-0D69-4F70-93BEA8E94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21D4C-9F9B-74E1-6A55-BDDDDA2B8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2121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01561-E957-66BD-5135-4BA067BCB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0F0F6-1DCC-E899-D5ED-A0C7836538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0D551C-9B0C-D25B-52F0-F73C0C2FC5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3B4112-4F19-B612-B654-B2BF28C6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FE757-F7E6-4630-AE10-73E07945C1C1}" type="datetime1">
              <a:rPr lang="en-IN" smtClean="0"/>
              <a:t>26-08-2026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3443F9-3FAC-3856-0135-74C367992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03BA00-4BF2-AFAD-AF67-6D5A60DAC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534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942EB-0F35-3876-FF18-FF464940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27B05-9B80-8156-9239-3A42332F8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D8F1B-13B5-F396-242D-0C1745B80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71F767-8D21-4894-9992-C2E5B8B9DDE0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1FC4F-E6FD-EB04-F20D-05CD8F7F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26123-4BC4-05E5-5C1A-19A991017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221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7A1CE3-FE90-972E-E38D-B61197671C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529C32-183B-2FD8-63BA-776F11E91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EB37E-27FA-25B0-C22E-152492E8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F3438-1847-4252-B503-95760FB5FB78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A5AE6-CBC8-49C9-DF7B-E66A13163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DF71B-4BEC-3FD5-7B67-5864659C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913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157105-A920-1450-5322-423FFAFE3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6F018D-FAF6-EB3B-4F50-2006B81CA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88AB3-2F08-BE82-A65E-AB2D52FF3B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79067C-2626-47F3-B292-57A4384532CC}" type="datetime1">
              <a:rPr lang="en-IN" smtClean="0"/>
              <a:t>26-08-2026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0E979-9A8F-C491-D4B2-88242A50E3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158D3-2086-1943-DC8F-2BBA1EB987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910C1-11C6-4EDA-AB97-55AA77D274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1874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fairmlbook.org/?utm_source=chatgpt.com" TargetMode="External"/><Relationship Id="rId2" Type="http://schemas.openxmlformats.org/officeDocument/2006/relationships/hyperlink" Target="https://www.cdc.gov/nchs/nhanes/?utm_source=chatgpt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3A9F84C-B2D2-759D-D9A1-AC15E54AC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1</a:t>
            </a:fld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E3EFB7-9E41-993D-3E2A-2AC7BF5457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232" y="313184"/>
            <a:ext cx="1273357" cy="138911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5FB5612-150A-C898-6089-827F75FD97E5}"/>
              </a:ext>
            </a:extLst>
          </p:cNvPr>
          <p:cNvSpPr txBox="1"/>
          <p:nvPr/>
        </p:nvSpPr>
        <p:spPr>
          <a:xfrm>
            <a:off x="1531620" y="448056"/>
            <a:ext cx="909828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701826"/>
                </a:solidFill>
                <a:latin typeface="Times New Roman"/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859D51-ACE0-3559-0101-C2D943029A2E}"/>
              </a:ext>
            </a:extLst>
          </p:cNvPr>
          <p:cNvSpPr txBox="1"/>
          <p:nvPr/>
        </p:nvSpPr>
        <p:spPr>
          <a:xfrm>
            <a:off x="1417320" y="804672"/>
            <a:ext cx="9372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50" b="1">
                <a:solidFill>
                  <a:srgbClr val="142A56"/>
                </a:solidFill>
                <a:latin typeface="Times New Roman"/>
              </a:defRPr>
            </a:pPr>
            <a:r>
              <a:rPr dirty="0"/>
              <a:t>UNIVERSITY COLLEGE OF ENGINEERING, SCIENCE AND TECHNOLOGY HYDERABAD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439AB4-A6D9-1DB0-6742-7291106F5A5F}"/>
              </a:ext>
            </a:extLst>
          </p:cNvPr>
          <p:cNvSpPr txBox="1"/>
          <p:nvPr/>
        </p:nvSpPr>
        <p:spPr>
          <a:xfrm>
            <a:off x="1645920" y="1115568"/>
            <a:ext cx="8961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C1C1C"/>
                </a:solidFill>
                <a:latin typeface="Times New Roman"/>
              </a:defRPr>
            </a:pPr>
            <a:r>
              <a:rPr dirty="0"/>
              <a:t>JAWAHARLAL NEHRU TECHNOLOGICAL UNIVERSITY HYDERABAD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BDFFD-D7BE-1C4F-3972-AAC96D97236C}"/>
              </a:ext>
            </a:extLst>
          </p:cNvPr>
          <p:cNvSpPr txBox="1"/>
          <p:nvPr/>
        </p:nvSpPr>
        <p:spPr>
          <a:xfrm>
            <a:off x="2834640" y="1463040"/>
            <a:ext cx="65836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>
                <a:solidFill>
                  <a:srgbClr val="1C1C1C"/>
                </a:solidFill>
                <a:latin typeface="Times New Roman"/>
              </a:defRPr>
            </a:pPr>
            <a:r>
              <a:rPr sz="1200" dirty="0"/>
              <a:t>Kukatpally, Hyderabad, Telangana (India) - 500 085.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2AF892-7677-05A3-36FD-C9C8FD48AA85}"/>
              </a:ext>
            </a:extLst>
          </p:cNvPr>
          <p:cNvSpPr txBox="1"/>
          <p:nvPr/>
        </p:nvSpPr>
        <p:spPr>
          <a:xfrm>
            <a:off x="3535992" y="2233508"/>
            <a:ext cx="5089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DISSERTATION WORK REVIEW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B77E4D-CC14-251F-654E-0F0B81B57868}"/>
              </a:ext>
            </a:extLst>
          </p:cNvPr>
          <p:cNvSpPr txBox="1"/>
          <p:nvPr/>
        </p:nvSpPr>
        <p:spPr>
          <a:xfrm>
            <a:off x="839455" y="2928553"/>
            <a:ext cx="1048260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Performance and Fairness of Machine Learning-based Depression Screening: Using NHANES Data Across the </a:t>
            </a:r>
          </a:p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Period 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B70A4B-8386-BA5C-518E-214BFAEDA53F}"/>
              </a:ext>
            </a:extLst>
          </p:cNvPr>
          <p:cNvSpPr txBox="1"/>
          <p:nvPr/>
        </p:nvSpPr>
        <p:spPr>
          <a:xfrm>
            <a:off x="1077013" y="4938473"/>
            <a:ext cx="4805313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Kurivella Greeshma (22011P0504)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IDP 5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 1</a:t>
            </a:r>
            <a:r>
              <a:rPr lang="en-IN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JNTUH-UCESTH</a:t>
            </a:r>
          </a:p>
          <a:p>
            <a:endParaRPr lang="en-IN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8574A9-FD96-06AB-7A7B-6AB2F09231F9}"/>
              </a:ext>
            </a:extLst>
          </p:cNvPr>
          <p:cNvSpPr txBox="1"/>
          <p:nvPr/>
        </p:nvSpPr>
        <p:spPr>
          <a:xfrm>
            <a:off x="7063033" y="4938473"/>
            <a:ext cx="609442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B. Kranthi Kiran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 &amp; Coordinator – SC/ST Cell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JNTUH-UCESTH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E60DAE-2D3D-8589-6FCA-F5A7F4E3B71D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34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B8AC9-D846-FE3A-B3A8-8FA30BF04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715F4-EAF0-5B12-1DEA-6E49D7E81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7979"/>
            <a:ext cx="10515600" cy="4351338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ML-based studies have primarily focused on identifying depression-related factors and predicting depression within specific time periods. However, 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robustness and fairness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these models when applied to populations experiencing changes in health and social conditions remain insufficiently explored. 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COVID-19 pandemic provides a clear temporal boundary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as the post-COVID period involved changes in mental health, healthcare access, and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patterns.</a:t>
            </a:r>
          </a:p>
          <a:p>
            <a:pPr algn="just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proposes to evaluate whether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depression screening models trained on pre-pandemic National Health and Nutrition Examination Survey (NHANES) data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their performance and fairness when applied to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post-pandemic NHANES data without retraining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Model performance will be assessed using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F1-score, AUROC, sensitivity, and calibration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changes in underlying features will be examined to identify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distribution shift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Algorithmic fairness will be evaluated across relevant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demographic and socioeconomic subgroups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established metrics such as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 Opportunity and Demographic Parity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does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claim that COVID-19 caused model bias; rather, it investigates whether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and fairness metrics changed across the pre-/post-COVID period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algn="just">
              <a:lnSpc>
                <a:spcPct val="100000"/>
              </a:lnSpc>
            </a:pP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F480D6-DDCD-0301-EE92-83BD2E93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5A86C3-9D68-21F5-8970-B139ABF09699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717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1EF27-7A6C-BD6F-13BD-6739F01A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68B1-F209-75CE-7DA8-CB5CFDD3B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54A2A-245F-D52A-8D98-B65006743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6834"/>
            <a:ext cx="10515600" cy="1775414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Vu T.,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Dawadi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R., Yamamoto M., et al. (2025)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Prediction of depressive disorder using machine learning approaches: findings from the NHANES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Journal: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BMC Medical Informatics and Decision Making			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Year: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2025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1600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IN" sz="1800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Citation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Vu T,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Dawadi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R, Yamamoto M, Tay JT, Watanabe N,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Kuriya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Y, Oya A, Tran PNH, Araki M. Prediction of         depressive disorder using machine learning approaches: findings from the NHANES. BMC Med Inform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Decis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Mak. 2025 Feb 17;25(1):83.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10.1186/s12911-025-02903-1. PMID: 39962516; PMCID: PMC11834192.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sz="1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sz="1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sz="19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5DCEDF-D39D-19AD-610B-33D35B3B9E02}"/>
              </a:ext>
            </a:extLst>
          </p:cNvPr>
          <p:cNvSpPr txBox="1"/>
          <p:nvPr/>
        </p:nvSpPr>
        <p:spPr>
          <a:xfrm>
            <a:off x="838200" y="5071620"/>
            <a:ext cx="10407977" cy="969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paper uses the publicly available NHANES dataset for predicting the depression levels of the population during the time period of 2013-2014, where it evaluates the performance of six different Machine Learning models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FC5543-D8B9-A25E-7D3E-18021B8D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EF3B00-D795-33D1-1CF2-6D6AD51E8AE1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6358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60754-88B6-829B-C51C-9DB35DD6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INTRODUCTION/BACKGROUND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65FA0-F89D-706B-0692-9B7FAD67A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Depression is an important population-level mental health concern.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 can support depression screening using population health data.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the problem here is that, the population characteristics can change over time.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model trained on one population/time period may not behave the same way on another.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proposes to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whether the already used ML models-based depression screening, trained on the pre-pandemic NHANES data, remain accurate in predicting performance and fairness when applied to a post-pandemic NHANES dataset, without retraining. 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focuses on assessing whether the models’ performance and fairness metrics changed, over the pre/post-COVID period.</a:t>
            </a: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1130E-1AF7-D89F-7F9A-48EFBDE04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58BA5C4-7274-E429-5C37-26A961EADAD0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3567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85D34-3CD5-28D3-9240-DFA1AD1B5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6EAEB-2F0D-F450-D6B7-DB66FCA29B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8256"/>
            <a:ext cx="10515600" cy="499619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 </a:t>
            </a:r>
            <a:r>
              <a:rPr lang="en-US" sz="19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an ML-based depression screening model trained on one population and time period remain reliable and fair when applied to a later population whose characteristics have changed?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</a:p>
          <a:p>
            <a:pPr marL="0" indent="0" algn="ctr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80985-A6E2-CF6C-EC38-D47BAC426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5</a:t>
            </a:fld>
            <a:endParaRPr lang="en-IN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A00A6AC-2ECE-56B1-405C-0020B46523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512" y="3565854"/>
            <a:ext cx="10866975" cy="1554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 aims to evaluate machine learning-based depression screening models trained on pre-COVID NHANES data when applied to post-COVID NHANES data without retraining.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study will compare model performance, changes in feature distributions, and fairness across selected demographic and socioeconomic subgroups.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48AF10-8E94-7D0D-7EC3-1D1B9F071020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10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D95EB-F7CA-0776-2093-80160876D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F0C4D7-F2B0-E2EE-9D58-C1D9349C7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predictive performance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pre-COVID trained ML models on post-COVID NHANES data.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model performance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the pre-COVID and post-COVID periods using metrics such as AUROC, F1-score, Sensitivity, and Calibration.</a:t>
            </a:r>
          </a:p>
          <a:p>
            <a:pPr algn="just"/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distribution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by examining changes in the underlying demographic, socioeconomic,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health-related features.</a:t>
            </a:r>
          </a:p>
          <a:p>
            <a:pPr algn="just"/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algorithmic fairness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 selected demographic and socioeconomic subgroups using Equal Opportunity and Demographic Parity.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importance of temporal monitoring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ML-based mental health screening models when population characteristics change over time. 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FACA2-F33E-8287-E4DF-FEC8011F2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6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773FB1-3156-AE97-2EF4-A03D56AE0025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0281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1091-35BB-692A-0E8B-6DC906598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FF8CA4-A702-66FB-BBEB-14D06E61D8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1567000"/>
              </p:ext>
            </p:extLst>
          </p:nvPr>
        </p:nvGraphicFramePr>
        <p:xfrm>
          <a:off x="838200" y="1008668"/>
          <a:ext cx="10590492" cy="5157090"/>
        </p:xfrm>
        <a:graphic>
          <a:graphicData uri="http://schemas.openxmlformats.org/drawingml/2006/table">
            <a:tbl>
              <a:tblPr firstRow="1" bandRow="1">
                <a:tableStyleId>{E8034E78-7F5D-4C2E-B375-FC64B27BC917}</a:tableStyleId>
              </a:tblPr>
              <a:tblGrid>
                <a:gridCol w="1499647">
                  <a:extLst>
                    <a:ext uri="{9D8B030D-6E8A-4147-A177-3AD203B41FA5}">
                      <a16:colId xmlns:a16="http://schemas.microsoft.com/office/drawing/2014/main" val="3211339090"/>
                    </a:ext>
                  </a:extLst>
                </a:gridCol>
                <a:gridCol w="2073897">
                  <a:extLst>
                    <a:ext uri="{9D8B030D-6E8A-4147-A177-3AD203B41FA5}">
                      <a16:colId xmlns:a16="http://schemas.microsoft.com/office/drawing/2014/main" val="3245531073"/>
                    </a:ext>
                  </a:extLst>
                </a:gridCol>
                <a:gridCol w="7016948">
                  <a:extLst>
                    <a:ext uri="{9D8B030D-6E8A-4147-A177-3AD203B41FA5}">
                      <a16:colId xmlns:a16="http://schemas.microsoft.com/office/drawing/2014/main" val="2906247352"/>
                    </a:ext>
                  </a:extLst>
                </a:gridCol>
              </a:tblGrid>
              <a:tr h="7834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Study / Year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Limitations/Gap identified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4085550"/>
                  </a:ext>
                </a:extLst>
              </a:tr>
              <a:tr h="837968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Vu et al. (2025)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ML-based depression prediction using NHANES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on depression prediction using NHANES data;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robustness and fairness across changing populations are not the primary focus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This creates an opportunity to evaluate model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across different time periods.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4021810"/>
                  </a:ext>
                </a:extLst>
              </a:tr>
              <a:tr h="783442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NHANES-based depression studies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Depression determinants &amp; prediction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Predominantly evaluate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determinants and prediction within specific time periods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Limited investigation of how model performance changes when applied to a later population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3685726"/>
                  </a:ext>
                </a:extLst>
              </a:tr>
              <a:tr h="591061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fairness studies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Fairness in healthcare ML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Fairness is often evaluated as a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property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less attention is given to how fairness may change when the underlying population/data distribution changes over time.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4482753"/>
                  </a:ext>
                </a:extLst>
              </a:tr>
              <a:tr h="783442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/ distribution-shift studies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ML performance under changing populations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Temporal performance is often studied separately from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algorithmic fairness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The combined effect of temporal distribution shift on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and fairness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 depression screening remains less explored.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165898"/>
                  </a:ext>
                </a:extLst>
              </a:tr>
              <a:tr h="783442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COVID-era mental-health research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Changes in mental health, </a:t>
                      </a:r>
                      <a:r>
                        <a:rPr lang="en-US" sz="16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behaviour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healthcare access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Provides evidence of population-level change, but does not necessarily evaluate whether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pre-existing ML depression-screening models remain reliable and fair when transferred to post-COVID populations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IN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071332"/>
                  </a:ext>
                </a:extLst>
              </a:tr>
            </a:tbl>
          </a:graphicData>
        </a:graphic>
      </p:graphicFrame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869D0A-048D-9430-7C36-31548A52C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7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74EC9-3EB0-0EEE-F353-BF1590DC65A4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0100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F6EA1-63D3-6733-49E8-63AD618E7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56" y="2744320"/>
            <a:ext cx="4653829" cy="1369358"/>
          </a:xfrm>
        </p:spPr>
        <p:txBody>
          <a:bodyPr anchor="b">
            <a:normAutofit fontScale="90000"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METHODOLOGY/</a:t>
            </a:r>
            <a:b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7C559-3D97-71E4-B9C5-C7E8926DC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8</a:t>
            </a:fld>
            <a:endParaRPr lang="en-I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5B886212-C1CB-D286-21E3-9E4F684283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446" y="244320"/>
            <a:ext cx="3748977" cy="6384313"/>
          </a:xfr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B5A9C64-81BF-80C7-6521-06F7A766E3AE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9056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1C836-C8F0-DEB2-E81B-F6E6E7867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D1BD9-035B-8A78-C635-483E86E2C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1101"/>
            <a:ext cx="10515600" cy="4351338"/>
          </a:xfrm>
        </p:spPr>
        <p:txBody>
          <a:bodyPr>
            <a:noAutofit/>
          </a:bodyPr>
          <a:lstStyle/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 Python</a:t>
            </a:r>
          </a:p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Processing &amp; Analysis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Pandas (data loading, cleaning and manipulation), NumPy (numerical operations), SciPy (statistical analysis / distribution comparison), Matplotlib / Seaborn (visualisation).</a:t>
            </a:r>
          </a:p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Scikit-learn (model development and evaluation), ML classification models for depression screening. </a:t>
            </a:r>
          </a:p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NHANES (National Health and Nutrition Examination Survey) , .XPT / SAS transport files. </a:t>
            </a:r>
          </a:p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&amp; Model Analysis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Fairlearn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(subgroup fairness evaluation), Scikit-learn (performance metrics and calibration), Statistical methods for distribution-shift analysis.</a:t>
            </a:r>
          </a:p>
          <a:p>
            <a:pPr algn="just"/>
            <a:r>
              <a:rPr lang="en-IN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Environment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/ Google </a:t>
            </a:r>
            <a:r>
              <a:rPr lang="en-IN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Git / GitHub for version control.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D734B-9FB3-92C6-1B02-1F2FA398A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9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2FD637A-094E-5217-98B3-D137EEB5A978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096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0B4DE-F06D-203B-9229-BB29AF33E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ALGORITHMS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98E83DC-4BCF-7E44-ED0B-D2714CFBD4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9858665"/>
              </p:ext>
            </p:extLst>
          </p:nvPr>
        </p:nvGraphicFramePr>
        <p:xfrm>
          <a:off x="838200" y="1920399"/>
          <a:ext cx="10515600" cy="21031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18905676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84404230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98583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Logistic Regression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Interpretable baseline for binary depression prediction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76749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Random Forest</a:t>
                      </a:r>
                      <a:endParaRPr lang="en-IN"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Non-linear ensemble model for tabular health data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4153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9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XGBoost</a:t>
                      </a:r>
                      <a:endParaRPr lang="en-IN" sz="1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9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Gradient-boosting model for capturing complex feature relationships</a:t>
                      </a:r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50259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96A85-C689-B763-42A6-DBDD96A330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10</a:t>
            </a:fld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6E2774-C628-1DDA-7A4E-FAA34EEC43CD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2372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53E50-2C9B-2325-6221-C5E689395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579918"/>
            <a:ext cx="10515600" cy="1325563"/>
          </a:xfrm>
        </p:spPr>
        <p:txBody>
          <a:bodyPr anchor="b"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FD4CF-65FB-0E6F-C18F-8D37A84A1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EDAC7A-0F30-AB98-2ADA-D5D3264D1EBF}"/>
                  </a:ext>
                </a:extLst>
              </p:cNvPr>
              <p:cNvSpPr txBox="1"/>
              <p:nvPr/>
            </p:nvSpPr>
            <p:spPr>
              <a:xfrm>
                <a:off x="9497648" y="1681597"/>
                <a:ext cx="2519896" cy="33239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Where:</a:t>
                </a:r>
                <a:endParaRPr lang="en-IN" sz="15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True Positive </a:t>
                </a:r>
              </a:p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TN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True Negative </a:t>
                </a:r>
              </a:p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FP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False Positive </a:t>
                </a:r>
              </a:p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FN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False Negative </a:t>
                </a:r>
              </a:p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TPR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True Positive Rate </a:t>
                </a:r>
              </a:p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FPR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False Positive Rate </a:t>
                </a:r>
              </a:p>
              <a:p>
                <a:r>
                  <a:rPr lang="en-IN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Protected/group attribute </a:t>
                </a:r>
              </a:p>
              <a:p>
                <a14:m>
                  <m:oMath xmlns:m="http://schemas.openxmlformats.org/officeDocument/2006/math">
                    <m:r>
                      <a:rPr lang="en-IN" sz="1500" i="1"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A particular demographic or socioeconomic group</a:t>
                </a:r>
              </a:p>
              <a:p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 = probability</a:t>
                </a:r>
              </a:p>
              <a:p>
                <a:r>
                  <a:rPr lang="en-IN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 = 1 – the actual outcome is positive ( i.e. the person has depression)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48EDAC7A-0F30-AB98-2ADA-D5D3264D1E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97648" y="1681597"/>
                <a:ext cx="2519896" cy="3323987"/>
              </a:xfrm>
              <a:prstGeom prst="rect">
                <a:avLst/>
              </a:prstGeom>
              <a:blipFill>
                <a:blip r:embed="rId3"/>
                <a:stretch>
                  <a:fillRect l="-969" t="-367" b="-110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9E222226-712F-D534-CA6A-5B933EB12533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2B4E215-FAC8-B724-D531-D44DD5FD768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54533387"/>
                  </p:ext>
                </p:extLst>
              </p:nvPr>
            </p:nvGraphicFramePr>
            <p:xfrm>
              <a:off x="499616" y="701140"/>
              <a:ext cx="8998032" cy="5901613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1633982">
                      <a:extLst>
                        <a:ext uri="{9D8B030D-6E8A-4147-A177-3AD203B41FA5}">
                          <a16:colId xmlns:a16="http://schemas.microsoft.com/office/drawing/2014/main" val="3864400150"/>
                        </a:ext>
                      </a:extLst>
                    </a:gridCol>
                    <a:gridCol w="1689100">
                      <a:extLst>
                        <a:ext uri="{9D8B030D-6E8A-4147-A177-3AD203B41FA5}">
                          <a16:colId xmlns:a16="http://schemas.microsoft.com/office/drawing/2014/main" val="1051252030"/>
                        </a:ext>
                      </a:extLst>
                    </a:gridCol>
                    <a:gridCol w="2387600">
                      <a:extLst>
                        <a:ext uri="{9D8B030D-6E8A-4147-A177-3AD203B41FA5}">
                          <a16:colId xmlns:a16="http://schemas.microsoft.com/office/drawing/2014/main" val="3828023032"/>
                        </a:ext>
                      </a:extLst>
                    </a:gridCol>
                    <a:gridCol w="3287350">
                      <a:extLst>
                        <a:ext uri="{9D8B030D-6E8A-4147-A177-3AD203B41FA5}">
                          <a16:colId xmlns:a16="http://schemas.microsoft.com/office/drawing/2014/main" val="779229359"/>
                        </a:ext>
                      </a:extLst>
                    </a:gridCol>
                  </a:tblGrid>
                  <a:tr h="220071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Dimension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 / Analysis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What it Measures</a:t>
                          </a: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460423"/>
                      </a:ext>
                    </a:extLst>
                  </a:tr>
                  <a:tr h="7754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Performance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AUROC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𝐴𝑈𝑅𝑂𝐶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grow m:val="on"/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  <m:e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nary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𝑃𝑅</m:t>
                                </m:r>
                                <m:d>
                                  <m:d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𝐹𝑃</m:t>
                                    </m:r>
                                    <m:sSup>
                                      <m:sSup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𝑅</m:t>
                                        </m:r>
                                      </m:e>
                                      <m:sup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p>
                                    </m:sSup>
                                    <m:d>
                                      <m:d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ar-AE" sz="1400" b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 </m:t>
                                </m:r>
                                <m:r>
                                  <a:rPr lang="ar-AE" sz="1400" b="0">
                                    <a:latin typeface="Cambria Math" panose="02040503050406030204" pitchFamily="18" charset="0"/>
                                  </a:rPr>
                                  <m:t>𝑑𝑥</m:t>
                                </m:r>
                              </m:oMath>
                            </m:oMathPara>
                          </a14:m>
                          <a:endParaRPr lang="ar-AE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ability of the model to distinguish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depression vs. non-depression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across classification thresholds.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2377392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F1-score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𝐹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f>
                                  <m:f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𝑃𝑟𝑒𝑐𝑖𝑠𝑖𝑜𝑛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×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𝑅𝑒𝑐𝑎𝑙𝑙</m:t>
                                    </m:r>
                                  </m:num>
                                  <m:den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𝑃𝑟𝑒𝑐𝑖𝑠𝑖𝑜𝑛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𝑅𝑒𝑐𝑎𝑙𝑙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Balance between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precision and recall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particularly useful for imbalanced classes.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037048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Sensitivity / Recall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𝑆𝑒𝑛𝑠𝑖𝑡𝑖𝑣𝑖𝑡𝑦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</m:num>
                                  <m:den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𝑇𝑃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𝐹𝑁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ar-AE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Proportion of actual depression cases correctly identified by the model.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7426583"/>
                      </a:ext>
                    </a:extLst>
                  </a:tr>
                  <a:tr h="7754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Calibration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𝐶𝑎𝑙𝑖𝑏𝑟𝑎𝑡𝑖𝑜𝑛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acc>
                                      <m:accPr>
                                        <m:chr m:val="̂"/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acc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</m:d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≈</m:t>
                                </m:r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oMath>
                            </m:oMathPara>
                          </a14:m>
                          <a:endParaRPr lang="ar-AE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Measures whether predicted probabilities correspond to the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actual observed probabilities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126410"/>
                      </a:ext>
                    </a:extLst>
                  </a:tr>
                  <a:tr h="9605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Distribution Shift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 Distribution Comparison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d>
                                  <m:dPr>
                                    <m:sepChr m:val=","/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𝑝𝑟𝑒</m:t>
                                        </m:r>
                                      </m:sub>
                                    </m:sSub>
                                  </m:e>
                                  <m:e>
                                    <m:d>
                                      <m:d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𝑝𝑜𝑠𝑡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ar-AE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Determines whether the distribution of relevant features has changed between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pre- and post-COVID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populations.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4685508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Fairness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Equal Opportunity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𝑇𝑃</m:t>
                                </m:r>
                                <m:sSub>
                                  <m:sSub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sub>
                                </m:sSub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sSub>
                                      <m:sSub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  <m:sSub>
                                      <m:sSub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  <m:sub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𝐹</m:t>
                                    </m:r>
                                    <m:sSub>
                                      <m:sSubPr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𝑁</m:t>
                                        </m:r>
                                      </m:e>
                                      <m:sub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ar-AE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Checks whether different groups have similar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true-positive rates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688275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Demographic Parity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AE" sz="140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  <m:d>
                                  <m:dPr>
                                    <m:ctrlPr>
                                      <a:rPr lang="ar-AE" sz="14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ar-AE" sz="14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ar-AE" sz="1400">
                                            <a:latin typeface="Cambria Math" panose="02040503050406030204" pitchFamily="18" charset="0"/>
                                          </a:rPr>
                                          <m:t>𝑌</m:t>
                                        </m:r>
                                      </m:e>
                                    </m:acc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∣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=</m:t>
                                    </m:r>
                                    <m:r>
                                      <a:rPr lang="ar-AE" sz="140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ar-AE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Checks whether different groups have similar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positive prediction rates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3325995"/>
                      </a:ext>
                    </a:extLst>
                  </a:tr>
                  <a:tr h="7754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Subgroups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Group-wise Analysis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Calculate metrics separately for each group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Identifies differences in </a:t>
                          </a:r>
                          <a:r>
                            <a:rPr lang="en-US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performance and fairness</a:t>
                          </a: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across selected demographic and socioeconomic groups.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893732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02B4E215-FAC8-B724-D531-D44DD5FD768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354533387"/>
                  </p:ext>
                </p:extLst>
              </p:nvPr>
            </p:nvGraphicFramePr>
            <p:xfrm>
              <a:off x="499616" y="701140"/>
              <a:ext cx="8998032" cy="5901613"/>
            </p:xfrm>
            <a:graphic>
              <a:graphicData uri="http://schemas.openxmlformats.org/drawingml/2006/table">
                <a:tbl>
                  <a:tblPr>
                    <a:tableStyleId>{D7AC3CCA-C797-4891-BE02-D94E43425B78}</a:tableStyleId>
                  </a:tblPr>
                  <a:tblGrid>
                    <a:gridCol w="1633982">
                      <a:extLst>
                        <a:ext uri="{9D8B030D-6E8A-4147-A177-3AD203B41FA5}">
                          <a16:colId xmlns:a16="http://schemas.microsoft.com/office/drawing/2014/main" val="3864400150"/>
                        </a:ext>
                      </a:extLst>
                    </a:gridCol>
                    <a:gridCol w="1689100">
                      <a:extLst>
                        <a:ext uri="{9D8B030D-6E8A-4147-A177-3AD203B41FA5}">
                          <a16:colId xmlns:a16="http://schemas.microsoft.com/office/drawing/2014/main" val="1051252030"/>
                        </a:ext>
                      </a:extLst>
                    </a:gridCol>
                    <a:gridCol w="2387600">
                      <a:extLst>
                        <a:ext uri="{9D8B030D-6E8A-4147-A177-3AD203B41FA5}">
                          <a16:colId xmlns:a16="http://schemas.microsoft.com/office/drawing/2014/main" val="3828023032"/>
                        </a:ext>
                      </a:extLst>
                    </a:gridCol>
                    <a:gridCol w="3287350">
                      <a:extLst>
                        <a:ext uri="{9D8B030D-6E8A-4147-A177-3AD203B41FA5}">
                          <a16:colId xmlns:a16="http://schemas.microsoft.com/office/drawing/2014/main" val="779229359"/>
                        </a:ext>
                      </a:extLst>
                    </a:gridCol>
                  </a:tblGrid>
                  <a:tr h="2536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Dimension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Metric / Analysis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Formula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What it Measures</a:t>
                          </a:r>
                          <a:endParaRPr lang="en-IN" sz="140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6460423"/>
                      </a:ext>
                    </a:extLst>
                  </a:tr>
                  <a:tr h="7754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Performance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AUROC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290" marR="40290" marT="20145" marB="20145" anchor="ctr">
                        <a:blipFill>
                          <a:blip r:embed="rId4"/>
                          <a:stretch>
                            <a:fillRect l="-139541" t="-37795" r="-138265" b="-6346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Overall ability of the model to distinguish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depression vs. non-depression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across classification thresholds.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2377392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F1-score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290" marR="40290" marT="20145" marB="20145" anchor="ctr">
                        <a:blipFill>
                          <a:blip r:embed="rId4"/>
                          <a:stretch>
                            <a:fillRect l="-139541" t="-180412" r="-138265" b="-7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Balance between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precision and recall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, particularly useful for imbalanced classes.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037048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Sensitivity / Recall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290" marR="40290" marT="20145" marB="20145" anchor="ctr">
                        <a:blipFill>
                          <a:blip r:embed="rId4"/>
                          <a:stretch>
                            <a:fillRect l="-139541" t="-280412" r="-138265" b="-6309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Proportion of actual depression cases correctly identified by the model.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97426583"/>
                      </a:ext>
                    </a:extLst>
                  </a:tr>
                  <a:tr h="7754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Calibration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290" marR="40290" marT="20145" marB="20145" anchor="ctr">
                        <a:blipFill>
                          <a:blip r:embed="rId4"/>
                          <a:stretch>
                            <a:fillRect l="-139541" t="-290551" r="-138265" b="-3818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Measures whether predicted probabilities correspond to the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actual observed probabilities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06126410"/>
                      </a:ext>
                    </a:extLst>
                  </a:tr>
                  <a:tr h="960528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Distribution Shift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Feature Distribution Comparison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290" marR="40290" marT="20145" marB="20145" anchor="ctr">
                        <a:blipFill>
                          <a:blip r:embed="rId4"/>
                          <a:stretch>
                            <a:fillRect l="-139541" t="-313924" r="-138265" b="-2069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Determines whether the distribution of relevant features has changed between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pre- and post-COVID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populations.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64685508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Fairness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Equal Opportunity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290" marR="40290" marT="20145" marB="20145" anchor="ctr">
                        <a:blipFill>
                          <a:blip r:embed="rId4"/>
                          <a:stretch>
                            <a:fillRect l="-139541" t="-674227" r="-138265" b="-237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Checks whether different groups have similar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true-positive rates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26688275"/>
                      </a:ext>
                    </a:extLst>
                  </a:tr>
                  <a:tr h="590299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Demographic Parity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0290" marR="40290" marT="20145" marB="20145" anchor="ctr">
                        <a:blipFill>
                          <a:blip r:embed="rId4"/>
                          <a:stretch>
                            <a:fillRect l="-139541" t="-774227" r="-138265" b="-1371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Checks whether different groups have similar </a:t>
                          </a:r>
                          <a:r>
                            <a:rPr lang="en-US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positive prediction rates</a:t>
                          </a: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3325995"/>
                      </a:ext>
                    </a:extLst>
                  </a:tr>
                  <a:tr h="775413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Subgroups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IN" sz="1400" b="1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Group-wise Analysis</a:t>
                          </a:r>
                          <a:endParaRPr lang="en-IN" sz="1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Calculate metrics separately for each group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Identifies differences in </a:t>
                          </a:r>
                          <a:r>
                            <a:rPr lang="en-US" sz="1400" b="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performance and fairness</a:t>
                          </a:r>
                          <a:r>
                            <a:rPr lang="en-US" sz="1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across selected demographic and socioeconomic groups.</a:t>
                          </a:r>
                        </a:p>
                      </a:txBody>
                      <a:tcPr marL="40290" marR="40290" marT="20145" marB="20145" anchor="ctr"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893732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049582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F986F-E6A2-4F0D-F7A4-D24989D1C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2109"/>
            <a:ext cx="10515600" cy="624689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0B324-78AA-BDFD-1B2E-EF0D4B0F34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480008"/>
            <a:ext cx="10681355" cy="4977352"/>
          </a:xfrm>
        </p:spPr>
        <p:txBody>
          <a:bodyPr>
            <a:noAutofit/>
          </a:bodyPr>
          <a:lstStyle/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Temporal Robustness: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whether predictive performance changes across periods.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Distribution Shift: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changes in relevant population features.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 Drift: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Investigate whether fairness metrics change across subgroups.</a:t>
            </a: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Insight: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 the need for temporal monitoring of ML-based mental health screening.</a:t>
            </a: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 study does NOT claim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COVID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bias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possible fairness metrics are covered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depression determinants are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analysed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Causal relationships are established</a:t>
            </a:r>
          </a:p>
          <a:p>
            <a:pPr algn="just"/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E06EF-E16C-FC48-7FAE-55C5026F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12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D47FBE-6DFB-7097-8BED-24C97B32F7AD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606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2306BE-ADDD-73D7-7C1F-8A7B2CAA8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FE8B8-B0F2-C6AF-A451-781546941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13</a:t>
            </a:fld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B381E9-B468-9247-3289-EBA2531679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7716"/>
            <a:ext cx="1091702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This study proposes to investigate the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temporal robustness and fairness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ML-based depression screening models using NHANES data across the COVID-19 period.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ML models will be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trained on pre-COVID NHANES data and evaluated on post-COVID data without retraining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Model </a:t>
            </a:r>
            <a:r>
              <a:rPr kumimoji="0" lang="en-US" altLang="en-US" sz="19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will be assessed through three key dimensions: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predictive performance, temporal distribution shift, and algorithmic fairness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Performance will be evaluated using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AUROC, F1-score, sensitivity and calibration,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while fairness will be assessed using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Equal Opportunity and Demographic Parity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study aims to determine whether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and fairness remain stable when population characteristics change over time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The findings can highlight the importance of </a:t>
            </a:r>
            <a:r>
              <a:rPr kumimoji="0" lang="en-US" altLang="en-US" sz="1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continuous temporal monitoring of ML-based mental-health screening models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before applying them to changing populations.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AA9E39-13B2-F4B8-3E3E-74EE6432EC36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4949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E4D3-F2A3-01DB-A6EC-8C8DB2121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D1D92-4F21-2E1E-4B7D-BF59BAEEE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T. Vu, R.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Dawadi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Yamamoto, J. T. Tay, N. Watanabe, Y.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Kuriya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 Oya, P. N. H. Tran, and M. Araki, “Prediction of depressive disorder using machine learning approaches: findings from the NHANES,” BMC Medical Informatics and Decision Making, vol. 25, no. 1, Art. no. 83, 2025,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10.1186/s12911-025-02903-1. </a:t>
            </a:r>
          </a:p>
          <a:p>
            <a:pPr algn="just"/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Centers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Disease Control and Prevention, “National Health and Nutrition Examination Survey (NHANES).” [Online]. Available: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https://www.cdc.gov/nchs/nhanes/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H. Weerts, M.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Dudík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R. Edgar, A. Jalali, R. Lutz, and M. Madaio, “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Fairlearn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Assessing and improving fairness of AI systems,” Journal of Machine Learning Research, 2023. </a:t>
            </a:r>
          </a:p>
          <a:p>
            <a:pPr algn="just"/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N. Mehrabi, F.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Morstatter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Saxena, K. Lerman, and A. Galstyan, “A survey on bias and fairness in machine learning,” ACM Computing Surveys, vol. 54, no. 6, pp. 1–35, 2021, </a:t>
            </a:r>
            <a:r>
              <a:rPr lang="en-IN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10.1145/3457607. </a:t>
            </a:r>
          </a:p>
          <a:p>
            <a:pPr algn="just"/>
            <a:r>
              <a:rPr lang="en-IN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S. Barocas, M. Hardt, and A. Narayanan, Fairness and Machine Learning. 2019. [Online]. Available: 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https://fairmlbook.org/</a:t>
            </a:r>
            <a:r>
              <a:rPr lang="en-IN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0" indent="0" algn="just">
              <a:buNone/>
            </a:pPr>
            <a:endParaRPr lang="en-IN" sz="1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22B78-253E-7384-4F0B-C14FABAB0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14</a:t>
            </a:fld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AF48DC-D7FB-3828-6919-7FA3F3AF08A6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5077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3FDB4-0FC8-E8CF-560B-0CE5F138A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701703-EC96-271A-3990-ED42A9BC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910C1-11C6-4EDA-AB97-55AA77D27440}" type="slidenum">
              <a:rPr lang="en-IN" smtClean="0"/>
              <a:t>15</a:t>
            </a:fld>
            <a:endParaRPr lang="en-IN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59E1EFF-1ABA-97F4-D096-7720C6EBE7D8}"/>
              </a:ext>
            </a:extLst>
          </p:cNvPr>
          <p:cNvSpPr/>
          <p:nvPr/>
        </p:nvSpPr>
        <p:spPr>
          <a:xfrm>
            <a:off x="224671" y="229367"/>
            <a:ext cx="11653102" cy="638431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8542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1774</Words>
  <Application>Microsoft Office PowerPoint</Application>
  <PresentationFormat>Widescreen</PresentationFormat>
  <Paragraphs>173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Times New Roman</vt:lpstr>
      <vt:lpstr>Wingdings</vt:lpstr>
      <vt:lpstr>Office Theme</vt:lpstr>
      <vt:lpstr>PowerPoint Presentation</vt:lpstr>
      <vt:lpstr>ABSTRACT</vt:lpstr>
      <vt:lpstr>BASE PAPER</vt:lpstr>
      <vt:lpstr>INTRODUCTION/BACKGROUND</vt:lpstr>
      <vt:lpstr>PROBLEM STATEMENT</vt:lpstr>
      <vt:lpstr>OBJECTIVES</vt:lpstr>
      <vt:lpstr>LITERATURE REVIEW</vt:lpstr>
      <vt:lpstr>PROPOSED METHODOLOGY/ WORKING PROCESS</vt:lpstr>
      <vt:lpstr>TECHNOLOGY STACK</vt:lpstr>
      <vt:lpstr>MACHINE LEARNING ALGORITHMS</vt:lpstr>
      <vt:lpstr>EVALUATION METRICS</vt:lpstr>
      <vt:lpstr>EXPECTED CONTRIBUTION</vt:lpstr>
      <vt:lpstr>CONCLUSION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Tanmayee Kurivella</dc:creator>
  <cp:lastModifiedBy>Tanmayee Kurivella</cp:lastModifiedBy>
  <cp:revision>26</cp:revision>
  <dcterms:created xsi:type="dcterms:W3CDTF">2026-08-26T07:24:28Z</dcterms:created>
  <dcterms:modified xsi:type="dcterms:W3CDTF">2026-08-26T15:58:50Z</dcterms:modified>
</cp:coreProperties>
</file>