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7BDB"/>
    <a:srgbClr val="293194"/>
    <a:srgbClr val="CF167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7AF963-2076-4B43-ABE7-69C7844D2C06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EAAEA2-AA7F-4E88-9E30-7786EE5F1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879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BCC2B-2F29-0D45-BE55-7CE6208897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634C03-AEFD-1CA2-DFA7-56302C7CC2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3137C-C398-04AD-302B-3D743CDB1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E4D81-1A12-4ADE-9714-CC80C1296E4A}" type="datetime1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12A7A-3B6B-3A76-D4FC-ADC4DBE13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289EC-0675-7303-272E-441F767B0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6156D-3043-42B1-9D19-4DA8B94F9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7180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34DD3-FF7E-5377-8483-56B6E7809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2E0C5-8AF3-B0D2-A7F6-471654E85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FAD11-6C58-0F11-A9C9-6AE6B90BA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19E5-D610-4C29-919D-3A49A04BA939}" type="datetime1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B98B4-4AFE-2720-8E0E-E58FB50C5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A7940-83A6-30A5-311A-8EC2AD480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6156D-3043-42B1-9D19-4DA8B94F9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603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2DEDA-7019-213B-5362-9B47243CB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5B185-B489-5DBC-1BEA-DFB99CC50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B2718-1457-8079-62E5-FF7161EA2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2FA17-1B10-4C0D-A092-F2F481627C50}" type="datetime1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4CD7E-4435-C23C-C667-9BD5FA27C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A9796-1189-2E42-225B-49927FC83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6156D-3043-42B1-9D19-4DA8B94F9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420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63F-F5DB-077A-5F46-6B5C1FF69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0B5B6-FAE3-FD2E-F11E-37BD5E161F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C1A21A-FB3F-0268-3E88-A4BE1950D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09A344-CAFA-C06C-8754-7C8780DC6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F571-BD04-4ACE-816F-4ED8FD625230}" type="datetime1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2A741C-AD07-F994-92BE-CFB0D8962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E5E02-3769-3208-4678-A84C501C7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6156D-3043-42B1-9D19-4DA8B94F9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148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73A6A-0E8A-3031-5BB0-69B25ED30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DEA22-1492-1C91-D1A2-873A8C0C7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5F8C58-9218-101C-A817-FED5DEFC85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F1F96A-8A48-DCF2-A640-43F22D5C41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637FBF-0E57-016F-7DE7-512854CDAC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97ED9C-5E72-E5D2-5452-CB497A57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13FED-B98D-46ED-889B-6137A6552ED7}" type="datetime1">
              <a:rPr lang="en-IN" smtClean="0"/>
              <a:t>26-08-2026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E320E8-197F-8AB6-BF6C-5EAB878C0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2D11C3-2553-702D-5EB4-9A4DD42F6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6156D-3043-42B1-9D19-4DA8B94F9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824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85119-9798-A26B-E666-ACBC2F32D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170D4-60C4-94AF-230B-47CD50B39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4AF5D-83FE-4C2E-823E-678144AD2514}" type="datetime1">
              <a:rPr lang="en-IN" smtClean="0"/>
              <a:t>26-08-2026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75163C-484F-D9F6-43CD-143E01582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C5254-AAC5-360F-C006-71FAB6F8C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6156D-3043-42B1-9D19-4DA8B94F9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464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C00B78-7901-0FB2-BC48-86A294A68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39AC4-6A97-4941-A39E-8F4076BBB46F}" type="datetime1">
              <a:rPr lang="en-IN" smtClean="0"/>
              <a:t>26-08-2026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9A0943-466B-9E7D-944D-D399563EC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CFA4F-1BD0-E597-E4BD-8D7D8D065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6156D-3043-42B1-9D19-4DA8B94F9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101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8C66E-63F9-82D3-A18C-DE94C2929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41A37-10B0-DCB1-1693-38175D003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33DC95-EA00-2284-59FA-53CFF37FFE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68515-1C1F-58D8-AC3F-BBF8CBBB3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4E956-D527-4ADA-A079-946680B55193}" type="datetime1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AB0F7-9235-420E-EAD3-DAD5B8659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FC769-FA25-B71C-AC32-006C27C4C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6156D-3043-42B1-9D19-4DA8B94F9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157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AD2F9-C69E-3A3D-83D3-984BD3EC5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042AAB-279A-8CCC-0B74-57254E3664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A644FD-1273-7103-4B93-001EAD661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0A9A64-31E6-73F2-CCA6-0AE66FF97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FE2F1-6F7D-48C3-85C2-FBBB76B99A6D}" type="datetime1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8647EE-7CA0-AD3C-65CC-7A008A80A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362A9-BC2D-3F48-7971-6DF504E34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6156D-3043-42B1-9D19-4DA8B94F9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329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770B5-7176-7BE8-9D62-991E84DF5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5F8F7-700A-D72A-FF91-59278D4596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0E71A-5A5E-158C-5E06-7E383FB34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3B4D4-F9A0-44EB-8B83-97C49008B78F}" type="datetime1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628B3-9D69-BCE6-07D7-49F3657B2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E4EBE-8CB4-B57C-5D25-62332747E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6156D-3043-42B1-9D19-4DA8B94F9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013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F7C2B7-EFCD-BCDF-F035-226DE62D49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D63932-9AEC-CD88-C677-AAFDA6C4E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16B8E-328B-56D0-9677-4CB7593E1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A8780-5F22-4580-BAC0-B5B9773FE37B}" type="datetime1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1871D-E252-E0EE-C58A-6A4262D15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4F187-BDF0-81F3-0867-BF58FDD20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6156D-3043-42B1-9D19-4DA8B94F9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824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0D0C10-A10B-0CF3-DF1E-E6CDC8979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73687-CC4B-00ED-FFBB-E523EBD88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72922-84EA-E6CB-5D2C-C7D6335E8C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5E6F48-2DB3-4ACB-A8BA-AEACA058F3DE}" type="datetime1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EFD57-A36C-ECE7-078D-D4AA108CC4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2B579-FF56-3543-BAD3-829234BC17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96156D-3043-42B1-9D19-4DA8B94F9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910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s25113512" TargetMode="External"/><Relationship Id="rId2" Type="http://schemas.openxmlformats.org/officeDocument/2006/relationships/hyperlink" Target="https://www.datasanitization.org/data-sanitizationterminology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AF1AA-7A63-C4C7-96FE-41933D48C0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IN" sz="2000" b="1" cap="all" dirty="0">
                <a:solidFill>
                  <a:srgbClr val="2931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Jawaharlal Nehru Technological University Hyderabad</a:t>
            </a:r>
            <a:br>
              <a:rPr lang="en-IN" sz="20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1" dirty="0">
                <a:solidFill>
                  <a:srgbClr val="2931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College of Engineering, Science &amp; Technology Hyderabad</a:t>
            </a:r>
            <a:br>
              <a:rPr lang="en-IN" sz="2200" b="1" dirty="0">
                <a:solidFill>
                  <a:srgbClr val="2931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1" dirty="0">
                <a:solidFill>
                  <a:srgbClr val="2931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  <a:br>
              <a:rPr lang="en-IN" sz="2200" b="1" dirty="0">
                <a:solidFill>
                  <a:srgbClr val="2931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1" dirty="0">
                <a:solidFill>
                  <a:srgbClr val="2931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200" b="1">
                <a:solidFill>
                  <a:srgbClr val="2931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2022-2027)</a:t>
            </a:r>
            <a:br>
              <a:rPr lang="en-IN" sz="2200" b="1">
                <a:solidFill>
                  <a:srgbClr val="2931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solidFill>
                  <a:srgbClr val="2931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Dissertation Work Review -1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solidFill>
                  <a:srgbClr val="CF16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Risk-Aware ML Based Database Sanitization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D745DD-A9FB-C562-E956-FB807534B04F}"/>
              </a:ext>
            </a:extLst>
          </p:cNvPr>
          <p:cNvSpPr txBox="1"/>
          <p:nvPr/>
        </p:nvSpPr>
        <p:spPr>
          <a:xfrm>
            <a:off x="993058" y="4011561"/>
            <a:ext cx="33233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CF16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Candidate Details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Annapureddy Hrishi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22011P0501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 IDP(V-I)</a:t>
            </a:r>
          </a:p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C2CCB8-413B-F298-D8FD-61753843D82D}"/>
              </a:ext>
            </a:extLst>
          </p:cNvPr>
          <p:cNvSpPr txBox="1"/>
          <p:nvPr/>
        </p:nvSpPr>
        <p:spPr>
          <a:xfrm>
            <a:off x="6096001" y="3864077"/>
            <a:ext cx="53290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CF16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R SRIDEVI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B.E(CSE), M.Tech, PhD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in CSE &amp; Coordinator,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Centre of Excellence in Cyber Security,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JNTUH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3365DC-0C9E-E067-9192-256F48F30C00}"/>
              </a:ext>
            </a:extLst>
          </p:cNvPr>
          <p:cNvSpPr/>
          <p:nvPr/>
        </p:nvSpPr>
        <p:spPr>
          <a:xfrm>
            <a:off x="481781" y="383458"/>
            <a:ext cx="11238271" cy="605667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341DC91-E543-2688-3D33-9A1B4B3C3BF7}"/>
              </a:ext>
            </a:extLst>
          </p:cNvPr>
          <p:cNvCxnSpPr>
            <a:cxnSpLocks/>
          </p:cNvCxnSpPr>
          <p:nvPr/>
        </p:nvCxnSpPr>
        <p:spPr>
          <a:xfrm>
            <a:off x="580103" y="2487561"/>
            <a:ext cx="1104162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73DC629-DBE3-06C7-D23A-8125FC69C52A}"/>
              </a:ext>
            </a:extLst>
          </p:cNvPr>
          <p:cNvCxnSpPr>
            <a:cxnSpLocks/>
          </p:cNvCxnSpPr>
          <p:nvPr/>
        </p:nvCxnSpPr>
        <p:spPr>
          <a:xfrm>
            <a:off x="580103" y="3711678"/>
            <a:ext cx="1104162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2941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F9B9B-6575-7D31-592D-F0EB4F604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>
                <a:solidFill>
                  <a:srgbClr val="2931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BA345-26CC-DD0F-FEB7-3296E4E9A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and Challenges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Architecture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E33CE-1DE8-5441-EAFF-E0DA90C08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6156D-3043-42B1-9D19-4DA8B94F9D4D}" type="slidenum">
              <a:rPr lang="en-IN" sz="1800" smtClean="0"/>
              <a:t>2</a:t>
            </a:fld>
            <a:endParaRPr lang="en-IN" sz="1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24AEFB-E68F-9D5A-8812-23C56D4BB90A}"/>
              </a:ext>
            </a:extLst>
          </p:cNvPr>
          <p:cNvSpPr/>
          <p:nvPr/>
        </p:nvSpPr>
        <p:spPr>
          <a:xfrm>
            <a:off x="481781" y="383458"/>
            <a:ext cx="11238271" cy="605667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020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4BC5A-5194-522B-97B3-984BB2E87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7598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solidFill>
                  <a:srgbClr val="2931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0BEEB-5C61-FE05-AB62-D6AC5DFB1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2724"/>
            <a:ext cx="10515600" cy="54801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000" b="1" dirty="0">
                <a:solidFill>
                  <a:srgbClr val="CF16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investigate whether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machine-learning-based sensitivity classification and risk scoring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enhance the existing DBSanitizer approach by enabling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and risk-aware sanitization of residual database data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Microsoft SQL Server.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solidFill>
                  <a:srgbClr val="CF16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page analysis and page-carving techniques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and locate deleted or residual records from physical database storage. 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relevant data and database-context features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uses 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classifier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estimate the sensitivity of residual information. 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Assigns 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score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sensitivity prediction, classification confidence, data exposure, and database context to prioritize sanitization. 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risk-aware targeted sanitization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giving higher priority to sensitive and high-risk residual data while preserving database-page integrity. 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forensic verification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rescan database storage and evaluate whether targeted residual information can still be recovered after sanitization.</a:t>
            </a:r>
          </a:p>
          <a:p>
            <a:pPr marL="0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56A62-F1F4-BDA7-93F8-2D69092E5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6156D-3043-42B1-9D19-4DA8B94F9D4D}" type="slidenum">
              <a:rPr lang="en-IN" sz="1800" smtClean="0"/>
              <a:t>3</a:t>
            </a:fld>
            <a:endParaRPr lang="en-IN" sz="1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11F2F0-60BC-E4DE-E8DF-4EB8AB92109A}"/>
              </a:ext>
            </a:extLst>
          </p:cNvPr>
          <p:cNvSpPr/>
          <p:nvPr/>
        </p:nvSpPr>
        <p:spPr>
          <a:xfrm>
            <a:off x="481781" y="383458"/>
            <a:ext cx="11238271" cy="605667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9484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27DAA-2D7F-0D63-7BF4-AF914625D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5249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solidFill>
                  <a:srgbClr val="2931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CD748-4F36-CF78-3319-DC281B995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6348"/>
            <a:ext cx="10515600" cy="4790615"/>
          </a:xfrm>
        </p:spPr>
        <p:txBody>
          <a:bodyPr>
            <a:normAutofit/>
          </a:bodyPr>
          <a:lstStyle/>
          <a:p>
            <a:pPr lvl="0" algn="just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systems store large volumes of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personal, financial, transactional, and organizational information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Deleting a record does not always ensure its complete removal from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database storage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residual information may remain in database pages until the storage space is reused. </a:t>
            </a:r>
          </a:p>
          <a:p>
            <a:pPr lvl="0" algn="just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residual data may potentially be recovered through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forensic and low-level storage analysis techniques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creating privacy and security risks. </a:t>
            </a:r>
          </a:p>
          <a:p>
            <a:pPr lvl="0" algn="just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database sanitization aims to permanently remove residual information while preserving the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 and normal operation of the database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approaches such as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DBSanitizer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 targeted sanitization of deleted database remnants, but do not prioritize data based on its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sensitivity or associated risk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work integrates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machine-learning-based sensitivity classification and risk scoring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database sanitization to identify and prioritize high-risk residual data for targeted erasure.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20E02-9441-A9F5-E64F-7C6116285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6156D-3043-42B1-9D19-4DA8B94F9D4D}" type="slidenum">
              <a:rPr lang="en-IN" sz="1800" smtClean="0"/>
              <a:t>4</a:t>
            </a:fld>
            <a:endParaRPr lang="en-IN" sz="1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E0296F-D229-54CE-7EC3-3943F2DE3188}"/>
              </a:ext>
            </a:extLst>
          </p:cNvPr>
          <p:cNvSpPr/>
          <p:nvPr/>
        </p:nvSpPr>
        <p:spPr>
          <a:xfrm>
            <a:off x="481781" y="383458"/>
            <a:ext cx="11238271" cy="605667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878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2B1AE-1D52-40FE-88B1-D7A0B5B9D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591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solidFill>
                  <a:srgbClr val="2931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AND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7ED6B-34A9-63FB-2D38-0295CA393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1716"/>
            <a:ext cx="10515600" cy="51052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000" b="1" dirty="0">
                <a:solidFill>
                  <a:srgbClr val="CF16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marL="0" indent="0" algn="just">
              <a:buNone/>
            </a:pPr>
            <a:r>
              <a:rPr lang="en-IN" sz="2000" b="1" dirty="0">
                <a:solidFill>
                  <a:srgbClr val="F17B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(Forget About It- Batched Database Sanitizer ACM(2024))</a:t>
            </a:r>
          </a:p>
          <a:p>
            <a:pPr lvl="0"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page carving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deleted records and residual data within database storage. </a:t>
            </a:r>
          </a:p>
          <a:p>
            <a:pPr lvl="0"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batched sanitization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securely erase identified residual records instead of sanitizing data immediately after every deletion. </a:t>
            </a:r>
          </a:p>
          <a:p>
            <a:pPr lvl="0"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deleted data in both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pages and associated index structures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/>
            <a:endParaRPr lang="en-IN" sz="1800" b="1" dirty="0">
              <a:solidFill>
                <a:srgbClr val="CF167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buNone/>
            </a:pPr>
            <a:r>
              <a:rPr lang="en-IN" sz="2000" b="1" dirty="0">
                <a:solidFill>
                  <a:srgbClr val="CF16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lvl="0"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automatic sensitivity or risk assessment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residual database data. </a:t>
            </a:r>
          </a:p>
          <a:p>
            <a:pPr lvl="0"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identification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sanitization priorities is difficult in heterogeneous databases. </a:t>
            </a:r>
          </a:p>
          <a:p>
            <a:pPr lvl="0"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 sanitization priority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lead to unnecessary processing of lower-risk data. </a:t>
            </a:r>
          </a:p>
          <a:p>
            <a:pPr lvl="0"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page modification and write-back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introduce processing and I/O overhead. </a:t>
            </a:r>
          </a:p>
          <a:p>
            <a:pPr lvl="0"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ML-based sensitivity classification and risk scoring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potentially enable selective, prioritized sanitization.</a:t>
            </a:r>
          </a:p>
          <a:p>
            <a:pPr marL="0" indent="0">
              <a:buNone/>
            </a:pPr>
            <a:endParaRPr lang="en-IN" sz="2000" b="1" dirty="0">
              <a:solidFill>
                <a:srgbClr val="CF167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CC516-CA02-96AD-8780-27989C6DC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6156D-3043-42B1-9D19-4DA8B94F9D4D}" type="slidenum">
              <a:rPr lang="en-IN" sz="1800" smtClean="0"/>
              <a:t>5</a:t>
            </a:fld>
            <a:endParaRPr lang="en-IN" sz="1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7F4446-D664-81C6-7167-FAFE9EC8483C}"/>
              </a:ext>
            </a:extLst>
          </p:cNvPr>
          <p:cNvSpPr/>
          <p:nvPr/>
        </p:nvSpPr>
        <p:spPr>
          <a:xfrm>
            <a:off x="481781" y="383458"/>
            <a:ext cx="11238271" cy="605667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082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80726-E24E-83BD-CADB-4E3C0B839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>
                <a:solidFill>
                  <a:srgbClr val="2931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4E4C7-A34C-3634-5A73-342B988D5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machine-learning-based risk-aware database sanitization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that automatically classifies the sensitivity of residual data and prioritizes high-risk information for targeted sanitization.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C73A6-409D-FB9B-9773-5CA5C957B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6156D-3043-42B1-9D19-4DA8B94F9D4D}" type="slidenum">
              <a:rPr lang="en-IN" sz="1800" smtClean="0"/>
              <a:t>6</a:t>
            </a:fld>
            <a:endParaRPr lang="en-IN" sz="1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77BA8A-54DD-0A08-598C-1D3D0D6637DB}"/>
              </a:ext>
            </a:extLst>
          </p:cNvPr>
          <p:cNvSpPr/>
          <p:nvPr/>
        </p:nvSpPr>
        <p:spPr>
          <a:xfrm>
            <a:off x="481781" y="383458"/>
            <a:ext cx="11238271" cy="605667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25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F682F-5040-19F1-8223-F9C42C5C8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6156D-3043-42B1-9D19-4DA8B94F9D4D}" type="slidenum">
              <a:rPr lang="en-IN" sz="1800" smtClean="0"/>
              <a:t>7</a:t>
            </a:fld>
            <a:endParaRPr lang="en-IN" sz="18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B781489-B644-5884-4706-0ACF0D6F5E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090" y="0"/>
            <a:ext cx="6862916" cy="6862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312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39EB3-2ABA-0A25-CFEA-6B435E323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1223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solidFill>
                  <a:srgbClr val="2931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B5C95-E009-FA54-5978-B3E42C8E1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39" y="1563329"/>
            <a:ext cx="11080955" cy="4613634"/>
          </a:xfrm>
        </p:spPr>
        <p:txBody>
          <a:bodyPr>
            <a:normAutofit fontScale="92500" lnSpcReduction="10000"/>
          </a:bodyPr>
          <a:lstStyle/>
          <a:p>
            <a:pPr lvl="0" algn="just">
              <a:lnSpc>
                <a:spcPct val="150000"/>
              </a:lnSpc>
            </a:pPr>
            <a:r>
              <a:rPr lang="en-IN" sz="19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Carve</a:t>
            </a:r>
            <a:r>
              <a:rPr lang="en-IN" sz="19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table and index pages directly from the MDF file to recover live and residual records.</a:t>
            </a:r>
          </a:p>
          <a:p>
            <a:pPr lvl="0" algn="just">
              <a:lnSpc>
                <a:spcPct val="150000"/>
              </a:lnSpc>
            </a:pPr>
            <a:r>
              <a:rPr lang="en-IN" sz="19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Filter</a:t>
            </a:r>
            <a:r>
              <a:rPr lang="en-IN" sz="19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carved pages against the </a:t>
            </a:r>
            <a:r>
              <a:rPr lang="en-IN" sz="19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active table/index </a:t>
            </a:r>
            <a:r>
              <a:rPr lang="en-IN" sz="19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catalog</a:t>
            </a:r>
            <a:r>
              <a:rPr lang="en-IN" sz="19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discard orphaned pages early.</a:t>
            </a:r>
          </a:p>
          <a:p>
            <a:pPr lvl="0" algn="just">
              <a:lnSpc>
                <a:spcPct val="150000"/>
              </a:lnSpc>
            </a:pPr>
            <a:r>
              <a:rPr lang="en-IN" sz="19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Flag deleted records</a:t>
            </a:r>
            <a:r>
              <a:rPr lang="en-IN" sz="19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via status checks and </a:t>
            </a:r>
            <a:r>
              <a:rPr lang="en-IN" sz="19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reconstruct their pointers</a:t>
            </a:r>
            <a:r>
              <a:rPr lang="en-IN" sz="19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>
              <a:lnSpc>
                <a:spcPct val="150000"/>
              </a:lnSpc>
            </a:pPr>
            <a:r>
              <a:rPr lang="en-IN" sz="19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 structural and content features</a:t>
            </a:r>
            <a:r>
              <a:rPr lang="en-IN" sz="19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from each deleted record.</a:t>
            </a:r>
          </a:p>
          <a:p>
            <a:pPr lvl="0" algn="just">
              <a:lnSpc>
                <a:spcPct val="150000"/>
              </a:lnSpc>
            </a:pPr>
            <a:r>
              <a:rPr lang="en-IN" sz="19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Classify sensitivity</a:t>
            </a:r>
            <a:r>
              <a:rPr lang="en-IN" sz="19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assign a </a:t>
            </a:r>
            <a:r>
              <a:rPr lang="en-IN" sz="19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 score</a:t>
            </a:r>
            <a:r>
              <a:rPr lang="en-IN" sz="19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a trained </a:t>
            </a:r>
            <a:r>
              <a:rPr lang="en-IN" sz="19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ML model</a:t>
            </a:r>
            <a:r>
              <a:rPr lang="en-IN" sz="19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>
              <a:lnSpc>
                <a:spcPct val="150000"/>
              </a:lnSpc>
            </a:pPr>
            <a:r>
              <a:rPr lang="en-IN" sz="19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IN" sz="19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erased record pointers, hashes, and </a:t>
            </a:r>
            <a:r>
              <a:rPr lang="en-IN" sz="19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 scores</a:t>
            </a:r>
            <a:r>
              <a:rPr lang="en-IN" sz="19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audit purposes.</a:t>
            </a:r>
          </a:p>
          <a:p>
            <a:pPr lvl="0" algn="just">
              <a:lnSpc>
                <a:spcPct val="150000"/>
              </a:lnSpc>
            </a:pPr>
            <a:r>
              <a:rPr lang="en-IN" sz="19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IN" sz="19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risk-aware sanitization</a:t>
            </a:r>
            <a:r>
              <a:rPr lang="en-IN" sz="19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erase, overwrite, or zero-fill </a:t>
            </a:r>
            <a:r>
              <a:rPr lang="en-IN" sz="19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based on score</a:t>
            </a:r>
            <a:r>
              <a:rPr lang="en-IN" sz="19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>
              <a:lnSpc>
                <a:spcPct val="150000"/>
              </a:lnSpc>
            </a:pPr>
            <a:r>
              <a:rPr lang="en-IN" sz="19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Reconcile index entries</a:t>
            </a:r>
            <a:r>
              <a:rPr lang="en-IN" sz="19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against erased records to remove </a:t>
            </a:r>
            <a:r>
              <a:rPr lang="en-IN" sz="19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stale pointers</a:t>
            </a:r>
            <a:r>
              <a:rPr lang="en-IN" sz="19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>
              <a:lnSpc>
                <a:spcPct val="150000"/>
              </a:lnSpc>
            </a:pPr>
            <a:r>
              <a:rPr lang="en-IN" sz="19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Verify sanitization</a:t>
            </a:r>
            <a:r>
              <a:rPr lang="en-IN" sz="19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generate a </a:t>
            </a:r>
            <a:r>
              <a:rPr lang="en-IN" sz="19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forensic audit report</a:t>
            </a:r>
            <a:r>
              <a:rPr lang="en-IN" sz="19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E1E915-8078-F5CC-00E4-2DDC9936F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6156D-3043-42B1-9D19-4DA8B94F9D4D}" type="slidenum">
              <a:rPr lang="en-IN" smtClean="0"/>
              <a:t>8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EE0077-40B3-3805-A1DF-5479ADEC69AF}"/>
              </a:ext>
            </a:extLst>
          </p:cNvPr>
          <p:cNvSpPr/>
          <p:nvPr/>
        </p:nvSpPr>
        <p:spPr>
          <a:xfrm>
            <a:off x="481781" y="383458"/>
            <a:ext cx="11238271" cy="605667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595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FE98D-8752-D9B1-DC09-FD0565A32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>
                <a:solidFill>
                  <a:srgbClr val="2931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31312-BBB4-B687-A298-F0001D847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Wagner, J., &amp; Rasin, A. — </a:t>
            </a:r>
            <a:r>
              <a:rPr lang="en-IN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Forget About It: Batched Database Sanitization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https://doi.org/10.1145/3605098.3636054</a:t>
            </a:r>
          </a:p>
          <a:p>
            <a:pPr>
              <a:lnSpc>
                <a:spcPct val="10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Choi, H., Lee, S., &amp; Jeong, D. — </a:t>
            </a:r>
            <a:r>
              <a:rPr lang="en-IN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Forensic Recovery of SQL Server Database: Practical Approach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https://doi.org/10.1109/ACCESS.2021.3052505</a:t>
            </a:r>
          </a:p>
          <a:p>
            <a:pPr>
              <a:lnSpc>
                <a:spcPct val="10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International Data Sanitization Consortium — </a:t>
            </a:r>
            <a:r>
              <a:rPr lang="en-IN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Sanitization Terminology and Definitions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https://www.datasanitization.org/data-sanitizationterminology/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Shin, J. — </a:t>
            </a:r>
            <a:r>
              <a:rPr lang="en-IN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Memory-Driven Forensic Analysis of SQL Server: A Buffer Pool and Page Inspection Approach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https://doi.org/10.3390/s25113512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Shin, J., &amp; Moon, B. H. — </a:t>
            </a:r>
            <a:r>
              <a:rPr lang="en-IN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Forensic Recoverability of Deleted Records Under Database Shrink in Microsoft SQL Server 2025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https://doi.org/10.3390/app16136416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8B4DBC-97E0-C30B-E98F-64004CA29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6156D-3043-42B1-9D19-4DA8B94F9D4D}" type="slidenum">
              <a:rPr lang="en-IN" smtClean="0"/>
              <a:t>9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EE0FAE-7142-F288-69F7-AF5C6BD78673}"/>
              </a:ext>
            </a:extLst>
          </p:cNvPr>
          <p:cNvSpPr/>
          <p:nvPr/>
        </p:nvSpPr>
        <p:spPr>
          <a:xfrm>
            <a:off x="481781" y="383458"/>
            <a:ext cx="11238271" cy="605667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506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76981-6065-2DE3-C596-C94388DFE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8090"/>
            <a:ext cx="10515600" cy="5478873"/>
          </a:xfrm>
        </p:spPr>
        <p:txBody>
          <a:bodyPr anchor="ctr"/>
          <a:lstStyle/>
          <a:p>
            <a:pPr marL="0" indent="0" algn="ctr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D6E75-9A48-FD92-74A9-0BF0ABD2F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6156D-3043-42B1-9D19-4DA8B94F9D4D}" type="slidenum">
              <a:rPr lang="en-IN" smtClean="0"/>
              <a:t>10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BC15AD-C62F-6B1B-9673-F04C0A83FCC3}"/>
              </a:ext>
            </a:extLst>
          </p:cNvPr>
          <p:cNvSpPr/>
          <p:nvPr/>
        </p:nvSpPr>
        <p:spPr>
          <a:xfrm>
            <a:off x="481781" y="383458"/>
            <a:ext cx="11238271" cy="605667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38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</TotalTime>
  <Words>813</Words>
  <Application>Microsoft Office PowerPoint</Application>
  <PresentationFormat>Widescreen</PresentationFormat>
  <Paragraphs>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Jawaharlal Nehru Technological University Hyderabad University College of Engineering, Science &amp; Technology Hyderabad Department of Computer Science And Engineering (2022-2027)  Dissertation Work Review -1 Risk-Aware ML Based Database Sanitization</vt:lpstr>
      <vt:lpstr>LIST OF CONTENTS</vt:lpstr>
      <vt:lpstr>ABSTRACT</vt:lpstr>
      <vt:lpstr>INTRODUCTION</vt:lpstr>
      <vt:lpstr>EXISTING SYSTEM AND CHALLENGES</vt:lpstr>
      <vt:lpstr>PROBLEM STATEMENT</vt:lpstr>
      <vt:lpstr>PowerPoint Presentation</vt:lpstr>
      <vt:lpstr>PROPOSED METHODOLOGY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Annapureddy Hrishi</dc:creator>
  <cp:lastModifiedBy>Annapureddy Hrishi</cp:lastModifiedBy>
  <cp:revision>4</cp:revision>
  <dcterms:created xsi:type="dcterms:W3CDTF">2026-08-25T03:46:43Z</dcterms:created>
  <dcterms:modified xsi:type="dcterms:W3CDTF">2026-08-26T14:30:03Z</dcterms:modified>
</cp:coreProperties>
</file>