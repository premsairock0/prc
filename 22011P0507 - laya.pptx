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4" r:id="rId7"/>
    <p:sldId id="275" r:id="rId8"/>
    <p:sldId id="276" r:id="rId9"/>
    <p:sldId id="277" r:id="rId10"/>
    <p:sldId id="278" r:id="rId11"/>
    <p:sldId id="263" r:id="rId12"/>
    <p:sldId id="264" r:id="rId13"/>
    <p:sldId id="281" r:id="rId14"/>
    <p:sldId id="269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1D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5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B0647-96C5-463D-B3A5-E48C1D7104F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255106-4EF6-4B4C-AB40-F3303A62B50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255106-4EF6-4B4C-AB40-F3303A62B506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21211-365D-43D5-9871-7699B0B05907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56996-8DA3-41B2-8199-187ECF3E9DE7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9D10D-EED9-435B-8DE4-CA0CCA326C9A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A771A-50DE-4290-A1E2-12D447A2A488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41AB-5131-4A45-8C27-CB6C3E7E0041}" type="datetime1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008DD-6F23-4CF3-986C-A2010341F0C1}" type="datetime1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F80AE-397F-4256-A557-E5FF97914FEA}" type="datetime1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0A238-3B71-4798-A85A-5F00DB041A77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2243E-5F85-4E2A-ACC8-13A93CF05E13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BA0E4-8C40-4D0C-9791-711B87B4D1E5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5581E-D114-4362-969F-BF335E719ED8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48B5C-86EE-4D3E-9FFB-B687BB0D90CC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31620" y="448056"/>
            <a:ext cx="90982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701826"/>
                </a:solidFill>
                <a:latin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103644"/>
            <a:ext cx="93726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142A56"/>
                </a:solidFill>
                <a:latin typeface="Times New Roman"/>
              </a:defRPr>
            </a:pPr>
            <a:r>
              <a:rPr dirty="0"/>
              <a:t>UNIVERSITY COLLEGE OF ENGINEERING</a:t>
            </a:r>
            <a:r>
              <a:rPr lang="en-IN" dirty="0"/>
              <a:t> </a:t>
            </a:r>
            <a:r>
              <a:rPr dirty="0"/>
              <a:t>HYDERABAD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9265" y="815803"/>
            <a:ext cx="8961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C1C1C"/>
                </a:solidFill>
                <a:latin typeface="Times New Roman"/>
              </a:defRPr>
            </a:pPr>
            <a:r>
              <a:rPr sz="1600" dirty="0">
                <a:solidFill>
                  <a:srgbClr val="C00000"/>
                </a:solidFill>
              </a:rPr>
              <a:t>JAWAHARLAL NEHRU TECHNOLOGICAL UNIVERSITY HYDERABAD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417036"/>
            <a:ext cx="6583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1C1C1C"/>
                </a:solidFill>
                <a:latin typeface="Times New Roman"/>
              </a:defRPr>
            </a:pPr>
            <a:r>
              <a:rPr sz="1200" dirty="0"/>
              <a:t>Kukatpally, Hyderabad, Telangana (India) - 500 085.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92613"/>
            <a:ext cx="94640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C7550"/>
                </a:solidFill>
                <a:latin typeface="Times New Roman"/>
              </a:defRPr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DISSERTATION WORK REVIEW I</a:t>
            </a:r>
          </a:p>
          <a:p>
            <a:pPr algn="ctr">
              <a:defRPr sz="2400" b="1">
                <a:solidFill>
                  <a:srgbClr val="2C7550"/>
                </a:solidFill>
                <a:latin typeface="Times New Roman"/>
              </a:defRPr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algn="ctr">
              <a:defRPr sz="2400" b="1">
                <a:solidFill>
                  <a:srgbClr val="2C7550"/>
                </a:solidFill>
                <a:latin typeface="Times New Roman"/>
              </a:defRPr>
            </a:pPr>
            <a:r>
              <a:rPr lang="en-IN" sz="2400" b="1" dirty="0">
                <a:solidFill>
                  <a:srgbClr val="D51D56"/>
                </a:solidFill>
                <a:latin typeface="Times New Roman"/>
              </a:rPr>
              <a:t>Selective Bridge ROI Enhancement Using Intelligent Frame Selection for UAV Flights</a:t>
            </a:r>
            <a:endParaRPr dirty="0">
              <a:solidFill>
                <a:srgbClr val="D51D56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4353723"/>
            <a:ext cx="28346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01826"/>
                </a:solidFill>
                <a:latin typeface="Times New Roman"/>
              </a:defRPr>
            </a:pPr>
            <a:r>
              <a:rPr lang="en-IN" dirty="0"/>
              <a:t>PRESENTED BY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914400" y="4764947"/>
            <a:ext cx="4800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C1C1C"/>
                </a:solidFill>
                <a:latin typeface="Times New Roman"/>
              </a:defRPr>
            </a:pPr>
            <a:r>
              <a:rPr sz="1600" dirty="0"/>
              <a:t>P. Gnana Laya Reddy</a:t>
            </a:r>
            <a:r>
              <a:rPr lang="en-US" sz="1600" dirty="0"/>
              <a:t> (</a:t>
            </a:r>
            <a:r>
              <a:rPr lang="en-IN" sz="1600" dirty="0"/>
              <a:t>22011P0507)</a:t>
            </a:r>
          </a:p>
          <a:p>
            <a:pPr>
              <a:defRPr sz="1250" b="0">
                <a:solidFill>
                  <a:srgbClr val="1C1C1C"/>
                </a:solidFill>
                <a:latin typeface="Times New Roman"/>
              </a:defRPr>
            </a:pPr>
            <a:r>
              <a:rPr lang="en-US" sz="1600" dirty="0" err="1"/>
              <a:t>B.Tech</a:t>
            </a:r>
            <a:r>
              <a:rPr lang="en-US" sz="1600" dirty="0"/>
              <a:t>-IDP, 5th Year I Semester</a:t>
            </a:r>
            <a:br>
              <a:rPr lang="en-US" sz="1600" dirty="0"/>
            </a:br>
            <a:r>
              <a:rPr lang="en-US" sz="1600" dirty="0"/>
              <a:t>CSE, JNTUH UCEH</a:t>
            </a:r>
            <a:endParaRPr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7040880" y="4321529"/>
            <a:ext cx="38404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01826"/>
                </a:solidFill>
                <a:latin typeface="Times New Roman"/>
              </a:defRPr>
            </a:pPr>
            <a:r>
              <a:rPr lang="en-IN" dirty="0"/>
              <a:t>GUIDE: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7040880" y="4685562"/>
            <a:ext cx="4023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K. P. SUPREETHI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Professor, CSE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JNTUH UCEH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8E3EFB7-9E41-993D-3E2A-2AC7BF5457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815" y="151441"/>
            <a:ext cx="1362395" cy="148624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A561FA0-DADB-C010-D6E3-854EAB67D8EE}"/>
              </a:ext>
            </a:extLst>
          </p:cNvPr>
          <p:cNvSpPr/>
          <p:nvPr/>
        </p:nvSpPr>
        <p:spPr>
          <a:xfrm>
            <a:off x="495300" y="1794614"/>
            <a:ext cx="11201400" cy="10972"/>
          </a:xfrm>
          <a:prstGeom prst="rect">
            <a:avLst/>
          </a:prstGeom>
          <a:solidFill>
            <a:srgbClr val="BEC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8D9F37-D350-7F88-9418-437C0BFED9C5}"/>
              </a:ext>
            </a:extLst>
          </p:cNvPr>
          <p:cNvSpPr/>
          <p:nvPr/>
        </p:nvSpPr>
        <p:spPr>
          <a:xfrm>
            <a:off x="375101" y="4052414"/>
            <a:ext cx="11201400" cy="10972"/>
          </a:xfrm>
          <a:prstGeom prst="rect">
            <a:avLst/>
          </a:prstGeom>
          <a:solidFill>
            <a:srgbClr val="BEC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51E589-96ED-59E3-759B-559562F5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5156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42A5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201400" cy="10972"/>
          </a:xfrm>
          <a:prstGeom prst="rect">
            <a:avLst/>
          </a:prstGeom>
          <a:solidFill>
            <a:srgbClr val="BEC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565282"/>
              </p:ext>
            </p:extLst>
          </p:nvPr>
        </p:nvGraphicFramePr>
        <p:xfrm>
          <a:off x="1432561" y="1051560"/>
          <a:ext cx="9326879" cy="3321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3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0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>
                          <a:latin typeface="Times New Roman" pitchFamily="18" charset="0"/>
                          <a:cs typeface="Times New Roman" pitchFamily="18" charset="0"/>
                        </a:rPr>
                        <a:t>S. No.</a:t>
                      </a:r>
                    </a:p>
                  </a:txBody>
                  <a:tcPr marL="54864" marR="54864" marT="36576" marB="36576" anchor="ctr">
                    <a:solidFill>
                      <a:srgbClr val="14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>
                          <a:latin typeface="Times New Roman" pitchFamily="18" charset="0"/>
                          <a:cs typeface="Times New Roman" pitchFamily="18" charset="0"/>
                        </a:rPr>
                        <a:t>Section</a:t>
                      </a:r>
                    </a:p>
                  </a:txBody>
                  <a:tcPr marL="54864" marR="54864" marT="36576" marB="36576" anchor="ctr">
                    <a:solidFill>
                      <a:srgbClr val="142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0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60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60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dirty="0">
                          <a:latin typeface="Times New Roman" pitchFamily="18" charset="0"/>
                          <a:cs typeface="Times New Roman" pitchFamily="18" charset="0"/>
                        </a:rPr>
                        <a:t>Abstract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0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60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54864" marR="54864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60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Introduction</a:t>
                      </a:r>
                    </a:p>
                  </a:txBody>
                  <a:tcPr marL="54864" marR="54864" marT="36576" marB="36576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0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60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dirty="0">
                          <a:latin typeface="Times New Roman" pitchFamily="18" charset="0"/>
                          <a:cs typeface="Times New Roman" pitchFamily="18" charset="0"/>
                        </a:rPr>
                        <a:t>Problem Statement</a:t>
                      </a:r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 &amp; Justification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0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60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Related Papers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722108"/>
                  </a:ext>
                </a:extLst>
              </a:tr>
              <a:tr h="3690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60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54864" marR="54864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60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Implementation Plan</a:t>
                      </a:r>
                      <a:endParaRPr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864" marR="54864" marT="36576" marB="36576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0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60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864" marR="54864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60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dirty="0">
                          <a:latin typeface="Times New Roman" pitchFamily="18" charset="0"/>
                          <a:cs typeface="Times New Roman" pitchFamily="18" charset="0"/>
                        </a:rPr>
                        <a:t>Proposed Work</a:t>
                      </a:r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/ Flow Diagram</a:t>
                      </a:r>
                      <a:endParaRPr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864" marR="54864" marT="36576" marB="36576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0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60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60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dirty="0">
                          <a:latin typeface="Times New Roman" pitchFamily="18" charset="0"/>
                          <a:cs typeface="Times New Roman" pitchFamily="18" charset="0"/>
                        </a:rPr>
                        <a:t>Expected Outcomes</a:t>
                      </a:r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 &amp; Conclusion</a:t>
                      </a:r>
                      <a:endParaRPr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90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60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864" marR="54864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60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References</a:t>
                      </a:r>
                      <a:endParaRPr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864" marR="54864" marT="36576" marB="36576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15A1C-8F34-1266-E373-9A64A1A88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5156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42A5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5276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UAVs provide a rapid and non-contact method of bridge and infrastructure inspection.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UAV video frames frequently contain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redundant views, irrelevant background, motion blur, compression artifacts, illumination variation, and insufficient spatial resolution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image-enhancement methods primarily optimize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/ perceptual quality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enhancement does not necessarily imply better engineering-defect detection.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proposes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infrastructure-aware, defect-preserving enhancement framework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UAV inspection.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will perform: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frame selection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 ROI extraction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ROI-based Defect-preserving enhancement/super-resolution</a:t>
            </a:r>
          </a:p>
          <a:p>
            <a:pPr lvl="0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Enhancement methods will be evaluated not only using conventional image-quality metrics but also through their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on downstream crack detection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91B0E6-3F13-E218-622B-E9313C618123}"/>
              </a:ext>
            </a:extLst>
          </p:cNvPr>
          <p:cNvSpPr/>
          <p:nvPr/>
        </p:nvSpPr>
        <p:spPr>
          <a:xfrm>
            <a:off x="502920" y="841248"/>
            <a:ext cx="11201400" cy="10972"/>
          </a:xfrm>
          <a:prstGeom prst="rect">
            <a:avLst/>
          </a:prstGeom>
          <a:solidFill>
            <a:srgbClr val="BEC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16EB1-CCEB-F2A8-1D1C-92C12EBD8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5156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42A56"/>
                </a:solidFill>
                <a:latin typeface="Apto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287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UAV-based inspection?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UAVs enable rapid inspection of bridges and other difficult-to-access infrastructure.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flight can generate hundreds/thousands of images or video frames.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can automate detection of surface defects such as cracks.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with UAV imagery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UAV frames are not necessarily suitable for automated inspection because of: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Motion blur, Low spatial resolution, Illumination variation, Perspective changes, Background/irrelevant objects, Large numbers of visually redundant frames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observation</a:t>
            </a:r>
          </a:p>
          <a:p>
            <a:pPr lvl="0"/>
            <a:r>
              <a:rPr lang="en-IN" b="1" dirty="0"/>
              <a:t>Multi-Frame Persistence:</a:t>
            </a:r>
            <a:r>
              <a:rPr lang="en-IN" dirty="0"/>
              <a:t> Cracks appear across multiple consecutive video frames.</a:t>
            </a:r>
          </a:p>
          <a:p>
            <a:pPr lvl="0"/>
            <a:r>
              <a:rPr lang="en-IN" b="1" dirty="0"/>
              <a:t>Low Pixel Resolution:</a:t>
            </a:r>
            <a:r>
              <a:rPr lang="en-IN" dirty="0"/>
              <a:t> Cracks occupy a very small fraction of pixels in each original frame.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C15B39-2327-DC28-BE4B-AA5C29127EEF}"/>
              </a:ext>
            </a:extLst>
          </p:cNvPr>
          <p:cNvSpPr/>
          <p:nvPr/>
        </p:nvSpPr>
        <p:spPr>
          <a:xfrm>
            <a:off x="502920" y="841248"/>
            <a:ext cx="11201400" cy="10972"/>
          </a:xfrm>
          <a:prstGeom prst="rect">
            <a:avLst/>
          </a:prstGeom>
          <a:solidFill>
            <a:srgbClr val="BEC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202A1A-E9E1-2C74-1EE3-36B14886BACE}"/>
              </a:ext>
            </a:extLst>
          </p:cNvPr>
          <p:cNvSpPr txBox="1"/>
          <p:nvPr/>
        </p:nvSpPr>
        <p:spPr>
          <a:xfrm>
            <a:off x="687666" y="498886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2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ESEARCH PROBLEM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2E38C0-5095-4090-A5D6-A6DC50FEACB6}"/>
              </a:ext>
            </a:extLst>
          </p:cNvPr>
          <p:cNvSpPr txBox="1"/>
          <p:nvPr/>
        </p:nvSpPr>
        <p:spPr>
          <a:xfrm>
            <a:off x="1117436" y="5388976"/>
            <a:ext cx="10083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identify and enhance micro cracks across sequential UAV video frames, without distorting the authentic structure of the defect.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FDDAE-F602-4D2C-B899-45CEF087B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5156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42A5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8593" y="1024128"/>
            <a:ext cx="105934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UAV inspection video of a bridge, develop an intelligent preprocessing and image-enhancement framework that selects informative non-redundant frames, isolates the bridge surface, evaluates ROI image quality, and enhances defect-relevant information without introducing or destroying crack characteristics.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BC4612-BC14-F63C-E18E-2F34C90AD82A}"/>
              </a:ext>
            </a:extLst>
          </p:cNvPr>
          <p:cNvSpPr/>
          <p:nvPr/>
        </p:nvSpPr>
        <p:spPr>
          <a:xfrm>
            <a:off x="502920" y="841248"/>
            <a:ext cx="11201400" cy="10972"/>
          </a:xfrm>
          <a:prstGeom prst="rect">
            <a:avLst/>
          </a:prstGeom>
          <a:solidFill>
            <a:srgbClr val="BEC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42F74D1-3231-0772-3A8B-1AE9A48906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621626"/>
              </p:ext>
            </p:extLst>
          </p:nvPr>
        </p:nvGraphicFramePr>
        <p:xfrm>
          <a:off x="947057" y="3429000"/>
          <a:ext cx="9503229" cy="2104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9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3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7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Challenge</a:t>
                      </a:r>
                      <a:endParaRPr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864" marR="54864" marT="36576" marB="36576" anchor="ctr">
                    <a:solidFill>
                      <a:srgbClr val="14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Effect</a:t>
                      </a:r>
                      <a:endParaRPr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864" marR="54864" marT="36576" marB="36576" anchor="ctr">
                    <a:solidFill>
                      <a:srgbClr val="142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79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45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Redundant Frames</a:t>
                      </a:r>
                      <a:endParaRPr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45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Unnecessary computations</a:t>
                      </a:r>
                      <a:endParaRPr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79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45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Low Spatial Resolution</a:t>
                      </a:r>
                      <a:endParaRPr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864" marR="54864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45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Hairline Cracks are ignored</a:t>
                      </a:r>
                      <a:endParaRPr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864" marR="54864" marT="36576" marB="36576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79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45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Illumination variations</a:t>
                      </a:r>
                      <a:endParaRPr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45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Reduces crack / background contrast</a:t>
                      </a:r>
                      <a:endParaRPr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79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45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Motion blur</a:t>
                      </a:r>
                      <a:endParaRPr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864" marR="54864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45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Weakens crack boundaries</a:t>
                      </a:r>
                      <a:endParaRPr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864" marR="54864" marT="36576" marB="36576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79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45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Lack of task-oriented evaluation</a:t>
                      </a:r>
                      <a:endParaRPr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45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Focus on detection performance than visual quality</a:t>
                      </a:r>
                      <a:endParaRPr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A19C812-FB2A-7799-BBC4-5683EBCBA9B6}"/>
              </a:ext>
            </a:extLst>
          </p:cNvPr>
          <p:cNvSpPr txBox="1"/>
          <p:nvPr/>
        </p:nvSpPr>
        <p:spPr>
          <a:xfrm>
            <a:off x="668593" y="2888283"/>
            <a:ext cx="105156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42A56"/>
                </a:solidFill>
                <a:latin typeface="Apto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Challenges to Address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85C1C54-C29E-8901-A9FA-2B45C1CA5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C9D16-6FF6-FF87-9BD7-1576F87A7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0" y="0"/>
            <a:ext cx="12194380" cy="68593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D7D2F0-2D26-C261-7267-80A8FED9F006}"/>
              </a:ext>
            </a:extLst>
          </p:cNvPr>
          <p:cNvSpPr txBox="1"/>
          <p:nvPr/>
        </p:nvSpPr>
        <p:spPr>
          <a:xfrm>
            <a:off x="4648200" y="5090160"/>
            <a:ext cx="54254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bg1"/>
                </a:solidFill>
              </a:rPr>
              <a:t>Frame  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CD6936-4ECE-3E0F-8C92-9249D8A1798E}"/>
              </a:ext>
            </a:extLst>
          </p:cNvPr>
          <p:cNvSpPr txBox="1"/>
          <p:nvPr/>
        </p:nvSpPr>
        <p:spPr>
          <a:xfrm>
            <a:off x="137160" y="598932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Redundant Frames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A3E9C-3FEB-BC4E-78C5-C626CEC35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06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D6A52-24E3-03AA-BC1D-822AC7A4D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C285C7-F848-CBC8-FE56-15FE7CC36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DA2499-E671-D7A0-75CC-87A51E4B174B}"/>
              </a:ext>
            </a:extLst>
          </p:cNvPr>
          <p:cNvSpPr txBox="1"/>
          <p:nvPr/>
        </p:nvSpPr>
        <p:spPr>
          <a:xfrm>
            <a:off x="4648200" y="5090160"/>
            <a:ext cx="54254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bg1"/>
                </a:solidFill>
              </a:rPr>
              <a:t>Frame  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CBC0CC-3688-2C18-893C-869A9687E63C}"/>
              </a:ext>
            </a:extLst>
          </p:cNvPr>
          <p:cNvSpPr txBox="1"/>
          <p:nvPr/>
        </p:nvSpPr>
        <p:spPr>
          <a:xfrm>
            <a:off x="137160" y="598932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Redundant Frames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DE22340-6CB4-550C-8C96-247E780DE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751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80AE9B-FAAC-45B7-33D5-2EE680598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729872-4918-B04B-1E1D-6AE3A5D21A54}"/>
              </a:ext>
            </a:extLst>
          </p:cNvPr>
          <p:cNvSpPr txBox="1"/>
          <p:nvPr/>
        </p:nvSpPr>
        <p:spPr>
          <a:xfrm>
            <a:off x="7970520" y="6358652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Motion Blur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520A5-9020-73BC-E500-CB88CA5A1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155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B119E2-67F1-2682-B2FF-6004DD3EF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54D9C8-066A-6BA6-FD97-EF59C5415855}"/>
              </a:ext>
            </a:extLst>
          </p:cNvPr>
          <p:cNvSpPr txBox="1"/>
          <p:nvPr/>
        </p:nvSpPr>
        <p:spPr>
          <a:xfrm>
            <a:off x="137160" y="598932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Irrelevant Background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53843F4-6E03-6078-68CF-F0B367D82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972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606E1C4-F900-BF85-6651-EB4EE57FE15A}"/>
              </a:ext>
            </a:extLst>
          </p:cNvPr>
          <p:cNvGrpSpPr/>
          <p:nvPr/>
        </p:nvGrpSpPr>
        <p:grpSpPr>
          <a:xfrm>
            <a:off x="6478" y="18662"/>
            <a:ext cx="12185522" cy="6858000"/>
            <a:chOff x="6478" y="0"/>
            <a:chExt cx="12185522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B0766BA-075A-1118-57CC-1751773BD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8" y="0"/>
              <a:ext cx="12185522" cy="6858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309FC75-AA89-4318-11EC-4E8F9D504BF4}"/>
                </a:ext>
              </a:extLst>
            </p:cNvPr>
            <p:cNvSpPr/>
            <p:nvPr/>
          </p:nvSpPr>
          <p:spPr>
            <a:xfrm>
              <a:off x="6478" y="4312920"/>
              <a:ext cx="2691002" cy="10820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BB776-60CA-4955-A7B7-F1FBC47E1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50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5156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42A56"/>
                </a:solidFill>
                <a:latin typeface="Aptos"/>
              </a:defRPr>
            </a:pPr>
            <a:r>
              <a:rPr dirty="0"/>
              <a:t>RELATED PAPERS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945164"/>
              </p:ext>
            </p:extLst>
          </p:nvPr>
        </p:nvGraphicFramePr>
        <p:xfrm>
          <a:off x="518160" y="1329740"/>
          <a:ext cx="11155680" cy="50440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663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 dirty="0">
                          <a:latin typeface="Times New Roman" pitchFamily="18" charset="0"/>
                          <a:cs typeface="Times New Roman" pitchFamily="18" charset="0"/>
                        </a:rPr>
                        <a:t>Paper </a:t>
                      </a:r>
                    </a:p>
                  </a:txBody>
                  <a:tcPr marL="54864" marR="54864" marT="36576" marB="36576" anchor="ctr">
                    <a:solidFill>
                      <a:srgbClr val="14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 dirty="0">
                          <a:latin typeface="Times New Roman" pitchFamily="18" charset="0"/>
                          <a:cs typeface="Times New Roman" pitchFamily="18" charset="0"/>
                        </a:rPr>
                        <a:t>Relevance to Project</a:t>
                      </a:r>
                    </a:p>
                  </a:txBody>
                  <a:tcPr marL="54864" marR="54864" marT="36576" marB="36576" anchor="ctr">
                    <a:solidFill>
                      <a:srgbClr val="142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32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lang="en-IN" sz="1800" b="0" kern="12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Exploring the Potential of Super-Resolution for Crack Analysis in UAV Facade </a:t>
                      </a:r>
                      <a:r>
                        <a:rPr lang="en-IN" sz="1800" b="0" kern="1200" dirty="0" err="1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Orthomosaics</a:t>
                      </a:r>
                      <a:r>
                        <a:rPr lang="en-IN" sz="1800" b="0" kern="12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of Small Bridges (2025)</a:t>
                      </a:r>
                      <a:endParaRPr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32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lang="en-IN" sz="1800" b="0" kern="12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Evaluates FSRCNN, SRGAN, Real-ESRGAN and </a:t>
                      </a:r>
                      <a:r>
                        <a:rPr lang="en-IN" sz="1800" b="0" kern="1200" dirty="0" err="1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SwinIR</a:t>
                      </a:r>
                      <a:r>
                        <a:rPr lang="en-IN" sz="1800" b="0" kern="12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for improving crack analysis in UAV bridge facade </a:t>
                      </a:r>
                      <a:r>
                        <a:rPr lang="en-IN" sz="1800" b="0" kern="1200" dirty="0" err="1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orthomosaics</a:t>
                      </a:r>
                      <a:r>
                        <a:rPr lang="en-IN" sz="1800" b="0" kern="12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 It demonstrates that super-resolution can substantially improve quantitative crack-width and crack-length measurements. </a:t>
                      </a:r>
                      <a:endParaRPr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Guided Super-Resolution for Image Fusion: A Novel Approach to Enhancing Crack Segmentation in Masonry Structures (2025)</a:t>
                      </a:r>
                    </a:p>
                    <a:p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36576" marB="3657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32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lang="en-IN" sz="1800" b="0" kern="12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Investigates whether super-resolution can improve crack segmentation and proposes RGB-guided SR using high-resolution RGB information to reconstruct lower-resolution IR information</a:t>
                      </a:r>
                      <a:endParaRPr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864" marR="54864" marT="36576" marB="3657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88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32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lang="en-IN" sz="1800" b="0" kern="12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Task-Driven Super Resolution for Improved Crack Segmentation in Low-Resolution Imagery (2024)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32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lang="en-IN" sz="1800" b="0" kern="12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Instead of treating SR only as visual enhancement, the work focuses on </a:t>
                      </a:r>
                      <a:r>
                        <a:rPr lang="en-IN" sz="1800" b="1" kern="12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improving the downstream crack-segmentation task</a:t>
                      </a:r>
                      <a:r>
                        <a:rPr lang="en-IN" sz="1800" b="0" kern="12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32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lang="en-IN" sz="1800" b="0" kern="12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Crack detection algorithm for concrete structures based on super-resolution reconstruction and segmentation network(2022)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864" marR="54864" marT="36576" marB="3657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320" b="0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rPr lang="en-IN" sz="1800" b="0" kern="12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Uses deep-learning super-resolution before semantic crack segmentation for images affected by UAV motion blur and insufficient resolution. The study reports improvements in crack segmentation and crack-length/width quantification after SR.</a:t>
                      </a:r>
                      <a:endParaRPr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4864" marR="54864" marT="36576" marB="3657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280FCBBD-FF55-C310-2C35-3565213430F8}"/>
              </a:ext>
            </a:extLst>
          </p:cNvPr>
          <p:cNvSpPr/>
          <p:nvPr/>
        </p:nvSpPr>
        <p:spPr>
          <a:xfrm>
            <a:off x="502920" y="841248"/>
            <a:ext cx="11201400" cy="10972"/>
          </a:xfrm>
          <a:prstGeom prst="rect">
            <a:avLst/>
          </a:prstGeom>
          <a:solidFill>
            <a:srgbClr val="BEC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B4A87-FE3C-3207-F4F2-3E0041721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5156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42A56"/>
                </a:solidFill>
                <a:latin typeface="Apto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PLAN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1046988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infrastructure-aware defect-preserving enhancement pipeline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UAV bridge inspection.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stages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UAV Video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Extraction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Frame Selection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 ROI Detection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ROI-based Image Quality Assessment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Defect-Preserving Image Enhancement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Bridge ROI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Detection / Segmentation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Task-oriented Evaluation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DFA89F-8712-382E-B371-2C003D690DE1}"/>
              </a:ext>
            </a:extLst>
          </p:cNvPr>
          <p:cNvSpPr/>
          <p:nvPr/>
        </p:nvSpPr>
        <p:spPr>
          <a:xfrm>
            <a:off x="502920" y="841248"/>
            <a:ext cx="11201400" cy="10972"/>
          </a:xfrm>
          <a:prstGeom prst="rect">
            <a:avLst/>
          </a:prstGeom>
          <a:solidFill>
            <a:srgbClr val="BEC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0C32E-C8B8-5A32-569E-4994D419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4920" y="1777831"/>
            <a:ext cx="11222159" cy="4448876"/>
            <a:chOff x="0" y="1948804"/>
            <a:chExt cx="23252125" cy="889775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963996"/>
              <a:ext cx="6568324" cy="4047580"/>
              <a:chOff x="0" y="0"/>
              <a:chExt cx="1297447" cy="79952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297447" cy="799522"/>
              </a:xfrm>
              <a:custGeom>
                <a:avLst/>
                <a:gdLst/>
                <a:ahLst/>
                <a:cxnLst/>
                <a:rect l="l" t="t" r="r" b="b"/>
                <a:pathLst>
                  <a:path w="1297447" h="799522">
                    <a:moveTo>
                      <a:pt x="78578" y="0"/>
                    </a:moveTo>
                    <a:lnTo>
                      <a:pt x="1218868" y="0"/>
                    </a:lnTo>
                    <a:cubicBezTo>
                      <a:pt x="1262266" y="0"/>
                      <a:pt x="1297447" y="35181"/>
                      <a:pt x="1297447" y="78578"/>
                    </a:cubicBezTo>
                    <a:lnTo>
                      <a:pt x="1297447" y="720944"/>
                    </a:lnTo>
                    <a:cubicBezTo>
                      <a:pt x="1297447" y="741784"/>
                      <a:pt x="1289168" y="761771"/>
                      <a:pt x="1274432" y="776507"/>
                    </a:cubicBezTo>
                    <a:cubicBezTo>
                      <a:pt x="1259695" y="791243"/>
                      <a:pt x="1239709" y="799522"/>
                      <a:pt x="1218868" y="799522"/>
                    </a:cubicBezTo>
                    <a:lnTo>
                      <a:pt x="78578" y="799522"/>
                    </a:lnTo>
                    <a:cubicBezTo>
                      <a:pt x="35181" y="799522"/>
                      <a:pt x="0" y="764341"/>
                      <a:pt x="0" y="720944"/>
                    </a:cubicBezTo>
                    <a:lnTo>
                      <a:pt x="0" y="78578"/>
                    </a:lnTo>
                    <a:cubicBezTo>
                      <a:pt x="0" y="35181"/>
                      <a:pt x="35181" y="0"/>
                      <a:pt x="78578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1297447" cy="828097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508"/>
                  </a:lnSpc>
                </a:pPr>
                <a:endParaRPr sz="1200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640722" y="2643942"/>
              <a:ext cx="5412468" cy="13756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49"/>
                </a:lnSpc>
              </a:pPr>
              <a:r>
                <a:rPr lang="en-US" sz="2035" b="1">
                  <a:solidFill>
                    <a:srgbClr val="0C068E"/>
                  </a:solidFill>
                  <a:latin typeface="Inclusive Sans Bold"/>
                  <a:ea typeface="Inclusive Sans Bold"/>
                  <a:cs typeface="Inclusive Sans Bold"/>
                  <a:sym typeface="Inclusive Sans Bold"/>
                </a:rPr>
                <a:t>1.UAV Video And Frame Extraction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6220781" y="1948804"/>
              <a:ext cx="6568324" cy="4047580"/>
              <a:chOff x="0" y="0"/>
              <a:chExt cx="1297447" cy="79952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297447" cy="799522"/>
              </a:xfrm>
              <a:custGeom>
                <a:avLst/>
                <a:gdLst/>
                <a:ahLst/>
                <a:cxnLst/>
                <a:rect l="l" t="t" r="r" b="b"/>
                <a:pathLst>
                  <a:path w="1297447" h="799522">
                    <a:moveTo>
                      <a:pt x="78578" y="0"/>
                    </a:moveTo>
                    <a:lnTo>
                      <a:pt x="1218868" y="0"/>
                    </a:lnTo>
                    <a:cubicBezTo>
                      <a:pt x="1262266" y="0"/>
                      <a:pt x="1297447" y="35181"/>
                      <a:pt x="1297447" y="78578"/>
                    </a:cubicBezTo>
                    <a:lnTo>
                      <a:pt x="1297447" y="720944"/>
                    </a:lnTo>
                    <a:cubicBezTo>
                      <a:pt x="1297447" y="741784"/>
                      <a:pt x="1289168" y="761771"/>
                      <a:pt x="1274432" y="776507"/>
                    </a:cubicBezTo>
                    <a:cubicBezTo>
                      <a:pt x="1259695" y="791243"/>
                      <a:pt x="1239709" y="799522"/>
                      <a:pt x="1218868" y="799522"/>
                    </a:cubicBezTo>
                    <a:lnTo>
                      <a:pt x="78578" y="799522"/>
                    </a:lnTo>
                    <a:cubicBezTo>
                      <a:pt x="35181" y="799522"/>
                      <a:pt x="0" y="764341"/>
                      <a:pt x="0" y="720944"/>
                    </a:cubicBezTo>
                    <a:lnTo>
                      <a:pt x="0" y="78578"/>
                    </a:lnTo>
                    <a:cubicBezTo>
                      <a:pt x="0" y="35181"/>
                      <a:pt x="35181" y="0"/>
                      <a:pt x="78578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28575"/>
                <a:ext cx="1297447" cy="828097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508"/>
                  </a:lnSpc>
                </a:pPr>
                <a:endParaRPr sz="1200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6595063" y="2695628"/>
              <a:ext cx="5849256" cy="6574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49"/>
                </a:lnSpc>
              </a:pPr>
              <a:r>
                <a:rPr lang="en-US" sz="2035" b="1">
                  <a:solidFill>
                    <a:srgbClr val="0C068E"/>
                  </a:solidFill>
                  <a:latin typeface="Inclusive Sans Bold"/>
                  <a:ea typeface="Inclusive Sans Bold"/>
                  <a:cs typeface="Inclusive Sans Bold"/>
                  <a:sym typeface="Inclusive Sans Bold"/>
                </a:rPr>
                <a:t>3.Bridge ROI Detection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8064732" y="1963996"/>
              <a:ext cx="6568324" cy="4047580"/>
              <a:chOff x="0" y="0"/>
              <a:chExt cx="1297447" cy="79952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297447" cy="799522"/>
              </a:xfrm>
              <a:custGeom>
                <a:avLst/>
                <a:gdLst/>
                <a:ahLst/>
                <a:cxnLst/>
                <a:rect l="l" t="t" r="r" b="b"/>
                <a:pathLst>
                  <a:path w="1297447" h="799522">
                    <a:moveTo>
                      <a:pt x="78578" y="0"/>
                    </a:moveTo>
                    <a:lnTo>
                      <a:pt x="1218868" y="0"/>
                    </a:lnTo>
                    <a:cubicBezTo>
                      <a:pt x="1262266" y="0"/>
                      <a:pt x="1297447" y="35181"/>
                      <a:pt x="1297447" y="78578"/>
                    </a:cubicBezTo>
                    <a:lnTo>
                      <a:pt x="1297447" y="720944"/>
                    </a:lnTo>
                    <a:cubicBezTo>
                      <a:pt x="1297447" y="741784"/>
                      <a:pt x="1289168" y="761771"/>
                      <a:pt x="1274432" y="776507"/>
                    </a:cubicBezTo>
                    <a:cubicBezTo>
                      <a:pt x="1259695" y="791243"/>
                      <a:pt x="1239709" y="799522"/>
                      <a:pt x="1218868" y="799522"/>
                    </a:cubicBezTo>
                    <a:lnTo>
                      <a:pt x="78578" y="799522"/>
                    </a:lnTo>
                    <a:cubicBezTo>
                      <a:pt x="35181" y="799522"/>
                      <a:pt x="0" y="764341"/>
                      <a:pt x="0" y="720944"/>
                    </a:cubicBezTo>
                    <a:lnTo>
                      <a:pt x="0" y="78578"/>
                    </a:lnTo>
                    <a:cubicBezTo>
                      <a:pt x="0" y="35181"/>
                      <a:pt x="35181" y="0"/>
                      <a:pt x="78578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1297447" cy="828097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508"/>
                  </a:lnSpc>
                </a:pPr>
                <a:endParaRPr sz="1200"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8608026" y="2635692"/>
              <a:ext cx="4659568" cy="13756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49"/>
                </a:lnSpc>
              </a:pPr>
              <a:r>
                <a:rPr lang="en-US" sz="2035" b="1">
                  <a:solidFill>
                    <a:srgbClr val="0C068E"/>
                  </a:solidFill>
                  <a:latin typeface="Inclusive Sans Bold"/>
                  <a:ea typeface="Inclusive Sans Bold"/>
                  <a:cs typeface="Inclusive Sans Bold"/>
                  <a:sym typeface="Inclusive Sans Bold"/>
                </a:rPr>
                <a:t> 2. Intelligent frame selection.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2507" y="4259522"/>
              <a:ext cx="5458246" cy="11662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08"/>
                </a:lnSpc>
              </a:pPr>
              <a:r>
                <a:rPr lang="en-US" sz="1600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Input of video data From UAV.  Extracting individual frames from the video stream.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65570" y="4450022"/>
              <a:ext cx="5458246" cy="7814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08"/>
                </a:lnSpc>
              </a:pPr>
              <a:r>
                <a:rPr lang="en-US" sz="1600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Selecting relevant frames for the analysis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595063" y="4259522"/>
              <a:ext cx="5458246" cy="7814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08"/>
                </a:lnSpc>
              </a:pPr>
              <a:r>
                <a:rPr lang="en-US" sz="1600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Identifying the region of interest on the bridge.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2612188" y="6783784"/>
              <a:ext cx="6568324" cy="4047580"/>
              <a:chOff x="0" y="0"/>
              <a:chExt cx="1297447" cy="799522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297447" cy="799522"/>
              </a:xfrm>
              <a:custGeom>
                <a:avLst/>
                <a:gdLst/>
                <a:ahLst/>
                <a:cxnLst/>
                <a:rect l="l" t="t" r="r" b="b"/>
                <a:pathLst>
                  <a:path w="1297447" h="799522">
                    <a:moveTo>
                      <a:pt x="78578" y="0"/>
                    </a:moveTo>
                    <a:lnTo>
                      <a:pt x="1218868" y="0"/>
                    </a:lnTo>
                    <a:cubicBezTo>
                      <a:pt x="1262266" y="0"/>
                      <a:pt x="1297447" y="35181"/>
                      <a:pt x="1297447" y="78578"/>
                    </a:cubicBezTo>
                    <a:lnTo>
                      <a:pt x="1297447" y="720944"/>
                    </a:lnTo>
                    <a:cubicBezTo>
                      <a:pt x="1297447" y="741784"/>
                      <a:pt x="1289168" y="761771"/>
                      <a:pt x="1274432" y="776507"/>
                    </a:cubicBezTo>
                    <a:cubicBezTo>
                      <a:pt x="1259695" y="791243"/>
                      <a:pt x="1239709" y="799522"/>
                      <a:pt x="1218868" y="799522"/>
                    </a:cubicBezTo>
                    <a:lnTo>
                      <a:pt x="78578" y="799522"/>
                    </a:lnTo>
                    <a:cubicBezTo>
                      <a:pt x="35181" y="799522"/>
                      <a:pt x="0" y="764341"/>
                      <a:pt x="0" y="720944"/>
                    </a:cubicBezTo>
                    <a:lnTo>
                      <a:pt x="0" y="78578"/>
                    </a:lnTo>
                    <a:cubicBezTo>
                      <a:pt x="0" y="35181"/>
                      <a:pt x="35181" y="0"/>
                      <a:pt x="78578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28575"/>
                <a:ext cx="1297447" cy="828097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508"/>
                  </a:lnSpc>
                </a:pPr>
                <a:endParaRPr sz="1200"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2817282" y="7069514"/>
              <a:ext cx="6568324" cy="139461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849"/>
                </a:lnSpc>
              </a:pPr>
              <a:r>
                <a:rPr lang="en-US" sz="2035" b="1" dirty="0">
                  <a:solidFill>
                    <a:srgbClr val="0C068E"/>
                  </a:solidFill>
                  <a:latin typeface="Inclusive Sans Bold"/>
                  <a:ea typeface="Inclusive Sans Bold"/>
                  <a:cs typeface="Inclusive Sans Bold"/>
                  <a:sym typeface="Inclusive Sans Bold"/>
                </a:rPr>
                <a:t>4.ROI-based Defect- Preserving Enhancement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009502" y="8924084"/>
              <a:ext cx="5458246" cy="15509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08"/>
                </a:lnSpc>
              </a:pPr>
              <a:r>
                <a:rPr lang="en-US" sz="1600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Enhancing the image while preserving defect details. Resulting processed image of the bridge region.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4369487" y="6798976"/>
              <a:ext cx="6568324" cy="4047580"/>
              <a:chOff x="0" y="0"/>
              <a:chExt cx="1297447" cy="799522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297447" cy="799522"/>
              </a:xfrm>
              <a:custGeom>
                <a:avLst/>
                <a:gdLst/>
                <a:ahLst/>
                <a:cxnLst/>
                <a:rect l="l" t="t" r="r" b="b"/>
                <a:pathLst>
                  <a:path w="1297447" h="799522">
                    <a:moveTo>
                      <a:pt x="78578" y="0"/>
                    </a:moveTo>
                    <a:lnTo>
                      <a:pt x="1218868" y="0"/>
                    </a:lnTo>
                    <a:cubicBezTo>
                      <a:pt x="1262266" y="0"/>
                      <a:pt x="1297447" y="35181"/>
                      <a:pt x="1297447" y="78578"/>
                    </a:cubicBezTo>
                    <a:lnTo>
                      <a:pt x="1297447" y="720944"/>
                    </a:lnTo>
                    <a:cubicBezTo>
                      <a:pt x="1297447" y="741784"/>
                      <a:pt x="1289168" y="761771"/>
                      <a:pt x="1274432" y="776507"/>
                    </a:cubicBezTo>
                    <a:cubicBezTo>
                      <a:pt x="1259695" y="791243"/>
                      <a:pt x="1239709" y="799522"/>
                      <a:pt x="1218868" y="799522"/>
                    </a:cubicBezTo>
                    <a:lnTo>
                      <a:pt x="78578" y="799522"/>
                    </a:lnTo>
                    <a:cubicBezTo>
                      <a:pt x="35181" y="799522"/>
                      <a:pt x="0" y="764341"/>
                      <a:pt x="0" y="720944"/>
                    </a:cubicBezTo>
                    <a:lnTo>
                      <a:pt x="0" y="78578"/>
                    </a:lnTo>
                    <a:cubicBezTo>
                      <a:pt x="0" y="35181"/>
                      <a:pt x="35181" y="0"/>
                      <a:pt x="78578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28575"/>
                <a:ext cx="1297447" cy="828097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508"/>
                  </a:lnSpc>
                </a:pPr>
                <a:endParaRPr sz="1200"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4687714" y="7194348"/>
              <a:ext cx="5931870" cy="13756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49"/>
                </a:lnSpc>
              </a:pPr>
              <a:r>
                <a:rPr lang="en-US" sz="2035" b="1">
                  <a:solidFill>
                    <a:srgbClr val="0C068E"/>
                  </a:solidFill>
                  <a:latin typeface="Inclusive Sans Bold"/>
                  <a:ea typeface="Inclusive Sans Bold"/>
                  <a:cs typeface="Inclusive Sans Bold"/>
                  <a:sym typeface="Inclusive Sans Bold"/>
                </a:rPr>
                <a:t>5. Crack detection/ Segmentation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87715" y="9262676"/>
              <a:ext cx="5458246" cy="7814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08"/>
                </a:lnSpc>
              </a:pPr>
              <a:r>
                <a:rPr lang="en-US" sz="1600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Detecting and segmenting cracks in Enhanced image.</a:t>
              </a:r>
            </a:p>
          </p:txBody>
        </p:sp>
        <p:sp>
          <p:nvSpPr>
            <p:cNvPr id="29" name="AutoShape 29"/>
            <p:cNvSpPr/>
            <p:nvPr/>
          </p:nvSpPr>
          <p:spPr>
            <a:xfrm>
              <a:off x="6568324" y="3987786"/>
              <a:ext cx="1496407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30" name="AutoShape 30"/>
            <p:cNvSpPr/>
            <p:nvPr/>
          </p:nvSpPr>
          <p:spPr>
            <a:xfrm flipV="1">
              <a:off x="14633056" y="3972594"/>
              <a:ext cx="1587725" cy="15192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31" name="Freeform 31"/>
            <p:cNvSpPr/>
            <p:nvPr/>
          </p:nvSpPr>
          <p:spPr>
            <a:xfrm>
              <a:off x="19180513" y="3776101"/>
              <a:ext cx="4071612" cy="5031473"/>
            </a:xfrm>
            <a:custGeom>
              <a:avLst/>
              <a:gdLst/>
              <a:ahLst/>
              <a:cxnLst/>
              <a:rect l="l" t="t" r="r" b="b"/>
              <a:pathLst>
                <a:path w="4071612" h="5031473">
                  <a:moveTo>
                    <a:pt x="3608594" y="0"/>
                  </a:moveTo>
                  <a:lnTo>
                    <a:pt x="3840104" y="0"/>
                  </a:lnTo>
                  <a:cubicBezTo>
                    <a:pt x="3967962" y="0"/>
                    <a:pt x="4071612" y="103650"/>
                    <a:pt x="4071612" y="231509"/>
                  </a:cubicBezTo>
                  <a:lnTo>
                    <a:pt x="4071612" y="4726673"/>
                  </a:lnTo>
                  <a:cubicBezTo>
                    <a:pt x="4071612" y="4807511"/>
                    <a:pt x="4039499" y="4885038"/>
                    <a:pt x="3982338" y="4942199"/>
                  </a:cubicBezTo>
                  <a:cubicBezTo>
                    <a:pt x="3925177" y="4999360"/>
                    <a:pt x="3847650" y="5031473"/>
                    <a:pt x="3766812" y="5031473"/>
                  </a:cubicBezTo>
                  <a:lnTo>
                    <a:pt x="0" y="5031473"/>
                  </a:lnTo>
                </a:path>
              </a:pathLst>
            </a:cu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" name="AutoShape 32"/>
            <p:cNvSpPr/>
            <p:nvPr/>
          </p:nvSpPr>
          <p:spPr>
            <a:xfrm flipH="1">
              <a:off x="10937811" y="8807574"/>
              <a:ext cx="1674377" cy="15192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33" name="AutoShape 33"/>
            <p:cNvSpPr/>
            <p:nvPr/>
          </p:nvSpPr>
          <p:spPr>
            <a:xfrm flipH="1" flipV="1">
              <a:off x="19180512" y="8822766"/>
              <a:ext cx="1579851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E934EB55-647F-28A5-E3BE-D1FFFD6C0EE6}"/>
              </a:ext>
            </a:extLst>
          </p:cNvPr>
          <p:cNvSpPr txBox="1"/>
          <p:nvPr/>
        </p:nvSpPr>
        <p:spPr>
          <a:xfrm>
            <a:off x="606986" y="387428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42A56"/>
                </a:solidFill>
                <a:latin typeface="Aptos"/>
              </a:defRPr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 / FLOW DIAGRAM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98724D1-0EA5-24F2-6BAC-5558994940A8}"/>
              </a:ext>
            </a:extLst>
          </p:cNvPr>
          <p:cNvSpPr/>
          <p:nvPr/>
        </p:nvSpPr>
        <p:spPr>
          <a:xfrm>
            <a:off x="484920" y="934765"/>
            <a:ext cx="11201400" cy="10972"/>
          </a:xfrm>
          <a:prstGeom prst="rect">
            <a:avLst/>
          </a:prstGeom>
          <a:solidFill>
            <a:srgbClr val="BEC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74E4E997-9D6E-11F8-DE6A-4E5F0A44E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5156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42A5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287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frame redundancy - Fewer frames requiring computational processing.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inspection relevance - Background and irrelevant regions removed before enhancement.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ROI-aware Improved visibility of fine defects - Image quality measured specifically on bridge surfaces and Better identification of crack boundaries and local contrast.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Defect-preserving enhancement - Minimized hallucination, disappearance, or distortion of crack structures.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8164BD-EDF7-D61E-2086-F92645495587}"/>
              </a:ext>
            </a:extLst>
          </p:cNvPr>
          <p:cNvSpPr/>
          <p:nvPr/>
        </p:nvSpPr>
        <p:spPr>
          <a:xfrm>
            <a:off x="502920" y="841248"/>
            <a:ext cx="11201400" cy="10972"/>
          </a:xfrm>
          <a:prstGeom prst="rect">
            <a:avLst/>
          </a:prstGeom>
          <a:solidFill>
            <a:srgbClr val="BEC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AA8625-978A-B391-03E0-DA3DAC633FFD}"/>
              </a:ext>
            </a:extLst>
          </p:cNvPr>
          <p:cNvSpPr txBox="1"/>
          <p:nvPr/>
        </p:nvSpPr>
        <p:spPr>
          <a:xfrm>
            <a:off x="640079" y="3279546"/>
            <a:ext cx="105156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42A5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6F3FBC-4C5E-96BC-EE31-21D6106B25FB}"/>
              </a:ext>
            </a:extLst>
          </p:cNvPr>
          <p:cNvSpPr/>
          <p:nvPr/>
        </p:nvSpPr>
        <p:spPr>
          <a:xfrm>
            <a:off x="502920" y="3740996"/>
            <a:ext cx="11201400" cy="10972"/>
          </a:xfrm>
          <a:prstGeom prst="rect">
            <a:avLst/>
          </a:prstGeom>
          <a:solidFill>
            <a:srgbClr val="BEC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0B9044-BA76-7ACF-1E01-B1A84A1E7086}"/>
              </a:ext>
            </a:extLst>
          </p:cNvPr>
          <p:cNvSpPr txBox="1"/>
          <p:nvPr/>
        </p:nvSpPr>
        <p:spPr>
          <a:xfrm>
            <a:off x="1016000" y="4155440"/>
            <a:ext cx="102920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UAV imagery provides an efficient source for automated infrastructure inspection but contains significant </a:t>
            </a:r>
            <a:r>
              <a:rPr lang="en-IN" b="1" dirty="0"/>
              <a:t>redundancy and image-quality limitations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Conventional enhancement methods may improve visual appearance without necessarily preserving engineering-critical defects. </a:t>
            </a:r>
          </a:p>
          <a:p>
            <a:pPr lvl="0"/>
            <a:r>
              <a:rPr lang="en-IN" dirty="0"/>
              <a:t>The ultimate objective is to establish an </a:t>
            </a:r>
            <a:r>
              <a:rPr lang="en-IN" b="1" dirty="0"/>
              <a:t>inspection-oriented enhancement methodology</a:t>
            </a:r>
            <a:r>
              <a:rPr lang="en-IN" dirty="0"/>
              <a:t>, where image enhancement is considered successful only when it preserves or improves structural-defect information.</a:t>
            </a:r>
          </a:p>
          <a:p>
            <a:endParaRPr lang="en-IN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143AFFF-8ABB-E35C-7FFA-DA8E6FDBE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42A56"/>
                </a:solidFill>
                <a:latin typeface="Aptos"/>
              </a:defRPr>
            </a:pPr>
            <a:r>
              <a:rPr sz="2400"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534924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1C1C1C"/>
                </a:solidFill>
                <a:latin typeface="Aptos"/>
              </a:defRPr>
            </a:pPr>
            <a:r>
              <a:rPr lang="en-IN" sz="14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Jang, D. and Park, H. and Jeon, E, Exploring the Potential of Super-Resolution for Crack Analysis in UAV Facade </a:t>
            </a:r>
            <a:r>
              <a:rPr lang="en-IN" sz="1400" dirty="0" err="1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Orthomosaics</a:t>
            </a:r>
            <a:r>
              <a:rPr lang="en-IN" sz="14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Small Bridges, The International Archives of the Photogrammetry, Remote Sensing and Spatial Information Sciences, XLVIII-2/W11-2025, 2025, 139--144</a:t>
            </a:r>
            <a:endParaRPr sz="14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492088"/>
            <a:ext cx="53492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1C1C1C"/>
                </a:solidFill>
                <a:latin typeface="Aptos"/>
              </a:defRPr>
            </a:pPr>
            <a:r>
              <a:rPr lang="en-IN" sz="14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Y. Fang, L. Fan and Y. Cai, "Guided Super-Resolution for Image Fusion: A Novel Approach to Enhancing Crack Segmentation in Masonry Structures," in IEEE Sensors Journal, vol. 25, no. 7, pp. 11491-11507, 1 April1, 2025, </a:t>
            </a:r>
            <a:r>
              <a:rPr lang="en-IN" sz="1400" dirty="0" err="1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10.1109/JSEN.2025.3540119</a:t>
            </a:r>
            <a:endParaRPr lang="en-US" sz="14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4020121"/>
            <a:ext cx="53492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1C1C1C"/>
                </a:solidFill>
                <a:latin typeface="Aptos"/>
              </a:defRPr>
            </a:pPr>
            <a:r>
              <a:rPr lang="en-IN" sz="1400" dirty="0">
                <a:latin typeface="Times New Roman" panose="02020603050405020304" pitchFamily="18" charset="0"/>
                <a:cs typeface="Times New Roman" pitchFamily="18" charset="0"/>
              </a:rPr>
              <a:t>3. R. Hou and X. Xu, "Task-Driven Super Resolution for Improved Crack Segmentation in Low-Resolution Imagery," 2024 43rd Chinese Control Conference (CCC), Kunming, China, 2024, pp. 7588-7595</a:t>
            </a:r>
            <a:endParaRPr sz="14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5346192"/>
            <a:ext cx="53492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1C1C1C"/>
                </a:solidFill>
                <a:latin typeface="Aptos"/>
              </a:defRPr>
            </a:pPr>
            <a:r>
              <a:rPr lang="en-IN" sz="1400" dirty="0">
                <a:latin typeface="Times New Roman" panose="02020603050405020304" pitchFamily="18" charset="0"/>
                <a:cs typeface="Times New Roman" pitchFamily="18" charset="0"/>
              </a:rPr>
              <a:t>4. Chao Xiang, Wei Wang, Lu Deng, Peng Shi, Xuan Kong, “Crack detection algorithm for concrete structures based on super-resolution reconstruction and segmentation network”, Automation in Construction, Volume 140, 2022, 104346, ISSN 0926-5805,</a:t>
            </a:r>
            <a:endParaRPr sz="14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72200" y="1027855"/>
            <a:ext cx="53492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1C1C1C"/>
                </a:solidFill>
                <a:latin typeface="Aptos"/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itchFamily="18" charset="0"/>
              </a:rPr>
              <a:t>5. Z. Wang, J. Chen and S. C. H. Hoi, "Deep Learning for Image Super-Resolution: A Survey," in IEEE Transactions on Pattern Analysis and Machine Intelligence, vol. 43, no. 10, pp. 3365-3387, 1 Oct. 2021, </a:t>
            </a:r>
            <a:r>
              <a:rPr lang="en-US" sz="1400" dirty="0" err="1">
                <a:latin typeface="Times New Roman" panose="02020603050405020304" pitchFamily="18" charset="0"/>
                <a:cs typeface="Times New Roman" pitchFamily="18" charset="0"/>
              </a:rPr>
              <a:t>doi</a:t>
            </a:r>
            <a:r>
              <a:rPr lang="en-US" sz="1400" dirty="0">
                <a:latin typeface="Times New Roman" panose="02020603050405020304" pitchFamily="18" charset="0"/>
                <a:cs typeface="Times New Roman" pitchFamily="18" charset="0"/>
              </a:rPr>
              <a:t>: 10.1109/TPAMI.2020.2982166.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501137"/>
            <a:ext cx="53492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1C1C1C"/>
                </a:solidFill>
                <a:latin typeface="Aptos"/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itchFamily="18" charset="0"/>
              </a:rPr>
              <a:t>6.</a:t>
            </a:r>
            <a:r>
              <a:rPr lang="en-IN" sz="14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Xu, Z.; Wang, Y.; Hao, X.; Fan, J. Crack Detection of Bridge Concrete Components Based on Large-Scene Images Using an Unmanned Aerial Vehicle. Sensors </a:t>
            </a:r>
            <a:r>
              <a:rPr lang="en-IN" sz="1400" b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r>
              <a:rPr lang="en-IN" sz="14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23, 6271.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3969434"/>
            <a:ext cx="534924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1C1C1C"/>
                </a:solidFill>
                <a:latin typeface="Aptos"/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itchFamily="18" charset="0"/>
              </a:rPr>
              <a:t>7.</a:t>
            </a:r>
            <a:r>
              <a:rPr lang="en-IN" sz="14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M. Haris, T. Watanabe, L. Fan, M. R. </a:t>
            </a:r>
            <a:r>
              <a:rPr lang="en-IN" sz="1400" dirty="0" err="1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Widyanto</a:t>
            </a:r>
            <a:r>
              <a:rPr lang="en-IN" sz="14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H. </a:t>
            </a:r>
            <a:r>
              <a:rPr lang="en-IN" sz="1400" dirty="0" err="1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Nobuhara</a:t>
            </a:r>
            <a:r>
              <a:rPr lang="en-IN" sz="14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"</a:t>
            </a:r>
            <a:r>
              <a:rPr lang="en-IN" sz="1400" dirty="0" err="1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Superresolution</a:t>
            </a:r>
            <a:r>
              <a:rPr lang="en-IN" sz="14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UAV Images via Adaptive Multiple Sparse Representation and Its Application to 3-D Reconstruction," in IEEE Transactions on Geoscience and Remote Sensing, vol. 55, no. 7, pp. 4047-4058, July 2017</a:t>
            </a:r>
            <a:endParaRPr sz="14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1635AD-A3DA-630E-E1D8-98F16A4CC9EB}"/>
              </a:ext>
            </a:extLst>
          </p:cNvPr>
          <p:cNvSpPr/>
          <p:nvPr/>
        </p:nvSpPr>
        <p:spPr>
          <a:xfrm>
            <a:off x="502920" y="841248"/>
            <a:ext cx="11201400" cy="10972"/>
          </a:xfrm>
          <a:prstGeom prst="rect">
            <a:avLst/>
          </a:prstGeom>
          <a:solidFill>
            <a:srgbClr val="BEC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5C78F-89E3-4DB5-08CB-3663A2985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42316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142A56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023360" y="3246120"/>
            <a:ext cx="4160520" cy="10972"/>
          </a:xfrm>
          <a:prstGeom prst="rect">
            <a:avLst/>
          </a:prstGeom>
          <a:solidFill>
            <a:srgbClr val="DC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2F041-AA55-6063-B425-3969CA6A9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1606</TotalTime>
  <Words>1279</Words>
  <Application>Microsoft Office PowerPoint</Application>
  <PresentationFormat>Widescreen</PresentationFormat>
  <Paragraphs>153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Garet</vt:lpstr>
      <vt:lpstr>Inclusive Sans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Gnana Laya Reddy Padala</dc:creator>
  <cp:keywords/>
  <dc:description>generated using python-pptx</dc:description>
  <cp:lastModifiedBy>Gnana Laya Reddy Padala</cp:lastModifiedBy>
  <cp:revision>8</cp:revision>
  <dcterms:created xsi:type="dcterms:W3CDTF">2013-01-27T09:14:16Z</dcterms:created>
  <dcterms:modified xsi:type="dcterms:W3CDTF">2026-08-26T13:04:47Z</dcterms:modified>
  <cp:category/>
</cp:coreProperties>
</file>