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_rels/.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slideLayouts/slideLayout19.xml" ContentType="application/vnd.openxmlformats-officedocument.presentationml.slideLayout+xml"/>
  <Override PartName="/ppt/slideLayouts/slideLayout17.xml" ContentType="application/vnd.openxmlformats-officedocument.presentationml.slideLayout+xml"/>
  <Override PartName="/ppt/slideLayouts/slideLayout8.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_rels/slideLayout14.xml.rels" ContentType="application/vnd.openxmlformats-package.relationships+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23.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16.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1.xml.rels" ContentType="application/vnd.openxmlformats-package.relationships+xml"/>
  <Override PartName="/ppt/slideLayouts/_rels/slideLayout18.xml.rels" ContentType="application/vnd.openxmlformats-package.relationships+xml"/>
  <Override PartName="/ppt/slideLayouts/_rels/slideLayout11.xml.rels" ContentType="application/vnd.openxmlformats-package.relationships+xml"/>
  <Override PartName="/ppt/slideLayouts/_rels/slideLayout17.xml.rels" ContentType="application/vnd.openxmlformats-package.relationships+xml"/>
  <Override PartName="/ppt/slideLayouts/_rels/slideLayout10.xml.rels" ContentType="application/vnd.openxmlformats-package.relationships+xml"/>
  <Override PartName="/ppt/slideLayouts/_rels/slideLayout12.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6.xml" ContentType="application/vnd.openxmlformats-officedocument.presentationml.slideLayout+xml"/>
  <Override PartName="/ppt/slideLayouts/slideLayout15.xml" ContentType="application/vnd.openxmlformats-officedocument.presentationml.slideLayout+xml"/>
  <Override PartName="/ppt/slideLayouts/slideLayout7.xml" ContentType="application/vnd.openxmlformats-officedocument.presentationml.slideLayout+xml"/>
  <Override PartName="/ppt/slideLayouts/slideLayout16.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s/_rels/slide13.xml.rels" ContentType="application/vnd.openxmlformats-package.relationships+xml"/>
  <Override PartName="/ppt/slides/_rels/slide12.xml.rels" ContentType="application/vnd.openxmlformats-package.relationships+xml"/>
  <Override PartName="/ppt/slides/_rels/slide8.xml.rels" ContentType="application/vnd.openxmlformats-package.relationships+xml"/>
  <Override PartName="/ppt/slides/_rels/slide1.xml.rels" ContentType="application/vnd.openxmlformats-package.relationships+xml"/>
  <Override PartName="/ppt/slides/_rels/slide9.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11.xml.rels" ContentType="application/vnd.openxmlformats-package.relationships+xml"/>
  <Override PartName="/ppt/slides/_rels/slide10.xml.rels" ContentType="application/vnd.openxmlformats-package.relationships+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3.xml" ContentType="application/vnd.openxmlformats-officedocument.presentationml.slide+xml"/>
  <Override PartName="/ppt/_rels/presentation.xml.rels" ContentType="application/vnd.openxmlformats-package.relationships+xml"/>
  <Override PartName="/ppt/media/image1.png" ContentType="image/png"/>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BCEB628D-0D06-47E3-B5E7-323591E8FA27}"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D162BE8-4F6C-433D-8385-A2B8E5D52D67}"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139BF5A6-2F5F-4332-897D-E653108A06DF}"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FEF313E-B4E0-4458-971F-DC4010DC924E}"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C38B058E-2227-4FF7-9155-579C108F8E46}"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305226CA-876C-466F-8A92-4E9ABB55C9DC}"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D653B19A-C4C8-4E7A-8D56-E07503F449D2}"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03DF479E-956D-4190-88F9-B9D9D124CAB6}"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1069CBE-B16B-415E-87B9-282991595912}"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D03622EC-828B-4AA2-A42D-E3C154AAF035}"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FB5DDFB4-3183-4244-96CB-AE1AF891DB9B}"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01D883AE-7A62-468C-8E8E-36B4BA2CD415}"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80032555-9D36-4D0E-86D6-10CB33F3FDF6}"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1A2E2751-99FD-44A8-AE3B-324A1280FB47}"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FD444B29-D072-4EF8-81D2-CEF8034A6672}"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24E4F1B7-4C09-4AE6-A510-290BBFBA8F7F}"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86322371-8D5C-4148-A659-39265CBE7D36}"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C54CD4F2-01DB-4CCB-A76F-9D8A2E6C8BA3}"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36A78864-777A-4B37-A5C8-4AF1EB815CF3}"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A45B3FFB-1960-4AA7-B58F-764FAB619562}"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03254D0C-27C7-4E56-96EC-68093E7A1817}"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70087147-116C-414E-B60D-73AFE800F71D}"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823676AD-BC15-42E2-A84E-E136146F9879}"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E211EE71-E074-4CEB-B73D-D94D53BF13A4}"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anchor="b">
            <a:noAutofit/>
          </a:bodyPr>
          <a:p>
            <a:pPr algn="ctr">
              <a:lnSpc>
                <a:spcPct val="90000"/>
              </a:lnSpc>
              <a:buNone/>
            </a:pPr>
            <a:r>
              <a:rPr b="0" lang="en-US" sz="6000" spc="-1" strike="noStrike">
                <a:solidFill>
                  <a:srgbClr val="000000"/>
                </a:solidFill>
                <a:latin typeface="Calibri Light"/>
              </a:rPr>
              <a:t>Click to edit Master title style</a:t>
            </a:r>
            <a:endParaRPr b="0" lang="en-US" sz="6000" spc="-1" strike="noStrike">
              <a:solidFill>
                <a:srgbClr val="000000"/>
              </a:solidFill>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b="0" lang="en-IN" sz="1200" spc="-1" strike="noStrike">
                <a:solidFill>
                  <a:srgbClr val="8b8b8b"/>
                </a:solidFill>
                <a:latin typeface="Calibri"/>
              </a:defRPr>
            </a:lvl1pPr>
          </a:lstStyle>
          <a:p>
            <a:pPr>
              <a:lnSpc>
                <a:spcPct val="100000"/>
              </a:lnSpc>
              <a:buNone/>
            </a:pPr>
            <a:r>
              <a:rPr b="0" lang="en-IN" sz="1200" spc="-1" strike="noStrike">
                <a:solidFill>
                  <a:srgbClr val="8b8b8b"/>
                </a:solidFill>
                <a:latin typeface="Calibri"/>
              </a:rPr>
              <a:t>&lt;date/time&gt;</a:t>
            </a:r>
            <a:endParaRPr b="0" lang="en-IN" sz="1200" spc="-1" strike="noStrike">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b="0" lang="en-IN" sz="1200" spc="-1" strike="noStrike">
                <a:solidFill>
                  <a:srgbClr val="8b8b8b"/>
                </a:solidFill>
                <a:latin typeface="Calibri"/>
              </a:defRPr>
            </a:lvl1pPr>
          </a:lstStyle>
          <a:p>
            <a:pPr algn="r">
              <a:lnSpc>
                <a:spcPct val="100000"/>
              </a:lnSpc>
              <a:buNone/>
            </a:pPr>
            <a:fld id="{EC9FD5D7-8398-4BF9-A8D4-58E6BD19741E}" type="slidenum">
              <a:rPr b="0" lang="en-IN" sz="1200" spc="-1" strike="noStrike">
                <a:solidFill>
                  <a:srgbClr val="8b8b8b"/>
                </a:solidFill>
                <a:latin typeface="Calibri"/>
              </a:rPr>
              <a:t>&lt;number&gt;</a:t>
            </a:fld>
            <a:endParaRPr b="0" lang="en-IN"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a:solidFill>
                  <a:srgbClr val="000000"/>
                </a:solidFill>
                <a:latin typeface="Calibri Light"/>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Edit Master text styles</a:t>
            </a:r>
            <a:endParaRPr b="0" lang="en-US" sz="2800" spc="-1" strike="noStrike">
              <a:solidFill>
                <a:srgbClr val="000000"/>
              </a:solidFill>
              <a:latin typeface="Calibri"/>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Second level</a:t>
            </a:r>
            <a:endParaRPr b="0" lang="en-US" sz="2400" spc="-1" strike="noStrike">
              <a:solidFill>
                <a:srgbClr val="000000"/>
              </a:solidFill>
              <a:latin typeface="Calibri"/>
            </a:endParaRPr>
          </a:p>
          <a:p>
            <a:pPr lvl="2" marL="1143000" indent="-228600">
              <a:lnSpc>
                <a:spcPct val="90000"/>
              </a:lnSpc>
              <a:spcBef>
                <a:spcPts val="499"/>
              </a:spcBef>
              <a:buClr>
                <a:srgbClr val="000000"/>
              </a:buClr>
              <a:buFont typeface="Arial"/>
              <a:buChar char="•"/>
            </a:pPr>
            <a:r>
              <a:rPr b="0" lang="en-US" sz="2000" spc="-1" strike="noStrike">
                <a:solidFill>
                  <a:srgbClr val="000000"/>
                </a:solidFill>
                <a:latin typeface="Calibri"/>
              </a:rPr>
              <a:t>Third level</a:t>
            </a:r>
            <a:endParaRPr b="0" lang="en-US" sz="2000" spc="-1" strike="noStrike">
              <a:solidFill>
                <a:srgbClr val="000000"/>
              </a:solidFill>
              <a:latin typeface="Calibri"/>
            </a:endParaRPr>
          </a:p>
          <a:p>
            <a:pPr lvl="3" marL="1600200" indent="-228600">
              <a:lnSpc>
                <a:spcPct val="90000"/>
              </a:lnSpc>
              <a:spcBef>
                <a:spcPts val="499"/>
              </a:spcBef>
              <a:buClr>
                <a:srgbClr val="000000"/>
              </a:buClr>
              <a:buFont typeface="Arial"/>
              <a:buChar char="•"/>
            </a:pPr>
            <a:r>
              <a:rPr b="0" lang="en-US" sz="1800" spc="-1" strike="noStrike">
                <a:solidFill>
                  <a:srgbClr val="000000"/>
                </a:solidFill>
                <a:latin typeface="Calibri"/>
              </a:rPr>
              <a:t>Fourth level</a:t>
            </a:r>
            <a:endParaRPr b="0" lang="en-US" sz="1800" spc="-1" strike="noStrike">
              <a:solidFill>
                <a:srgbClr val="000000"/>
              </a:solidFill>
              <a:latin typeface="Calibri"/>
            </a:endParaRPr>
          </a:p>
          <a:p>
            <a:pPr lvl="4" marL="2057400" indent="-228600">
              <a:lnSpc>
                <a:spcPct val="90000"/>
              </a:lnSpc>
              <a:spcBef>
                <a:spcPts val="499"/>
              </a:spcBef>
              <a:buClr>
                <a:srgbClr val="000000"/>
              </a:buClr>
              <a:buFont typeface="Arial"/>
              <a:buChar char="•"/>
            </a:pPr>
            <a:r>
              <a:rPr b="0" lang="en-US" sz="1800" spc="-1" strike="noStrike">
                <a:solidFill>
                  <a:srgbClr val="000000"/>
                </a:solidFill>
                <a:latin typeface="Calibri"/>
              </a:rPr>
              <a:t>Fifth level</a:t>
            </a:r>
            <a:endParaRPr b="0" lang="en-US" sz="1800" spc="-1" strike="noStrike">
              <a:solidFill>
                <a:srgbClr val="000000"/>
              </a:solidFill>
              <a:latin typeface="Calibri"/>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b="0" lang="en-IN" sz="1200" spc="-1" strike="noStrike">
                <a:solidFill>
                  <a:srgbClr val="8b8b8b"/>
                </a:solidFill>
                <a:latin typeface="Calibri"/>
              </a:defRPr>
            </a:lvl1pPr>
          </a:lstStyle>
          <a:p>
            <a:pPr>
              <a:lnSpc>
                <a:spcPct val="100000"/>
              </a:lnSpc>
              <a:buNone/>
            </a:pPr>
            <a:r>
              <a:rPr b="0" lang="en-IN" sz="1200" spc="-1" strike="noStrike">
                <a:solidFill>
                  <a:srgbClr val="8b8b8b"/>
                </a:solidFill>
                <a:latin typeface="Calibri"/>
              </a:rPr>
              <a:t>&lt;date/time&gt;</a:t>
            </a:r>
            <a:endParaRPr b="0" lang="en-IN" sz="1200" spc="-1" strike="noStrike">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b="0" lang="en-IN" sz="1200" spc="-1" strike="noStrike">
                <a:solidFill>
                  <a:srgbClr val="8b8b8b"/>
                </a:solidFill>
                <a:latin typeface="Calibri"/>
              </a:defRPr>
            </a:lvl1pPr>
          </a:lstStyle>
          <a:p>
            <a:pPr algn="r">
              <a:lnSpc>
                <a:spcPct val="100000"/>
              </a:lnSpc>
              <a:buNone/>
            </a:pPr>
            <a:fld id="{9F359339-9CDD-4D54-8C43-671D807DF278}" type="slidenum">
              <a:rPr b="0" lang="en-IN" sz="1200" spc="-1" strike="noStrike">
                <a:solidFill>
                  <a:srgbClr val="8b8b8b"/>
                </a:solidFill>
                <a:latin typeface="Calibri"/>
              </a:rPr>
              <a:t>&lt;number&gt;</a:t>
            </a:fld>
            <a:endParaRPr b="0" lang="en-IN"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962280" y="3009600"/>
            <a:ext cx="10492560" cy="724680"/>
          </a:xfrm>
          <a:prstGeom prst="rect">
            <a:avLst/>
          </a:prstGeom>
          <a:noFill/>
          <a:ln w="0">
            <a:noFill/>
          </a:ln>
        </p:spPr>
        <p:txBody>
          <a:bodyPr anchor="b">
            <a:normAutofit fontScale="77000"/>
          </a:bodyPr>
          <a:p>
            <a:pPr algn="ctr">
              <a:lnSpc>
                <a:spcPct val="100000"/>
              </a:lnSpc>
              <a:spcAft>
                <a:spcPts val="601"/>
              </a:spcAft>
              <a:buNone/>
            </a:pPr>
            <a:r>
              <a:rPr b="1" lang="en-US" sz="2700" spc="-1" strike="noStrike">
                <a:solidFill>
                  <a:srgbClr val="ff0000"/>
                </a:solidFill>
                <a:latin typeface="Calibri"/>
              </a:rPr>
              <a:t>EXPLAINABLE MULTI-CROP PLANT DISEASE DETECTION USING DEEP LEARNING AND GRAD-CAM</a:t>
            </a:r>
            <a:endParaRPr b="0" lang="en-US" sz="2700" spc="-1" strike="noStrike">
              <a:solidFill>
                <a:srgbClr val="000000"/>
              </a:solidFill>
              <a:latin typeface="Calibri"/>
            </a:endParaRPr>
          </a:p>
        </p:txBody>
      </p:sp>
      <p:sp>
        <p:nvSpPr>
          <p:cNvPr id="83" name="PlaceHolder 2"/>
          <p:cNvSpPr>
            <a:spLocks noGrp="1"/>
          </p:cNvSpPr>
          <p:nvPr>
            <p:ph type="subTitle"/>
          </p:nvPr>
        </p:nvSpPr>
        <p:spPr>
          <a:xfrm>
            <a:off x="3134520" y="2339640"/>
            <a:ext cx="5922360" cy="560520"/>
          </a:xfrm>
          <a:prstGeom prst="rect">
            <a:avLst/>
          </a:prstGeom>
          <a:noFill/>
          <a:ln w="0">
            <a:noFill/>
          </a:ln>
        </p:spPr>
        <p:txBody>
          <a:bodyPr anchor="t">
            <a:normAutofit/>
          </a:bodyPr>
          <a:p>
            <a:pPr algn="ctr">
              <a:lnSpc>
                <a:spcPct val="100000"/>
              </a:lnSpc>
              <a:spcBef>
                <a:spcPts val="1001"/>
              </a:spcBef>
              <a:spcAft>
                <a:spcPts val="601"/>
              </a:spcAft>
              <a:buNone/>
              <a:tabLst>
                <a:tab algn="l" pos="0"/>
              </a:tabLst>
            </a:pPr>
            <a:r>
              <a:rPr b="1" lang="en-US" sz="2000" spc="-1" strike="noStrike">
                <a:solidFill>
                  <a:srgbClr val="2f5597"/>
                </a:solidFill>
                <a:latin typeface="Calibri"/>
              </a:rPr>
              <a:t>DISSERTATION WORK REVIEW – 1</a:t>
            </a:r>
            <a:endParaRPr b="0" lang="en-IN" sz="2000" spc="-1" strike="noStrike">
              <a:latin typeface="Arial"/>
            </a:endParaRPr>
          </a:p>
        </p:txBody>
      </p:sp>
      <p:sp>
        <p:nvSpPr>
          <p:cNvPr id="84" name="Rectangle 3"/>
          <p:cNvSpPr/>
          <p:nvPr/>
        </p:nvSpPr>
        <p:spPr>
          <a:xfrm>
            <a:off x="339480" y="382320"/>
            <a:ext cx="11512800" cy="6093000"/>
          </a:xfrm>
          <a:prstGeom prst="rect">
            <a:avLst/>
          </a:prstGeom>
          <a:noFill/>
          <a:ln w="19050">
            <a:solidFill>
              <a:srgbClr val="000000"/>
            </a:solidFill>
          </a:ln>
        </p:spPr>
        <p:style>
          <a:lnRef idx="2">
            <a:schemeClr val="accent1">
              <a:shade val="50000"/>
            </a:schemeClr>
          </a:lnRef>
          <a:fillRef idx="1">
            <a:schemeClr val="accent1"/>
          </a:fillRef>
          <a:effectRef idx="0">
            <a:schemeClr val="accent1"/>
          </a:effectRef>
          <a:fontRef idx="minor"/>
        </p:style>
      </p:sp>
      <p:sp>
        <p:nvSpPr>
          <p:cNvPr id="85" name="TextBox 4"/>
          <p:cNvSpPr/>
          <p:nvPr/>
        </p:nvSpPr>
        <p:spPr>
          <a:xfrm>
            <a:off x="8974800" y="4638240"/>
            <a:ext cx="4421880" cy="129204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601"/>
              </a:spcAft>
              <a:buNone/>
            </a:pPr>
            <a:r>
              <a:rPr b="1" lang="en-US" sz="1600" spc="-1" strike="noStrike">
                <a:solidFill>
                  <a:srgbClr val="843c0b"/>
                </a:solidFill>
                <a:latin typeface="Calibri"/>
              </a:rPr>
              <a:t>GUIDE:</a:t>
            </a:r>
            <a:endParaRPr b="0" lang="en-IN" sz="1600" spc="-1" strike="noStrike">
              <a:latin typeface="Arial"/>
            </a:endParaRPr>
          </a:p>
          <a:p>
            <a:pPr>
              <a:lnSpc>
                <a:spcPct val="100000"/>
              </a:lnSpc>
              <a:spcAft>
                <a:spcPts val="601"/>
              </a:spcAft>
              <a:buNone/>
            </a:pPr>
            <a:r>
              <a:rPr b="1" lang="en-US" sz="1600" spc="-1" strike="noStrike">
                <a:solidFill>
                  <a:srgbClr val="000000"/>
                </a:solidFill>
                <a:latin typeface="Calibri"/>
              </a:rPr>
              <a:t>Dr. J. Ujwala Rekha</a:t>
            </a:r>
            <a:endParaRPr b="0" lang="en-IN" sz="1600" spc="-1" strike="noStrike">
              <a:latin typeface="Arial"/>
            </a:endParaRPr>
          </a:p>
          <a:p>
            <a:pPr>
              <a:lnSpc>
                <a:spcPct val="100000"/>
              </a:lnSpc>
              <a:spcAft>
                <a:spcPts val="601"/>
              </a:spcAft>
              <a:buNone/>
            </a:pPr>
            <a:r>
              <a:rPr b="0" lang="en-US" sz="1600" spc="-1" strike="noStrike">
                <a:solidFill>
                  <a:srgbClr val="000000"/>
                </a:solidFill>
                <a:latin typeface="Calibri"/>
              </a:rPr>
              <a:t>Professor, CSE</a:t>
            </a:r>
            <a:endParaRPr b="0" lang="en-IN" sz="1600" spc="-1" strike="noStrike">
              <a:latin typeface="Arial"/>
            </a:endParaRPr>
          </a:p>
          <a:p>
            <a:pPr>
              <a:lnSpc>
                <a:spcPct val="100000"/>
              </a:lnSpc>
              <a:spcAft>
                <a:spcPts val="601"/>
              </a:spcAft>
              <a:buNone/>
            </a:pPr>
            <a:r>
              <a:rPr b="0" lang="en-US" sz="1600" spc="-1" strike="noStrike">
                <a:solidFill>
                  <a:srgbClr val="000000"/>
                </a:solidFill>
                <a:latin typeface="Calibri"/>
              </a:rPr>
              <a:t>JNTUH UCEH</a:t>
            </a:r>
            <a:endParaRPr b="0" lang="en-IN" sz="1600" spc="-1" strike="noStrike">
              <a:latin typeface="Arial"/>
            </a:endParaRPr>
          </a:p>
        </p:txBody>
      </p:sp>
      <p:sp>
        <p:nvSpPr>
          <p:cNvPr id="86" name="TextBox 5"/>
          <p:cNvSpPr/>
          <p:nvPr/>
        </p:nvSpPr>
        <p:spPr>
          <a:xfrm>
            <a:off x="962280" y="4631040"/>
            <a:ext cx="3349800" cy="1611720"/>
          </a:xfrm>
          <a:prstGeom prst="rect">
            <a:avLst/>
          </a:prstGeom>
          <a:noFill/>
          <a:ln w="0">
            <a:noFill/>
          </a:ln>
        </p:spPr>
        <p:style>
          <a:lnRef idx="0"/>
          <a:fillRef idx="0"/>
          <a:effectRef idx="0"/>
          <a:fontRef idx="minor"/>
        </p:style>
        <p:txBody>
          <a:bodyPr lIns="90000" rIns="90000" tIns="45000" bIns="45000" anchor="t">
            <a:spAutoFit/>
          </a:bodyPr>
          <a:p>
            <a:pPr>
              <a:lnSpc>
                <a:spcPct val="100000"/>
              </a:lnSpc>
              <a:spcAft>
                <a:spcPts val="601"/>
              </a:spcAft>
              <a:buNone/>
            </a:pPr>
            <a:r>
              <a:rPr b="1" lang="en-US" sz="1600" spc="-1" strike="noStrike">
                <a:solidFill>
                  <a:srgbClr val="843c0b"/>
                </a:solidFill>
                <a:latin typeface="Calibri"/>
              </a:rPr>
              <a:t>PRESENTED BY:</a:t>
            </a:r>
            <a:endParaRPr b="0" lang="en-IN" sz="1600" spc="-1" strike="noStrike">
              <a:latin typeface="Arial"/>
            </a:endParaRPr>
          </a:p>
          <a:p>
            <a:pPr>
              <a:lnSpc>
                <a:spcPct val="100000"/>
              </a:lnSpc>
              <a:spcAft>
                <a:spcPts val="601"/>
              </a:spcAft>
              <a:buNone/>
            </a:pPr>
            <a:r>
              <a:rPr b="1" lang="en-US" sz="1600" spc="-1" strike="noStrike">
                <a:solidFill>
                  <a:srgbClr val="000000"/>
                </a:solidFill>
                <a:latin typeface="Calibri"/>
              </a:rPr>
              <a:t>Bhupathi Abhi Chethan (22011P0508)</a:t>
            </a:r>
            <a:endParaRPr b="0" lang="en-IN" sz="1600" spc="-1" strike="noStrike">
              <a:latin typeface="Arial"/>
            </a:endParaRPr>
          </a:p>
          <a:p>
            <a:pPr>
              <a:lnSpc>
                <a:spcPct val="100000"/>
              </a:lnSpc>
              <a:spcAft>
                <a:spcPts val="601"/>
              </a:spcAft>
              <a:buNone/>
            </a:pPr>
            <a:r>
              <a:rPr b="0" lang="en-US" sz="1600" spc="-1" strike="noStrike">
                <a:solidFill>
                  <a:srgbClr val="000000"/>
                </a:solidFill>
                <a:latin typeface="Calibri"/>
              </a:rPr>
              <a:t>B.Tech-IDP ,5</a:t>
            </a:r>
            <a:r>
              <a:rPr b="0" lang="en-US" sz="1600" spc="-1" strike="noStrike" baseline="30000">
                <a:solidFill>
                  <a:srgbClr val="000000"/>
                </a:solidFill>
                <a:latin typeface="Calibri"/>
              </a:rPr>
              <a:t>th</a:t>
            </a:r>
            <a:r>
              <a:rPr b="0" lang="en-US" sz="1600" spc="-1" strike="noStrike">
                <a:solidFill>
                  <a:srgbClr val="000000"/>
                </a:solidFill>
                <a:latin typeface="Calibri"/>
              </a:rPr>
              <a:t> Year I Semester</a:t>
            </a:r>
            <a:endParaRPr b="0" lang="en-IN" sz="1600" spc="-1" strike="noStrike">
              <a:latin typeface="Arial"/>
            </a:endParaRPr>
          </a:p>
          <a:p>
            <a:pPr>
              <a:lnSpc>
                <a:spcPct val="100000"/>
              </a:lnSpc>
              <a:spcAft>
                <a:spcPts val="601"/>
              </a:spcAft>
              <a:buNone/>
            </a:pPr>
            <a:r>
              <a:rPr b="0" lang="en-US" sz="1600" spc="-1" strike="noStrike">
                <a:solidFill>
                  <a:srgbClr val="000000"/>
                </a:solidFill>
                <a:latin typeface="Calibri"/>
              </a:rPr>
              <a:t>CSE , JNTUH UCEH</a:t>
            </a:r>
            <a:endParaRPr b="0" lang="en-IN" sz="1600" spc="-1" strike="noStrike">
              <a:latin typeface="Arial"/>
            </a:endParaRPr>
          </a:p>
          <a:p>
            <a:pPr>
              <a:lnSpc>
                <a:spcPct val="100000"/>
              </a:lnSpc>
              <a:spcAft>
                <a:spcPts val="601"/>
              </a:spcAft>
              <a:buNone/>
            </a:pPr>
            <a:endParaRPr b="0" lang="en-IN" sz="1600" spc="-1" strike="noStrike">
              <a:latin typeface="Arial"/>
            </a:endParaRPr>
          </a:p>
        </p:txBody>
      </p:sp>
      <p:sp>
        <p:nvSpPr>
          <p:cNvPr id="87" name="TextBox 6"/>
          <p:cNvSpPr/>
          <p:nvPr/>
        </p:nvSpPr>
        <p:spPr>
          <a:xfrm>
            <a:off x="2412720" y="712800"/>
            <a:ext cx="8201160" cy="1277640"/>
          </a:xfrm>
          <a:prstGeom prst="rect">
            <a:avLst/>
          </a:prstGeom>
          <a:noFill/>
          <a:ln w="0">
            <a:noFill/>
          </a:ln>
        </p:spPr>
        <p:style>
          <a:lnRef idx="0"/>
          <a:fillRef idx="0"/>
          <a:effectRef idx="0"/>
          <a:fontRef idx="minor"/>
        </p:style>
        <p:txBody>
          <a:bodyPr lIns="90000" rIns="90000" tIns="45000" bIns="45000" anchor="t">
            <a:spAutoFit/>
          </a:bodyPr>
          <a:p>
            <a:pPr algn="ctr">
              <a:lnSpc>
                <a:spcPct val="100000"/>
              </a:lnSpc>
              <a:spcAft>
                <a:spcPts val="601"/>
              </a:spcAft>
              <a:buNone/>
            </a:pPr>
            <a:r>
              <a:rPr b="1" lang="en-US" sz="1700" spc="-1" strike="noStrike">
                <a:solidFill>
                  <a:srgbClr val="843c0b"/>
                </a:solidFill>
                <a:latin typeface="Times New Roman"/>
              </a:rPr>
              <a:t>DEPARTMENT OF COMPUTER SCIENCE AND ENGINEERING</a:t>
            </a:r>
            <a:endParaRPr b="0" lang="en-IN" sz="1700" spc="-1" strike="noStrike">
              <a:latin typeface="Arial"/>
            </a:endParaRPr>
          </a:p>
          <a:p>
            <a:pPr algn="ctr">
              <a:lnSpc>
                <a:spcPct val="100000"/>
              </a:lnSpc>
              <a:spcAft>
                <a:spcPts val="601"/>
              </a:spcAft>
              <a:buNone/>
            </a:pPr>
            <a:r>
              <a:rPr b="1" lang="en-US" sz="1600" spc="-1" strike="noStrike">
                <a:solidFill>
                  <a:srgbClr val="ff0000"/>
                </a:solidFill>
                <a:latin typeface="Times New Roman"/>
              </a:rPr>
              <a:t>JAWAHARLAL NEHRU TECHNOLOGICAL UNIVERSITY HYDERABAD</a:t>
            </a:r>
            <a:endParaRPr b="0" lang="en-IN" sz="1600" spc="-1" strike="noStrike">
              <a:latin typeface="Arial"/>
            </a:endParaRPr>
          </a:p>
          <a:p>
            <a:pPr algn="ctr">
              <a:lnSpc>
                <a:spcPct val="100000"/>
              </a:lnSpc>
              <a:spcAft>
                <a:spcPts val="601"/>
              </a:spcAft>
              <a:buNone/>
            </a:pPr>
            <a:r>
              <a:rPr b="1" lang="en-US" sz="1500" spc="-1" strike="noStrike">
                <a:solidFill>
                  <a:srgbClr val="2f5597"/>
                </a:solidFill>
                <a:latin typeface="Times New Roman"/>
              </a:rPr>
              <a:t>UNIVERSITY COLLEGE OF ENGINEERING HYDERABAD</a:t>
            </a:r>
            <a:endParaRPr b="0" lang="en-IN" sz="1500" spc="-1" strike="noStrike">
              <a:latin typeface="Arial"/>
            </a:endParaRPr>
          </a:p>
          <a:p>
            <a:pPr algn="ctr">
              <a:lnSpc>
                <a:spcPct val="100000"/>
              </a:lnSpc>
              <a:spcAft>
                <a:spcPts val="601"/>
              </a:spcAft>
              <a:buNone/>
            </a:pPr>
            <a:r>
              <a:rPr b="1" lang="en-US" sz="1500" spc="-1" strike="noStrike">
                <a:solidFill>
                  <a:srgbClr val="000000"/>
                </a:solidFill>
                <a:latin typeface="Times New Roman"/>
              </a:rPr>
              <a:t>Kukatpally , Hyderabad , Telangana (India) – 500 085</a:t>
            </a:r>
            <a:endParaRPr b="0" lang="en-IN" sz="1500" spc="-1" strike="noStrike">
              <a:latin typeface="Arial"/>
            </a:endParaRPr>
          </a:p>
        </p:txBody>
      </p:sp>
      <p:pic>
        <p:nvPicPr>
          <p:cNvPr id="88" name="Picture 8" descr="JNTU Hyderabad Logo"/>
          <p:cNvPicPr/>
          <p:nvPr/>
        </p:nvPicPr>
        <p:blipFill>
          <a:blip r:embed="rId1"/>
          <a:stretch/>
        </p:blipFill>
        <p:spPr>
          <a:xfrm>
            <a:off x="693000" y="595440"/>
            <a:ext cx="1570680" cy="121068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Rectangle 9"/>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90" name="TextBox 4"/>
          <p:cNvSpPr/>
          <p:nvPr/>
        </p:nvSpPr>
        <p:spPr>
          <a:xfrm>
            <a:off x="892080" y="1527120"/>
            <a:ext cx="98640" cy="369000"/>
          </a:xfrm>
          <a:prstGeom prst="rect">
            <a:avLst/>
          </a:prstGeom>
          <a:noFill/>
          <a:ln w="0">
            <a:noFill/>
          </a:ln>
        </p:spPr>
        <p:style>
          <a:lnRef idx="0"/>
          <a:fillRef idx="0"/>
          <a:effectRef idx="0"/>
          <a:fontRef idx="minor"/>
        </p:style>
        <p:txBody>
          <a:bodyPr wrap="none" lIns="0" rIns="0" tIns="0" bIns="0" anchor="t">
            <a:spAutoFit/>
          </a:bodyPr>
          <a:p>
            <a:pPr>
              <a:lnSpc>
                <a:spcPct val="110000"/>
              </a:lnSpc>
              <a:spcAft>
                <a:spcPts val="1001"/>
              </a:spcAft>
              <a:buNone/>
            </a:pPr>
            <a:r>
              <a:rPr b="0" lang="en-US" sz="2200" spc="-1" strike="noStrike">
                <a:solidFill>
                  <a:srgbClr val="000000"/>
                </a:solidFill>
                <a:latin typeface="Times New Roman"/>
              </a:rPr>
              <a:t>•</a:t>
            </a:r>
            <a:endParaRPr b="0" lang="en-IN" sz="2200" spc="-1" strike="noStrike">
              <a:latin typeface="Arial"/>
            </a:endParaRPr>
          </a:p>
        </p:txBody>
      </p:sp>
      <p:sp>
        <p:nvSpPr>
          <p:cNvPr id="91" name="TextBox 5"/>
          <p:cNvSpPr/>
          <p:nvPr/>
        </p:nvSpPr>
        <p:spPr>
          <a:xfrm>
            <a:off x="1097280" y="1481400"/>
            <a:ext cx="10103760" cy="143820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150" spc="-1" strike="noStrike">
                <a:solidFill>
                  <a:srgbClr val="000000"/>
                </a:solidFill>
                <a:latin typeface="Times New Roman"/>
              </a:rPr>
              <a:t>Plant diseases affect crop health and agricultural productivity. Traditional identification depends on manual inspection and expert knowledge, while existing automated approaches may be limited in crop coverage and affected by variations in image quality and leaf conditions.</a:t>
            </a:r>
            <a:endParaRPr b="0" lang="en-IN" sz="2150" spc="-1" strike="noStrike">
              <a:latin typeface="Arial"/>
            </a:endParaRPr>
          </a:p>
        </p:txBody>
      </p:sp>
      <p:sp>
        <p:nvSpPr>
          <p:cNvPr id="92" name="TextBox 6"/>
          <p:cNvSpPr/>
          <p:nvPr/>
        </p:nvSpPr>
        <p:spPr>
          <a:xfrm>
            <a:off x="892080" y="3840480"/>
            <a:ext cx="98640" cy="369000"/>
          </a:xfrm>
          <a:prstGeom prst="rect">
            <a:avLst/>
          </a:prstGeom>
          <a:noFill/>
          <a:ln w="0">
            <a:noFill/>
          </a:ln>
        </p:spPr>
        <p:style>
          <a:lnRef idx="0"/>
          <a:fillRef idx="0"/>
          <a:effectRef idx="0"/>
          <a:fontRef idx="minor"/>
        </p:style>
        <p:txBody>
          <a:bodyPr wrap="none" lIns="0" rIns="0" tIns="0" bIns="0" anchor="t">
            <a:spAutoFit/>
          </a:bodyPr>
          <a:p>
            <a:pPr>
              <a:lnSpc>
                <a:spcPct val="110000"/>
              </a:lnSpc>
              <a:spcAft>
                <a:spcPts val="1001"/>
              </a:spcAft>
              <a:buNone/>
            </a:pPr>
            <a:r>
              <a:rPr b="0" lang="en-US" sz="2200" spc="-1" strike="noStrike">
                <a:solidFill>
                  <a:srgbClr val="000000"/>
                </a:solidFill>
                <a:latin typeface="Times New Roman"/>
              </a:rPr>
              <a:t>•</a:t>
            </a:r>
            <a:endParaRPr b="0" lang="en-IN" sz="2200" spc="-1" strike="noStrike">
              <a:latin typeface="Arial"/>
            </a:endParaRPr>
          </a:p>
        </p:txBody>
      </p:sp>
      <p:sp>
        <p:nvSpPr>
          <p:cNvPr id="93" name="TextBox 7"/>
          <p:cNvSpPr/>
          <p:nvPr/>
        </p:nvSpPr>
        <p:spPr>
          <a:xfrm>
            <a:off x="1097280" y="3794760"/>
            <a:ext cx="10103760" cy="143820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150" spc="-1" strike="noStrike">
                <a:solidFill>
                  <a:srgbClr val="000000"/>
                </a:solidFill>
                <a:latin typeface="Times New Roman"/>
              </a:rPr>
              <a:t>The proposed work will use the PlantVillage dataset and a pretrained ResNet50 model for multi-crop disease classification. Grad-CAM will explain predictions by highlighting disease-relevant leaf regions, while an LLM-based module will provide treatment and preventive guidance.</a:t>
            </a:r>
            <a:endParaRPr b="0" lang="en-IN" sz="2150" spc="-1" strike="noStrike">
              <a:latin typeface="Arial"/>
            </a:endParaRPr>
          </a:p>
        </p:txBody>
      </p:sp>
      <p:sp>
        <p:nvSpPr>
          <p:cNvPr id="94" name="TextBox 8"/>
          <p:cNvSpPr/>
          <p:nvPr/>
        </p:nvSpPr>
        <p:spPr>
          <a:xfrm>
            <a:off x="5960880" y="6144840"/>
            <a:ext cx="2574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2</a:t>
            </a:r>
            <a:endParaRPr b="0" lang="en-IN" sz="1200" spc="-1" strike="noStrike">
              <a:latin typeface="Arial"/>
            </a:endParaRPr>
          </a:p>
        </p:txBody>
      </p:sp>
      <p:sp>
        <p:nvSpPr>
          <p:cNvPr id="95" name="TextBox 10"/>
          <p:cNvSpPr/>
          <p:nvPr/>
        </p:nvSpPr>
        <p:spPr>
          <a:xfrm>
            <a:off x="4662720" y="475560"/>
            <a:ext cx="2881440" cy="684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3900" spc="-1" strike="noStrike">
                <a:solidFill>
                  <a:srgbClr val="000000"/>
                </a:solidFill>
                <a:latin typeface="Times New Roman"/>
              </a:rPr>
              <a:t>ABSTRACT</a:t>
            </a:r>
            <a:endParaRPr b="0" lang="en-IN" sz="3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Rectangle 3"/>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97" name="PlaceHolder 1"/>
          <p:cNvSpPr>
            <a:spLocks noGrp="1"/>
          </p:cNvSpPr>
          <p:nvPr>
            <p:ph type="title"/>
          </p:nvPr>
        </p:nvSpPr>
        <p:spPr>
          <a:xfrm>
            <a:off x="3794760" y="475560"/>
            <a:ext cx="4525920" cy="712800"/>
          </a:xfrm>
          <a:prstGeom prst="rect">
            <a:avLst/>
          </a:prstGeom>
          <a:noFill/>
          <a:ln w="0">
            <a:noFill/>
          </a:ln>
        </p:spPr>
        <p:txBody>
          <a:bodyPr anchor="ctr">
            <a:noAutofit/>
          </a:bodyPr>
          <a:p>
            <a:pPr algn="ctr">
              <a:lnSpc>
                <a:spcPct val="90000"/>
              </a:lnSpc>
              <a:buNone/>
            </a:pPr>
            <a:r>
              <a:rPr b="1" lang="en-US" sz="3900" spc="-1" strike="noStrike">
                <a:solidFill>
                  <a:srgbClr val="000000"/>
                </a:solidFill>
                <a:latin typeface="Times New Roman"/>
              </a:rPr>
              <a:t>INTRODUCTION</a:t>
            </a:r>
            <a:endParaRPr b="0" lang="en-US" sz="3900" spc="-1" strike="noStrike">
              <a:solidFill>
                <a:srgbClr val="000000"/>
              </a:solidFill>
              <a:latin typeface="Calibri"/>
            </a:endParaRPr>
          </a:p>
        </p:txBody>
      </p:sp>
      <p:sp>
        <p:nvSpPr>
          <p:cNvPr id="98" name="TextBox 2"/>
          <p:cNvSpPr/>
          <p:nvPr/>
        </p:nvSpPr>
        <p:spPr>
          <a:xfrm>
            <a:off x="507960" y="1411560"/>
            <a:ext cx="11163240" cy="410508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The proposed system is designed to automate plant disease identification from plant leaf images using deep learning.</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The system will use the PlantVillage dataset containing 38 disease and healthy classes for multi-crop disease classification.</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A pretrained ResNet50 model will be used to classify the input leaf image and predict the corresponding disease or healthy class.</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Grad-CAM will be applied to the ResNet50 prediction to highlight the disease-relevant regions of the leaf and provide visual explainability.</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Following disease identification, the proposed plant-care module will provide treatment and preventive recommendations through an LLM-based approach.</a:t>
            </a:r>
            <a:endParaRPr b="0" lang="en-IN" sz="2150" spc="-1" strike="noStrike">
              <a:latin typeface="Arial"/>
            </a:endParaRPr>
          </a:p>
        </p:txBody>
      </p:sp>
      <p:sp>
        <p:nvSpPr>
          <p:cNvPr id="99" name="TextBox 4"/>
          <p:cNvSpPr/>
          <p:nvPr/>
        </p:nvSpPr>
        <p:spPr>
          <a:xfrm>
            <a:off x="5960880" y="6144840"/>
            <a:ext cx="2574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3</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Rectangle 1"/>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101" name="TextBox 2"/>
          <p:cNvSpPr/>
          <p:nvPr/>
        </p:nvSpPr>
        <p:spPr>
          <a:xfrm>
            <a:off x="2980800" y="658440"/>
            <a:ext cx="5924880" cy="684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3900" spc="-1" strike="noStrike">
                <a:solidFill>
                  <a:srgbClr val="000000"/>
                </a:solidFill>
                <a:latin typeface="Times New Roman"/>
              </a:rPr>
              <a:t>PROBLEM STATEMENT</a:t>
            </a:r>
            <a:endParaRPr b="0" lang="en-IN" sz="3900" spc="-1" strike="noStrike">
              <a:latin typeface="Arial"/>
            </a:endParaRPr>
          </a:p>
        </p:txBody>
      </p:sp>
      <p:sp>
        <p:nvSpPr>
          <p:cNvPr id="102" name="TextBox 3"/>
          <p:cNvSpPr/>
          <p:nvPr/>
        </p:nvSpPr>
        <p:spPr>
          <a:xfrm>
            <a:off x="726120" y="2146320"/>
            <a:ext cx="10727640" cy="107856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150" spc="-1" strike="noStrike">
                <a:solidFill>
                  <a:srgbClr val="000000"/>
                </a:solidFill>
                <a:latin typeface="Times New Roman"/>
              </a:rPr>
              <a:t>To develop an automated multi-crop plant disease detection system that classifies leaf diseases, explains predictions using Grad-CAM, and provides plant-care guidance through an LLM-based module.</a:t>
            </a:r>
            <a:endParaRPr b="0" lang="en-IN" sz="2150" spc="-1" strike="noStrike">
              <a:latin typeface="Arial"/>
            </a:endParaRPr>
          </a:p>
        </p:txBody>
      </p:sp>
      <p:sp>
        <p:nvSpPr>
          <p:cNvPr id="103" name="TextBox 4"/>
          <p:cNvSpPr/>
          <p:nvPr/>
        </p:nvSpPr>
        <p:spPr>
          <a:xfrm>
            <a:off x="5960880" y="6144840"/>
            <a:ext cx="2574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4</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Rectangle 1"/>
          <p:cNvSpPr/>
          <p:nvPr/>
        </p:nvSpPr>
        <p:spPr>
          <a:xfrm>
            <a:off x="335160" y="43884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105" name="TextBox 2"/>
          <p:cNvSpPr/>
          <p:nvPr/>
        </p:nvSpPr>
        <p:spPr>
          <a:xfrm>
            <a:off x="4442400" y="475560"/>
            <a:ext cx="3322080" cy="684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3900" spc="-1" strike="noStrike">
                <a:solidFill>
                  <a:srgbClr val="000000"/>
                </a:solidFill>
                <a:latin typeface="Times New Roman"/>
              </a:rPr>
              <a:t>OBJECTIVES</a:t>
            </a:r>
            <a:endParaRPr b="0" lang="en-IN" sz="3900" spc="-1" strike="noStrike">
              <a:latin typeface="Arial"/>
            </a:endParaRPr>
          </a:p>
        </p:txBody>
      </p:sp>
      <p:sp>
        <p:nvSpPr>
          <p:cNvPr id="106" name="TextBox 3"/>
          <p:cNvSpPr/>
          <p:nvPr/>
        </p:nvSpPr>
        <p:spPr>
          <a:xfrm>
            <a:off x="576360" y="1482840"/>
            <a:ext cx="10968480" cy="338508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Develop an automated system for multi-crop plant disease classification.</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Use a pretrained ResNet50 model to classify plant leaf images into disease and healthy classes.</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Apply Grad-CAM to highlight disease-relevant regions and provide visual explanations for predictions.</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Integrate an LLM-based plant-care module to provide treatment and preventive recommendations.</a:t>
            </a:r>
            <a:endParaRPr b="0" lang="en-IN" sz="2150" spc="-1" strike="noStrike">
              <a:latin typeface="Arial"/>
            </a:endParaRPr>
          </a:p>
          <a:p>
            <a:pPr algn="just">
              <a:lnSpc>
                <a:spcPct val="110000"/>
              </a:lnSpc>
              <a:spcAft>
                <a:spcPts val="1001"/>
              </a:spcAft>
              <a:buNone/>
            </a:pPr>
            <a:r>
              <a:rPr b="0" lang="en-US" sz="2150" spc="-1" strike="noStrike">
                <a:solidFill>
                  <a:srgbClr val="000000"/>
                </a:solidFill>
                <a:latin typeface="Times New Roman"/>
              </a:rPr>
              <a:t>•  </a:t>
            </a:r>
            <a:r>
              <a:rPr b="0" lang="en-US" sz="2150" spc="-1" strike="noStrike">
                <a:solidFill>
                  <a:srgbClr val="000000"/>
                </a:solidFill>
                <a:latin typeface="Times New Roman"/>
              </a:rPr>
              <a:t>Design a web-based application that integrates disease detection, explainability, and plant-care guidance.</a:t>
            </a:r>
            <a:endParaRPr b="0" lang="en-IN" sz="2150" spc="-1" strike="noStrike">
              <a:latin typeface="Arial"/>
            </a:endParaRPr>
          </a:p>
        </p:txBody>
      </p:sp>
      <p:sp>
        <p:nvSpPr>
          <p:cNvPr id="107" name="TextBox 4"/>
          <p:cNvSpPr/>
          <p:nvPr/>
        </p:nvSpPr>
        <p:spPr>
          <a:xfrm>
            <a:off x="5960880" y="6144840"/>
            <a:ext cx="2574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5</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440000" y="561240"/>
            <a:ext cx="9720000" cy="706320"/>
          </a:xfrm>
          <a:prstGeom prst="rect">
            <a:avLst/>
          </a:prstGeom>
          <a:noFill/>
          <a:ln w="0">
            <a:noFill/>
          </a:ln>
        </p:spPr>
        <p:txBody>
          <a:bodyPr anchor="ctr">
            <a:noAutofit/>
          </a:bodyPr>
          <a:p>
            <a:pPr algn="ctr">
              <a:lnSpc>
                <a:spcPct val="90000"/>
              </a:lnSpc>
              <a:buNone/>
            </a:pPr>
            <a:r>
              <a:rPr b="1" lang="en-US" sz="3200" spc="-1" strike="noStrike">
                <a:solidFill>
                  <a:srgbClr val="000000"/>
                </a:solidFill>
                <a:latin typeface="Times New Roman"/>
              </a:rPr>
              <a:t>EXISTING WORK &amp; RESEARCH GAPS</a:t>
            </a:r>
            <a:endParaRPr b="0" lang="en-US" sz="3200" spc="-1" strike="noStrike">
              <a:solidFill>
                <a:srgbClr val="000000"/>
              </a:solidFill>
              <a:latin typeface="Calibri"/>
            </a:endParaRPr>
          </a:p>
        </p:txBody>
      </p:sp>
      <p:sp>
        <p:nvSpPr>
          <p:cNvPr id="109" name="Rectangle 3"/>
          <p:cNvSpPr/>
          <p:nvPr/>
        </p:nvSpPr>
        <p:spPr>
          <a:xfrm>
            <a:off x="349200" y="440640"/>
            <a:ext cx="11512800" cy="6093000"/>
          </a:xfrm>
          <a:prstGeom prst="rect">
            <a:avLst/>
          </a:prstGeom>
          <a:noFill/>
          <a:ln w="19050">
            <a:solidFill>
              <a:srgbClr val="000000"/>
            </a:solidFill>
          </a:ln>
        </p:spPr>
        <p:style>
          <a:lnRef idx="2">
            <a:schemeClr val="accent1">
              <a:shade val="50000"/>
            </a:schemeClr>
          </a:lnRef>
          <a:fillRef idx="1">
            <a:schemeClr val="accent1"/>
          </a:fillRef>
          <a:effectRef idx="0">
            <a:schemeClr val="accent1"/>
          </a:effectRef>
          <a:fontRef idx="minor"/>
        </p:style>
      </p:sp>
      <p:sp>
        <p:nvSpPr>
          <p:cNvPr id="110" name="TextBox 4"/>
          <p:cNvSpPr/>
          <p:nvPr/>
        </p:nvSpPr>
        <p:spPr>
          <a:xfrm>
            <a:off x="5766480" y="6190560"/>
            <a:ext cx="6433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Calibri"/>
              </a:rPr>
              <a:t>6</a:t>
            </a:r>
            <a:endParaRPr b="0" lang="en-IN" sz="1400" spc="-1" strike="noStrike">
              <a:latin typeface="Arial"/>
            </a:endParaRPr>
          </a:p>
        </p:txBody>
      </p:sp>
      <p:graphicFrame>
        <p:nvGraphicFramePr>
          <p:cNvPr id="111" name="Content Placeholder 10"/>
          <p:cNvGraphicFramePr/>
          <p:nvPr/>
        </p:nvGraphicFramePr>
        <p:xfrm>
          <a:off x="671400" y="1486440"/>
          <a:ext cx="10791000" cy="4591440"/>
        </p:xfrm>
        <a:graphic>
          <a:graphicData uri="http://schemas.openxmlformats.org/drawingml/2006/table">
            <a:tbl>
              <a:tblPr/>
              <a:tblGrid>
                <a:gridCol w="2670480"/>
                <a:gridCol w="3518640"/>
                <a:gridCol w="4622400"/>
              </a:tblGrid>
              <a:tr h="420480">
                <a:tc>
                  <a:txBody>
                    <a:bodyPr lIns="50760" rIns="50760" tIns="50760" bIns="50760" anchor="ctr">
                      <a:noAutofit/>
                    </a:bodyPr>
                    <a:p>
                      <a:pPr algn="ctr">
                        <a:lnSpc>
                          <a:spcPct val="115000"/>
                        </a:lnSpc>
                        <a:spcAft>
                          <a:spcPts val="1001"/>
                        </a:spcAft>
                        <a:buNone/>
                      </a:pPr>
                      <a:r>
                        <a:rPr b="1" lang="en-US" sz="1200" spc="-1" strike="noStrike">
                          <a:solidFill>
                            <a:srgbClr val="000000"/>
                          </a:solidFill>
                          <a:latin typeface="Times New Roman"/>
                        </a:rPr>
                        <a:t>SYSTEM / STUDY</a:t>
                      </a:r>
                      <a:endParaRPr b="0" lang="en-IN" sz="12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gn="ctr">
                        <a:lnSpc>
                          <a:spcPct val="115000"/>
                        </a:lnSpc>
                        <a:spcAft>
                          <a:spcPts val="1001"/>
                        </a:spcAft>
                        <a:buNone/>
                      </a:pPr>
                      <a:r>
                        <a:rPr b="1" lang="en-US" sz="1200" spc="-1" strike="noStrike">
                          <a:solidFill>
                            <a:srgbClr val="000000"/>
                          </a:solidFill>
                          <a:latin typeface="Times New Roman"/>
                        </a:rPr>
                        <a:t>APPROACH</a:t>
                      </a:r>
                      <a:endParaRPr b="0" lang="en-IN" sz="12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gn="ctr">
                        <a:lnSpc>
                          <a:spcPct val="115000"/>
                        </a:lnSpc>
                        <a:spcAft>
                          <a:spcPts val="1001"/>
                        </a:spcAft>
                        <a:buNone/>
                      </a:pPr>
                      <a:r>
                        <a:rPr b="1" lang="en-US" sz="1200" spc="-1" strike="noStrike">
                          <a:solidFill>
                            <a:srgbClr val="000000"/>
                          </a:solidFill>
                          <a:latin typeface="Times New Roman"/>
                        </a:rPr>
                        <a:t>LIMITATIONS</a:t>
                      </a:r>
                      <a:endParaRPr b="0" lang="en-IN" sz="12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r>
              <a:tr h="977040">
                <a:tc>
                  <a:txBody>
                    <a:bodyPr lIns="50760" rIns="50760" tIns="50760" bIns="50760" anchor="ctr">
                      <a:noAutofit/>
                    </a:bodyPr>
                    <a:p>
                      <a:pPr>
                        <a:lnSpc>
                          <a:spcPct val="115000"/>
                        </a:lnSpc>
                        <a:spcAft>
                          <a:spcPts val="1001"/>
                        </a:spcAft>
                        <a:buNone/>
                      </a:pPr>
                      <a:r>
                        <a:rPr b="1" lang="en-US" sz="1400" spc="-1" strike="noStrike">
                          <a:solidFill>
                            <a:srgbClr val="000000"/>
                          </a:solidFill>
                          <a:latin typeface="Calibri"/>
                        </a:rPr>
                        <a:t>Mohanty et al. (2016)</a:t>
                      </a:r>
                      <a:endParaRPr b="0" lang="en-IN" sz="1400" spc="-1" strike="noStrike">
                        <a:latin typeface="Arial"/>
                      </a:endParaRPr>
                    </a:p>
                    <a:p>
                      <a:pPr>
                        <a:lnSpc>
                          <a:spcPct val="115000"/>
                        </a:lnSpc>
                        <a:spcAft>
                          <a:spcPts val="1001"/>
                        </a:spcAft>
                        <a:buNone/>
                      </a:pPr>
                      <a:r>
                        <a:rPr b="0" lang="en-US" sz="1400" spc="-1" strike="noStrike">
                          <a:solidFill>
                            <a:srgbClr val="000000"/>
                          </a:solidFill>
                          <a:latin typeface="Calibri"/>
                        </a:rPr>
                        <a:t>Frontiers in Plant Science</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CNN-based plant disease classification using PlantVillage dataset (14 crops, 26 diseases).</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Trained on controlled leaf images with homogeneous background; performance drops significantly on real-world images.</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r>
              <a:tr h="1108080">
                <a:tc>
                  <a:txBody>
                    <a:bodyPr lIns="50760" rIns="50760" tIns="50760" bIns="50760" anchor="ctr">
                      <a:noAutofit/>
                    </a:bodyPr>
                    <a:p>
                      <a:pPr>
                        <a:lnSpc>
                          <a:spcPct val="115000"/>
                        </a:lnSpc>
                        <a:spcAft>
                          <a:spcPts val="1001"/>
                        </a:spcAft>
                        <a:buNone/>
                      </a:pPr>
                      <a:r>
                        <a:rPr b="1" lang="en-US" sz="1400" spc="-1" strike="noStrike">
                          <a:solidFill>
                            <a:srgbClr val="000000"/>
                          </a:solidFill>
                          <a:latin typeface="Calibri"/>
                        </a:rPr>
                        <a:t>Ferentinos (2018)</a:t>
                      </a:r>
                      <a:endParaRPr b="0" lang="en-IN" sz="1400" spc="-1" strike="noStrike">
                        <a:latin typeface="Arial"/>
                      </a:endParaRPr>
                    </a:p>
                    <a:p>
                      <a:pPr>
                        <a:lnSpc>
                          <a:spcPct val="115000"/>
                        </a:lnSpc>
                        <a:spcAft>
                          <a:spcPts val="1001"/>
                        </a:spcAft>
                        <a:buNone/>
                      </a:pPr>
                      <a:r>
                        <a:rPr b="0" lang="en-US" sz="1400" spc="-1" strike="noStrike">
                          <a:solidFill>
                            <a:srgbClr val="000000"/>
                          </a:solidFill>
                          <a:latin typeface="Calibri"/>
                        </a:rPr>
                        <a:t>Computers and Electronics in Agriculture</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Deep CNN models for plant disease detection using a large dataset of 25 plant species and 58 diseases.</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Field-condition images (lighting, background, leaf conditions) are much more challenging than laboratory images.</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r>
              <a:tr h="1108080">
                <a:tc>
                  <a:txBody>
                    <a:bodyPr lIns="50760" rIns="50760" tIns="50760" bIns="50760" anchor="ctr">
                      <a:noAutofit/>
                    </a:bodyPr>
                    <a:p>
                      <a:pPr>
                        <a:lnSpc>
                          <a:spcPct val="115000"/>
                        </a:lnSpc>
                        <a:spcAft>
                          <a:spcPts val="1001"/>
                        </a:spcAft>
                        <a:buNone/>
                      </a:pPr>
                      <a:r>
                        <a:rPr b="1" lang="en-US" sz="1400" spc="-1" strike="noStrike">
                          <a:solidFill>
                            <a:srgbClr val="000000"/>
                          </a:solidFill>
                          <a:latin typeface="Calibri"/>
                        </a:rPr>
                        <a:t>Too et al. (2019)</a:t>
                      </a:r>
                      <a:endParaRPr b="0" lang="en-IN" sz="1400" spc="-1" strike="noStrike">
                        <a:latin typeface="Arial"/>
                      </a:endParaRPr>
                    </a:p>
                    <a:p>
                      <a:pPr>
                        <a:lnSpc>
                          <a:spcPct val="115000"/>
                        </a:lnSpc>
                        <a:spcAft>
                          <a:spcPts val="1001"/>
                        </a:spcAft>
                        <a:buNone/>
                      </a:pPr>
                      <a:r>
                        <a:rPr b="0" lang="en-US" sz="1400" spc="-1" strike="noStrike">
                          <a:solidFill>
                            <a:srgbClr val="000000"/>
                          </a:solidFill>
                          <a:latin typeface="Calibri"/>
                        </a:rPr>
                        <a:t>Computers and Electronics in Agriculture</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Fine-tuned deep learning models (VGG, Inception, ResNet, DenseNet) for 38 classes across 14 crops.</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Focuses mainly on classification performance and model comparison; lacks interpretability and actionable plant-care guidance.</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r>
              <a:tr h="1117440">
                <a:tc>
                  <a:txBody>
                    <a:bodyPr lIns="50760" rIns="50760" tIns="50760" bIns="50760" anchor="ctr">
                      <a:noAutofit/>
                    </a:bodyPr>
                    <a:p>
                      <a:pPr>
                        <a:lnSpc>
                          <a:spcPct val="115000"/>
                        </a:lnSpc>
                        <a:spcAft>
                          <a:spcPts val="1001"/>
                        </a:spcAft>
                        <a:buNone/>
                      </a:pPr>
                      <a:r>
                        <a:rPr b="1" lang="en-US" sz="1400" spc="-1" strike="noStrike">
                          <a:solidFill>
                            <a:srgbClr val="000000"/>
                          </a:solidFill>
                          <a:latin typeface="Times New Roman"/>
                        </a:rPr>
                        <a:t>Singh et al. (2020) – </a:t>
                      </a:r>
                      <a:r>
                        <a:rPr b="0" lang="en-US" sz="1400" spc="-1" strike="noStrike">
                          <a:solidFill>
                            <a:srgbClr val="000000"/>
                          </a:solidFill>
                          <a:latin typeface="Times New Roman"/>
                        </a:rPr>
                        <a:t>PlantDoc</a:t>
                      </a:r>
                      <a:endParaRPr b="0" lang="en-IN" sz="1400" spc="-1" strike="noStrike">
                        <a:latin typeface="Arial"/>
                      </a:endParaRPr>
                    </a:p>
                    <a:p>
                      <a:pPr>
                        <a:lnSpc>
                          <a:spcPct val="115000"/>
                        </a:lnSpc>
                        <a:spcAft>
                          <a:spcPts val="1001"/>
                        </a:spcAft>
                        <a:buNone/>
                      </a:pPr>
                      <a:r>
                        <a:rPr b="0" lang="en-US" sz="1400" spc="-1" strike="noStrike">
                          <a:solidFill>
                            <a:srgbClr val="000000"/>
                          </a:solidFill>
                          <a:latin typeface="Calibri"/>
                        </a:rPr>
                        <a:t>Proceedings of ACM ICMR</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Introduced PlantDoc: a real-world plant disease dataset with images collected from diverse conditions.</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c>
                  <a:txBody>
                    <a:bodyPr lIns="50760" rIns="50760" tIns="50760" bIns="50760" anchor="ctr">
                      <a:noAutofit/>
                    </a:bodyPr>
                    <a:p>
                      <a:pPr>
                        <a:lnSpc>
                          <a:spcPct val="115000"/>
                        </a:lnSpc>
                        <a:spcAft>
                          <a:spcPts val="1001"/>
                        </a:spcAft>
                        <a:buNone/>
                      </a:pPr>
                      <a:r>
                        <a:rPr b="0" lang="en-US" sz="1400" spc="-1" strike="noStrike">
                          <a:solidFill>
                            <a:srgbClr val="000000"/>
                          </a:solidFill>
                          <a:latin typeface="Calibri"/>
                        </a:rPr>
                        <a:t>Highlights the need for diverse, non-laboratory datasets; existing datasets are limited in real-world variability.</a:t>
                      </a:r>
                      <a:endParaRPr b="0" lang="en-IN" sz="1400" spc="-1" strike="noStrike">
                        <a:latin typeface="Arial"/>
                      </a:endParaRPr>
                    </a:p>
                  </a:txBody>
                  <a:tcPr anchor="ctr" marL="50760" marR="5076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3697920" y="588600"/>
            <a:ext cx="4873320" cy="627120"/>
          </a:xfrm>
          <a:prstGeom prst="rect">
            <a:avLst/>
          </a:prstGeom>
          <a:noFill/>
          <a:ln w="0">
            <a:noFill/>
          </a:ln>
        </p:spPr>
        <p:txBody>
          <a:bodyPr anchor="ctr">
            <a:noAutofit/>
          </a:bodyPr>
          <a:p>
            <a:pPr algn="ctr">
              <a:lnSpc>
                <a:spcPct val="110000"/>
              </a:lnSpc>
              <a:spcAft>
                <a:spcPts val="1001"/>
              </a:spcAft>
              <a:buNone/>
            </a:pPr>
            <a:r>
              <a:rPr b="1" lang="en-US" sz="4000" spc="-1" strike="noStrike">
                <a:solidFill>
                  <a:srgbClr val="000000"/>
                </a:solidFill>
                <a:latin typeface="Times New Roman"/>
              </a:rPr>
              <a:t>PROPOSED WORK</a:t>
            </a:r>
            <a:endParaRPr b="0" lang="en-US" sz="4000" spc="-1" strike="noStrike">
              <a:solidFill>
                <a:srgbClr val="000000"/>
              </a:solidFill>
              <a:latin typeface="Calibri"/>
            </a:endParaRPr>
          </a:p>
        </p:txBody>
      </p:sp>
      <p:sp>
        <p:nvSpPr>
          <p:cNvPr id="113" name="Rectangle 3"/>
          <p:cNvSpPr/>
          <p:nvPr/>
        </p:nvSpPr>
        <p:spPr>
          <a:xfrm>
            <a:off x="349200" y="440640"/>
            <a:ext cx="11512800" cy="6093000"/>
          </a:xfrm>
          <a:prstGeom prst="rect">
            <a:avLst/>
          </a:prstGeom>
          <a:noFill/>
          <a:ln w="19050">
            <a:solidFill>
              <a:srgbClr val="000000"/>
            </a:solidFill>
          </a:ln>
        </p:spPr>
        <p:style>
          <a:lnRef idx="2">
            <a:schemeClr val="accent1">
              <a:shade val="50000"/>
            </a:schemeClr>
          </a:lnRef>
          <a:fillRef idx="1">
            <a:schemeClr val="accent1"/>
          </a:fillRef>
          <a:effectRef idx="0">
            <a:schemeClr val="accent1"/>
          </a:effectRef>
          <a:fontRef idx="minor"/>
        </p:style>
      </p:sp>
      <p:sp>
        <p:nvSpPr>
          <p:cNvPr id="114" name="TextBox 4"/>
          <p:cNvSpPr/>
          <p:nvPr/>
        </p:nvSpPr>
        <p:spPr>
          <a:xfrm>
            <a:off x="5774040" y="6226200"/>
            <a:ext cx="6433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Calibri"/>
              </a:rPr>
              <a:t>7</a:t>
            </a:r>
            <a:endParaRPr b="0" lang="en-IN" sz="1400" spc="-1" strike="noStrike">
              <a:latin typeface="Arial"/>
            </a:endParaRPr>
          </a:p>
        </p:txBody>
      </p:sp>
      <p:sp>
        <p:nvSpPr>
          <p:cNvPr id="115" name="Rounded Rectangle 5"/>
          <p:cNvSpPr/>
          <p:nvPr/>
        </p:nvSpPr>
        <p:spPr>
          <a:xfrm>
            <a:off x="3977640" y="1572840"/>
            <a:ext cx="4251600" cy="502560"/>
          </a:xfrm>
          <a:prstGeom prst="roundRect">
            <a:avLst>
              <a:gd name="adj" fmla="val 16667"/>
            </a:avLst>
          </a:prstGeom>
          <a:solidFill>
            <a:srgbClr val="f2f8f3"/>
          </a:solidFill>
          <a:ln w="15240">
            <a:solidFill>
              <a:srgbClr val="236946"/>
            </a:solidFill>
          </a:ln>
        </p:spPr>
        <p:style>
          <a:lnRef idx="1">
            <a:schemeClr val="accent1"/>
          </a:lnRef>
          <a:fillRef idx="3">
            <a:schemeClr val="accent1"/>
          </a:fillRef>
          <a:effectRef idx="2">
            <a:schemeClr val="accent1"/>
          </a:effectRef>
          <a:fontRef idx="minor"/>
        </p:style>
        <p:txBody>
          <a:bodyPr lIns="90000" rIns="90000" tIns="45000" bIns="45000" anchor="t">
            <a:noAutofit/>
          </a:bodyPr>
          <a:p>
            <a:pPr algn="ctr">
              <a:lnSpc>
                <a:spcPct val="110000"/>
              </a:lnSpc>
              <a:spcAft>
                <a:spcPts val="1001"/>
              </a:spcAft>
              <a:buNone/>
            </a:pPr>
            <a:r>
              <a:rPr b="1" lang="en-US" sz="1000" spc="-1" strike="noStrike">
                <a:solidFill>
                  <a:srgbClr val="232323"/>
                </a:solidFill>
                <a:latin typeface="Calibri"/>
              </a:rPr>
              <a:t>PLANT LEAF IMAGE</a:t>
            </a:r>
            <a:br>
              <a:rPr sz="1000"/>
            </a:br>
            <a:r>
              <a:rPr b="1" lang="en-US" sz="1000" spc="-1" strike="noStrike">
                <a:solidFill>
                  <a:srgbClr val="232323"/>
                </a:solidFill>
                <a:latin typeface="Calibri"/>
              </a:rPr>
              <a:t>User input</a:t>
            </a:r>
            <a:endParaRPr b="0" lang="en-IN" sz="1000" spc="-1" strike="noStrike">
              <a:latin typeface="Arial"/>
            </a:endParaRPr>
          </a:p>
        </p:txBody>
      </p:sp>
      <p:sp>
        <p:nvSpPr>
          <p:cNvPr id="116" name="Down Arrow 6"/>
          <p:cNvSpPr/>
          <p:nvPr/>
        </p:nvSpPr>
        <p:spPr>
          <a:xfrm>
            <a:off x="5970960" y="2094120"/>
            <a:ext cx="255600" cy="255600"/>
          </a:xfrm>
          <a:prstGeom prst="downArrow">
            <a:avLst>
              <a:gd name="adj1" fmla="val 50000"/>
              <a:gd name="adj2" fmla="val 50000"/>
            </a:avLst>
          </a:prstGeom>
          <a:solidFill>
            <a:srgbClr val="236946"/>
          </a:solidFill>
          <a:ln>
            <a:noFill/>
          </a:ln>
        </p:spPr>
        <p:style>
          <a:lnRef idx="1">
            <a:schemeClr val="accent1"/>
          </a:lnRef>
          <a:fillRef idx="3">
            <a:schemeClr val="accent1"/>
          </a:fillRef>
          <a:effectRef idx="2">
            <a:schemeClr val="accent1"/>
          </a:effectRef>
          <a:fontRef idx="minor"/>
        </p:style>
      </p:sp>
      <p:sp>
        <p:nvSpPr>
          <p:cNvPr id="117" name="Rounded Rectangle 7"/>
          <p:cNvSpPr/>
          <p:nvPr/>
        </p:nvSpPr>
        <p:spPr>
          <a:xfrm>
            <a:off x="3977640" y="2231280"/>
            <a:ext cx="4251600" cy="502560"/>
          </a:xfrm>
          <a:prstGeom prst="roundRect">
            <a:avLst>
              <a:gd name="adj" fmla="val 16667"/>
            </a:avLst>
          </a:prstGeom>
          <a:solidFill>
            <a:srgbClr val="f2f8f3"/>
          </a:solidFill>
          <a:ln w="15240">
            <a:solidFill>
              <a:srgbClr val="236946"/>
            </a:solidFill>
          </a:ln>
        </p:spPr>
        <p:style>
          <a:lnRef idx="1">
            <a:schemeClr val="accent1"/>
          </a:lnRef>
          <a:fillRef idx="3">
            <a:schemeClr val="accent1"/>
          </a:fillRef>
          <a:effectRef idx="2">
            <a:schemeClr val="accent1"/>
          </a:effectRef>
          <a:fontRef idx="minor"/>
        </p:style>
        <p:txBody>
          <a:bodyPr lIns="90000" rIns="90000" tIns="45000" bIns="45000" anchor="t">
            <a:noAutofit/>
          </a:bodyPr>
          <a:p>
            <a:pPr algn="ctr">
              <a:lnSpc>
                <a:spcPct val="110000"/>
              </a:lnSpc>
              <a:spcAft>
                <a:spcPts val="1001"/>
              </a:spcAft>
              <a:buNone/>
            </a:pPr>
            <a:r>
              <a:rPr b="1" lang="en-US" sz="1000" spc="-1" strike="noStrike">
                <a:solidFill>
                  <a:srgbClr val="232323"/>
                </a:solidFill>
                <a:latin typeface="Calibri"/>
              </a:rPr>
              <a:t>IMAGE PREPROCESSING</a:t>
            </a:r>
            <a:br>
              <a:rPr sz="1000"/>
            </a:br>
            <a:r>
              <a:rPr b="1" lang="en-US" sz="1000" spc="-1" strike="noStrike">
                <a:solidFill>
                  <a:srgbClr val="232323"/>
                </a:solidFill>
                <a:latin typeface="Calibri"/>
              </a:rPr>
              <a:t>Resize • Normalize • Augment</a:t>
            </a:r>
            <a:endParaRPr b="0" lang="en-IN" sz="1000" spc="-1" strike="noStrike">
              <a:latin typeface="Arial"/>
            </a:endParaRPr>
          </a:p>
        </p:txBody>
      </p:sp>
      <p:sp>
        <p:nvSpPr>
          <p:cNvPr id="118" name="Down Arrow 8"/>
          <p:cNvSpPr/>
          <p:nvPr/>
        </p:nvSpPr>
        <p:spPr>
          <a:xfrm>
            <a:off x="5970960" y="2752200"/>
            <a:ext cx="255600" cy="255600"/>
          </a:xfrm>
          <a:prstGeom prst="downArrow">
            <a:avLst>
              <a:gd name="adj1" fmla="val 50000"/>
              <a:gd name="adj2" fmla="val 50000"/>
            </a:avLst>
          </a:prstGeom>
          <a:solidFill>
            <a:srgbClr val="236946"/>
          </a:solidFill>
          <a:ln>
            <a:noFill/>
          </a:ln>
        </p:spPr>
        <p:style>
          <a:lnRef idx="1">
            <a:schemeClr val="accent1"/>
          </a:lnRef>
          <a:fillRef idx="3">
            <a:schemeClr val="accent1"/>
          </a:fillRef>
          <a:effectRef idx="2">
            <a:schemeClr val="accent1"/>
          </a:effectRef>
          <a:fontRef idx="minor"/>
        </p:style>
      </p:sp>
      <p:sp>
        <p:nvSpPr>
          <p:cNvPr id="119" name="Rounded Rectangle 9"/>
          <p:cNvSpPr/>
          <p:nvPr/>
        </p:nvSpPr>
        <p:spPr>
          <a:xfrm>
            <a:off x="3977640" y="2889360"/>
            <a:ext cx="4251600" cy="502560"/>
          </a:xfrm>
          <a:prstGeom prst="roundRect">
            <a:avLst>
              <a:gd name="adj" fmla="val 16667"/>
            </a:avLst>
          </a:prstGeom>
          <a:solidFill>
            <a:srgbClr val="f2f8f3"/>
          </a:solidFill>
          <a:ln w="15240">
            <a:solidFill>
              <a:srgbClr val="236946"/>
            </a:solidFill>
          </a:ln>
        </p:spPr>
        <p:style>
          <a:lnRef idx="1">
            <a:schemeClr val="accent1"/>
          </a:lnRef>
          <a:fillRef idx="3">
            <a:schemeClr val="accent1"/>
          </a:fillRef>
          <a:effectRef idx="2">
            <a:schemeClr val="accent1"/>
          </a:effectRef>
          <a:fontRef idx="minor"/>
        </p:style>
        <p:txBody>
          <a:bodyPr lIns="90000" rIns="90000" tIns="45000" bIns="45000" anchor="t">
            <a:noAutofit/>
          </a:bodyPr>
          <a:p>
            <a:pPr algn="ctr">
              <a:lnSpc>
                <a:spcPct val="110000"/>
              </a:lnSpc>
              <a:spcAft>
                <a:spcPts val="1001"/>
              </a:spcAft>
              <a:buNone/>
            </a:pPr>
            <a:r>
              <a:rPr b="1" lang="en-US" sz="1000" spc="-1" strike="noStrike">
                <a:solidFill>
                  <a:srgbClr val="232323"/>
                </a:solidFill>
                <a:latin typeface="Calibri"/>
              </a:rPr>
              <a:t>RESNET50</a:t>
            </a:r>
            <a:br>
              <a:rPr sz="1000"/>
            </a:br>
            <a:r>
              <a:rPr b="1" lang="en-US" sz="1000" spc="-1" strike="noStrike">
                <a:solidFill>
                  <a:srgbClr val="232323"/>
                </a:solidFill>
                <a:latin typeface="Calibri"/>
              </a:rPr>
              <a:t>Transfer learning + fine-tuning</a:t>
            </a:r>
            <a:endParaRPr b="0" lang="en-IN" sz="1000" spc="-1" strike="noStrike">
              <a:latin typeface="Arial"/>
            </a:endParaRPr>
          </a:p>
        </p:txBody>
      </p:sp>
      <p:sp>
        <p:nvSpPr>
          <p:cNvPr id="120" name="Down Arrow 10"/>
          <p:cNvSpPr/>
          <p:nvPr/>
        </p:nvSpPr>
        <p:spPr>
          <a:xfrm>
            <a:off x="5970960" y="3410640"/>
            <a:ext cx="255600" cy="255600"/>
          </a:xfrm>
          <a:prstGeom prst="downArrow">
            <a:avLst>
              <a:gd name="adj1" fmla="val 50000"/>
              <a:gd name="adj2" fmla="val 50000"/>
            </a:avLst>
          </a:prstGeom>
          <a:solidFill>
            <a:srgbClr val="236946"/>
          </a:solidFill>
          <a:ln>
            <a:noFill/>
          </a:ln>
        </p:spPr>
        <p:style>
          <a:lnRef idx="1">
            <a:schemeClr val="accent1"/>
          </a:lnRef>
          <a:fillRef idx="3">
            <a:schemeClr val="accent1"/>
          </a:fillRef>
          <a:effectRef idx="2">
            <a:schemeClr val="accent1"/>
          </a:effectRef>
          <a:fontRef idx="minor"/>
        </p:style>
      </p:sp>
      <p:sp>
        <p:nvSpPr>
          <p:cNvPr id="121" name="Rounded Rectangle 11"/>
          <p:cNvSpPr/>
          <p:nvPr/>
        </p:nvSpPr>
        <p:spPr>
          <a:xfrm>
            <a:off x="3977640" y="3547800"/>
            <a:ext cx="4251600" cy="502560"/>
          </a:xfrm>
          <a:prstGeom prst="roundRect">
            <a:avLst>
              <a:gd name="adj" fmla="val 16667"/>
            </a:avLst>
          </a:prstGeom>
          <a:solidFill>
            <a:srgbClr val="f2f8f3"/>
          </a:solidFill>
          <a:ln w="15240">
            <a:solidFill>
              <a:srgbClr val="236946"/>
            </a:solidFill>
          </a:ln>
        </p:spPr>
        <p:style>
          <a:lnRef idx="1">
            <a:schemeClr val="accent1"/>
          </a:lnRef>
          <a:fillRef idx="3">
            <a:schemeClr val="accent1"/>
          </a:fillRef>
          <a:effectRef idx="2">
            <a:schemeClr val="accent1"/>
          </a:effectRef>
          <a:fontRef idx="minor"/>
        </p:style>
        <p:txBody>
          <a:bodyPr lIns="90000" rIns="90000" tIns="45000" bIns="45000" anchor="t">
            <a:noAutofit/>
          </a:bodyPr>
          <a:p>
            <a:pPr algn="ctr">
              <a:lnSpc>
                <a:spcPct val="110000"/>
              </a:lnSpc>
              <a:spcAft>
                <a:spcPts val="1001"/>
              </a:spcAft>
              <a:buNone/>
            </a:pPr>
            <a:r>
              <a:rPr b="1" lang="en-US" sz="1000" spc="-1" strike="noStrike">
                <a:solidFill>
                  <a:srgbClr val="232323"/>
                </a:solidFill>
                <a:latin typeface="Calibri"/>
              </a:rPr>
              <a:t>DISEASE PREDICTION</a:t>
            </a:r>
            <a:br>
              <a:rPr sz="1000"/>
            </a:br>
            <a:r>
              <a:rPr b="1" lang="en-US" sz="1000" spc="-1" strike="noStrike">
                <a:solidFill>
                  <a:srgbClr val="232323"/>
                </a:solidFill>
                <a:latin typeface="Calibri"/>
              </a:rPr>
              <a:t>Disease / Healthy + Confidence</a:t>
            </a:r>
            <a:endParaRPr b="0" lang="en-IN" sz="1000" spc="-1" strike="noStrike">
              <a:latin typeface="Arial"/>
            </a:endParaRPr>
          </a:p>
        </p:txBody>
      </p:sp>
      <p:sp>
        <p:nvSpPr>
          <p:cNvPr id="122" name="Down Arrow 12"/>
          <p:cNvSpPr/>
          <p:nvPr/>
        </p:nvSpPr>
        <p:spPr>
          <a:xfrm>
            <a:off x="5970960" y="4069080"/>
            <a:ext cx="255600" cy="255600"/>
          </a:xfrm>
          <a:prstGeom prst="downArrow">
            <a:avLst>
              <a:gd name="adj1" fmla="val 50000"/>
              <a:gd name="adj2" fmla="val 50000"/>
            </a:avLst>
          </a:prstGeom>
          <a:solidFill>
            <a:srgbClr val="236946"/>
          </a:solidFill>
          <a:ln>
            <a:noFill/>
          </a:ln>
        </p:spPr>
        <p:style>
          <a:lnRef idx="1">
            <a:schemeClr val="accent1"/>
          </a:lnRef>
          <a:fillRef idx="3">
            <a:schemeClr val="accent1"/>
          </a:fillRef>
          <a:effectRef idx="2">
            <a:schemeClr val="accent1"/>
          </a:effectRef>
          <a:fontRef idx="minor"/>
        </p:style>
      </p:sp>
      <p:sp>
        <p:nvSpPr>
          <p:cNvPr id="123" name="Rounded Rectangle 13"/>
          <p:cNvSpPr/>
          <p:nvPr/>
        </p:nvSpPr>
        <p:spPr>
          <a:xfrm>
            <a:off x="3977640" y="4206240"/>
            <a:ext cx="4251600" cy="502560"/>
          </a:xfrm>
          <a:prstGeom prst="roundRect">
            <a:avLst>
              <a:gd name="adj" fmla="val 16667"/>
            </a:avLst>
          </a:prstGeom>
          <a:solidFill>
            <a:srgbClr val="f2f8f3"/>
          </a:solidFill>
          <a:ln w="15240">
            <a:solidFill>
              <a:srgbClr val="236946"/>
            </a:solidFill>
          </a:ln>
        </p:spPr>
        <p:style>
          <a:lnRef idx="1">
            <a:schemeClr val="accent1"/>
          </a:lnRef>
          <a:fillRef idx="3">
            <a:schemeClr val="accent1"/>
          </a:fillRef>
          <a:effectRef idx="2">
            <a:schemeClr val="accent1"/>
          </a:effectRef>
          <a:fontRef idx="minor"/>
        </p:style>
        <p:txBody>
          <a:bodyPr lIns="90000" rIns="90000" tIns="45000" bIns="45000" anchor="t">
            <a:noAutofit/>
          </a:bodyPr>
          <a:p>
            <a:pPr algn="ctr">
              <a:lnSpc>
                <a:spcPct val="110000"/>
              </a:lnSpc>
              <a:spcAft>
                <a:spcPts val="1001"/>
              </a:spcAft>
              <a:buNone/>
            </a:pPr>
            <a:r>
              <a:rPr b="1" lang="en-US" sz="1000" spc="-1" strike="noStrike">
                <a:solidFill>
                  <a:srgbClr val="232323"/>
                </a:solidFill>
                <a:latin typeface="Calibri"/>
              </a:rPr>
              <a:t>GRAD-CAM</a:t>
            </a:r>
            <a:br>
              <a:rPr sz="1000"/>
            </a:br>
            <a:r>
              <a:rPr b="1" lang="en-US" sz="1000" spc="-1" strike="noStrike">
                <a:solidFill>
                  <a:srgbClr val="232323"/>
                </a:solidFill>
                <a:latin typeface="Calibri"/>
              </a:rPr>
              <a:t>Disease-relevant heatmap</a:t>
            </a:r>
            <a:endParaRPr b="0" lang="en-IN" sz="1000" spc="-1" strike="noStrike">
              <a:latin typeface="Arial"/>
            </a:endParaRPr>
          </a:p>
        </p:txBody>
      </p:sp>
      <p:sp>
        <p:nvSpPr>
          <p:cNvPr id="124" name="Down Arrow 14"/>
          <p:cNvSpPr/>
          <p:nvPr/>
        </p:nvSpPr>
        <p:spPr>
          <a:xfrm>
            <a:off x="5970960" y="4727520"/>
            <a:ext cx="255600" cy="255600"/>
          </a:xfrm>
          <a:prstGeom prst="downArrow">
            <a:avLst>
              <a:gd name="adj1" fmla="val 50000"/>
              <a:gd name="adj2" fmla="val 50000"/>
            </a:avLst>
          </a:prstGeom>
          <a:solidFill>
            <a:srgbClr val="236946"/>
          </a:solidFill>
          <a:ln>
            <a:noFill/>
          </a:ln>
        </p:spPr>
        <p:style>
          <a:lnRef idx="1">
            <a:schemeClr val="accent1"/>
          </a:lnRef>
          <a:fillRef idx="3">
            <a:schemeClr val="accent1"/>
          </a:fillRef>
          <a:effectRef idx="2">
            <a:schemeClr val="accent1"/>
          </a:effectRef>
          <a:fontRef idx="minor"/>
        </p:style>
      </p:sp>
      <p:sp>
        <p:nvSpPr>
          <p:cNvPr id="125" name="Rounded Rectangle 15"/>
          <p:cNvSpPr/>
          <p:nvPr/>
        </p:nvSpPr>
        <p:spPr>
          <a:xfrm>
            <a:off x="3977640" y="4864680"/>
            <a:ext cx="4251600" cy="502560"/>
          </a:xfrm>
          <a:prstGeom prst="roundRect">
            <a:avLst>
              <a:gd name="adj" fmla="val 16667"/>
            </a:avLst>
          </a:prstGeom>
          <a:solidFill>
            <a:srgbClr val="f2f8f3"/>
          </a:solidFill>
          <a:ln w="15240">
            <a:solidFill>
              <a:srgbClr val="236946"/>
            </a:solidFill>
          </a:ln>
        </p:spPr>
        <p:style>
          <a:lnRef idx="1">
            <a:schemeClr val="accent1"/>
          </a:lnRef>
          <a:fillRef idx="3">
            <a:schemeClr val="accent1"/>
          </a:fillRef>
          <a:effectRef idx="2">
            <a:schemeClr val="accent1"/>
          </a:effectRef>
          <a:fontRef idx="minor"/>
        </p:style>
        <p:txBody>
          <a:bodyPr lIns="90000" rIns="90000" tIns="45000" bIns="45000" anchor="t">
            <a:noAutofit/>
          </a:bodyPr>
          <a:p>
            <a:pPr algn="ctr">
              <a:lnSpc>
                <a:spcPct val="110000"/>
              </a:lnSpc>
              <a:spcAft>
                <a:spcPts val="1001"/>
              </a:spcAft>
              <a:buNone/>
            </a:pPr>
            <a:r>
              <a:rPr b="1" lang="en-US" sz="1000" spc="-1" strike="noStrike">
                <a:solidFill>
                  <a:srgbClr val="232323"/>
                </a:solidFill>
                <a:latin typeface="Calibri"/>
              </a:rPr>
              <a:t>LLM PLANT-CARE</a:t>
            </a:r>
            <a:br>
              <a:rPr sz="1000"/>
            </a:br>
            <a:r>
              <a:rPr b="1" lang="en-US" sz="1000" spc="-1" strike="noStrike">
                <a:solidFill>
                  <a:srgbClr val="232323"/>
                </a:solidFill>
                <a:latin typeface="Calibri"/>
              </a:rPr>
              <a:t>Treatment + Prevention</a:t>
            </a:r>
            <a:endParaRPr b="0" lang="en-IN" sz="1000" spc="-1" strike="noStrike">
              <a:latin typeface="Arial"/>
            </a:endParaRPr>
          </a:p>
        </p:txBody>
      </p:sp>
      <p:sp>
        <p:nvSpPr>
          <p:cNvPr id="126" name="Down Arrow 16"/>
          <p:cNvSpPr/>
          <p:nvPr/>
        </p:nvSpPr>
        <p:spPr>
          <a:xfrm>
            <a:off x="5970960" y="5385960"/>
            <a:ext cx="255600" cy="255600"/>
          </a:xfrm>
          <a:prstGeom prst="downArrow">
            <a:avLst>
              <a:gd name="adj1" fmla="val 50000"/>
              <a:gd name="adj2" fmla="val 50000"/>
            </a:avLst>
          </a:prstGeom>
          <a:solidFill>
            <a:srgbClr val="236946"/>
          </a:solidFill>
          <a:ln>
            <a:noFill/>
          </a:ln>
        </p:spPr>
        <p:style>
          <a:lnRef idx="1">
            <a:schemeClr val="accent1"/>
          </a:lnRef>
          <a:fillRef idx="3">
            <a:schemeClr val="accent1"/>
          </a:fillRef>
          <a:effectRef idx="2">
            <a:schemeClr val="accent1"/>
          </a:effectRef>
          <a:fontRef idx="minor"/>
        </p:style>
      </p:sp>
      <p:sp>
        <p:nvSpPr>
          <p:cNvPr id="127" name="Rounded Rectangle 17"/>
          <p:cNvSpPr/>
          <p:nvPr/>
        </p:nvSpPr>
        <p:spPr>
          <a:xfrm>
            <a:off x="3977640" y="5523120"/>
            <a:ext cx="4251600" cy="502560"/>
          </a:xfrm>
          <a:prstGeom prst="roundRect">
            <a:avLst>
              <a:gd name="adj" fmla="val 16667"/>
            </a:avLst>
          </a:prstGeom>
          <a:solidFill>
            <a:srgbClr val="f2f8f3"/>
          </a:solidFill>
          <a:ln w="15240">
            <a:solidFill>
              <a:srgbClr val="236946"/>
            </a:solidFill>
          </a:ln>
        </p:spPr>
        <p:style>
          <a:lnRef idx="1">
            <a:schemeClr val="accent1"/>
          </a:lnRef>
          <a:fillRef idx="3">
            <a:schemeClr val="accent1"/>
          </a:fillRef>
          <a:effectRef idx="2">
            <a:schemeClr val="accent1"/>
          </a:effectRef>
          <a:fontRef idx="minor"/>
        </p:style>
        <p:txBody>
          <a:bodyPr lIns="90000" rIns="90000" tIns="45000" bIns="45000" anchor="t">
            <a:noAutofit/>
          </a:bodyPr>
          <a:p>
            <a:pPr algn="ctr">
              <a:lnSpc>
                <a:spcPct val="110000"/>
              </a:lnSpc>
              <a:spcAft>
                <a:spcPts val="1001"/>
              </a:spcAft>
              <a:buNone/>
            </a:pPr>
            <a:r>
              <a:rPr b="1" lang="en-US" sz="1000" spc="-1" strike="noStrike">
                <a:solidFill>
                  <a:srgbClr val="232323"/>
                </a:solidFill>
                <a:latin typeface="Calibri"/>
              </a:rPr>
              <a:t>WEB APPLICATION</a:t>
            </a:r>
            <a:br>
              <a:rPr sz="1000"/>
            </a:br>
            <a:r>
              <a:rPr b="1" lang="en-US" sz="1000" spc="-1" strike="noStrike">
                <a:solidFill>
                  <a:srgbClr val="232323"/>
                </a:solidFill>
                <a:latin typeface="Calibri"/>
              </a:rPr>
              <a:t>Integrated plant-health assistance</a:t>
            </a: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Rectangle 1"/>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129" name="TextBox 2"/>
          <p:cNvSpPr/>
          <p:nvPr/>
        </p:nvSpPr>
        <p:spPr>
          <a:xfrm>
            <a:off x="3087720" y="475560"/>
            <a:ext cx="6031800" cy="72972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4200" spc="-1" strike="noStrike">
                <a:solidFill>
                  <a:srgbClr val="000000"/>
                </a:solidFill>
                <a:latin typeface="Times New Roman"/>
              </a:rPr>
              <a:t>TECHNOLOGY STACK</a:t>
            </a:r>
            <a:endParaRPr b="0" lang="en-IN" sz="4200" spc="-1" strike="noStrike">
              <a:latin typeface="Arial"/>
            </a:endParaRPr>
          </a:p>
        </p:txBody>
      </p:sp>
      <p:sp>
        <p:nvSpPr>
          <p:cNvPr id="130" name="TextBox 3"/>
          <p:cNvSpPr/>
          <p:nvPr/>
        </p:nvSpPr>
        <p:spPr>
          <a:xfrm>
            <a:off x="617400" y="1349280"/>
            <a:ext cx="10286640" cy="4996080"/>
          </a:xfrm>
          <a:prstGeom prst="rect">
            <a:avLst/>
          </a:prstGeom>
          <a:noFill/>
          <a:ln w="0">
            <a:noFill/>
          </a:ln>
        </p:spPr>
        <p:style>
          <a:lnRef idx="0"/>
          <a:fillRef idx="0"/>
          <a:effectRef idx="0"/>
          <a:fontRef idx="minor"/>
        </p:style>
        <p:txBody>
          <a:bodyPr lIns="0" rIns="0" tIns="0" bIns="0" anchor="t">
            <a:spAutoFit/>
          </a:bodyPr>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Programming: Python</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Deep Learning: TensorFlow, Keras</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Disease Classification: ResNet50 with Transfer Learning</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Dataset: PlantVillage Dataset — 38 Classes</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Image Processing: OpenCV, NumPy, Pandas</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Data Preparation: Scikit-learn, Image Augmentation</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Explainable AI: Grad-CAM</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Development Environment: Jupyter Notebook / Kaggle</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Plant-Care Module: LLM-based recommendation system </a:t>
            </a:r>
            <a:endParaRPr b="0" lang="en-IN" sz="2300" spc="-1" strike="noStrike">
              <a:latin typeface="Arial"/>
            </a:endParaRPr>
          </a:p>
          <a:p>
            <a:pPr>
              <a:lnSpc>
                <a:spcPct val="110000"/>
              </a:lnSpc>
              <a:spcAft>
                <a:spcPts val="1001"/>
              </a:spcAft>
              <a:buNone/>
            </a:pPr>
            <a:r>
              <a:rPr b="0" lang="en-US" sz="2300" spc="-1" strike="noStrike">
                <a:solidFill>
                  <a:srgbClr val="000000"/>
                </a:solidFill>
                <a:latin typeface="Times New Roman"/>
              </a:rPr>
              <a:t>•  </a:t>
            </a:r>
            <a:r>
              <a:rPr b="0" lang="en-US" sz="2300" spc="-1" strike="noStrike">
                <a:solidFill>
                  <a:srgbClr val="000000"/>
                </a:solidFill>
                <a:latin typeface="Times New Roman"/>
              </a:rPr>
              <a:t>Application Layer: Web-based interface</a:t>
            </a:r>
            <a:endParaRPr b="0" lang="en-IN" sz="2300" spc="-1" strike="noStrike">
              <a:latin typeface="Arial"/>
            </a:endParaRPr>
          </a:p>
        </p:txBody>
      </p:sp>
      <p:sp>
        <p:nvSpPr>
          <p:cNvPr id="131" name="TextBox 4"/>
          <p:cNvSpPr/>
          <p:nvPr/>
        </p:nvSpPr>
        <p:spPr>
          <a:xfrm>
            <a:off x="5960880" y="6144840"/>
            <a:ext cx="2574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8</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Rectangle 1"/>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133" name="TextBox 2"/>
          <p:cNvSpPr/>
          <p:nvPr/>
        </p:nvSpPr>
        <p:spPr>
          <a:xfrm>
            <a:off x="4841640" y="475560"/>
            <a:ext cx="2523600" cy="684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3900" spc="-1" strike="noStrike">
                <a:solidFill>
                  <a:srgbClr val="000000"/>
                </a:solidFill>
                <a:latin typeface="Times New Roman"/>
              </a:rPr>
              <a:t>DATASET</a:t>
            </a:r>
            <a:endParaRPr b="0" lang="en-IN" sz="3900" spc="-1" strike="noStrike">
              <a:latin typeface="Arial"/>
            </a:endParaRPr>
          </a:p>
        </p:txBody>
      </p:sp>
      <p:sp>
        <p:nvSpPr>
          <p:cNvPr id="134" name="TextBox 3"/>
          <p:cNvSpPr/>
          <p:nvPr/>
        </p:nvSpPr>
        <p:spPr>
          <a:xfrm>
            <a:off x="617400" y="1458360"/>
            <a:ext cx="10286640" cy="363456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Dataset: PlantVillage</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Image Type: Plant leaf images</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Classes: 38 disease and healthy classes</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Crops: Multiple crop species</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Purpose: Training and evaluation of the ResNet50 disease-classification model</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Input Format: Leaf images resized to 224 × 224 pixels</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Data Split: 70% Training | 15% Validation | 15% Testing</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Preprocessing: ResNet50 preprocessing and image augmentation</a:t>
            </a:r>
            <a:endParaRPr b="0" lang="en-IN" sz="2050" spc="-1" strike="noStrike">
              <a:latin typeface="Arial"/>
            </a:endParaRPr>
          </a:p>
        </p:txBody>
      </p:sp>
      <p:sp>
        <p:nvSpPr>
          <p:cNvPr id="135" name="TextBox 4"/>
          <p:cNvSpPr/>
          <p:nvPr/>
        </p:nvSpPr>
        <p:spPr>
          <a:xfrm>
            <a:off x="5960880" y="6144840"/>
            <a:ext cx="25740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9</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Rectangle 1"/>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137" name="TextBox 2"/>
          <p:cNvSpPr/>
          <p:nvPr/>
        </p:nvSpPr>
        <p:spPr>
          <a:xfrm>
            <a:off x="4332600" y="475560"/>
            <a:ext cx="3541680" cy="684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3900" spc="-1" strike="noStrike">
                <a:solidFill>
                  <a:srgbClr val="000000"/>
                </a:solidFill>
                <a:latin typeface="Times New Roman"/>
              </a:rPr>
              <a:t>EVALUATION</a:t>
            </a:r>
            <a:endParaRPr b="0" lang="en-IN" sz="3900" spc="-1" strike="noStrike">
              <a:latin typeface="Arial"/>
            </a:endParaRPr>
          </a:p>
        </p:txBody>
      </p:sp>
      <p:sp>
        <p:nvSpPr>
          <p:cNvPr id="138" name="TextBox 3"/>
          <p:cNvSpPr/>
          <p:nvPr/>
        </p:nvSpPr>
        <p:spPr>
          <a:xfrm>
            <a:off x="617400" y="1572840"/>
            <a:ext cx="10286640" cy="372348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Classification Accuracy — measure the overall performance of the ResNet50 disease-classification model.</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Precision, Recall and F1-Score — evaluate class-wise disease prediction performance.</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Confusion Matrix — identify disease classes that are commonly misclassified.</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Confidence Score — assess the confidence associated with each disease prediction.</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Grad-CAM Visualization — examine whether the highlighted leaf regions are relevant to the predicted disease.</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Plant-Care Guidance — assess the relevance and usefulness of the treatment and preventive recommendations.</a:t>
            </a:r>
            <a:endParaRPr b="0" lang="en-IN" sz="2050" spc="-1" strike="noStrike">
              <a:latin typeface="Arial"/>
            </a:endParaRPr>
          </a:p>
        </p:txBody>
      </p:sp>
      <p:sp>
        <p:nvSpPr>
          <p:cNvPr id="139" name="TextBox 4"/>
          <p:cNvSpPr/>
          <p:nvPr/>
        </p:nvSpPr>
        <p:spPr>
          <a:xfrm>
            <a:off x="5923080" y="6144840"/>
            <a:ext cx="33336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10</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Rectangle 1"/>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141" name="TextBox 2"/>
          <p:cNvSpPr/>
          <p:nvPr/>
        </p:nvSpPr>
        <p:spPr>
          <a:xfrm>
            <a:off x="4332600" y="475560"/>
            <a:ext cx="3541680" cy="684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3900" spc="-1" strike="noStrike">
                <a:solidFill>
                  <a:srgbClr val="000000"/>
                </a:solidFill>
                <a:latin typeface="Times New Roman"/>
              </a:rPr>
              <a:t>CONCLUSION</a:t>
            </a:r>
            <a:endParaRPr b="0" lang="en-IN" sz="3900" spc="-1" strike="noStrike">
              <a:latin typeface="Arial"/>
            </a:endParaRPr>
          </a:p>
        </p:txBody>
      </p:sp>
      <p:sp>
        <p:nvSpPr>
          <p:cNvPr id="142" name="TextBox 3"/>
          <p:cNvSpPr/>
          <p:nvPr/>
        </p:nvSpPr>
        <p:spPr>
          <a:xfrm>
            <a:off x="585360" y="1551960"/>
            <a:ext cx="11166120" cy="312624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The proposed work aims to develop an automated multi-crop plant disease detection system using a pretrained ResNet50 model and the PlantVillage dataset.</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Grad-CAM will provide visual explanations by highlighting disease-relevant regions of the leaf, making the model prediction more understandable.</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An LLM-based plant-care module is proposed to provide treatment and preventive recommendations after disease identification.</a:t>
            </a:r>
            <a:endParaRPr b="0" lang="en-IN" sz="2050" spc="-1" strike="noStrike">
              <a:latin typeface="Arial"/>
            </a:endParaRPr>
          </a:p>
          <a:p>
            <a:pPr algn="just">
              <a:lnSpc>
                <a:spcPct val="110000"/>
              </a:lnSpc>
              <a:spcAft>
                <a:spcPts val="1001"/>
              </a:spcAft>
              <a:buNone/>
            </a:pPr>
            <a:r>
              <a:rPr b="0" lang="en-US" sz="2050" spc="-1" strike="noStrike">
                <a:solidFill>
                  <a:srgbClr val="000000"/>
                </a:solidFill>
                <a:latin typeface="Times New Roman"/>
              </a:rPr>
              <a:t>•  </a:t>
            </a:r>
            <a:r>
              <a:rPr b="0" lang="en-US" sz="2050" spc="-1" strike="noStrike">
                <a:solidFill>
                  <a:srgbClr val="000000"/>
                </a:solidFill>
                <a:latin typeface="Times New Roman"/>
              </a:rPr>
              <a:t>The proposed system aims to combine disease classification, explainability, and plant-care guidance into a single web-based application.</a:t>
            </a:r>
            <a:endParaRPr b="0" lang="en-IN" sz="2050" spc="-1" strike="noStrike">
              <a:latin typeface="Arial"/>
            </a:endParaRPr>
          </a:p>
        </p:txBody>
      </p:sp>
      <p:sp>
        <p:nvSpPr>
          <p:cNvPr id="143" name="TextBox 4"/>
          <p:cNvSpPr/>
          <p:nvPr/>
        </p:nvSpPr>
        <p:spPr>
          <a:xfrm>
            <a:off x="5923080" y="6144840"/>
            <a:ext cx="33336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11</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Rectangle 1"/>
          <p:cNvSpPr/>
          <p:nvPr/>
        </p:nvSpPr>
        <p:spPr>
          <a:xfrm>
            <a:off x="329040" y="420480"/>
            <a:ext cx="11521080" cy="6107760"/>
          </a:xfrm>
          <a:prstGeom prst="rect">
            <a:avLst/>
          </a:prstGeom>
          <a:noFill/>
          <a:ln w="10160">
            <a:solidFill>
              <a:srgbClr val="000000"/>
            </a:solidFill>
          </a:ln>
        </p:spPr>
        <p:style>
          <a:lnRef idx="1">
            <a:schemeClr val="accent1"/>
          </a:lnRef>
          <a:fillRef idx="3">
            <a:schemeClr val="accent1"/>
          </a:fillRef>
          <a:effectRef idx="2">
            <a:schemeClr val="accent1"/>
          </a:effectRef>
          <a:fontRef idx="minor"/>
        </p:style>
      </p:sp>
      <p:sp>
        <p:nvSpPr>
          <p:cNvPr id="145" name="TextBox 2"/>
          <p:cNvSpPr/>
          <p:nvPr/>
        </p:nvSpPr>
        <p:spPr>
          <a:xfrm>
            <a:off x="4345560" y="475560"/>
            <a:ext cx="3515760" cy="68400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1" lang="en-US" sz="3900" spc="-1" strike="noStrike">
                <a:solidFill>
                  <a:srgbClr val="000000"/>
                </a:solidFill>
                <a:latin typeface="Times New Roman"/>
              </a:rPr>
              <a:t>REFERENCES</a:t>
            </a:r>
            <a:endParaRPr b="0" lang="en-IN" sz="3900" spc="-1" strike="noStrike">
              <a:latin typeface="Arial"/>
            </a:endParaRPr>
          </a:p>
        </p:txBody>
      </p:sp>
      <p:sp>
        <p:nvSpPr>
          <p:cNvPr id="146" name="TextBox 3"/>
          <p:cNvSpPr/>
          <p:nvPr/>
        </p:nvSpPr>
        <p:spPr>
          <a:xfrm>
            <a:off x="777240" y="1445040"/>
            <a:ext cx="10652400" cy="2795040"/>
          </a:xfrm>
          <a:prstGeom prst="rect">
            <a:avLst/>
          </a:prstGeom>
          <a:noFill/>
          <a:ln w="0">
            <a:noFill/>
          </a:ln>
        </p:spPr>
        <p:style>
          <a:lnRef idx="0"/>
          <a:fillRef idx="0"/>
          <a:effectRef idx="0"/>
          <a:fontRef idx="minor"/>
        </p:style>
        <p:txBody>
          <a:bodyPr lIns="0" rIns="0" tIns="0" bIns="0" anchor="t">
            <a:spAutoFit/>
          </a:bodyPr>
          <a:p>
            <a:pPr algn="just">
              <a:lnSpc>
                <a:spcPct val="110000"/>
              </a:lnSpc>
              <a:spcAft>
                <a:spcPts val="1001"/>
              </a:spcAft>
              <a:buNone/>
            </a:pPr>
            <a:r>
              <a:rPr b="0" lang="en-US" sz="1800" spc="-1" strike="noStrike">
                <a:solidFill>
                  <a:srgbClr val="000000"/>
                </a:solidFill>
                <a:latin typeface="Times New Roman"/>
              </a:rPr>
              <a:t>1. Mohanty, S. P., Hughes, D. P., &amp; Salathé, M. (2016). Using Deep Learning for Image-Based Plant Disease Detection. Frontiers in Plant Science, 7, 1419.</a:t>
            </a:r>
            <a:endParaRPr b="0" lang="en-IN" sz="1800" spc="-1" strike="noStrike">
              <a:latin typeface="Arial"/>
            </a:endParaRPr>
          </a:p>
          <a:p>
            <a:pPr algn="just">
              <a:lnSpc>
                <a:spcPct val="110000"/>
              </a:lnSpc>
              <a:spcAft>
                <a:spcPts val="1001"/>
              </a:spcAft>
              <a:buNone/>
            </a:pPr>
            <a:r>
              <a:rPr b="0" lang="en-US" sz="1800" spc="-1" strike="noStrike">
                <a:solidFill>
                  <a:srgbClr val="000000"/>
                </a:solidFill>
                <a:latin typeface="Times New Roman"/>
              </a:rPr>
              <a:t>2. Ferentinos, K. P. (2018). Deep learning models for plant disease detection and diagnosis. Computers and Electronics in Agriculture, 145, 311–318.</a:t>
            </a:r>
            <a:endParaRPr b="0" lang="en-IN" sz="1800" spc="-1" strike="noStrike">
              <a:latin typeface="Arial"/>
            </a:endParaRPr>
          </a:p>
          <a:p>
            <a:pPr algn="just">
              <a:lnSpc>
                <a:spcPct val="110000"/>
              </a:lnSpc>
              <a:spcAft>
                <a:spcPts val="1001"/>
              </a:spcAft>
              <a:buNone/>
            </a:pPr>
            <a:r>
              <a:rPr b="0" lang="en-US" sz="1800" spc="-1" strike="noStrike">
                <a:solidFill>
                  <a:srgbClr val="000000"/>
                </a:solidFill>
                <a:latin typeface="Times New Roman"/>
              </a:rPr>
              <a:t>3. Selvaraju, R. R., et al. (2017). Grad-CAM: Visual Explanations from Deep Networks via Gradient-Based Localization. Proceedings of ICCV, 618–626.</a:t>
            </a:r>
            <a:endParaRPr b="0" lang="en-IN" sz="1800" spc="-1" strike="noStrike">
              <a:latin typeface="Arial"/>
            </a:endParaRPr>
          </a:p>
          <a:p>
            <a:pPr algn="just">
              <a:lnSpc>
                <a:spcPct val="110000"/>
              </a:lnSpc>
              <a:spcAft>
                <a:spcPts val="1001"/>
              </a:spcAft>
              <a:buNone/>
            </a:pPr>
            <a:r>
              <a:rPr b="0" lang="en-US" sz="1800" spc="-1" strike="noStrike">
                <a:solidFill>
                  <a:srgbClr val="000000"/>
                </a:solidFill>
                <a:latin typeface="Times New Roman"/>
              </a:rPr>
              <a:t>4. He, K., Zhang, X., Ren, S., &amp; Sun, J. (2016). Deep Residual Learning for Image Recognition. Proceedings of CVPR, 770–778.</a:t>
            </a:r>
            <a:endParaRPr b="0" lang="en-IN" sz="1800" spc="-1" strike="noStrike">
              <a:latin typeface="Arial"/>
            </a:endParaRPr>
          </a:p>
        </p:txBody>
      </p:sp>
      <p:sp>
        <p:nvSpPr>
          <p:cNvPr id="147" name="TextBox 4"/>
          <p:cNvSpPr/>
          <p:nvPr/>
        </p:nvSpPr>
        <p:spPr>
          <a:xfrm>
            <a:off x="5923080" y="6144840"/>
            <a:ext cx="333360" cy="272160"/>
          </a:xfrm>
          <a:prstGeom prst="rect">
            <a:avLst/>
          </a:prstGeom>
          <a:noFill/>
          <a:ln w="0">
            <a:noFill/>
          </a:ln>
        </p:spPr>
        <p:style>
          <a:lnRef idx="0"/>
          <a:fillRef idx="0"/>
          <a:effectRef idx="0"/>
          <a:fontRef idx="minor"/>
        </p:style>
        <p:txBody>
          <a:bodyPr wrap="none" lIns="90000" rIns="90000" tIns="45000" bIns="45000" anchor="t">
            <a:spAutoFit/>
          </a:bodyPr>
          <a:p>
            <a:pPr algn="ctr">
              <a:lnSpc>
                <a:spcPct val="100000"/>
              </a:lnSpc>
              <a:buNone/>
            </a:pPr>
            <a:r>
              <a:rPr b="0" lang="en-US" sz="1200" spc="-1" strike="noStrike">
                <a:solidFill>
                  <a:srgbClr val="000000"/>
                </a:solidFill>
                <a:latin typeface="Times New Roman"/>
              </a:rPr>
              <a:t>12</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Rectangle 3"/>
          <p:cNvSpPr/>
          <p:nvPr/>
        </p:nvSpPr>
        <p:spPr>
          <a:xfrm>
            <a:off x="349200" y="440640"/>
            <a:ext cx="11512800" cy="6093000"/>
          </a:xfrm>
          <a:prstGeom prst="rect">
            <a:avLst/>
          </a:prstGeom>
          <a:noFill/>
          <a:ln w="19050">
            <a:solidFill>
              <a:srgbClr val="000000"/>
            </a:solidFill>
          </a:ln>
        </p:spPr>
        <p:style>
          <a:lnRef idx="2">
            <a:schemeClr val="accent1">
              <a:shade val="50000"/>
            </a:schemeClr>
          </a:lnRef>
          <a:fillRef idx="1">
            <a:schemeClr val="accent1"/>
          </a:fillRef>
          <a:effectRef idx="0">
            <a:schemeClr val="accent1"/>
          </a:effectRef>
          <a:fontRef idx="minor"/>
        </p:style>
      </p:sp>
      <p:sp>
        <p:nvSpPr>
          <p:cNvPr id="149" name="PlaceHolder 1"/>
          <p:cNvSpPr>
            <a:spLocks noGrp="1"/>
          </p:cNvSpPr>
          <p:nvPr>
            <p:ph type="title"/>
          </p:nvPr>
        </p:nvSpPr>
        <p:spPr>
          <a:xfrm>
            <a:off x="4130640" y="2766240"/>
            <a:ext cx="4091040" cy="1325160"/>
          </a:xfrm>
          <a:prstGeom prst="rect">
            <a:avLst/>
          </a:prstGeom>
          <a:noFill/>
          <a:ln w="0">
            <a:noFill/>
          </a:ln>
        </p:spPr>
        <p:txBody>
          <a:bodyPr anchor="ctr">
            <a:noAutofit/>
          </a:bodyPr>
          <a:p>
            <a:pPr>
              <a:lnSpc>
                <a:spcPct val="110000"/>
              </a:lnSpc>
              <a:spcAft>
                <a:spcPts val="1001"/>
              </a:spcAft>
              <a:buNone/>
            </a:pPr>
            <a:r>
              <a:rPr b="0" lang="en-IN" sz="4400" spc="-1" strike="noStrike">
                <a:solidFill>
                  <a:srgbClr val="000000"/>
                </a:solidFill>
                <a:latin typeface="Times New Roman"/>
              </a:rPr>
              <a:t>THANK YOU</a:t>
            </a:r>
            <a:endParaRPr b="0" lang="en-US" sz="4400" spc="-1" strike="noStrike">
              <a:solidFill>
                <a:srgbClr val="000000"/>
              </a:solidFill>
              <a:latin typeface="Calibri"/>
            </a:endParaRPr>
          </a:p>
        </p:txBody>
      </p:sp>
      <p:sp>
        <p:nvSpPr>
          <p:cNvPr id="150" name="TextBox 4"/>
          <p:cNvSpPr/>
          <p:nvPr/>
        </p:nvSpPr>
        <p:spPr>
          <a:xfrm>
            <a:off x="5766480" y="6190560"/>
            <a:ext cx="643320" cy="3027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400" spc="-1" strike="noStrike">
                <a:solidFill>
                  <a:srgbClr val="000000"/>
                </a:solidFill>
                <a:latin typeface="Calibri"/>
              </a:rPr>
              <a:t>13</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1122</TotalTime>
  <Application>PPTXPresentationEditor/1.2.0.0$MacOSX_AARCH64 LibreOffice_project/e114eadc50a9ff8d8c8a0567d6da8f454beeb84f</Application>
  <AppVersion>15.0000</AppVersion>
  <Words>1064</Words>
  <Paragraphs>111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2026-08-24T14:47:07Z</dcterms:created>
  <dc:creator>MAHESH</dc:creator>
  <dc:description/>
  <dc:language>en-IN</dc:language>
  <cp:lastModifiedBy/>
  <dcterms:modified xsi:type="dcterms:W3CDTF">2026-08-27T01:30:41Z</dcterms:modified>
  <cp:revision>28</cp:revision>
  <dc:subject/>
  <dc:title>AGENTIC  PRIVACY CONTROL SYSTEM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13</vt:i4>
  </property>
</Properties>
</file>