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imes New Roman" charset="1" panose="02020603050405020304"/>
      <p:regular r:id="rId20"/>
    </p:embeddedFont>
    <p:embeddedFont>
      <p:font typeface="Times New Roman Bold" charset="1" panose="02020803070505020304"/>
      <p:regular r:id="rId21"/>
    </p:embeddedFont>
    <p:embeddedFont>
      <p:font typeface="Open Sauce" charset="1" panose="00000500000000000000"/>
      <p:regular r:id="rId22"/>
    </p:embeddedFont>
    <p:embeddedFont>
      <p:font typeface="DM Serif Display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621" y="1228725"/>
            <a:ext cx="1676958" cy="1354919"/>
          </a:xfrm>
          <a:custGeom>
            <a:avLst/>
            <a:gdLst/>
            <a:ahLst/>
            <a:cxnLst/>
            <a:rect r="r" b="b" t="t" l="l"/>
            <a:pathLst>
              <a:path h="1354919" w="1676958">
                <a:moveTo>
                  <a:pt x="0" y="0"/>
                </a:moveTo>
                <a:lnTo>
                  <a:pt x="1676958" y="0"/>
                </a:lnTo>
                <a:lnTo>
                  <a:pt x="1676958" y="1354919"/>
                </a:lnTo>
                <a:lnTo>
                  <a:pt x="0" y="1354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799578"/>
            <a:ext cx="4892139" cy="199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</a:t>
            </a:r>
          </a:p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Dr.M.Nagaratna</a:t>
            </a:r>
          </a:p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Professor, HOD of CSE Dept.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JNTUH UCESTH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69374" y="8042465"/>
            <a:ext cx="3095506" cy="199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algn="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DANDGE VAISHNAVI</a:t>
            </a:r>
          </a:p>
          <a:p>
            <a:pPr algn="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22011P0514</a:t>
            </a:r>
          </a:p>
          <a:p>
            <a:pPr algn="r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CSE-IDP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5449" y="1238250"/>
            <a:ext cx="14917102" cy="546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JAWAHARLAL NEHRU TECHNOLOGICAL UNIVERSITY HYDERABAD</a:t>
            </a:r>
          </a:p>
          <a:p>
            <a:pPr algn="ctr">
              <a:lnSpc>
                <a:spcPts val="543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COLLEGE OF ENGINEERING SCIENCE AND TECHNOLOGY</a:t>
            </a:r>
          </a:p>
          <a:p>
            <a:pPr algn="ctr">
              <a:lnSpc>
                <a:spcPts val="543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</a:t>
            </a:r>
          </a:p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Adversarial Deceptive Reinforcement Learning: Extending SAD-RL </a:t>
            </a:r>
          </a:p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through Co-Evolution and Adaptive Opponent Modelling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DISSERTATION STAGE-01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DISSERTATION WORK REVIEW-01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AUGUST - 2026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195725"/>
            <a:ext cx="7760628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 of Contents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68048" y="2770812"/>
            <a:ext cx="4269224" cy="616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40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algn="l" marL="777240" indent="-388620" lvl="1">
              <a:lnSpc>
                <a:spcPts val="540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algn="l" marL="777240" indent="-388620" lvl="1">
              <a:lnSpc>
                <a:spcPts val="540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Work</a:t>
            </a:r>
          </a:p>
          <a:p>
            <a:pPr algn="l" marL="777240" indent="-388620" lvl="1">
              <a:lnSpc>
                <a:spcPts val="540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algn="l" marL="777240" indent="-388620" lvl="1">
              <a:lnSpc>
                <a:spcPts val="540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</a:p>
          <a:p>
            <a:pPr algn="l" marL="777240" indent="-388620" lvl="1">
              <a:lnSpc>
                <a:spcPts val="540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</a:p>
          <a:p>
            <a:pPr algn="l" marL="777240" indent="-388620" lvl="1">
              <a:lnSpc>
                <a:spcPts val="540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algn="l" marL="777240" indent="-388620" lvl="1">
              <a:lnSpc>
                <a:spcPts val="540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algn="l" marL="777240" indent="-388620" lvl="1">
              <a:lnSpc>
                <a:spcPts val="540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195725"/>
            <a:ext cx="5260764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5" id="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2657126"/>
            <a:ext cx="16230600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 agents deployed in adversarial settings (defence, negotiation, competitive multi-agent games) face a core vulnerability i.e. predictability invites exploitation by rational adversaries who learn to anticipate their behaviour. SAD-RL addressed this by penalising a surrogate model's predictive accuracy to induce strategic opacity, but was validated only under simplified conditions one-sided deception, a static surrogate, and a single agent.This dissertation extends SAD-RL via symmetric deception (mutual penalties for co-evolutionary study), adaptive opponent modelling (online surrogate updates against non-stationary adversaries), and team deception (coordinated opacity across cooperative multi-agent teams). Through empirical evaluation across these extensions, the work aims to move SAD-RL from proof-of-concept toward a robust, deployable framework balancing competence with strategic opacity under real adversarial conditions.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195725"/>
            <a:ext cx="5260764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5" id="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2657126"/>
            <a:ext cx="16230600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Autonomous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agents in competitive arenas can no longer be judged by task success alone; an opponent that decodes their patterns gains the upper hand, making behavioural transparency a liability.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SAD-RL tackled this by training agents to confuse a tracking model built to imitate them, but the proof rested on a narrow setup: one learner deceiving a passive tracker, an opponent that never adjusted, and no coordination with allies.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conflict rarely looks that clean genuine adversaries push back and refine their read over time, and many high-stakes tasks are handled by groups, none of which the original framework tested.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work pushes SAD-RL into messier territory: two mutually evasive learners, a tracking model that keeps pace with a shifting target, and deception scaled to coordinated group behaviour to test whether engineered unpredictability survives real adversarial contact.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195725"/>
            <a:ext cx="7096947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Work: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22550"/>
            <a:ext cx="16230600" cy="617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Surrogate-Augmented Deception in Reinforcement Learning (SAD-RL): </a:t>
            </a:r>
          </a:p>
          <a:p>
            <a:pPr algn="l">
              <a:lnSpc>
                <a:spcPts val="4499"/>
              </a:lnSpc>
            </a:pP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Authors: </a:t>
            </a: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Joe Shymanski, Scott Nivison, Sandip Sen</a:t>
            </a:r>
          </a:p>
          <a:p>
            <a:pPr algn="l">
              <a:lnSpc>
                <a:spcPts val="4499"/>
              </a:lnSpc>
            </a:pP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</a:t>
            </a: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Mechan</a:t>
            </a: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</a:t>
            </a: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sm: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 tra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ns: Learns 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icy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tow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bj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ecti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ve.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Surroga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m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 observes: 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separate model tries to predict the agent's behaviour.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is penalised: The agent is rewarded for degra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surrogate'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predictive 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accuracy.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pacity emerges: The agent lear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 to rema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effective while becoming ha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model.</a:t>
            </a:r>
          </a:p>
          <a:p>
            <a:pPr algn="l">
              <a:lnSpc>
                <a:spcPts val="4499"/>
              </a:lnSpc>
            </a:pP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Demonstr</a:t>
            </a: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</a:t>
            </a: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 </a:t>
            </a: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</a:t>
            </a: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 the </a:t>
            </a: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origin</a:t>
            </a:r>
            <a:r>
              <a:rPr lang="en-US" b="true" sz="29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 work: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Penalising s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urrogate accuracy induces strategic opacity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Deceptive agents retain task competence</a:t>
            </a:r>
          </a:p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against a single, static opponent model.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195725"/>
            <a:ext cx="8271237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641" y="3230083"/>
            <a:ext cx="16114960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extend the SAD-RL framework and evaluate whether trained strategic opacity persists when both agents in an adversarial pair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incentivised to deceive, the opponent's surrogate model continuously adapts, and deception must be coordinated across a cooperative multi-agent team.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195725"/>
            <a:ext cx="8271237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6641" y="2896708"/>
            <a:ext cx="16114960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extend the SAD-RL (Surrogate-Augmented Deception in Reinforcement Learning) framework beyond its original single-sided, static-adversary formulation by enabling agents to learn and study deception under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realistic, co-adaptive conditions where opponents also learn, surrogate models are diverse and dynamic, and deception can emerge across multiple agents and domains.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66399" y="2979165"/>
            <a:ext cx="5026555" cy="5026555"/>
            <a:chOff x="0" y="0"/>
            <a:chExt cx="4489857" cy="448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4489857" cy="458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45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630723" y="2979165"/>
            <a:ext cx="5026555" cy="5026555"/>
            <a:chOff x="0" y="0"/>
            <a:chExt cx="4489857" cy="44898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4489857" cy="458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5047" y="2979165"/>
            <a:ext cx="5026555" cy="5026555"/>
            <a:chOff x="0" y="0"/>
            <a:chExt cx="4489857" cy="44898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4489857" cy="458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085112"/>
            <a:ext cx="9596811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44264" y="4292293"/>
            <a:ext cx="4276833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Symm</a:t>
            </a:r>
            <a:r>
              <a:rPr lang="en-US" b="true" sz="3000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etric Deception: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ag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ents receive surrogate p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lties; study co-evolu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nary dynamics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05583" y="4030355"/>
            <a:ext cx="4276833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</a:t>
            </a:r>
            <a:r>
              <a:rPr lang="en-US" b="true" sz="3000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Opponent Modelling:</a:t>
            </a:r>
          </a:p>
          <a:p>
            <a:pPr algn="ctr" marL="0" indent="0" lvl="0">
              <a:lnSpc>
                <a:spcPts val="4500"/>
              </a:lnSpc>
            </a:pP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s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ate updates a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nst non-stationary, counter-ad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apt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69907" y="4517347"/>
            <a:ext cx="4276833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</a:t>
            </a:r>
            <a:r>
              <a:rPr lang="en-US" b="true" sz="3000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Deception: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Multiagent teams coordinate 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llective,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</a:t>
            </a:r>
            <a:r>
              <a:rPr lang="en-US" sz="3000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deception strategies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31576" y="859929"/>
            <a:ext cx="16370861" cy="7592895"/>
            <a:chOff x="0" y="0"/>
            <a:chExt cx="21827815" cy="1012386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929184"/>
              <a:ext cx="6457510" cy="8194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9"/>
                </a:lnSpc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both agents in an adversarial pair are simultaneously rewarded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for evading each other's surrogate models, what equilibrium behaviours emerge?</a:t>
              </a:r>
            </a:p>
            <a:p>
              <a:pPr algn="l" marL="647694" indent="-323847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Mutual Surrogate Penalty</a:t>
              </a:r>
            </a:p>
            <a:p>
              <a:pPr algn="l" marL="647694" indent="-323847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Co-Evo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uti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na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y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Tra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ing</a:t>
              </a:r>
            </a:p>
            <a:p>
              <a:pPr algn="l" marL="647694" indent="-323847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Eq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ilib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rium Anal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7587810" y="1929184"/>
              <a:ext cx="6457510" cy="7445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9"/>
                </a:lnSpc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Does strategic opacity persist when the opponent's surrogate model is continuously updated online, rather than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fixed at training time?</a:t>
              </a:r>
            </a:p>
            <a:p>
              <a:pPr algn="l" marL="647694" indent="-323847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Online Surrogate Up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date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</a:t>
              </a:r>
            </a:p>
            <a:p>
              <a:pPr algn="l" marL="647694" indent="-323847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Non-Stationary Adversaries</a:t>
              </a:r>
            </a:p>
            <a:p>
              <a:pPr algn="l" marL="647694" indent="-323847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Robustness Testing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6965" y="-42758"/>
              <a:ext cx="6444810" cy="942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7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</a:t>
              </a: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y</a:t>
              </a: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mm</a:t>
              </a: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et</a:t>
              </a: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</a:t>
              </a: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</a:t>
              </a: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 D</a:t>
              </a: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eception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5383005" y="-42758"/>
              <a:ext cx="6444810" cy="942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79"/>
                </a:lnSpc>
                <a:spcBef>
                  <a:spcPct val="0"/>
                </a:spcBef>
              </a:pP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</a:t>
              </a: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</a:t>
              </a: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am Deception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844884" y="-171450"/>
              <a:ext cx="5943363" cy="19714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7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Adaptive Opponent M</a:t>
              </a:r>
              <a:r>
                <a:rPr lang="en-US" b="true" sz="37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odelling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5179455" y="1885741"/>
              <a:ext cx="6457510" cy="5946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9"/>
                </a:lnSpc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 multiple cooperating agents coordinate a collective decept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ion strategy that is harder to model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 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individual agent's behavio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2999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?</a:t>
              </a:r>
            </a:p>
            <a:p>
              <a:pPr algn="l" marL="647694" indent="-323847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Mul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tiagen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 Extension</a:t>
              </a:r>
            </a:p>
            <a:p>
              <a:pPr algn="l" marL="647694" indent="-323847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Col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lective 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or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dinati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</a:t>
              </a:r>
            </a:p>
            <a:p>
              <a:pPr algn="l" marL="647694" indent="-323847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Emerge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 Role Divi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sio</a:t>
              </a:r>
              <a:r>
                <a:rPr lang="en-US" b="true" sz="2999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195725"/>
            <a:ext cx="10399168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84961" y="9142095"/>
            <a:ext cx="3450476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00"/>
              </a:lnSpc>
            </a:pPr>
            <a:r>
              <a:rPr lang="en-US" sz="1800">
                <a:solidFill>
                  <a:srgbClr val="000000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2174" y="3034524"/>
            <a:ext cx="344095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</a:t>
            </a:r>
            <a:r>
              <a:rPr lang="en-US" b="true" sz="27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aseline Reproduction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899" y="3679049"/>
            <a:ext cx="3237203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Reproduce original SAD-RL results as a control condition.</a:t>
            </a:r>
          </a:p>
        </p:txBody>
      </p:sp>
      <p:sp>
        <p:nvSpPr>
          <p:cNvPr name="AutoShape 8" id="8"/>
          <p:cNvSpPr/>
          <p:nvPr/>
        </p:nvSpPr>
        <p:spPr>
          <a:xfrm>
            <a:off x="1175924" y="5715000"/>
            <a:ext cx="159361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747424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4080400" y="7116445"/>
            <a:ext cx="344095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Symmetric S</a:t>
            </a:r>
            <a:r>
              <a:rPr lang="en-US" b="true" sz="27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etup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80400" y="7770495"/>
            <a:ext cx="4453951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mutual surrogate penalties in a two-agent adversarial environment.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3708925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6684551" y="3034524"/>
            <a:ext cx="344095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</a:t>
            </a:r>
            <a:r>
              <a:rPr lang="en-US" b="true" sz="27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aptive Surrogates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58221" y="3688574"/>
            <a:ext cx="3967252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online-updating surrogate models against the trained agents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6786746" y="3795184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385578" y="7116445"/>
            <a:ext cx="344095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US" b="true" sz="27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eam Formulation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85578" y="7770495"/>
            <a:ext cx="5007018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the environment and reward structure to cooperative multi-agent teams.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0014103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12541248" y="3034524"/>
            <a:ext cx="344095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Evalu</a:t>
            </a:r>
            <a:r>
              <a:rPr lang="en-US" b="true" sz="2799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ation Suite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98394" y="3679049"/>
            <a:ext cx="4852159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Compare task competence, surrogate error, and exploitability across all conditions.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2626919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82204" y="1098843"/>
            <a:ext cx="14523593" cy="8159457"/>
          </a:xfrm>
          <a:custGeom>
            <a:avLst/>
            <a:gdLst/>
            <a:ahLst/>
            <a:cxnLst/>
            <a:rect r="r" b="b" t="t" l="l"/>
            <a:pathLst>
              <a:path h="8159457" w="14523593">
                <a:moveTo>
                  <a:pt x="0" y="0"/>
                </a:moveTo>
                <a:lnTo>
                  <a:pt x="14523592" y="0"/>
                </a:lnTo>
                <a:lnTo>
                  <a:pt x="14523592" y="8159457"/>
                </a:lnTo>
                <a:lnTo>
                  <a:pt x="0" y="81594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649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195725"/>
            <a:ext cx="10399168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924" y="2890540"/>
            <a:ext cx="15774395" cy="418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SAD-R</a:t>
            </a: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d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emonstrated that strategic opacity can be trained int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RL agents without sacrificing task competence — but only under simplified condition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s: one-sided, static, and sing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le-agent. This disse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rtatio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proposes to close those gaps through symmetric deception, adaptive opponent modelling, and team deception, testing 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hether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opacity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urvives mutual adaptation, lear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ning adversaries, 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mult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i-agent c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oordination. The g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oal is to mov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SAD-RL from a proof-of-concep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a framework robust enoug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deployment in genuinely adv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sarial, real-world settings</a:t>
            </a:r>
            <a:r>
              <a:rPr lang="en-US" sz="2999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752475"/>
            <a:ext cx="10399168" cy="112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00" y="1999615"/>
            <a:ext cx="17996984" cy="699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Y. Kim, A. Benvenuti, B. Chen, M. Karabag, A. Kulkarni, N. D. Bastian, U. Topcu, and M. Hale, "Deceptive sequential decision-making via regularized policy optimization," arXiv:2501.18803, 2025.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Y.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Kim, A. Benvenuti, B. Chen, M. Karabag, A. Kulkarni, N. D. Bastian, U. Topcu, and M. Hale, "Defining and measuring deception in sequential decision systems: Application to network defense," in Proc. IEEE Mil. Commun. Conf. (MILCOM), 2024, pp. 1–6.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T.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Bansal, J. Pachocki, S. Sidor, I. Sutskever, and I. Mordatch, "Emergent complexity via multi-agent competition," in Proc. Int. Conf. Learn. Represent. (ICLR), 2018.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P.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Hernandez-Leal, M. Kaisers, T. Baarslag, and E. Munoz de Cote, "A survey of learning in multiagent environments: Dealing with non-stationarity," arXiv:1707.09183, 2017.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J.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Foerster, R. Y. Chen, M. Al-Shedivat, S. Whiteson, P. Abbeel, and I. Mordatch, "Learning with opponent-learning awareness," in Proc. Int. Conf. Auton. Agents Multiagent Syst. (AAMAS), 2018, pp. 122–130.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R.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Lowe, Y. Wu, A. Tamar, J. Harb, P. Abbeel, and I. Mordatch, "Multi-agent actor-critic for mixed cooperative-competitive environments," in Adv. Neural Inf. Process. Syst. (NeurIPS), vol. 30, 2017, pp. 6379–6390.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J.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Lin, K. Dzeparoska, S. Q. Zhang, A. Leon-Garcia, and N. Papernot, "On the robustness of cooperative multi-agent reinforcement learning," arXiv:2003.03722, 2020.</a:t>
            </a:r>
          </a:p>
          <a:p>
            <a:pPr algn="l" marL="0" indent="0" lvl="0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J.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Schulman, F. Wolski, P. Dhariwal, A. Radford, and O. Klimov, "Proximal policy optimization algorithms," arXiv:1707.06347, 2017.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3783330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DAHTXG0U9FE</dc:identifier>
  <dcterms:modified xsi:type="dcterms:W3CDTF">2011-08-01T06:04:30Z</dcterms:modified>
  <cp:revision>1</cp:revision>
  <dc:title>514_Dissertatio_Proprc_final</dc:title>
</cp:coreProperties>
</file>