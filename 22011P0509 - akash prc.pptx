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indicnlp.ai4bharat.org/samanantar/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I4Bharat/IndicTrans2" TargetMode="External"/><Relationship Id="rId7" Type="http://schemas.openxmlformats.org/officeDocument/2006/relationships/hyperlink" Target="https://huggingface.co/datasets/adivaanihf/adivaani-tribal-english-parallel-corpus" TargetMode="External"/><Relationship Id="rId2" Type="http://schemas.openxmlformats.org/officeDocument/2006/relationships/hyperlink" Target="https://arxiv.org/abs/2305.16307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gnetswara.org/hindi-gondi-corpus.html" TargetMode="External"/><Relationship Id="rId5" Type="http://schemas.openxmlformats.org/officeDocument/2006/relationships/hyperlink" Target="https://indicnlp.ai4bharat.org/samanantar/" TargetMode="External"/><Relationship Id="rId4" Type="http://schemas.openxmlformats.org/officeDocument/2006/relationships/hyperlink" Target="https://doi.org/10.1162/tacl_a_00452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0904564-B202-9148-ED13-0399A56C7D14}"/>
              </a:ext>
            </a:extLst>
          </p:cNvPr>
          <p:cNvSpPr txBox="1">
            <a:spLocks/>
          </p:cNvSpPr>
          <p:nvPr/>
        </p:nvSpPr>
        <p:spPr>
          <a:xfrm>
            <a:off x="962109" y="3009596"/>
            <a:ext cx="10492830" cy="72519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82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FF0000"/>
                </a:solidFill>
                <a:latin typeface="Times New Roman"/>
              </a:rPr>
              <a:t>Design and Development of a Deep Learning and AI Based Mobile Application for English-to-Telugu and English-to-Gondi Language Translation</a:t>
            </a:r>
          </a:p>
          <a:p>
            <a:endParaRPr lang="en-US" sz="2800" b="1" dirty="0">
              <a:solidFill>
                <a:srgbClr val="FF0000"/>
              </a:solidFill>
              <a:latin typeface="Times New Roman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681F1E2-C47B-FAC4-ABCD-F4CD0F457AC6}"/>
              </a:ext>
            </a:extLst>
          </p:cNvPr>
          <p:cNvSpPr txBox="1">
            <a:spLocks/>
          </p:cNvSpPr>
          <p:nvPr/>
        </p:nvSpPr>
        <p:spPr>
          <a:xfrm>
            <a:off x="3134590" y="2339592"/>
            <a:ext cx="5922817" cy="56096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800" b="1"/>
            </a:pPr>
            <a:r>
              <a:rPr lang="en-US" sz="2000" b="1">
                <a:solidFill>
                  <a:schemeClr val="accent1">
                    <a:lumMod val="75000"/>
                  </a:schemeClr>
                </a:solidFill>
              </a:rPr>
              <a:t>DISSERTATION WORK REVIEW – 1</a:t>
            </a:r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AB4346-2EA5-4BA8-9714-4B52B80B4DF6}"/>
              </a:ext>
            </a:extLst>
          </p:cNvPr>
          <p:cNvSpPr/>
          <p:nvPr/>
        </p:nvSpPr>
        <p:spPr>
          <a:xfrm>
            <a:off x="339436" y="382385"/>
            <a:ext cx="11513126" cy="60932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9D431D-CEBD-8B73-C717-CFC4E684263A}"/>
              </a:ext>
            </a:extLst>
          </p:cNvPr>
          <p:cNvSpPr txBox="1"/>
          <p:nvPr/>
        </p:nvSpPr>
        <p:spPr>
          <a:xfrm>
            <a:off x="8974814" y="4638184"/>
            <a:ext cx="4422371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200"/>
            </a:pPr>
            <a:r>
              <a:rPr sz="1600" b="1" dirty="0">
                <a:solidFill>
                  <a:schemeClr val="accent2">
                    <a:lumMod val="50000"/>
                  </a:schemeClr>
                </a:solidFill>
              </a:rPr>
              <a:t>GUIDE: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200"/>
            </a:pPr>
            <a:r>
              <a:rPr lang="en-US" sz="1600" b="1" dirty="0">
                <a:solidFill>
                  <a:srgbClr val="1E1E1E"/>
                </a:solidFill>
                <a:latin typeface="Times New Roman"/>
              </a:rPr>
              <a:t>Dr. A. Kavitha 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200"/>
            </a:pPr>
            <a:r>
              <a:rPr sz="1600" dirty="0"/>
              <a:t>Professor, CSE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200"/>
            </a:pPr>
            <a:r>
              <a:rPr sz="1600" dirty="0"/>
              <a:t>JNTUH UCE</a:t>
            </a:r>
            <a:r>
              <a:rPr lang="en-US" sz="1600" dirty="0"/>
              <a:t>H</a:t>
            </a:r>
            <a:endParaRPr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AB6634-D5D4-7839-5CB5-A34F4EFFC017}"/>
              </a:ext>
            </a:extLst>
          </p:cNvPr>
          <p:cNvSpPr txBox="1"/>
          <p:nvPr/>
        </p:nvSpPr>
        <p:spPr>
          <a:xfrm>
            <a:off x="962109" y="4631174"/>
            <a:ext cx="33500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200"/>
            </a:pPr>
            <a:r>
              <a:rPr sz="1600" b="1" dirty="0">
                <a:solidFill>
                  <a:schemeClr val="accent2">
                    <a:lumMod val="50000"/>
                  </a:schemeClr>
                </a:solidFill>
              </a:rPr>
              <a:t>PRESENTED BY: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200"/>
            </a:pPr>
            <a:r>
              <a:rPr lang="en-US" sz="1600" b="1" dirty="0">
                <a:solidFill>
                  <a:srgbClr val="1E1E1E"/>
                </a:solidFill>
                <a:latin typeface="Times New Roman"/>
              </a:rPr>
              <a:t>M. Akash Reddy (22011P0509)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200"/>
            </a:pPr>
            <a:r>
              <a:rPr lang="en-US" sz="1600" dirty="0">
                <a:solidFill>
                  <a:srgbClr val="1E1E1E"/>
                </a:solidFill>
                <a:latin typeface="Times New Roman"/>
              </a:rPr>
              <a:t> </a:t>
            </a:r>
            <a:r>
              <a:rPr lang="en-US" sz="1600" dirty="0"/>
              <a:t>B.Tech-IDP ,5</a:t>
            </a:r>
            <a:r>
              <a:rPr lang="en-US" sz="1600" baseline="30000" dirty="0"/>
              <a:t>th</a:t>
            </a:r>
            <a:r>
              <a:rPr lang="en-US" sz="1600" dirty="0"/>
              <a:t> Year I Semester</a:t>
            </a:r>
            <a:endParaRPr sz="1600" dirty="0"/>
          </a:p>
          <a:p>
            <a:pPr>
              <a:spcAft>
                <a:spcPts val="600"/>
              </a:spcAft>
              <a:defRPr sz="1200"/>
            </a:pPr>
            <a:r>
              <a:rPr sz="1600" dirty="0"/>
              <a:t>CSE</a:t>
            </a:r>
            <a:r>
              <a:rPr lang="en-US" sz="1600" dirty="0"/>
              <a:t> , JNTUH UCEH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200"/>
            </a:pPr>
            <a:endParaRPr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467829-ECE5-8D27-3C09-8781F7746E6A}"/>
              </a:ext>
            </a:extLst>
          </p:cNvPr>
          <p:cNvSpPr txBox="1"/>
          <p:nvPr/>
        </p:nvSpPr>
        <p:spPr>
          <a:xfrm>
            <a:off x="2412725" y="712688"/>
            <a:ext cx="820160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defRPr sz="1700" b="1">
                <a:solidFill>
                  <a:srgbClr val="EE2BAE"/>
                </a:solidFill>
                <a:latin typeface="Times New Roman"/>
              </a:defRPr>
            </a:pPr>
            <a:r>
              <a:rPr dirty="0">
                <a:solidFill>
                  <a:schemeClr val="accent2">
                    <a:lumMod val="50000"/>
                  </a:schemeClr>
                </a:solidFill>
              </a:rPr>
              <a:t>DEPARTMENT OF COMPUTER SCIENCE AND ENGINEERING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FF0000"/>
                </a:solidFill>
              </a:rPr>
              <a:t>JAWAHARLAL NEHRU TECHNOLOGICAL UNIVERSITY HYDERABAD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  <a:defRPr sz="1500" b="1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UNIVERSITY COLLEGE OF ENGINEERING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HYDERABAD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00000"/>
              </a:lnSpc>
              <a:spcAft>
                <a:spcPts val="600"/>
              </a:spcAft>
              <a:defRPr sz="1500" b="1">
                <a:solidFill>
                  <a:srgbClr val="000000"/>
                </a:solidFill>
                <a:latin typeface="Times New Roman"/>
              </a:defRPr>
            </a:pPr>
            <a:r>
              <a:rPr lang="en-US" dirty="0"/>
              <a:t>Kukatpally , Hyderabad , Telangana (India) – 500 085</a:t>
            </a:r>
            <a:endParaRPr dirty="0"/>
          </a:p>
        </p:txBody>
      </p:sp>
      <p:pic>
        <p:nvPicPr>
          <p:cNvPr id="11" name="Picture 10" descr="JNTU Hyderabad Logo">
            <a:extLst>
              <a:ext uri="{FF2B5EF4-FFF2-40B4-BE49-F238E27FC236}">
                <a16:creationId xmlns:a16="http://schemas.microsoft.com/office/drawing/2014/main" id="{060882CC-DC65-A104-8216-788A25967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54" y="595610"/>
            <a:ext cx="1571163" cy="121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879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905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11155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E61919"/>
                </a:solidFill>
                <a:latin typeface="Arial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064240" cy="53949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Machine translation for Indian tribal languages remains challenging because of limited digital resources and parallel corpora.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English→Telugu is comparatively better supported; English→Gondi is treated as a low-resource, exploratory component.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Public parallel/evaluation datasets will be cleaned, normalized, deduplicated and split into training, validation and test sets.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IndicTrans2-based multilingual models will be considered as the starting point for English→Telugu experiments.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Performance will be compared using automatic metrics such as BLEU and chrF++; dataset characteristics and limitations will be documented.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The project may integrate text-to-speech and a lightweight mobile interface to demonstrate accessibility and deployment feasibility.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905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11155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E61919"/>
                </a:solidFill>
                <a:latin typeface="Arial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92333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rPr lang="en-US" dirty="0">
                <a:solidFill>
                  <a:srgbClr val="1E1E1E"/>
                </a:solidFill>
                <a:latin typeface="Arial"/>
              </a:rPr>
              <a:t>Low-resource Indian languages, especially Gondi, lack reliable parallel datasets for effective machine translation. This project aims to develop a lightweight mobile application for English–Telugu translation and exploratory English–Gondi translation with transparent evaluation.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905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11155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E61919"/>
                </a:solidFill>
                <a:latin typeface="Arial"/>
              </a:rPr>
              <a:t>INTRODUCTION – MACHINE TRANSLATION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064240" cy="53949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Machine translation automatically converts text from a source language into a target language.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Neural machine translation learns a mapping from aligned source–target sentence pairs.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Multilingual models can transfer knowledge between languages and are useful when one language has fewer resources.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IndicTrans2 supports all 22 scheduled Indian languages and releases training/evaluation resources for research.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Project focus: practical English→Telugu translation plus exploratory English→Gondi translation.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983480"/>
            <a:ext cx="2286000" cy="685800"/>
          </a:xfrm>
          <a:prstGeom prst="roundRect">
            <a:avLst/>
          </a:prstGeom>
          <a:solidFill>
            <a:srgbClr val="E8EEF8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F3758"/>
                </a:solidFill>
                <a:latin typeface="Arial"/>
              </a:rPr>
              <a:t>English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983480"/>
            <a:ext cx="2286000" cy="685800"/>
          </a:xfrm>
          <a:prstGeom prst="roundRect">
            <a:avLst/>
          </a:prstGeom>
          <a:solidFill>
            <a:srgbClr val="E8EEF8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F3758"/>
                </a:solidFill>
                <a:latin typeface="Arial"/>
              </a:rPr>
              <a:t>Telugu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4983480"/>
            <a:ext cx="2286000" cy="685800"/>
          </a:xfrm>
          <a:prstGeom prst="roundRect">
            <a:avLst/>
          </a:prstGeom>
          <a:solidFill>
            <a:srgbClr val="E8EEF8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F3758"/>
                </a:solidFill>
                <a:latin typeface="Arial"/>
              </a:rPr>
              <a:t>Gondi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905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11155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E61919"/>
                </a:solidFill>
                <a:latin typeface="Arial"/>
              </a:rPr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064240" cy="1508105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rPr dirty="0"/>
              <a:t>• Gondi has limited public parallel resources compared with Telugu.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rPr dirty="0"/>
              <a:t>• Different Gondi varieties/scripts and domain differences can affect translation quality.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rPr dirty="0"/>
              <a:t>• Publicly available corpora may contain noise or licensing restrictions.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905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11155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E61919"/>
                </a:solidFill>
                <a:latin typeface="Arial"/>
              </a:rPr>
              <a:t>DATASET SOURCES – WHERE THE DATA COMES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758"/>
                </a:solidFill>
                <a:latin typeface="Arial"/>
              </a:rPr>
              <a:t>English → Telugu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303520" cy="182880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Samanantar (AI4Bharat): large public English–Indic parallel corpus; includes Telugu.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BPCC / IndicTrans2 resources: larger multilingual collection and evaluation benchmarks.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60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758"/>
                </a:solidFill>
                <a:latin typeface="Arial"/>
              </a:rPr>
              <a:t>English → Gondi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371600"/>
            <a:ext cx="5257800" cy="228600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CGNetSwara provides a Hindi–Gondi parallel corpus.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Public derived English–Gondi resources can be considered only after checking provenance and license.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Gondi remains exploratory; no claim of a new community-validated corpus.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94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758"/>
                </a:solidFill>
                <a:latin typeface="Arial"/>
              </a:rPr>
              <a:t>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10698480" cy="14173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IndicTrans2 IN22 benchmarks can support evaluation where the target language is covered.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Use separate held-out test data to avoid leakage from training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692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66EB4"/>
                </a:solidFill>
                <a:latin typeface="Arial"/>
                <a:hlinkClick r:id="rId2"/>
              </a:rPr>
              <a:t>Sources: AI4Bharat Samanantar | IndicTrans2 | CGNetSwara Hindi–Gondi corpus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905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11155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E61919"/>
                </a:solidFill>
                <a:latin typeface="Arial"/>
              </a:rPr>
              <a:t>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064240" cy="53949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Collect only legally accessible public parallel/evaluation data.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Normalize Unicode and standardize whitespace, punctuation and script representation.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Remove empty sentences, malformed rows and duplicate sentence pairs.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Filter extreme length ratios and obvious alignment noise.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Keep language tags and source identifiers for reproducibility.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Split data into training, validation and test sets; keep the test set untouched until final evaluation.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46320"/>
            <a:ext cx="2057400" cy="731520"/>
          </a:xfrm>
          <a:prstGeom prst="roundRect">
            <a:avLst/>
          </a:prstGeom>
          <a:solidFill>
            <a:srgbClr val="E8EEF8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highlight>
                  <a:srgbClr val="008000"/>
                </a:highlight>
                <a:latin typeface="Arial"/>
              </a:rPr>
              <a:t>Raw</a:t>
            </a:r>
          </a:p>
          <a:p>
            <a:pPr algn="ctr"/>
            <a:r>
              <a:rPr sz="1500" b="1" dirty="0">
                <a:highlight>
                  <a:srgbClr val="008000"/>
                </a:highlight>
                <a:latin typeface="Arial"/>
              </a:rPr>
              <a:t>parallel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4846320"/>
            <a:ext cx="2057400" cy="731520"/>
          </a:xfrm>
          <a:prstGeom prst="roundRect">
            <a:avLst/>
          </a:prstGeom>
          <a:solidFill>
            <a:srgbClr val="E8EEF8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highlight>
                  <a:srgbClr val="008000"/>
                </a:highlight>
                <a:latin typeface="Arial"/>
              </a:rPr>
              <a:t>Clean &amp;</a:t>
            </a:r>
          </a:p>
          <a:p>
            <a:pPr algn="ctr"/>
            <a:r>
              <a:rPr sz="1500" b="1" dirty="0">
                <a:highlight>
                  <a:srgbClr val="008000"/>
                </a:highlight>
                <a:latin typeface="Arial"/>
              </a:rPr>
              <a:t>normalize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846320"/>
            <a:ext cx="2057400" cy="731520"/>
          </a:xfrm>
          <a:prstGeom prst="roundRect">
            <a:avLst/>
          </a:prstGeom>
          <a:solidFill>
            <a:srgbClr val="E8EEF8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highlight>
                  <a:srgbClr val="008000"/>
                </a:highlight>
                <a:latin typeface="Arial"/>
              </a:rPr>
              <a:t>Deduplicate /</a:t>
            </a:r>
          </a:p>
          <a:p>
            <a:pPr algn="ctr"/>
            <a:r>
              <a:rPr sz="1500" b="1" dirty="0">
                <a:highlight>
                  <a:srgbClr val="008000"/>
                </a:highlight>
                <a:latin typeface="Arial"/>
              </a:rPr>
              <a:t>filter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4846320"/>
            <a:ext cx="2057400" cy="731520"/>
          </a:xfrm>
          <a:prstGeom prst="roundRect">
            <a:avLst/>
          </a:prstGeom>
          <a:solidFill>
            <a:srgbClr val="E8EEF8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highlight>
                  <a:srgbClr val="008000"/>
                </a:highlight>
                <a:latin typeface="Arial"/>
              </a:rPr>
              <a:t>Train / Val /</a:t>
            </a:r>
          </a:p>
          <a:p>
            <a:pPr algn="ctr"/>
            <a:r>
              <a:rPr sz="1500" b="1" dirty="0">
                <a:highlight>
                  <a:srgbClr val="008000"/>
                </a:highlight>
                <a:latin typeface="Arial"/>
              </a:rPr>
              <a:t>Test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88920" y="5212080"/>
            <a:ext cx="594360" cy="0"/>
          </a:xfrm>
          <a:prstGeom prst="line">
            <a:avLst/>
          </a:prstGeom>
          <a:ln w="25400">
            <a:solidFill>
              <a:srgbClr val="466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40680" y="5212080"/>
            <a:ext cx="685800" cy="0"/>
          </a:xfrm>
          <a:prstGeom prst="line">
            <a:avLst/>
          </a:prstGeom>
          <a:ln w="25400">
            <a:solidFill>
              <a:srgbClr val="466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183879" y="5212080"/>
            <a:ext cx="777241" cy="0"/>
          </a:xfrm>
          <a:prstGeom prst="line">
            <a:avLst/>
          </a:prstGeom>
          <a:ln w="25400">
            <a:solidFill>
              <a:srgbClr val="466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905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11155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E61919"/>
                </a:solidFill>
                <a:latin typeface="Arial"/>
              </a:rPr>
              <a:t>OBJECTIVES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064240" cy="53949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Develop a practical English→Telugu and exploratory English→Gondi translation application.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Build a reproducible dataset preparation pipeline using public parallel corpora.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Evaluate an IndicTrans2-based starting point for English→Telugu.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Investigate the feasibility of low-resource English→Gondi translation subject to data availability and licensing.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Compare model outputs using BLEU and chrF++ on held-out test data.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Document dataset characteristics, preprocessing, model settings and limitations.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Demonstrate a lightweight mobile interface and optional text-to-speech integration.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905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11155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E61919"/>
                </a:solidFill>
                <a:latin typeface="Arial"/>
              </a:rPr>
              <a:t>PROPOSED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1828800" cy="960120"/>
          </a:xfrm>
          <a:prstGeom prst="roundRect">
            <a:avLst/>
          </a:prstGeom>
          <a:solidFill>
            <a:srgbClr val="E8EEF8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3758"/>
                </a:solidFill>
                <a:latin typeface="Arial"/>
              </a:rPr>
              <a:t>User</a:t>
            </a:r>
          </a:p>
          <a:p>
            <a:pPr algn="ctr"/>
            <a:r>
              <a:rPr sz="1500" b="1">
                <a:solidFill>
                  <a:srgbClr val="1F3758"/>
                </a:solidFill>
                <a:latin typeface="Arial"/>
              </a:rPr>
              <a:t>English 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377440"/>
            <a:ext cx="1828800" cy="960120"/>
          </a:xfrm>
          <a:prstGeom prst="roundRect">
            <a:avLst/>
          </a:prstGeom>
          <a:solidFill>
            <a:srgbClr val="E8EEF8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3758"/>
                </a:solidFill>
                <a:latin typeface="Arial"/>
              </a:rPr>
              <a:t>Mobile</a:t>
            </a:r>
          </a:p>
          <a:p>
            <a:pPr algn="ctr"/>
            <a:r>
              <a:rPr sz="1500" b="1">
                <a:solidFill>
                  <a:srgbClr val="1F3758"/>
                </a:solidFill>
                <a:latin typeface="Arial"/>
              </a:rPr>
              <a:t>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2377440"/>
            <a:ext cx="1828800" cy="960120"/>
          </a:xfrm>
          <a:prstGeom prst="roundRect">
            <a:avLst/>
          </a:prstGeom>
          <a:solidFill>
            <a:srgbClr val="E8EEF8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3758"/>
                </a:solidFill>
                <a:latin typeface="Arial"/>
              </a:rPr>
              <a:t>Translation</a:t>
            </a:r>
          </a:p>
          <a:p>
            <a:pPr algn="ctr"/>
            <a:r>
              <a:rPr sz="1500" b="1">
                <a:solidFill>
                  <a:srgbClr val="1F3758"/>
                </a:solidFill>
                <a:latin typeface="Arial"/>
              </a:rPr>
              <a:t>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2377440"/>
            <a:ext cx="1828800" cy="960120"/>
          </a:xfrm>
          <a:prstGeom prst="roundRect">
            <a:avLst/>
          </a:prstGeom>
          <a:solidFill>
            <a:srgbClr val="E8EEF8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3758"/>
                </a:solidFill>
                <a:latin typeface="Arial"/>
              </a:rPr>
              <a:t>Telugu / Gondi</a:t>
            </a:r>
          </a:p>
          <a:p>
            <a:pPr algn="ctr"/>
            <a:r>
              <a:rPr sz="1500" b="1">
                <a:solidFill>
                  <a:srgbClr val="1F3758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2377440"/>
            <a:ext cx="1828800" cy="960120"/>
          </a:xfrm>
          <a:prstGeom prst="roundRect">
            <a:avLst/>
          </a:prstGeom>
          <a:solidFill>
            <a:srgbClr val="E8EEF8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3758"/>
                </a:solidFill>
                <a:latin typeface="Arial"/>
              </a:rPr>
              <a:t>Optional</a:t>
            </a:r>
          </a:p>
          <a:p>
            <a:pPr algn="ctr"/>
            <a:r>
              <a:rPr sz="1500" b="1">
                <a:solidFill>
                  <a:srgbClr val="1F3758"/>
                </a:solidFill>
                <a:latin typeface="Arial"/>
              </a:rPr>
              <a:t>Text-to-Speech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2852928"/>
            <a:ext cx="274320" cy="0"/>
          </a:xfrm>
          <a:prstGeom prst="line">
            <a:avLst/>
          </a:prstGeom>
          <a:ln w="25400">
            <a:solidFill>
              <a:srgbClr val="466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" y="2852928"/>
            <a:ext cx="457200" cy="0"/>
          </a:xfrm>
          <a:prstGeom prst="line">
            <a:avLst/>
          </a:prstGeom>
          <a:ln w="25400">
            <a:solidFill>
              <a:srgbClr val="466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2852928"/>
            <a:ext cx="640079" cy="0"/>
          </a:xfrm>
          <a:prstGeom prst="line">
            <a:avLst/>
          </a:prstGeom>
          <a:ln w="25400">
            <a:solidFill>
              <a:srgbClr val="466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26880" y="2852928"/>
            <a:ext cx="457200" cy="0"/>
          </a:xfrm>
          <a:prstGeom prst="line">
            <a:avLst/>
          </a:prstGeom>
          <a:ln w="25400">
            <a:solidFill>
              <a:srgbClr val="466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97280" y="4069080"/>
            <a:ext cx="10058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E1E1E"/>
                </a:solidFill>
                <a:latin typeface="Arial"/>
              </a:rPr>
              <a:t>Model layer: multilingual NMT / IndicTrans2-based starting point
Data layer: cleaned parallel corpora + held-out evaluation sets
Deployment goal: simple, lightweight and reproducible college-level demonstration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905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11155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E61919"/>
                </a:solidFill>
                <a:latin typeface="Arial"/>
              </a:rPr>
              <a:t>MODEL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064240" cy="53949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Baseline / starting point: pre-trained IndicTrans2 multilingual translation model.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English→Telugu: use the supported Telugu language code and evaluate on held-out data.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English→Gondi: investigate available low-resource data; if direct English–Gondi data is insufficient, document the limitation rather than inventing data.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Fine-tuning, if feasible, will use the cleaned training split and validation set.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Model configuration, tokenizer, training parameters and checkpoint information will be recorded for reproducibility.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905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11155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E61919"/>
                </a:solidFill>
                <a:latin typeface="Arial"/>
              </a:rPr>
              <a:t>STEP-BY-STEP WORKING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064240" cy="53949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1. Collect public English–Telugu and candidate English/Gondi resources.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2. Clean, normalize, deduplicate and validate the sentence pairs.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3. Create train, validation and test splits.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4. Load the IndicTrans2-based multilingual model.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5. Fine-tune or run inference depending on the selected experiment.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6. Generate Telugu/Gondi translations for the held-out test set.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7. Calculate BLEU and chrF++ and compare with the baseline.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8. Integrate the best feasible model into the lightweight mobile interface.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905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11155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E61919"/>
                </a:solidFill>
                <a:latin typeface="Arial"/>
              </a:rPr>
              <a:t>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064240" cy="53949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BLEU — measures n-gram overlap between system translations and reference translations.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chrF++ — character/word n-gram based metric, useful for morphologically rich languages.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Dataset statistics — number of sentence pairs, length distribution, duplicates and domain characteristics.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Error analysis — inspect common issues such as untranslated words, word order and named entities.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Where human evaluation is unavailable, clearly report that limitation instead of claiming community validation.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Compare English→Telugu results with the selected baseline; report Gondi results as exploratory if the dataset is small.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905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11155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E61919"/>
                </a:solidFill>
                <a:latin typeface="Arial"/>
              </a:rPr>
              <a:t>EXPECTED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064240" cy="53949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cleaned and documented dataset pipeline for reproducible experiments.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An evaluated English→Telugu translation prototype using a multilingual Indic model.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An exploratory English→Gondi component constrained by available data and licensing.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lightweight mobile interface demonstrating practical translation.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Automatic evaluation using BLEU and chrF++ with transparent reporting.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clear record of limitations, especially low-resource data scarcity and absence of independent human evaluation.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905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11155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E61919"/>
                </a:solidFill>
                <a:latin typeface="Arial"/>
              </a:rPr>
              <a:t>REFERENCES &amp; WEB 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rPr>
                <a:hlinkClick r:id="rId2"/>
              </a:rPr>
              <a:t>[1] Gala et al. (2023), IndicTrans2: https://arxiv.org/abs/2305.16307</a:t>
            </a:r>
          </a:p>
          <a:p>
            <a:pPr>
              <a:spcAft>
                <a:spcPts val="90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rPr>
                <a:hlinkClick r:id="rId3"/>
              </a:rPr>
              <a:t>[2] AI4Bharat IndicTrans2 resources: https://github.com/AI4Bharat/IndicTrans2</a:t>
            </a:r>
          </a:p>
          <a:p>
            <a:pPr>
              <a:spcAft>
                <a:spcPts val="90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rPr>
                <a:hlinkClick r:id="rId4"/>
              </a:rPr>
              <a:t>[3] Ramesh et al. (2022), Samanantar: https://doi.org/10.1162/tacl_a_00452</a:t>
            </a:r>
          </a:p>
          <a:p>
            <a:pPr>
              <a:spcAft>
                <a:spcPts val="90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rPr>
                <a:hlinkClick r:id="rId5"/>
              </a:rPr>
              <a:t>[4] AI4Bharat Samanantar dataset page: https://indicnlp.ai4bharat.org/samanantar/</a:t>
            </a:r>
          </a:p>
          <a:p>
            <a:pPr>
              <a:spcAft>
                <a:spcPts val="90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rPr>
                <a:hlinkClick r:id="rId6"/>
              </a:rPr>
              <a:t>[5] CGNetSwara Hindi–Gondi Parallel Corpus: https://cgnetswara.org/hindi-gondi-corpus.html</a:t>
            </a:r>
          </a:p>
          <a:p>
            <a:pPr>
              <a:spcAft>
                <a:spcPts val="90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rPr>
                <a:hlinkClick r:id="rId7"/>
              </a:rPr>
              <a:t>[6] AdiVaani tribal English-parallel resources: https://huggingface.co/datasets/adivaanihf/adivaani-tribal-english-parallel-corpus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905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1E1E"/>
                </a:solidFill>
                <a:latin typeface="Arial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1240</Words>
  <Application>Microsoft Office PowerPoint</Application>
  <PresentationFormat>Widescreen</PresentationFormat>
  <Paragraphs>120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RAHUL G</cp:lastModifiedBy>
  <cp:revision>6</cp:revision>
  <dcterms:created xsi:type="dcterms:W3CDTF">2013-01-27T09:14:16Z</dcterms:created>
  <dcterms:modified xsi:type="dcterms:W3CDTF">2026-08-26T20:31:49Z</dcterms:modified>
  <cp:category/>
</cp:coreProperties>
</file>