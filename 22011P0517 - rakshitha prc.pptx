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2" r:id="rId7"/>
    <p:sldId id="264" r:id="rId8"/>
    <p:sldId id="261" r:id="rId9"/>
    <p:sldId id="263"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D3D565-00C7-4948-BBCE-87905917B57C}" v="69" dt="2026-08-26T17:51:18.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11979-9B9F-17F6-CDC8-1F038EEEBA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30DAD3-2326-D243-DBAA-27E2AC322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43FD07-09A4-6B56-6998-90B99F91BBF9}"/>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5" name="Footer Placeholder 4">
            <a:extLst>
              <a:ext uri="{FF2B5EF4-FFF2-40B4-BE49-F238E27FC236}">
                <a16:creationId xmlns:a16="http://schemas.microsoft.com/office/drawing/2014/main" id="{FA31BD4B-D260-96E5-99B1-5B0F7571E8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7BF95C-89E0-99CE-4D2A-64BE4C704100}"/>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46736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388D7-B858-BB40-7335-57F7004AE2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EF79FD-ED55-0CEE-B382-9590DB3165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D8980D-0627-EF4B-83F3-DC6AFE08D6CD}"/>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5" name="Footer Placeholder 4">
            <a:extLst>
              <a:ext uri="{FF2B5EF4-FFF2-40B4-BE49-F238E27FC236}">
                <a16:creationId xmlns:a16="http://schemas.microsoft.com/office/drawing/2014/main" id="{D3CB261F-4F89-0C19-2F0A-61F3B25C34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EB7F98-12B0-511B-9ACD-122E6D60B173}"/>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258335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16C61-3046-D2E3-AC5B-B892B15EAB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147A15-E3B5-FF7C-FC5D-EA63882659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EBD3AA-1FEA-569C-00BF-AB087AAD24E0}"/>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5" name="Footer Placeholder 4">
            <a:extLst>
              <a:ext uri="{FF2B5EF4-FFF2-40B4-BE49-F238E27FC236}">
                <a16:creationId xmlns:a16="http://schemas.microsoft.com/office/drawing/2014/main" id="{0845F812-7E08-2359-E77C-973B187989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73BF24-0300-E2CF-5077-87443C654065}"/>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414027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70B00-3659-C61D-A1E9-B114B9AF71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E107D5-5012-E823-8D49-E6DFBBBA66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4A9FEE-22C7-BBC5-6844-E6FF36AE97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AE62CA-6E87-233F-0810-141F5C0104AA}"/>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6" name="Footer Placeholder 5">
            <a:extLst>
              <a:ext uri="{FF2B5EF4-FFF2-40B4-BE49-F238E27FC236}">
                <a16:creationId xmlns:a16="http://schemas.microsoft.com/office/drawing/2014/main" id="{4C74C3D8-AF0C-7472-AFF0-D056B2EB4C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045B20-6D7B-9789-CC40-922E58BCCEB4}"/>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79537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C2E49-7A1C-FB39-D09E-128C3EC4D9A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3EFC84-87A9-F0B5-0C9F-4DB1EFCCD3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B2CBE4-B8C9-3EE1-B27A-72AB42CD60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4E17D4-92FC-5554-9941-AB24C344F9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5F6128-432E-48A0-93F6-FFC55C1BA8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C9D04B-6597-5E3F-E8EA-809DA0A2AE2E}"/>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8" name="Footer Placeholder 7">
            <a:extLst>
              <a:ext uri="{FF2B5EF4-FFF2-40B4-BE49-F238E27FC236}">
                <a16:creationId xmlns:a16="http://schemas.microsoft.com/office/drawing/2014/main" id="{F11568B7-2DA7-062D-9B1E-1E31E5CF850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C227E4D-2FED-5818-0502-E1A4F9AB6E40}"/>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797114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114D-DBC9-BDF3-A0F9-B1C2B08D66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7B938D-36D3-144A-F794-BA93F13D95FD}"/>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4" name="Footer Placeholder 3">
            <a:extLst>
              <a:ext uri="{FF2B5EF4-FFF2-40B4-BE49-F238E27FC236}">
                <a16:creationId xmlns:a16="http://schemas.microsoft.com/office/drawing/2014/main" id="{6F5277B4-2157-D62A-009C-9CC5579D84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7B2A5E-C96B-03C8-237E-80257CF67638}"/>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1368382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BD375D-8C1D-C863-67A4-3F123B26BF72}"/>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3" name="Footer Placeholder 2">
            <a:extLst>
              <a:ext uri="{FF2B5EF4-FFF2-40B4-BE49-F238E27FC236}">
                <a16:creationId xmlns:a16="http://schemas.microsoft.com/office/drawing/2014/main" id="{605B00E9-66C6-2DAA-6908-74E377D999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3C09BF-D97E-2194-42D4-6F3842B7FD0B}"/>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3825582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0BEC4-242D-E69C-CA59-E5AE9A8219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B912F4-DC0A-9CD6-6287-7D3F327A75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C5816D-7B4E-F4A2-6FDC-10B2C3182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6ED9FB-8BB6-CFE1-9074-E7902076E6C6}"/>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6" name="Footer Placeholder 5">
            <a:extLst>
              <a:ext uri="{FF2B5EF4-FFF2-40B4-BE49-F238E27FC236}">
                <a16:creationId xmlns:a16="http://schemas.microsoft.com/office/drawing/2014/main" id="{3EB082F5-10CC-2222-605F-54B129EDC7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25BC7C-7011-9986-BAC7-2F93630930BF}"/>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187931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8A844-4C76-3B01-4F49-BA9F9C83DE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2B5014-E71E-1BD8-DED9-90454A5D2D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A2B296-EF61-1D8A-4F5D-24CAA17320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2C2C8B-3F7C-1850-C27D-4C461530674A}"/>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6" name="Footer Placeholder 5">
            <a:extLst>
              <a:ext uri="{FF2B5EF4-FFF2-40B4-BE49-F238E27FC236}">
                <a16:creationId xmlns:a16="http://schemas.microsoft.com/office/drawing/2014/main" id="{B8AB5446-EF5C-97C1-E441-0FD228BADD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D0F97B-D4FB-E3E4-D4CA-B1BC37D626F6}"/>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3837467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3CD6-8F62-DD18-725C-C8E036BE87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A8A402-B1F5-5A2A-BDA7-0AA7403DB4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6E96EE-6F24-F2CB-368E-7745AF74DCCC}"/>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5" name="Footer Placeholder 4">
            <a:extLst>
              <a:ext uri="{FF2B5EF4-FFF2-40B4-BE49-F238E27FC236}">
                <a16:creationId xmlns:a16="http://schemas.microsoft.com/office/drawing/2014/main" id="{E32D34A9-50E4-8193-667F-535887199F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787D6F-BC08-6E3B-F48D-38C5D642206C}"/>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3959542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774AEF-9830-103F-8D90-E91BD2984E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5B74B3-6EFF-486F-EFC2-C9068E5A57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4B0DCB-A8F6-E1E4-558A-CE5617FBD676}"/>
              </a:ext>
            </a:extLst>
          </p:cNvPr>
          <p:cNvSpPr>
            <a:spLocks noGrp="1"/>
          </p:cNvSpPr>
          <p:nvPr>
            <p:ph type="dt" sz="half" idx="10"/>
          </p:nvPr>
        </p:nvSpPr>
        <p:spPr/>
        <p:txBody>
          <a:bodyPr/>
          <a:lstStyle/>
          <a:p>
            <a:fld id="{1BA9C700-2A07-4860-A59D-F86DBD4FAD1F}" type="datetimeFigureOut">
              <a:rPr lang="en-IN" smtClean="0"/>
              <a:t>26-08-2026</a:t>
            </a:fld>
            <a:endParaRPr lang="en-IN"/>
          </a:p>
        </p:txBody>
      </p:sp>
      <p:sp>
        <p:nvSpPr>
          <p:cNvPr id="5" name="Footer Placeholder 4">
            <a:extLst>
              <a:ext uri="{FF2B5EF4-FFF2-40B4-BE49-F238E27FC236}">
                <a16:creationId xmlns:a16="http://schemas.microsoft.com/office/drawing/2014/main" id="{D01F19D8-B361-DB28-3DF9-39B6BA5003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92AD79-32E0-7D4D-814B-8C7B35BCA15D}"/>
              </a:ext>
            </a:extLst>
          </p:cNvPr>
          <p:cNvSpPr>
            <a:spLocks noGrp="1"/>
          </p:cNvSpPr>
          <p:nvPr>
            <p:ph type="sldNum" sz="quarter" idx="12"/>
          </p:nvPr>
        </p:nvSpPr>
        <p:spPr/>
        <p:txBody>
          <a:bodyPr/>
          <a:lstStyle/>
          <a:p>
            <a:fld id="{BFD75D8C-5547-4E0F-A49F-625EA35B83CE}" type="slidenum">
              <a:rPr lang="en-IN" smtClean="0"/>
              <a:t>‹#›</a:t>
            </a:fld>
            <a:endParaRPr lang="en-IN"/>
          </a:p>
        </p:txBody>
      </p:sp>
    </p:spTree>
    <p:extLst>
      <p:ext uri="{BB962C8B-B14F-4D97-AF65-F5344CB8AC3E}">
        <p14:creationId xmlns:p14="http://schemas.microsoft.com/office/powerpoint/2010/main" val="386423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BF54B8-373F-E595-3094-CA3CF196C6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211E9B-EB02-7573-2440-B686B77413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5E6546-1A90-7A7A-6963-8151CBABF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A9C700-2A07-4860-A59D-F86DBD4FAD1F}" type="datetimeFigureOut">
              <a:rPr lang="en-IN" smtClean="0"/>
              <a:t>26-08-2026</a:t>
            </a:fld>
            <a:endParaRPr lang="en-IN"/>
          </a:p>
        </p:txBody>
      </p:sp>
      <p:sp>
        <p:nvSpPr>
          <p:cNvPr id="5" name="Footer Placeholder 4">
            <a:extLst>
              <a:ext uri="{FF2B5EF4-FFF2-40B4-BE49-F238E27FC236}">
                <a16:creationId xmlns:a16="http://schemas.microsoft.com/office/drawing/2014/main" id="{D1046D99-3C35-DA45-12DB-E349961084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6730387-4AA7-FF1C-DBAF-2D19A1454A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D75D8C-5547-4E0F-A49F-625EA35B83CE}" type="slidenum">
              <a:rPr lang="en-IN" smtClean="0"/>
              <a:t>‹#›</a:t>
            </a:fld>
            <a:endParaRPr lang="en-IN"/>
          </a:p>
        </p:txBody>
      </p:sp>
    </p:spTree>
    <p:extLst>
      <p:ext uri="{BB962C8B-B14F-4D97-AF65-F5344CB8AC3E}">
        <p14:creationId xmlns:p14="http://schemas.microsoft.com/office/powerpoint/2010/main" val="1033937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EEB6-D7F9-C31C-55C3-025A20DA8857}"/>
              </a:ext>
            </a:extLst>
          </p:cNvPr>
          <p:cNvSpPr>
            <a:spLocks noGrp="1"/>
          </p:cNvSpPr>
          <p:nvPr>
            <p:ph type="ctrTitle"/>
          </p:nvPr>
        </p:nvSpPr>
        <p:spPr>
          <a:xfrm>
            <a:off x="1523999" y="0"/>
            <a:ext cx="9697279" cy="1200330"/>
          </a:xfrm>
        </p:spPr>
        <p:txBody>
          <a:bodyPr>
            <a:noAutofit/>
          </a:bodyPr>
          <a:lstStyle/>
          <a:p>
            <a:r>
              <a:rPr lang="en-IN" sz="2400" b="1" dirty="0"/>
              <a:t>COMPARATIVE MACHINE LEARNING APPROACHES</a:t>
            </a:r>
            <a:br>
              <a:rPr lang="en-IN" sz="2400" dirty="0"/>
            </a:br>
            <a:r>
              <a:rPr lang="en-IN" sz="2400" b="1" dirty="0"/>
              <a:t>FOR EARLY PREDICTION OF CHRONIC DISEASES ONSET</a:t>
            </a:r>
          </a:p>
        </p:txBody>
      </p:sp>
      <p:sp>
        <p:nvSpPr>
          <p:cNvPr id="3" name="Subtitle 2">
            <a:extLst>
              <a:ext uri="{FF2B5EF4-FFF2-40B4-BE49-F238E27FC236}">
                <a16:creationId xmlns:a16="http://schemas.microsoft.com/office/drawing/2014/main" id="{25EFCF69-958E-AC15-60BF-972E4946922E}"/>
              </a:ext>
            </a:extLst>
          </p:cNvPr>
          <p:cNvSpPr>
            <a:spLocks noGrp="1"/>
          </p:cNvSpPr>
          <p:nvPr>
            <p:ph type="subTitle" idx="1"/>
          </p:nvPr>
        </p:nvSpPr>
        <p:spPr>
          <a:xfrm>
            <a:off x="1252330" y="2176670"/>
            <a:ext cx="9415670" cy="3081130"/>
          </a:xfrm>
        </p:spPr>
        <p:txBody>
          <a:bodyPr>
            <a:normAutofit/>
          </a:bodyPr>
          <a:lstStyle/>
          <a:p>
            <a:endParaRPr lang="en-IN" dirty="0"/>
          </a:p>
          <a:p>
            <a:endParaRPr lang="en-IN" dirty="0"/>
          </a:p>
          <a:p>
            <a:r>
              <a:rPr lang="en-IN" b="1" dirty="0"/>
              <a:t>DISSERTATION STAGE-I</a:t>
            </a:r>
          </a:p>
          <a:p>
            <a:r>
              <a:rPr lang="en-IN" b="1" dirty="0"/>
              <a:t>DISSERTATION WORK REVIEW-I</a:t>
            </a:r>
          </a:p>
          <a:p>
            <a:r>
              <a:rPr lang="en-IN" b="1" dirty="0"/>
              <a:t>AUGUST-2026</a:t>
            </a:r>
          </a:p>
          <a:p>
            <a:endParaRPr lang="en-IN" dirty="0"/>
          </a:p>
        </p:txBody>
      </p:sp>
      <p:pic>
        <p:nvPicPr>
          <p:cNvPr id="5" name="Picture 4">
            <a:extLst>
              <a:ext uri="{FF2B5EF4-FFF2-40B4-BE49-F238E27FC236}">
                <a16:creationId xmlns:a16="http://schemas.microsoft.com/office/drawing/2014/main" id="{86D26A94-402E-8CF7-F403-74DD391C96DD}"/>
              </a:ext>
            </a:extLst>
          </p:cNvPr>
          <p:cNvPicPr>
            <a:picLocks noChangeAspect="1"/>
          </p:cNvPicPr>
          <p:nvPr/>
        </p:nvPicPr>
        <p:blipFill>
          <a:blip r:embed="rId2"/>
          <a:stretch>
            <a:fillRect/>
          </a:stretch>
        </p:blipFill>
        <p:spPr>
          <a:xfrm>
            <a:off x="69574" y="0"/>
            <a:ext cx="1360383" cy="1360383"/>
          </a:xfrm>
          <a:prstGeom prst="rect">
            <a:avLst/>
          </a:prstGeom>
        </p:spPr>
      </p:pic>
      <p:sp>
        <p:nvSpPr>
          <p:cNvPr id="4" name="TextBox 3">
            <a:extLst>
              <a:ext uri="{FF2B5EF4-FFF2-40B4-BE49-F238E27FC236}">
                <a16:creationId xmlns:a16="http://schemas.microsoft.com/office/drawing/2014/main" id="{ADF76F21-CB31-87FB-49DD-BFEF05430833}"/>
              </a:ext>
            </a:extLst>
          </p:cNvPr>
          <p:cNvSpPr txBox="1"/>
          <p:nvPr/>
        </p:nvSpPr>
        <p:spPr>
          <a:xfrm>
            <a:off x="1013791" y="1451115"/>
            <a:ext cx="11102010" cy="1200329"/>
          </a:xfrm>
          <a:prstGeom prst="rect">
            <a:avLst/>
          </a:prstGeom>
          <a:noFill/>
        </p:spPr>
        <p:txBody>
          <a:bodyPr wrap="square" rtlCol="0">
            <a:spAutoFit/>
          </a:bodyPr>
          <a:lstStyle/>
          <a:p>
            <a:r>
              <a:rPr lang="en-IN" sz="2400" dirty="0"/>
              <a:t>            </a:t>
            </a:r>
            <a:r>
              <a:rPr lang="en-IN" sz="2400" b="1" dirty="0"/>
              <a:t>                DEPARTMENT OF COMPUTER SCIENCE</a:t>
            </a:r>
          </a:p>
          <a:p>
            <a:r>
              <a:rPr lang="en-IN" sz="2400" b="1" dirty="0"/>
              <a:t>    JAWAHARLAL NEHRU TECHNOLOGICAL UNIVERSITY HYDERABAD</a:t>
            </a:r>
          </a:p>
          <a:p>
            <a:r>
              <a:rPr lang="en-IN" sz="2400" b="1" dirty="0"/>
              <a:t>UNIVERSITY COLLEGE OF ENGINEERING SCIENCE  AND TECHNOLOGY</a:t>
            </a:r>
          </a:p>
        </p:txBody>
      </p:sp>
      <p:sp>
        <p:nvSpPr>
          <p:cNvPr id="6" name="TextBox 5">
            <a:extLst>
              <a:ext uri="{FF2B5EF4-FFF2-40B4-BE49-F238E27FC236}">
                <a16:creationId xmlns:a16="http://schemas.microsoft.com/office/drawing/2014/main" id="{7A19C926-7124-6827-CE18-14357E138F4C}"/>
              </a:ext>
            </a:extLst>
          </p:cNvPr>
          <p:cNvSpPr txBox="1"/>
          <p:nvPr/>
        </p:nvSpPr>
        <p:spPr>
          <a:xfrm>
            <a:off x="705677" y="4581939"/>
            <a:ext cx="3279913" cy="1477328"/>
          </a:xfrm>
          <a:prstGeom prst="rect">
            <a:avLst/>
          </a:prstGeom>
          <a:noFill/>
        </p:spPr>
        <p:txBody>
          <a:bodyPr wrap="square" rtlCol="0">
            <a:spAutoFit/>
          </a:bodyPr>
          <a:lstStyle/>
          <a:p>
            <a:r>
              <a:rPr lang="en-IN" dirty="0"/>
              <a:t>PRESENTED BY:</a:t>
            </a:r>
          </a:p>
          <a:p>
            <a:r>
              <a:rPr lang="en-IN" dirty="0" err="1"/>
              <a:t>Aechikuchi</a:t>
            </a:r>
            <a:r>
              <a:rPr lang="en-IN" dirty="0"/>
              <a:t> Rakshitha</a:t>
            </a:r>
          </a:p>
          <a:p>
            <a:r>
              <a:rPr lang="en-IN" dirty="0"/>
              <a:t>22011P0517</a:t>
            </a:r>
          </a:p>
          <a:p>
            <a:r>
              <a:rPr lang="en-IN" dirty="0"/>
              <a:t>V-I SEMESTER</a:t>
            </a:r>
          </a:p>
          <a:p>
            <a:r>
              <a:rPr lang="en-IN" dirty="0"/>
              <a:t>CSE-IDP</a:t>
            </a:r>
          </a:p>
        </p:txBody>
      </p:sp>
      <p:sp>
        <p:nvSpPr>
          <p:cNvPr id="8" name="TextBox 7">
            <a:extLst>
              <a:ext uri="{FF2B5EF4-FFF2-40B4-BE49-F238E27FC236}">
                <a16:creationId xmlns:a16="http://schemas.microsoft.com/office/drawing/2014/main" id="{0CDB3EC5-AD26-C24F-C584-A6AAEDC32246}"/>
              </a:ext>
            </a:extLst>
          </p:cNvPr>
          <p:cNvSpPr txBox="1"/>
          <p:nvPr/>
        </p:nvSpPr>
        <p:spPr>
          <a:xfrm>
            <a:off x="7245626" y="4810539"/>
            <a:ext cx="4750903" cy="1200329"/>
          </a:xfrm>
          <a:prstGeom prst="rect">
            <a:avLst/>
          </a:prstGeom>
          <a:noFill/>
        </p:spPr>
        <p:txBody>
          <a:bodyPr wrap="square" rtlCol="0">
            <a:spAutoFit/>
          </a:bodyPr>
          <a:lstStyle/>
          <a:p>
            <a:r>
              <a:rPr lang="en-IN" dirty="0"/>
              <a:t>UNDER THE GUDIENCE OF</a:t>
            </a:r>
          </a:p>
          <a:p>
            <a:r>
              <a:rPr lang="en-IN" dirty="0"/>
              <a:t>DR. V. Uma Rani</a:t>
            </a:r>
          </a:p>
          <a:p>
            <a:r>
              <a:rPr lang="en-IN" dirty="0"/>
              <a:t>Professor of Computer Science &amp; Engineering,</a:t>
            </a:r>
          </a:p>
          <a:p>
            <a:endParaRPr lang="en-IN" dirty="0"/>
          </a:p>
        </p:txBody>
      </p:sp>
    </p:spTree>
    <p:extLst>
      <p:ext uri="{BB962C8B-B14F-4D97-AF65-F5344CB8AC3E}">
        <p14:creationId xmlns:p14="http://schemas.microsoft.com/office/powerpoint/2010/main" val="222936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6CCB-9092-5F60-2A66-9F60AF10A9B8}"/>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A38715D6-5E5E-A412-D734-CFAC8A89A717}"/>
              </a:ext>
            </a:extLst>
          </p:cNvPr>
          <p:cNvSpPr>
            <a:spLocks noGrp="1"/>
          </p:cNvSpPr>
          <p:nvPr>
            <p:ph idx="1"/>
          </p:nvPr>
        </p:nvSpPr>
        <p:spPr>
          <a:xfrm>
            <a:off x="737755" y="1527464"/>
            <a:ext cx="11222181" cy="5122718"/>
          </a:xfrm>
        </p:spPr>
        <p:txBody>
          <a:bodyPr>
            <a:normAutofit/>
          </a:bodyPr>
          <a:lstStyle/>
          <a:p>
            <a:r>
              <a:rPr lang="en-IN" dirty="0"/>
              <a:t>Abstract</a:t>
            </a:r>
          </a:p>
          <a:p>
            <a:pPr lvl="0"/>
            <a:r>
              <a:rPr lang="en-IN" dirty="0"/>
              <a:t>Introduction </a:t>
            </a:r>
          </a:p>
          <a:p>
            <a:pPr lvl="0"/>
            <a:r>
              <a:rPr lang="en-IN" dirty="0"/>
              <a:t>Problem Statement </a:t>
            </a:r>
          </a:p>
          <a:p>
            <a:pPr lvl="0"/>
            <a:r>
              <a:rPr lang="en-IN" dirty="0"/>
              <a:t>Motivation </a:t>
            </a:r>
          </a:p>
          <a:p>
            <a:pPr lvl="0"/>
            <a:r>
              <a:rPr lang="en-IN" dirty="0"/>
              <a:t>Objectives</a:t>
            </a:r>
          </a:p>
          <a:p>
            <a:pPr lvl="0"/>
            <a:r>
              <a:rPr lang="en-IN" dirty="0"/>
              <a:t>Literature Review </a:t>
            </a:r>
          </a:p>
          <a:p>
            <a:pPr lvl="0"/>
            <a:r>
              <a:rPr lang="en-IN" dirty="0"/>
              <a:t>Architecture</a:t>
            </a:r>
          </a:p>
          <a:p>
            <a:pPr lvl="0"/>
            <a:r>
              <a:rPr lang="en-IN" dirty="0"/>
              <a:t>Evaluation Metrics </a:t>
            </a:r>
          </a:p>
          <a:p>
            <a:pPr lvl="0"/>
            <a:r>
              <a:rPr lang="en-IN" dirty="0"/>
              <a:t>Conclusion </a:t>
            </a:r>
          </a:p>
          <a:p>
            <a:pPr lvl="0"/>
            <a:r>
              <a:rPr lang="en-IN" dirty="0"/>
              <a:t>References</a:t>
            </a:r>
          </a:p>
          <a:p>
            <a:endParaRPr lang="en-IN" dirty="0"/>
          </a:p>
        </p:txBody>
      </p:sp>
    </p:spTree>
    <p:extLst>
      <p:ext uri="{BB962C8B-B14F-4D97-AF65-F5344CB8AC3E}">
        <p14:creationId xmlns:p14="http://schemas.microsoft.com/office/powerpoint/2010/main" val="421074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A8BF-2609-3FC8-0323-B9EFA407E12E}"/>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91DE3E77-20CC-5766-06BF-7EB7854C0B15}"/>
              </a:ext>
            </a:extLst>
          </p:cNvPr>
          <p:cNvSpPr>
            <a:spLocks noGrp="1"/>
          </p:cNvSpPr>
          <p:nvPr>
            <p:ph idx="1"/>
          </p:nvPr>
        </p:nvSpPr>
        <p:spPr>
          <a:xfrm>
            <a:off x="838200" y="1413164"/>
            <a:ext cx="10515600" cy="4763799"/>
          </a:xfrm>
        </p:spPr>
        <p:txBody>
          <a:bodyPr>
            <a:normAutofit/>
          </a:bodyPr>
          <a:lstStyle/>
          <a:p>
            <a:r>
              <a:rPr lang="en-IN" sz="2400" dirty="0"/>
              <a:t>Chronic diseases such as </a:t>
            </a:r>
            <a:r>
              <a:rPr lang="en-IN" sz="2400" b="1" dirty="0"/>
              <a:t>diabetes and heart failure</a:t>
            </a:r>
            <a:r>
              <a:rPr lang="en-IN" sz="2400" dirty="0"/>
              <a:t> are major global health concerns, making early prediction important for timely intervention and improved patient outcomes. This study applies </a:t>
            </a:r>
            <a:r>
              <a:rPr lang="en-IN" sz="2400" b="1" dirty="0"/>
              <a:t>machine learning techniques</a:t>
            </a:r>
            <a:r>
              <a:rPr lang="en-IN" sz="2400" dirty="0"/>
              <a:t> to clinical data for early prediction of these diseases. </a:t>
            </a:r>
            <a:r>
              <a:rPr lang="en-IN" sz="2400" b="1" dirty="0"/>
              <a:t>Logistic Regression, Random Forest, and </a:t>
            </a:r>
            <a:r>
              <a:rPr lang="en-IN" sz="2400" b="1" dirty="0" err="1"/>
              <a:t>XGBoost</a:t>
            </a:r>
            <a:r>
              <a:rPr lang="en-IN" sz="2400" dirty="0"/>
              <a:t> are trained and evaluated using accuracy, precision, recall, F1-score, and AUC-ROC. Clinical features such as </a:t>
            </a:r>
            <a:r>
              <a:rPr lang="en-IN" sz="2400" b="1" dirty="0"/>
              <a:t>glucose, BMI, blood pressure, age, ejection fraction, and serum creatinine</a:t>
            </a:r>
            <a:r>
              <a:rPr lang="en-IN" sz="2400" dirty="0"/>
              <a:t> are </a:t>
            </a:r>
            <a:r>
              <a:rPr lang="en-IN" sz="2400" dirty="0" err="1"/>
              <a:t>analyzed</a:t>
            </a:r>
            <a:r>
              <a:rPr lang="en-IN" sz="2400" dirty="0"/>
              <a:t> to identify important predictors. Finally, the models are compared across both diseases to determine their predictive performance and generalizability</a:t>
            </a:r>
            <a:r>
              <a:rPr lang="en-IN" dirty="0"/>
              <a:t>.</a:t>
            </a:r>
          </a:p>
        </p:txBody>
      </p:sp>
      <p:sp>
        <p:nvSpPr>
          <p:cNvPr id="4" name="TextBox 3">
            <a:extLst>
              <a:ext uri="{FF2B5EF4-FFF2-40B4-BE49-F238E27FC236}">
                <a16:creationId xmlns:a16="http://schemas.microsoft.com/office/drawing/2014/main" id="{EA75AB0C-29F4-4BB2-2BB3-576FE2FAF4A0}"/>
              </a:ext>
            </a:extLst>
          </p:cNvPr>
          <p:cNvSpPr txBox="1"/>
          <p:nvPr/>
        </p:nvSpPr>
        <p:spPr>
          <a:xfrm>
            <a:off x="5347252" y="6176963"/>
            <a:ext cx="1093305" cy="369332"/>
          </a:xfrm>
          <a:prstGeom prst="rect">
            <a:avLst/>
          </a:prstGeom>
          <a:noFill/>
        </p:spPr>
        <p:txBody>
          <a:bodyPr wrap="square" rtlCol="0">
            <a:spAutoFit/>
          </a:bodyPr>
          <a:lstStyle/>
          <a:p>
            <a:r>
              <a:rPr lang="en-IN" dirty="0"/>
              <a:t>3</a:t>
            </a:r>
          </a:p>
        </p:txBody>
      </p:sp>
    </p:spTree>
    <p:extLst>
      <p:ext uri="{BB962C8B-B14F-4D97-AF65-F5344CB8AC3E}">
        <p14:creationId xmlns:p14="http://schemas.microsoft.com/office/powerpoint/2010/main" val="2024570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06A83-8F98-6692-60AC-F8790165A5D6}"/>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1665522E-B060-36A8-745C-0AEC9CE4C73E}"/>
              </a:ext>
            </a:extLst>
          </p:cNvPr>
          <p:cNvSpPr>
            <a:spLocks noGrp="1"/>
          </p:cNvSpPr>
          <p:nvPr>
            <p:ph idx="1"/>
          </p:nvPr>
        </p:nvSpPr>
        <p:spPr>
          <a:xfrm>
            <a:off x="0" y="1825625"/>
            <a:ext cx="12192000" cy="4351338"/>
          </a:xfrm>
        </p:spPr>
        <p:txBody>
          <a:bodyPr>
            <a:normAutofit fontScale="85000" lnSpcReduction="20000"/>
          </a:bodyPr>
          <a:lstStyle/>
          <a:p>
            <a:pPr lvl="0"/>
            <a:r>
              <a:rPr lang="en-IN" b="1" dirty="0"/>
              <a:t>Diabetes and heart failure</a:t>
            </a:r>
            <a:r>
              <a:rPr lang="en-IN" dirty="0"/>
              <a:t> are major chronic diseases that create significant health burdens. </a:t>
            </a:r>
          </a:p>
          <a:p>
            <a:pPr lvl="0"/>
            <a:r>
              <a:rPr lang="en-IN" b="1" dirty="0"/>
              <a:t>Early identification of individuals at risk</a:t>
            </a:r>
            <a:r>
              <a:rPr lang="en-IN" dirty="0"/>
              <a:t> is important for timely intervention and better patient outcomes. </a:t>
            </a:r>
          </a:p>
          <a:p>
            <a:pPr lvl="0"/>
            <a:r>
              <a:rPr lang="en-IN" dirty="0"/>
              <a:t>Traditional diagnostic approaches may identify these conditions only after </a:t>
            </a:r>
            <a:r>
              <a:rPr lang="en-IN" b="1" dirty="0"/>
              <a:t>clinical symptoms have progressed</a:t>
            </a:r>
            <a:r>
              <a:rPr lang="en-IN" dirty="0"/>
              <a:t>. </a:t>
            </a:r>
          </a:p>
          <a:p>
            <a:pPr lvl="0"/>
            <a:r>
              <a:rPr lang="en-IN" dirty="0"/>
              <a:t>Machine learning provides a </a:t>
            </a:r>
            <a:r>
              <a:rPr lang="en-IN" b="1" dirty="0"/>
              <a:t>data-driven approach</a:t>
            </a:r>
            <a:r>
              <a:rPr lang="en-IN" dirty="0"/>
              <a:t> that can </a:t>
            </a:r>
            <a:r>
              <a:rPr lang="en-IN" dirty="0" err="1"/>
              <a:t>analyze</a:t>
            </a:r>
            <a:r>
              <a:rPr lang="en-IN" dirty="0"/>
              <a:t> patient health information and identify patterns associated with disease risk. </a:t>
            </a:r>
          </a:p>
          <a:p>
            <a:pPr lvl="0"/>
            <a:r>
              <a:rPr lang="en-IN" dirty="0"/>
              <a:t>This study uses </a:t>
            </a:r>
            <a:r>
              <a:rPr lang="en-IN" b="1" dirty="0"/>
              <a:t>structured Electronic Health Record (EHR) data</a:t>
            </a:r>
            <a:r>
              <a:rPr lang="en-IN" dirty="0"/>
              <a:t>, including clinical attributes such as glucose, BMI, blood pressure, age, ejection fraction, and serum creatinine. </a:t>
            </a:r>
          </a:p>
          <a:p>
            <a:pPr lvl="0"/>
            <a:r>
              <a:rPr lang="en-IN" dirty="0"/>
              <a:t>The study compares </a:t>
            </a:r>
            <a:r>
              <a:rPr lang="en-IN" b="1" dirty="0"/>
              <a:t>Logistic Regression, Random Forest, and </a:t>
            </a:r>
            <a:r>
              <a:rPr lang="en-IN" b="1" dirty="0" err="1"/>
              <a:t>XGBoost</a:t>
            </a:r>
            <a:r>
              <a:rPr lang="en-IN" dirty="0"/>
              <a:t> for early prediction of diabetes and heart failure.</a:t>
            </a:r>
          </a:p>
          <a:p>
            <a:endParaRPr lang="en-IN" dirty="0"/>
          </a:p>
        </p:txBody>
      </p:sp>
      <p:sp>
        <p:nvSpPr>
          <p:cNvPr id="5" name="TextBox 4">
            <a:extLst>
              <a:ext uri="{FF2B5EF4-FFF2-40B4-BE49-F238E27FC236}">
                <a16:creationId xmlns:a16="http://schemas.microsoft.com/office/drawing/2014/main" id="{8DE05F99-E66D-530C-3C67-3247CB825451}"/>
              </a:ext>
            </a:extLst>
          </p:cNvPr>
          <p:cNvSpPr txBox="1"/>
          <p:nvPr/>
        </p:nvSpPr>
        <p:spPr>
          <a:xfrm>
            <a:off x="5347252" y="6176963"/>
            <a:ext cx="1093305" cy="369332"/>
          </a:xfrm>
          <a:prstGeom prst="rect">
            <a:avLst/>
          </a:prstGeom>
          <a:noFill/>
        </p:spPr>
        <p:txBody>
          <a:bodyPr wrap="square" rtlCol="0">
            <a:spAutoFit/>
          </a:bodyPr>
          <a:lstStyle/>
          <a:p>
            <a:r>
              <a:rPr lang="en-IN" dirty="0"/>
              <a:t>4</a:t>
            </a:r>
          </a:p>
        </p:txBody>
      </p:sp>
    </p:spTree>
    <p:extLst>
      <p:ext uri="{BB962C8B-B14F-4D97-AF65-F5344CB8AC3E}">
        <p14:creationId xmlns:p14="http://schemas.microsoft.com/office/powerpoint/2010/main" val="187900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F4ED-9042-27A2-2C64-28C02D186CA2}"/>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05C3ADE3-ED24-7031-86D4-C95886ED3B1F}"/>
              </a:ext>
            </a:extLst>
          </p:cNvPr>
          <p:cNvSpPr>
            <a:spLocks noGrp="1"/>
          </p:cNvSpPr>
          <p:nvPr>
            <p:ph idx="1"/>
          </p:nvPr>
        </p:nvSpPr>
        <p:spPr/>
        <p:txBody>
          <a:bodyPr>
            <a:normAutofit/>
          </a:bodyPr>
          <a:lstStyle/>
          <a:p>
            <a:pPr marL="0" indent="0">
              <a:buNone/>
            </a:pPr>
            <a:r>
              <a:rPr lang="en-IN" sz="2400" dirty="0"/>
              <a:t>Diabetes and heart failure are major chronic diseases that require </a:t>
            </a:r>
            <a:r>
              <a:rPr lang="en-IN" sz="2400" b="1" dirty="0"/>
              <a:t>early detection and timely intervention</a:t>
            </a:r>
            <a:r>
              <a:rPr lang="en-IN" sz="2400" dirty="0"/>
              <a:t>. Traditional diagnostic methods may identify these conditions only after symptoms or complications have developed. Although machine learning can help predict disease risk using clinical data, the performance of different models may vary across diseases. Therefore, this study aims to </a:t>
            </a:r>
            <a:r>
              <a:rPr lang="en-IN" sz="2400" b="1" dirty="0"/>
              <a:t>compare Logistic Regression, Random Forest, and </a:t>
            </a:r>
            <a:r>
              <a:rPr lang="en-IN" sz="2400" b="1" dirty="0" err="1"/>
              <a:t>XGBoost</a:t>
            </a:r>
            <a:r>
              <a:rPr lang="en-IN" sz="2400" dirty="0"/>
              <a:t> for early disease prediction and identify the most influential clinical features using appropriate evaluation metrics. </a:t>
            </a:r>
          </a:p>
        </p:txBody>
      </p:sp>
      <p:sp>
        <p:nvSpPr>
          <p:cNvPr id="5" name="TextBox 4">
            <a:extLst>
              <a:ext uri="{FF2B5EF4-FFF2-40B4-BE49-F238E27FC236}">
                <a16:creationId xmlns:a16="http://schemas.microsoft.com/office/drawing/2014/main" id="{6C6E3651-6960-ADC3-BF41-834E6724EE87}"/>
              </a:ext>
            </a:extLst>
          </p:cNvPr>
          <p:cNvSpPr txBox="1"/>
          <p:nvPr/>
        </p:nvSpPr>
        <p:spPr>
          <a:xfrm>
            <a:off x="5347252" y="6176963"/>
            <a:ext cx="1093305" cy="369332"/>
          </a:xfrm>
          <a:prstGeom prst="rect">
            <a:avLst/>
          </a:prstGeom>
          <a:noFill/>
        </p:spPr>
        <p:txBody>
          <a:bodyPr wrap="square" rtlCol="0">
            <a:spAutoFit/>
          </a:bodyPr>
          <a:lstStyle/>
          <a:p>
            <a:r>
              <a:rPr lang="en-IN" dirty="0"/>
              <a:t>5</a:t>
            </a:r>
          </a:p>
        </p:txBody>
      </p:sp>
    </p:spTree>
    <p:extLst>
      <p:ext uri="{BB962C8B-B14F-4D97-AF65-F5344CB8AC3E}">
        <p14:creationId xmlns:p14="http://schemas.microsoft.com/office/powerpoint/2010/main" val="2917740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46F7C-36BF-1683-3367-0B03FAC7E9D2}"/>
              </a:ext>
            </a:extLst>
          </p:cNvPr>
          <p:cNvSpPr>
            <a:spLocks noGrp="1"/>
          </p:cNvSpPr>
          <p:nvPr>
            <p:ph type="title"/>
          </p:nvPr>
        </p:nvSpPr>
        <p:spPr/>
        <p:txBody>
          <a:bodyPr/>
          <a:lstStyle/>
          <a:p>
            <a:r>
              <a:rPr lang="en-IN" dirty="0"/>
              <a:t>MOTIVATION</a:t>
            </a:r>
          </a:p>
        </p:txBody>
      </p:sp>
      <p:sp>
        <p:nvSpPr>
          <p:cNvPr id="3" name="Content Placeholder 2">
            <a:extLst>
              <a:ext uri="{FF2B5EF4-FFF2-40B4-BE49-F238E27FC236}">
                <a16:creationId xmlns:a16="http://schemas.microsoft.com/office/drawing/2014/main" id="{9A4A4F28-DF37-FAD5-162D-1656EB7BFC87}"/>
              </a:ext>
            </a:extLst>
          </p:cNvPr>
          <p:cNvSpPr>
            <a:spLocks noGrp="1"/>
          </p:cNvSpPr>
          <p:nvPr>
            <p:ph idx="1"/>
          </p:nvPr>
        </p:nvSpPr>
        <p:spPr>
          <a:xfrm>
            <a:off x="838199" y="1441174"/>
            <a:ext cx="11247783" cy="5051701"/>
          </a:xfrm>
        </p:spPr>
        <p:txBody>
          <a:bodyPr>
            <a:noAutofit/>
          </a:bodyPr>
          <a:lstStyle/>
          <a:p>
            <a:pPr lvl="0"/>
            <a:r>
              <a:rPr lang="en-IN" sz="2400" dirty="0"/>
              <a:t>Increasing prevalence of </a:t>
            </a:r>
            <a:r>
              <a:rPr lang="en-IN" sz="2400" b="1" dirty="0"/>
              <a:t>diabetes and heart failure</a:t>
            </a:r>
            <a:r>
              <a:rPr lang="en-IN" sz="2400" dirty="0"/>
              <a:t> worldwide. </a:t>
            </a:r>
          </a:p>
          <a:p>
            <a:pPr lvl="0"/>
            <a:r>
              <a:rPr lang="en-IN" sz="2400" dirty="0"/>
              <a:t>Need for </a:t>
            </a:r>
            <a:r>
              <a:rPr lang="en-IN" sz="2400" b="1" dirty="0"/>
              <a:t>early disease prediction</a:t>
            </a:r>
            <a:r>
              <a:rPr lang="en-IN" sz="2400" dirty="0"/>
              <a:t> to support timely intervention. </a:t>
            </a:r>
          </a:p>
          <a:p>
            <a:pPr lvl="0"/>
            <a:r>
              <a:rPr lang="en-IN" sz="2400" dirty="0"/>
              <a:t>Traditional diagnosis may identify diseases </a:t>
            </a:r>
            <a:r>
              <a:rPr lang="en-IN" sz="2400" b="1" dirty="0"/>
              <a:t>after symptoms or complications develop</a:t>
            </a:r>
            <a:r>
              <a:rPr lang="en-IN" sz="2400" dirty="0"/>
              <a:t>. </a:t>
            </a:r>
          </a:p>
          <a:p>
            <a:pPr lvl="0"/>
            <a:r>
              <a:rPr lang="en-IN" sz="2400" dirty="0"/>
              <a:t>Availability of </a:t>
            </a:r>
            <a:r>
              <a:rPr lang="en-IN" sz="2400" b="1" dirty="0"/>
              <a:t>clinical/EHR data</a:t>
            </a:r>
            <a:r>
              <a:rPr lang="en-IN" sz="2400" dirty="0"/>
              <a:t> provides opportunities for data-driven prediction. </a:t>
            </a:r>
          </a:p>
          <a:p>
            <a:pPr lvl="0"/>
            <a:r>
              <a:rPr lang="en-IN" sz="2400" dirty="0"/>
              <a:t>Machine learning can identify </a:t>
            </a:r>
            <a:r>
              <a:rPr lang="en-IN" sz="2400" b="1" dirty="0"/>
              <a:t>hidden patterns and important risk factors</a:t>
            </a:r>
            <a:r>
              <a:rPr lang="en-IN" sz="2400" dirty="0"/>
              <a:t> in clinical data. </a:t>
            </a:r>
          </a:p>
          <a:p>
            <a:pPr lvl="0"/>
            <a:r>
              <a:rPr lang="en-IN" sz="2400" dirty="0"/>
              <a:t>Different ML models may show </a:t>
            </a:r>
            <a:r>
              <a:rPr lang="en-IN" sz="2400" b="1" dirty="0"/>
              <a:t>different predictive performance</a:t>
            </a:r>
            <a:r>
              <a:rPr lang="en-IN" sz="2400" dirty="0"/>
              <a:t> across diseases. </a:t>
            </a:r>
          </a:p>
          <a:p>
            <a:pPr lvl="0"/>
            <a:r>
              <a:rPr lang="en-IN" sz="2400" dirty="0"/>
              <a:t>Need to compare </a:t>
            </a:r>
            <a:r>
              <a:rPr lang="en-IN" sz="2400" b="1" dirty="0"/>
              <a:t>Logistic Regression, Random Forest, and </a:t>
            </a:r>
            <a:r>
              <a:rPr lang="en-IN" sz="2400" b="1" dirty="0" err="1"/>
              <a:t>XGBoost</a:t>
            </a:r>
            <a:r>
              <a:rPr lang="en-IN" sz="2400" dirty="0"/>
              <a:t>. </a:t>
            </a:r>
          </a:p>
          <a:p>
            <a:pPr lvl="0"/>
            <a:r>
              <a:rPr lang="en-IN" sz="2400" dirty="0"/>
              <a:t>Identify </a:t>
            </a:r>
            <a:r>
              <a:rPr lang="en-IN" sz="2400" b="1" dirty="0"/>
              <a:t>important clinical features</a:t>
            </a:r>
            <a:r>
              <a:rPr lang="en-IN" sz="2400" dirty="0"/>
              <a:t> that contribute to disease prediction. </a:t>
            </a:r>
          </a:p>
          <a:p>
            <a:pPr lvl="0"/>
            <a:r>
              <a:rPr lang="en-IN" sz="2400" dirty="0"/>
              <a:t>Support the development of </a:t>
            </a:r>
            <a:r>
              <a:rPr lang="en-IN" sz="2400" b="1" dirty="0"/>
              <a:t>reliable machine learning-based clinical decision support</a:t>
            </a:r>
            <a:r>
              <a:rPr lang="en-IN" sz="2400" dirty="0"/>
              <a:t>.</a:t>
            </a:r>
          </a:p>
          <a:p>
            <a:endParaRPr lang="en-IN" sz="2400" dirty="0"/>
          </a:p>
        </p:txBody>
      </p:sp>
      <p:sp>
        <p:nvSpPr>
          <p:cNvPr id="5" name="TextBox 4">
            <a:extLst>
              <a:ext uri="{FF2B5EF4-FFF2-40B4-BE49-F238E27FC236}">
                <a16:creationId xmlns:a16="http://schemas.microsoft.com/office/drawing/2014/main" id="{34730CA9-CF14-64C4-070A-D76B4624CEFA}"/>
              </a:ext>
            </a:extLst>
          </p:cNvPr>
          <p:cNvSpPr txBox="1"/>
          <p:nvPr/>
        </p:nvSpPr>
        <p:spPr>
          <a:xfrm>
            <a:off x="5168348" y="6400799"/>
            <a:ext cx="1272209" cy="369332"/>
          </a:xfrm>
          <a:prstGeom prst="rect">
            <a:avLst/>
          </a:prstGeom>
          <a:noFill/>
        </p:spPr>
        <p:txBody>
          <a:bodyPr wrap="square" rtlCol="0">
            <a:spAutoFit/>
          </a:bodyPr>
          <a:lstStyle/>
          <a:p>
            <a:r>
              <a:rPr lang="en-IN" dirty="0"/>
              <a:t>6</a:t>
            </a:r>
          </a:p>
        </p:txBody>
      </p:sp>
    </p:spTree>
    <p:extLst>
      <p:ext uri="{BB962C8B-B14F-4D97-AF65-F5344CB8AC3E}">
        <p14:creationId xmlns:p14="http://schemas.microsoft.com/office/powerpoint/2010/main" val="2337572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DC68-34BB-5285-4E04-BA74D814AB7F}"/>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77DBC1E8-C4D0-B58F-88ED-CDA7E3321D21}"/>
              </a:ext>
            </a:extLst>
          </p:cNvPr>
          <p:cNvSpPr>
            <a:spLocks noGrp="1"/>
          </p:cNvSpPr>
          <p:nvPr>
            <p:ph idx="1"/>
          </p:nvPr>
        </p:nvSpPr>
        <p:spPr/>
        <p:txBody>
          <a:bodyPr/>
          <a:lstStyle/>
          <a:p>
            <a:r>
              <a:rPr lang="en-US" dirty="0"/>
              <a:t>Collect</a:t>
            </a:r>
          </a:p>
          <a:p>
            <a:r>
              <a:rPr lang="en-US" dirty="0"/>
              <a:t>Preprocess</a:t>
            </a:r>
          </a:p>
          <a:p>
            <a:r>
              <a:rPr lang="en-US" dirty="0"/>
              <a:t>Analyze</a:t>
            </a:r>
          </a:p>
          <a:p>
            <a:r>
              <a:rPr lang="en-US" dirty="0"/>
              <a:t>Build</a:t>
            </a:r>
          </a:p>
          <a:p>
            <a:r>
              <a:rPr lang="en-US" dirty="0"/>
              <a:t>Evaluate end compare</a:t>
            </a:r>
          </a:p>
          <a:p>
            <a:r>
              <a:rPr lang="en-US" dirty="0"/>
              <a:t>Identify</a:t>
            </a:r>
            <a:endParaRPr lang="en-IN" dirty="0"/>
          </a:p>
        </p:txBody>
      </p:sp>
      <p:sp>
        <p:nvSpPr>
          <p:cNvPr id="5" name="TextBox 4">
            <a:extLst>
              <a:ext uri="{FF2B5EF4-FFF2-40B4-BE49-F238E27FC236}">
                <a16:creationId xmlns:a16="http://schemas.microsoft.com/office/drawing/2014/main" id="{53383BDF-4663-718D-4BCA-1549BE07ADEA}"/>
              </a:ext>
            </a:extLst>
          </p:cNvPr>
          <p:cNvSpPr txBox="1"/>
          <p:nvPr/>
        </p:nvSpPr>
        <p:spPr>
          <a:xfrm>
            <a:off x="5357191" y="6176963"/>
            <a:ext cx="1093305" cy="369332"/>
          </a:xfrm>
          <a:prstGeom prst="rect">
            <a:avLst/>
          </a:prstGeom>
          <a:noFill/>
        </p:spPr>
        <p:txBody>
          <a:bodyPr wrap="square" rtlCol="0">
            <a:spAutoFit/>
          </a:bodyPr>
          <a:lstStyle/>
          <a:p>
            <a:r>
              <a:rPr lang="en-IN" dirty="0"/>
              <a:t>7</a:t>
            </a:r>
          </a:p>
        </p:txBody>
      </p:sp>
    </p:spTree>
    <p:extLst>
      <p:ext uri="{BB962C8B-B14F-4D97-AF65-F5344CB8AC3E}">
        <p14:creationId xmlns:p14="http://schemas.microsoft.com/office/powerpoint/2010/main" val="66858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7AF07-5959-8E31-38DF-7851420FE205}"/>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B8735A4B-87E5-94B5-5C95-192947E24377}"/>
              </a:ext>
            </a:extLst>
          </p:cNvPr>
          <p:cNvSpPr>
            <a:spLocks noGrp="1"/>
          </p:cNvSpPr>
          <p:nvPr>
            <p:ph idx="1"/>
          </p:nvPr>
        </p:nvSpPr>
        <p:spPr/>
        <p:txBody>
          <a:bodyPr/>
          <a:lstStyle/>
          <a:p>
            <a:pPr lvl="0"/>
            <a:r>
              <a:rPr lang="en-IN" sz="2400" dirty="0"/>
              <a:t>Machine Learning for Diabetes Prediction </a:t>
            </a:r>
          </a:p>
          <a:p>
            <a:pPr lvl="0"/>
            <a:r>
              <a:rPr lang="en-IN" sz="2400" dirty="0"/>
              <a:t>Machine Learning for Heart Failure Prediction </a:t>
            </a:r>
          </a:p>
          <a:p>
            <a:pPr lvl="0"/>
            <a:r>
              <a:rPr lang="en-IN" sz="2400" dirty="0"/>
              <a:t>Comparative Analysis of ML Models </a:t>
            </a:r>
          </a:p>
          <a:p>
            <a:pPr lvl="0"/>
            <a:r>
              <a:rPr lang="en-IN" sz="2400" dirty="0"/>
              <a:t>Clinical Feature Importance </a:t>
            </a:r>
          </a:p>
          <a:p>
            <a:pPr lvl="0"/>
            <a:r>
              <a:rPr lang="en-IN" sz="2400" dirty="0"/>
              <a:t>Evaluation Metrics in Healthcare Prediction </a:t>
            </a:r>
          </a:p>
          <a:p>
            <a:pPr lvl="0"/>
            <a:r>
              <a:rPr lang="en-IN" sz="2400" dirty="0"/>
              <a:t>Existing Limitations </a:t>
            </a:r>
          </a:p>
          <a:p>
            <a:pPr lvl="0"/>
            <a:r>
              <a:rPr lang="en-IN" sz="2400" dirty="0"/>
              <a:t>Research Gap</a:t>
            </a:r>
          </a:p>
          <a:p>
            <a:pPr marL="0" indent="0">
              <a:buNone/>
            </a:pPr>
            <a:endParaRPr lang="en-IN" dirty="0"/>
          </a:p>
        </p:txBody>
      </p:sp>
      <p:sp>
        <p:nvSpPr>
          <p:cNvPr id="5" name="TextBox 4">
            <a:extLst>
              <a:ext uri="{FF2B5EF4-FFF2-40B4-BE49-F238E27FC236}">
                <a16:creationId xmlns:a16="http://schemas.microsoft.com/office/drawing/2014/main" id="{2DB71BDF-4888-1077-ED35-AE0FE22710B9}"/>
              </a:ext>
            </a:extLst>
          </p:cNvPr>
          <p:cNvSpPr txBox="1"/>
          <p:nvPr/>
        </p:nvSpPr>
        <p:spPr>
          <a:xfrm>
            <a:off x="5347252" y="6176963"/>
            <a:ext cx="1093305" cy="369332"/>
          </a:xfrm>
          <a:prstGeom prst="rect">
            <a:avLst/>
          </a:prstGeom>
          <a:noFill/>
        </p:spPr>
        <p:txBody>
          <a:bodyPr wrap="square" rtlCol="0">
            <a:spAutoFit/>
          </a:bodyPr>
          <a:lstStyle/>
          <a:p>
            <a:r>
              <a:rPr lang="en-IN" dirty="0"/>
              <a:t>8</a:t>
            </a:r>
          </a:p>
        </p:txBody>
      </p:sp>
    </p:spTree>
    <p:extLst>
      <p:ext uri="{BB962C8B-B14F-4D97-AF65-F5344CB8AC3E}">
        <p14:creationId xmlns:p14="http://schemas.microsoft.com/office/powerpoint/2010/main" val="1342935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3A96-A6B6-1A68-BDA7-950063603943}"/>
              </a:ext>
            </a:extLst>
          </p:cNvPr>
          <p:cNvSpPr>
            <a:spLocks noGrp="1"/>
          </p:cNvSpPr>
          <p:nvPr>
            <p:ph type="title"/>
          </p:nvPr>
        </p:nvSpPr>
        <p:spPr/>
        <p:txBody>
          <a:bodyPr/>
          <a:lstStyle/>
          <a:p>
            <a:r>
              <a:rPr lang="en-US" dirty="0"/>
              <a:t>ARCHITECTURE</a:t>
            </a:r>
            <a:endParaRPr lang="en-IN" dirty="0"/>
          </a:p>
        </p:txBody>
      </p:sp>
      <p:pic>
        <p:nvPicPr>
          <p:cNvPr id="5" name="Content Placeholder 4">
            <a:extLst>
              <a:ext uri="{FF2B5EF4-FFF2-40B4-BE49-F238E27FC236}">
                <a16:creationId xmlns:a16="http://schemas.microsoft.com/office/drawing/2014/main" id="{3366CB19-201A-1AFE-91DE-252372238E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0234" y="0"/>
            <a:ext cx="6977271" cy="8435030"/>
          </a:xfrm>
          <a:prstGeom prst="rect">
            <a:avLst/>
          </a:prstGeom>
        </p:spPr>
      </p:pic>
      <p:sp>
        <p:nvSpPr>
          <p:cNvPr id="30" name="TextBox 29">
            <a:extLst>
              <a:ext uri="{FF2B5EF4-FFF2-40B4-BE49-F238E27FC236}">
                <a16:creationId xmlns:a16="http://schemas.microsoft.com/office/drawing/2014/main" id="{ABE2D269-3E59-6918-88A3-9FD9BC6C3608}"/>
              </a:ext>
            </a:extLst>
          </p:cNvPr>
          <p:cNvSpPr txBox="1"/>
          <p:nvPr/>
        </p:nvSpPr>
        <p:spPr>
          <a:xfrm>
            <a:off x="5347252" y="6176963"/>
            <a:ext cx="1093305" cy="369332"/>
          </a:xfrm>
          <a:prstGeom prst="rect">
            <a:avLst/>
          </a:prstGeom>
          <a:noFill/>
        </p:spPr>
        <p:txBody>
          <a:bodyPr wrap="square" rtlCol="0">
            <a:spAutoFit/>
          </a:bodyPr>
          <a:lstStyle/>
          <a:p>
            <a:r>
              <a:rPr lang="en-IN" dirty="0"/>
              <a:t>9</a:t>
            </a:r>
          </a:p>
        </p:txBody>
      </p:sp>
    </p:spTree>
    <p:extLst>
      <p:ext uri="{BB962C8B-B14F-4D97-AF65-F5344CB8AC3E}">
        <p14:creationId xmlns:p14="http://schemas.microsoft.com/office/powerpoint/2010/main" val="90065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BB9A-40FE-2B46-C96F-FAE2D8E8D4F0}"/>
              </a:ext>
            </a:extLst>
          </p:cNvPr>
          <p:cNvSpPr>
            <a:spLocks noGrp="1"/>
          </p:cNvSpPr>
          <p:nvPr>
            <p:ph type="title"/>
          </p:nvPr>
        </p:nvSpPr>
        <p:spPr/>
        <p:txBody>
          <a:bodyPr/>
          <a:lstStyle/>
          <a:p>
            <a:r>
              <a:rPr lang="en-US" dirty="0"/>
              <a:t>EVALUATION </a:t>
            </a:r>
            <a:r>
              <a:rPr lang="en-IN" dirty="0"/>
              <a:t>METRICS</a:t>
            </a:r>
          </a:p>
        </p:txBody>
      </p:sp>
      <p:graphicFrame>
        <p:nvGraphicFramePr>
          <p:cNvPr id="18" name="Content Placeholder 17">
            <a:extLst>
              <a:ext uri="{FF2B5EF4-FFF2-40B4-BE49-F238E27FC236}">
                <a16:creationId xmlns:a16="http://schemas.microsoft.com/office/drawing/2014/main" id="{12FAB52F-6D12-5938-5160-1AE8F1865221}"/>
              </a:ext>
            </a:extLst>
          </p:cNvPr>
          <p:cNvGraphicFramePr>
            <a:graphicFrameLocks noGrp="1"/>
          </p:cNvGraphicFramePr>
          <p:nvPr>
            <p:ph idx="1"/>
          </p:nvPr>
        </p:nvGraphicFramePr>
        <p:xfrm>
          <a:off x="838200" y="2355374"/>
          <a:ext cx="10515600" cy="329184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759927993"/>
                    </a:ext>
                  </a:extLst>
                </a:gridCol>
                <a:gridCol w="5257800">
                  <a:extLst>
                    <a:ext uri="{9D8B030D-6E8A-4147-A177-3AD203B41FA5}">
                      <a16:colId xmlns:a16="http://schemas.microsoft.com/office/drawing/2014/main" val="3603754919"/>
                    </a:ext>
                  </a:extLst>
                </a:gridCol>
              </a:tblGrid>
              <a:tr h="0">
                <a:tc>
                  <a:txBody>
                    <a:bodyPr/>
                    <a:lstStyle/>
                    <a:p>
                      <a:pPr>
                        <a:buNone/>
                      </a:pPr>
                      <a:r>
                        <a:rPr lang="en-IN"/>
                        <a:t>METRIC</a:t>
                      </a:r>
                    </a:p>
                  </a:txBody>
                  <a:tcPr anchor="ctr"/>
                </a:tc>
                <a:tc>
                  <a:txBody>
                    <a:bodyPr/>
                    <a:lstStyle/>
                    <a:p>
                      <a:pPr>
                        <a:buNone/>
                      </a:pPr>
                      <a:r>
                        <a:rPr lang="en-IN"/>
                        <a:t>PURPOSE</a:t>
                      </a:r>
                    </a:p>
                  </a:txBody>
                  <a:tcPr anchor="ctr"/>
                </a:tc>
                <a:extLst>
                  <a:ext uri="{0D108BD9-81ED-4DB2-BD59-A6C34878D82A}">
                    <a16:rowId xmlns:a16="http://schemas.microsoft.com/office/drawing/2014/main" val="4202335497"/>
                  </a:ext>
                </a:extLst>
              </a:tr>
              <a:tr h="0">
                <a:tc>
                  <a:txBody>
                    <a:bodyPr/>
                    <a:lstStyle/>
                    <a:p>
                      <a:pPr>
                        <a:buNone/>
                      </a:pPr>
                      <a:r>
                        <a:rPr lang="en-IN"/>
                        <a:t>Accuracy</a:t>
                      </a:r>
                    </a:p>
                  </a:txBody>
                  <a:tcPr anchor="ctr"/>
                </a:tc>
                <a:tc>
                  <a:txBody>
                    <a:bodyPr/>
                    <a:lstStyle/>
                    <a:p>
                      <a:pPr>
                        <a:buNone/>
                      </a:pPr>
                      <a:r>
                        <a:rPr lang="en-IN"/>
                        <a:t>Measures the overall percentage of correct predictions.</a:t>
                      </a:r>
                    </a:p>
                  </a:txBody>
                  <a:tcPr anchor="ctr"/>
                </a:tc>
                <a:extLst>
                  <a:ext uri="{0D108BD9-81ED-4DB2-BD59-A6C34878D82A}">
                    <a16:rowId xmlns:a16="http://schemas.microsoft.com/office/drawing/2014/main" val="3342041114"/>
                  </a:ext>
                </a:extLst>
              </a:tr>
              <a:tr h="0">
                <a:tc>
                  <a:txBody>
                    <a:bodyPr/>
                    <a:lstStyle/>
                    <a:p>
                      <a:pPr>
                        <a:buNone/>
                      </a:pPr>
                      <a:r>
                        <a:rPr lang="en-IN" dirty="0"/>
                        <a:t>Precision</a:t>
                      </a:r>
                    </a:p>
                  </a:txBody>
                  <a:tcPr anchor="ctr"/>
                </a:tc>
                <a:tc>
                  <a:txBody>
                    <a:bodyPr/>
                    <a:lstStyle/>
                    <a:p>
                      <a:pPr>
                        <a:buNone/>
                      </a:pPr>
                      <a:r>
                        <a:rPr lang="en-IN"/>
                        <a:t>Measures how many predicted positive cases are actually positive.</a:t>
                      </a:r>
                    </a:p>
                  </a:txBody>
                  <a:tcPr anchor="ctr"/>
                </a:tc>
                <a:extLst>
                  <a:ext uri="{0D108BD9-81ED-4DB2-BD59-A6C34878D82A}">
                    <a16:rowId xmlns:a16="http://schemas.microsoft.com/office/drawing/2014/main" val="4204196977"/>
                  </a:ext>
                </a:extLst>
              </a:tr>
              <a:tr h="0">
                <a:tc>
                  <a:txBody>
                    <a:bodyPr/>
                    <a:lstStyle/>
                    <a:p>
                      <a:pPr>
                        <a:buNone/>
                      </a:pPr>
                      <a:r>
                        <a:rPr lang="en-IN"/>
                        <a:t>Recall</a:t>
                      </a:r>
                    </a:p>
                  </a:txBody>
                  <a:tcPr anchor="ctr"/>
                </a:tc>
                <a:tc>
                  <a:txBody>
                    <a:bodyPr/>
                    <a:lstStyle/>
                    <a:p>
                      <a:pPr>
                        <a:buNone/>
                      </a:pPr>
                      <a:r>
                        <a:rPr lang="en-IN"/>
                        <a:t>Measures how many actual positive cases are correctly identified.</a:t>
                      </a:r>
                    </a:p>
                  </a:txBody>
                  <a:tcPr anchor="ctr"/>
                </a:tc>
                <a:extLst>
                  <a:ext uri="{0D108BD9-81ED-4DB2-BD59-A6C34878D82A}">
                    <a16:rowId xmlns:a16="http://schemas.microsoft.com/office/drawing/2014/main" val="1449568413"/>
                  </a:ext>
                </a:extLst>
              </a:tr>
              <a:tr h="0">
                <a:tc>
                  <a:txBody>
                    <a:bodyPr/>
                    <a:lstStyle/>
                    <a:p>
                      <a:pPr>
                        <a:buNone/>
                      </a:pPr>
                      <a:r>
                        <a:rPr lang="en-IN"/>
                        <a:t>F1-Score</a:t>
                      </a:r>
                    </a:p>
                  </a:txBody>
                  <a:tcPr anchor="ctr"/>
                </a:tc>
                <a:tc>
                  <a:txBody>
                    <a:bodyPr/>
                    <a:lstStyle/>
                    <a:p>
                      <a:pPr>
                        <a:buNone/>
                      </a:pPr>
                      <a:r>
                        <a:rPr lang="en-IN"/>
                        <a:t>Provides a balance between Precision and Recall.</a:t>
                      </a:r>
                    </a:p>
                  </a:txBody>
                  <a:tcPr anchor="ctr"/>
                </a:tc>
                <a:extLst>
                  <a:ext uri="{0D108BD9-81ED-4DB2-BD59-A6C34878D82A}">
                    <a16:rowId xmlns:a16="http://schemas.microsoft.com/office/drawing/2014/main" val="2463638492"/>
                  </a:ext>
                </a:extLst>
              </a:tr>
              <a:tr h="0">
                <a:tc>
                  <a:txBody>
                    <a:bodyPr/>
                    <a:lstStyle/>
                    <a:p>
                      <a:pPr>
                        <a:buNone/>
                      </a:pPr>
                      <a:r>
                        <a:rPr lang="en-IN"/>
                        <a:t>AUC-ROC</a:t>
                      </a:r>
                    </a:p>
                  </a:txBody>
                  <a:tcPr anchor="ctr"/>
                </a:tc>
                <a:tc>
                  <a:txBody>
                    <a:bodyPr/>
                    <a:lstStyle/>
                    <a:p>
                      <a:pPr>
                        <a:buNone/>
                      </a:pPr>
                      <a:r>
                        <a:rPr lang="en-IN" dirty="0"/>
                        <a:t>Measures how well the model distinguishes between positive and negative classes.</a:t>
                      </a:r>
                    </a:p>
                  </a:txBody>
                  <a:tcPr anchor="ctr"/>
                </a:tc>
                <a:extLst>
                  <a:ext uri="{0D108BD9-81ED-4DB2-BD59-A6C34878D82A}">
                    <a16:rowId xmlns:a16="http://schemas.microsoft.com/office/drawing/2014/main" val="1385245465"/>
                  </a:ext>
                </a:extLst>
              </a:tr>
            </a:tbl>
          </a:graphicData>
        </a:graphic>
      </p:graphicFrame>
      <p:sp>
        <p:nvSpPr>
          <p:cNvPr id="20" name="TextBox 19">
            <a:extLst>
              <a:ext uri="{FF2B5EF4-FFF2-40B4-BE49-F238E27FC236}">
                <a16:creationId xmlns:a16="http://schemas.microsoft.com/office/drawing/2014/main" id="{2DE25EB0-6A52-C473-1426-956178B53E9F}"/>
              </a:ext>
            </a:extLst>
          </p:cNvPr>
          <p:cNvSpPr txBox="1"/>
          <p:nvPr/>
        </p:nvSpPr>
        <p:spPr>
          <a:xfrm>
            <a:off x="5347252" y="6176963"/>
            <a:ext cx="1093305" cy="369332"/>
          </a:xfrm>
          <a:prstGeom prst="rect">
            <a:avLst/>
          </a:prstGeom>
          <a:noFill/>
        </p:spPr>
        <p:txBody>
          <a:bodyPr wrap="square" rtlCol="0">
            <a:spAutoFit/>
          </a:bodyPr>
          <a:lstStyle/>
          <a:p>
            <a:r>
              <a:rPr lang="en-IN" dirty="0"/>
              <a:t>10</a:t>
            </a:r>
          </a:p>
        </p:txBody>
      </p:sp>
    </p:spTree>
    <p:extLst>
      <p:ext uri="{BB962C8B-B14F-4D97-AF65-F5344CB8AC3E}">
        <p14:creationId xmlns:p14="http://schemas.microsoft.com/office/powerpoint/2010/main" val="1186907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D7DC-309A-1ED2-C693-4ED0EDCE9560}"/>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0979E156-1AD3-FA0C-7325-EDD8575EAB66}"/>
              </a:ext>
            </a:extLst>
          </p:cNvPr>
          <p:cNvSpPr>
            <a:spLocks noGrp="1"/>
          </p:cNvSpPr>
          <p:nvPr>
            <p:ph idx="1"/>
          </p:nvPr>
        </p:nvSpPr>
        <p:spPr/>
        <p:txBody>
          <a:bodyPr/>
          <a:lstStyle/>
          <a:p>
            <a:r>
              <a:rPr lang="en-IN" dirty="0"/>
              <a:t>To conclude, our project focuses on using clinical data for early prediction of diabetes and heart failure. We will implement three machine learning models and evaluate them using the same set of metrics. Finally, we will compare their performance and identify important clinical features. Since this is a proposed study, the final conclusion about which model performs best will be based on our experimental results.</a:t>
            </a:r>
          </a:p>
        </p:txBody>
      </p:sp>
      <p:sp>
        <p:nvSpPr>
          <p:cNvPr id="5" name="TextBox 4">
            <a:extLst>
              <a:ext uri="{FF2B5EF4-FFF2-40B4-BE49-F238E27FC236}">
                <a16:creationId xmlns:a16="http://schemas.microsoft.com/office/drawing/2014/main" id="{E6460CBC-96E5-9660-346D-4850888EBAA9}"/>
              </a:ext>
            </a:extLst>
          </p:cNvPr>
          <p:cNvSpPr txBox="1"/>
          <p:nvPr/>
        </p:nvSpPr>
        <p:spPr>
          <a:xfrm>
            <a:off x="5347252" y="6176963"/>
            <a:ext cx="1093305" cy="369332"/>
          </a:xfrm>
          <a:prstGeom prst="rect">
            <a:avLst/>
          </a:prstGeom>
          <a:noFill/>
        </p:spPr>
        <p:txBody>
          <a:bodyPr wrap="square" rtlCol="0">
            <a:spAutoFit/>
          </a:bodyPr>
          <a:lstStyle/>
          <a:p>
            <a:r>
              <a:rPr lang="en-IN" dirty="0"/>
              <a:t>11</a:t>
            </a:r>
          </a:p>
        </p:txBody>
      </p:sp>
    </p:spTree>
    <p:extLst>
      <p:ext uri="{BB962C8B-B14F-4D97-AF65-F5344CB8AC3E}">
        <p14:creationId xmlns:p14="http://schemas.microsoft.com/office/powerpoint/2010/main" val="3410065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DB3E-6229-12A0-F633-01C951B86900}"/>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30BB80CE-C2A7-43D8-FD5C-DA80B100F000}"/>
              </a:ext>
            </a:extLst>
          </p:cNvPr>
          <p:cNvSpPr>
            <a:spLocks noGrp="1"/>
          </p:cNvSpPr>
          <p:nvPr>
            <p:ph idx="1"/>
          </p:nvPr>
        </p:nvSpPr>
        <p:spPr/>
        <p:txBody>
          <a:bodyPr>
            <a:normAutofit fontScale="77500" lnSpcReduction="20000"/>
          </a:bodyPr>
          <a:lstStyle/>
          <a:p>
            <a:pPr lvl="0"/>
            <a:r>
              <a:rPr lang="en-IN" b="1" dirty="0"/>
              <a:t>Khokhar, P. B., Gravino, C., &amp; Palomba, F. (2025).</a:t>
            </a:r>
            <a:r>
              <a:rPr lang="en-IN" dirty="0"/>
              <a:t> </a:t>
            </a:r>
            <a:r>
              <a:rPr lang="en-IN" i="1" dirty="0"/>
              <a:t>Advances in artificial intelligence for diabetes prediction: Insights from a systematic literature review.</a:t>
            </a:r>
            <a:r>
              <a:rPr lang="en-IN" dirty="0"/>
              <a:t> </a:t>
            </a:r>
            <a:r>
              <a:rPr lang="en-IN" b="1" dirty="0"/>
              <a:t>Artificial Intelligence in Medicine, 164, 103132.</a:t>
            </a:r>
            <a:r>
              <a:rPr lang="en-IN" dirty="0"/>
              <a:t> </a:t>
            </a:r>
          </a:p>
          <a:p>
            <a:pPr lvl="0"/>
            <a:r>
              <a:rPr lang="en-IN" b="1" dirty="0"/>
              <a:t>Accuracy of Machine Learning Classification Models for the Prediction of Type 2 Diabetes Mellitus: A Systematic Survey and Meta-Analysis Approach. (2022).</a:t>
            </a:r>
            <a:r>
              <a:rPr lang="en-IN" dirty="0"/>
              <a:t> </a:t>
            </a:r>
          </a:p>
          <a:p>
            <a:pPr lvl="0"/>
            <a:r>
              <a:rPr lang="en-IN" b="1" dirty="0"/>
              <a:t>Performance of diabetes risk prediction models: A systematic review and meta-analysis. (2025).</a:t>
            </a:r>
            <a:r>
              <a:rPr lang="en-IN" dirty="0"/>
              <a:t> </a:t>
            </a:r>
          </a:p>
          <a:p>
            <a:pPr lvl="0"/>
            <a:r>
              <a:rPr lang="en-IN" b="1" dirty="0"/>
              <a:t>Xu, Z., Hu, Y., Shao, X., et al. (2025).</a:t>
            </a:r>
            <a:r>
              <a:rPr lang="en-IN" dirty="0"/>
              <a:t> </a:t>
            </a:r>
            <a:r>
              <a:rPr lang="en-IN" i="1" dirty="0"/>
              <a:t>The Efficacy of Machine Learning Models for Predicting the Prognosis of Heart Failure: A Systematic Review and Meta-Analysis.</a:t>
            </a:r>
            <a:r>
              <a:rPr lang="en-IN" dirty="0"/>
              <a:t> </a:t>
            </a:r>
            <a:r>
              <a:rPr lang="en-IN" b="1" dirty="0"/>
              <a:t>Cardiology, 150(1), 79–97.</a:t>
            </a:r>
            <a:r>
              <a:rPr lang="en-IN" dirty="0"/>
              <a:t> </a:t>
            </a:r>
          </a:p>
          <a:p>
            <a:pPr lvl="0"/>
            <a:r>
              <a:rPr lang="en-IN" b="1" dirty="0"/>
              <a:t>Comparing Machine Learning Models and Statistical Models for Predicting Heart Failure Events: A Systematic Review and Meta-Analysis. (2022).</a:t>
            </a:r>
            <a:r>
              <a:rPr lang="en-IN" dirty="0"/>
              <a:t> </a:t>
            </a:r>
          </a:p>
          <a:p>
            <a:pPr lvl="0"/>
            <a:r>
              <a:rPr lang="en-IN" b="1" dirty="0" err="1"/>
              <a:t>Scrutinio</a:t>
            </a:r>
            <a:r>
              <a:rPr lang="en-IN" b="1" dirty="0"/>
              <a:t>, D., et al. (2025).</a:t>
            </a:r>
            <a:r>
              <a:rPr lang="en-IN" dirty="0"/>
              <a:t> </a:t>
            </a:r>
            <a:r>
              <a:rPr lang="en-IN" i="1" dirty="0"/>
              <a:t>Prediction of mortality in heart failure by machine learning. Comparison with statistical </a:t>
            </a:r>
            <a:r>
              <a:rPr lang="en-IN" i="1" dirty="0" err="1"/>
              <a:t>modeling</a:t>
            </a:r>
            <a:r>
              <a:rPr lang="en-IN" i="1" dirty="0"/>
              <a:t>.</a:t>
            </a:r>
            <a:r>
              <a:rPr lang="en-IN" dirty="0"/>
              <a:t> </a:t>
            </a:r>
            <a:r>
              <a:rPr lang="en-IN" b="1" dirty="0"/>
              <a:t>European Journal of Internal Medicine</a:t>
            </a:r>
            <a:endParaRPr lang="en-IN" dirty="0"/>
          </a:p>
          <a:p>
            <a:endParaRPr lang="en-IN" dirty="0"/>
          </a:p>
        </p:txBody>
      </p:sp>
      <p:sp>
        <p:nvSpPr>
          <p:cNvPr id="5" name="TextBox 4">
            <a:extLst>
              <a:ext uri="{FF2B5EF4-FFF2-40B4-BE49-F238E27FC236}">
                <a16:creationId xmlns:a16="http://schemas.microsoft.com/office/drawing/2014/main" id="{465B8A08-5B60-55BB-E893-A9AAB228E73B}"/>
              </a:ext>
            </a:extLst>
          </p:cNvPr>
          <p:cNvSpPr txBox="1"/>
          <p:nvPr/>
        </p:nvSpPr>
        <p:spPr>
          <a:xfrm>
            <a:off x="5347252" y="6176963"/>
            <a:ext cx="1093305" cy="369332"/>
          </a:xfrm>
          <a:prstGeom prst="rect">
            <a:avLst/>
          </a:prstGeom>
          <a:noFill/>
        </p:spPr>
        <p:txBody>
          <a:bodyPr wrap="square" rtlCol="0">
            <a:spAutoFit/>
          </a:bodyPr>
          <a:lstStyle/>
          <a:p>
            <a:r>
              <a:rPr lang="en-IN" dirty="0"/>
              <a:t>12</a:t>
            </a:r>
          </a:p>
        </p:txBody>
      </p:sp>
    </p:spTree>
    <p:extLst>
      <p:ext uri="{BB962C8B-B14F-4D97-AF65-F5344CB8AC3E}">
        <p14:creationId xmlns:p14="http://schemas.microsoft.com/office/powerpoint/2010/main" val="2181960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D23BD-016E-226A-8E63-CBF97C67D363}"/>
              </a:ext>
            </a:extLst>
          </p:cNvPr>
          <p:cNvSpPr>
            <a:spLocks noGrp="1"/>
          </p:cNvSpPr>
          <p:nvPr>
            <p:ph idx="1"/>
          </p:nvPr>
        </p:nvSpPr>
        <p:spPr/>
        <p:txBody>
          <a:bodyPr>
            <a:normAutofit/>
          </a:bodyPr>
          <a:lstStyle/>
          <a:p>
            <a:pPr marL="0" indent="0">
              <a:buNone/>
            </a:pPr>
            <a:r>
              <a:rPr lang="en-IN" sz="9600" dirty="0"/>
              <a:t>       THANKYOU</a:t>
            </a:r>
          </a:p>
        </p:txBody>
      </p:sp>
      <p:sp>
        <p:nvSpPr>
          <p:cNvPr id="5" name="TextBox 4">
            <a:extLst>
              <a:ext uri="{FF2B5EF4-FFF2-40B4-BE49-F238E27FC236}">
                <a16:creationId xmlns:a16="http://schemas.microsoft.com/office/drawing/2014/main" id="{04173E92-6CF9-47F2-1A43-2FE170614DD6}"/>
              </a:ext>
            </a:extLst>
          </p:cNvPr>
          <p:cNvSpPr txBox="1"/>
          <p:nvPr/>
        </p:nvSpPr>
        <p:spPr>
          <a:xfrm>
            <a:off x="5347252" y="6176963"/>
            <a:ext cx="1093305" cy="369332"/>
          </a:xfrm>
          <a:prstGeom prst="rect">
            <a:avLst/>
          </a:prstGeom>
          <a:noFill/>
        </p:spPr>
        <p:txBody>
          <a:bodyPr wrap="square" rtlCol="0">
            <a:spAutoFit/>
          </a:bodyPr>
          <a:lstStyle/>
          <a:p>
            <a:r>
              <a:rPr lang="en-IN" dirty="0"/>
              <a:t>13</a:t>
            </a:r>
          </a:p>
        </p:txBody>
      </p:sp>
    </p:spTree>
    <p:extLst>
      <p:ext uri="{BB962C8B-B14F-4D97-AF65-F5344CB8AC3E}">
        <p14:creationId xmlns:p14="http://schemas.microsoft.com/office/powerpoint/2010/main" val="202498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552</TotalTime>
  <Words>854</Words>
  <Application>Microsoft Office PowerPoint</Application>
  <PresentationFormat>Widescreen</PresentationFormat>
  <Paragraphs>99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COMPARATIVE MACHINE LEARNING APPROACHES FOR EARLY PREDICTION OF CHRONIC DISEASES ONSET</vt:lpstr>
      <vt:lpstr>AGENDA</vt:lpstr>
      <vt:lpstr>ABSTRACT</vt:lpstr>
      <vt:lpstr>INTRODUCTION</vt:lpstr>
      <vt:lpstr>PROBLEM STATEMENT</vt:lpstr>
      <vt:lpstr>MOTIVATION</vt:lpstr>
      <vt:lpstr>OBJECTIVES</vt:lpstr>
      <vt:lpstr>LITERATURE REVIEW</vt:lpstr>
      <vt:lpstr>ARCHITECTURE</vt:lpstr>
      <vt:lpstr>EVALUATION METRICS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AECHIKUCHI RAKSHITHA SHARMA</dc:creator>
  <cp:lastModifiedBy>AECHIKUCHI RAKSHITHA SHARMA</cp:lastModifiedBy>
  <cp:revision>3</cp:revision>
  <dcterms:created xsi:type="dcterms:W3CDTF">2026-08-24T08:19:15Z</dcterms:created>
  <dcterms:modified xsi:type="dcterms:W3CDTF">2026-08-26T17:53:54Z</dcterms:modified>
</cp:coreProperties>
</file>