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69" r:id="rId4"/>
    <p:sldId id="272" r:id="rId5"/>
    <p:sldId id="276" r:id="rId6"/>
    <p:sldId id="277" r:id="rId7"/>
    <p:sldId id="278" r:id="rId8"/>
    <p:sldId id="270" r:id="rId9"/>
    <p:sldId id="271" r:id="rId10"/>
    <p:sldId id="273" r:id="rId11"/>
    <p:sldId id="274" r:id="rId12"/>
    <p:sldId id="275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CFE8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134267-DFE6-4881-B2A0-1841F64DB413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93030-0996-4162-9913-D2834EB8D1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524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CC3BF-C1F0-4F94-91C0-0A03816C8EF8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010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756A2-F586-4123-BFAC-6AEA499CBD84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6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740B-E118-4534-97EF-8860AF95CE14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7474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84D7B-BCAE-458F-B726-CB03B6B01603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0198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D617F-B82D-4EB6-BEE6-C28AA1B66F82}" type="datetime1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76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D95EA-C777-4EB1-A727-F02A546C8612}" type="datetime1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230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62083-31EE-4205-8F43-BF1D8EF5B1FB}" type="datetime1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3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22438-6A43-435A-B899-C70194752A84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30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99D370-23A9-4790-893E-1AD0103CB8F3}" type="datetime1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798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8AC87-DC86-4E4B-BDB0-7960EAE83313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0743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34E7A3-79AC-432C-9B7D-511CB1A39A6D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679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8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A134D-7B95-41E9-AFA2-198A2FB36389}" type="datetime1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CE346E-E42D-42D9-BA66-FBB96240AA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907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93345" y="676024"/>
            <a:ext cx="10405311" cy="550595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43075" y="2477294"/>
            <a:ext cx="8705850" cy="798513"/>
          </a:xfrm>
        </p:spPr>
        <p:txBody>
          <a:bodyPr>
            <a:noAutofit/>
          </a:bodyPr>
          <a:lstStyle/>
          <a:p>
            <a:r>
              <a:rPr lang="en-GB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Modelling and Capacity Optimization </a:t>
            </a:r>
            <a:r>
              <a:rPr lang="en-GB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9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Net-Zero </a:t>
            </a:r>
            <a:r>
              <a:rPr lang="en-GB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 Energy Systems</a:t>
            </a:r>
            <a:endParaRPr lang="en-IN" sz="2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9352" y="4343400"/>
            <a:ext cx="2581776" cy="1655762"/>
          </a:xfrm>
        </p:spPr>
        <p:txBody>
          <a:bodyPr/>
          <a:lstStyle/>
          <a:p>
            <a:pPr algn="l"/>
            <a:r>
              <a:rPr lang="en-GB" dirty="0" smtClean="0"/>
              <a:t>Presented By:</a:t>
            </a:r>
          </a:p>
          <a:p>
            <a:pPr algn="l"/>
            <a:r>
              <a:rPr lang="en-GB" dirty="0" smtClean="0"/>
              <a:t>Gandla Sreeshanth</a:t>
            </a:r>
          </a:p>
          <a:p>
            <a:pPr algn="l"/>
            <a:r>
              <a:rPr lang="en-GB" dirty="0" smtClean="0"/>
              <a:t>22011P0536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5FE581-7570-766F-59A7-26D2C27F59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512" y="739891"/>
            <a:ext cx="1779027" cy="1444950"/>
          </a:xfrm>
          <a:prstGeom prst="rect">
            <a:avLst/>
          </a:prstGeom>
        </p:spPr>
      </p:pic>
      <p:sp>
        <p:nvSpPr>
          <p:cNvPr id="6" name="Subtitle 2"/>
          <p:cNvSpPr txBox="1">
            <a:spLocks/>
          </p:cNvSpPr>
          <p:nvPr/>
        </p:nvSpPr>
        <p:spPr>
          <a:xfrm>
            <a:off x="7351630" y="4343400"/>
            <a:ext cx="3624775" cy="165576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GB" b="1" dirty="0" smtClean="0"/>
              <a:t>Mentor:</a:t>
            </a:r>
          </a:p>
          <a:p>
            <a:pPr algn="just"/>
            <a:r>
              <a:rPr lang="en-IN" dirty="0"/>
              <a:t>Mr. </a:t>
            </a:r>
            <a:r>
              <a:rPr lang="en-IN" dirty="0" smtClean="0"/>
              <a:t>Gollakota</a:t>
            </a:r>
            <a:r>
              <a:rPr lang="en-IN" dirty="0"/>
              <a:t> </a:t>
            </a:r>
            <a:r>
              <a:rPr lang="en-IN" dirty="0" smtClean="0"/>
              <a:t>Narasimham</a:t>
            </a:r>
            <a:endParaRPr lang="en-GB" dirty="0" smtClean="0"/>
          </a:p>
          <a:p>
            <a:pPr algn="just"/>
            <a:r>
              <a:rPr lang="en-IN" dirty="0"/>
              <a:t>Associate </a:t>
            </a:r>
            <a:r>
              <a:rPr lang="en-IN" dirty="0" smtClean="0"/>
              <a:t>Professor,</a:t>
            </a:r>
          </a:p>
          <a:p>
            <a:pPr algn="just"/>
            <a:r>
              <a:rPr lang="en-IN" dirty="0" smtClean="0"/>
              <a:t>CSE Department ,JNTUH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8E53B-D229-6447-79FD-D2D0214BAB0C}"/>
              </a:ext>
            </a:extLst>
          </p:cNvPr>
          <p:cNvSpPr txBox="1"/>
          <p:nvPr/>
        </p:nvSpPr>
        <p:spPr>
          <a:xfrm>
            <a:off x="2542573" y="79741"/>
            <a:ext cx="710685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7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</a:t>
            </a:r>
            <a:r>
              <a:rPr lang="en-US" sz="2700" dirty="0" smtClean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PROPOSAL</a:t>
            </a:r>
            <a:endParaRPr lang="en-IN" sz="27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2292350" y="803264"/>
            <a:ext cx="9090818" cy="1170155"/>
            <a:chOff x="973932" y="5400664"/>
            <a:chExt cx="10244136" cy="1170155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7C65A9AD-E504-43BD-3781-AC79A88C48B7}"/>
                </a:ext>
              </a:extLst>
            </p:cNvPr>
            <p:cNvSpPr txBox="1"/>
            <p:nvPr/>
          </p:nvSpPr>
          <p:spPr>
            <a:xfrm>
              <a:off x="1476375" y="5400664"/>
              <a:ext cx="923925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E3127D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Department of Computer Science and Engineering</a:t>
              </a:r>
              <a:endParaRPr lang="en-IN" sz="2000" b="1" dirty="0">
                <a:solidFill>
                  <a:srgbClr val="E3127D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687AD52-3941-C7B5-E714-22386120CF7A}"/>
                </a:ext>
              </a:extLst>
            </p:cNvPr>
            <p:cNvSpPr txBox="1"/>
            <p:nvPr/>
          </p:nvSpPr>
          <p:spPr>
            <a:xfrm>
              <a:off x="973932" y="6216876"/>
              <a:ext cx="1024413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 smtClean="0">
                  <a:solidFill>
                    <a:srgbClr val="2B296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COLLEGE </a:t>
              </a:r>
              <a:r>
                <a:rPr lang="en-US" sz="1700" b="1" dirty="0">
                  <a:solidFill>
                    <a:srgbClr val="2B296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OF ENGINEERING, SCIENCE AND TECHNOLOGY HYDERABAD</a:t>
              </a:r>
              <a:endParaRPr lang="en-IN" sz="1700" b="1" dirty="0">
                <a:solidFill>
                  <a:srgbClr val="2B296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5F5BE6C-9526-4834-4E1D-5B6A424CE35F}"/>
                </a:ext>
              </a:extLst>
            </p:cNvPr>
            <p:cNvSpPr txBox="1"/>
            <p:nvPr/>
          </p:nvSpPr>
          <p:spPr>
            <a:xfrm>
              <a:off x="1141192" y="5838358"/>
              <a:ext cx="9909616" cy="3539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700" b="1" dirty="0">
                  <a:solidFill>
                    <a:srgbClr val="2B296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JAWAHARLAL NEHRU TECHNOLOGICAL UNIVERSITY HYDERABAD UNIVERSITY</a:t>
              </a:r>
              <a:endParaRPr lang="en-IN" sz="1700" b="1" dirty="0">
                <a:solidFill>
                  <a:srgbClr val="2B296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56520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Objective</a:t>
            </a:r>
            <a:endParaRPr lang="en-US" dirty="0"/>
          </a:p>
        </p:txBody>
      </p:sp>
      <p:sp>
        <p:nvSpPr>
          <p:cNvPr id="10" name="Google Shape;96;p14"/>
          <p:cNvSpPr txBox="1"/>
          <p:nvPr/>
        </p:nvSpPr>
        <p:spPr>
          <a:xfrm>
            <a:off x="1062957" y="2482056"/>
            <a:ext cx="9719343" cy="2908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0" marR="0" lvl="0" indent="-2857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b="0" i="0" u="none" strike="noStrike" cap="none" dirty="0" smtClean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Bridge the critical gap between residential energy demand and weather-driven solar PV supply.</a:t>
            </a:r>
          </a:p>
          <a:p>
            <a:pPr marR="0" lvl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b="0" i="0" u="none" strike="noStrike" cap="none" dirty="0" smtClean="0">
              <a:solidFill>
                <a:srgbClr val="334155"/>
              </a:solidFill>
              <a:latin typeface="Times New Roman" panose="02020603050405020304" pitchFamily="18" charset="0"/>
              <a:ea typeface="Lato"/>
              <a:cs typeface="Times New Roman" panose="02020603050405020304" pitchFamily="18" charset="0"/>
              <a:sym typeface="Lato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Output the optimal solar panel (</a:t>
            </a:r>
            <a:r>
              <a:rPr lang="en-GB" dirty="0" err="1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kWp</a:t>
            </a:r>
            <a:r>
              <a:rPr lang="en-GB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) and battery storage (kWh) capacity necessary for a net-zero annual bill</a:t>
            </a:r>
            <a:r>
              <a:rPr lang="en-GB" dirty="0" smtClean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Utilize predictive modelling and deterministic optimization to ensure accurate and tailored system sizing</a:t>
            </a:r>
            <a:r>
              <a:rPr lang="en-GB" dirty="0" smtClean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63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Problem Definition</a:t>
            </a:r>
            <a:endParaRPr lang="en-US" dirty="0"/>
          </a:p>
        </p:txBody>
      </p:sp>
      <p:sp>
        <p:nvSpPr>
          <p:cNvPr id="5" name="Google Shape;111;p15"/>
          <p:cNvSpPr txBox="1"/>
          <p:nvPr/>
        </p:nvSpPr>
        <p:spPr>
          <a:xfrm>
            <a:off x="1005639" y="2109955"/>
            <a:ext cx="10180722" cy="3939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u="none" strike="noStrike" cap="none" dirty="0">
                <a:solidFill>
                  <a:srgbClr val="0F172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challenge of imprecise planning</a:t>
            </a:r>
            <a:r>
              <a:rPr lang="en-US" sz="1900" b="1" i="0" u="none" strike="noStrike" cap="none" dirty="0" smtClean="0">
                <a:solidFill>
                  <a:srgbClr val="0F172A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:</a:t>
            </a:r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500" b="1" dirty="0" smtClean="0">
              <a:solidFill>
                <a:srgbClr val="0F172A"/>
              </a:solidFill>
              <a:latin typeface="Lato"/>
              <a:sym typeface="Lato"/>
            </a:endParaRP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GB" dirty="0" smtClean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Currently</a:t>
            </a:r>
            <a:r>
              <a:rPr lang="en-GB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, homeowners lack reliable, scientific methods to calculate the precise solar and battery capacity required to completely eliminate their electricity bills</a:t>
            </a:r>
            <a:r>
              <a:rPr lang="en-GB" dirty="0" smtClean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§"/>
            </a:pPr>
            <a:endParaRPr lang="en-GB" dirty="0">
              <a:solidFill>
                <a:srgbClr val="334155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Lato"/>
            </a:endParaRPr>
          </a:p>
          <a:p>
            <a:pPr marL="285750" lvl="0" indent="-285750">
              <a:lnSpc>
                <a:spcPct val="160000"/>
              </a:lnSpc>
              <a:buFont typeface="Wingdings" panose="05000000000000000000" pitchFamily="2" charset="2"/>
              <a:buChar char="§"/>
            </a:pPr>
            <a:r>
              <a:rPr lang="en-GB" dirty="0">
                <a:solidFill>
                  <a:srgbClr val="334155"/>
                </a:solidFill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The industry's heavy reliance on generic "rules-of-thumb" for system sizing frequently leads to costly over-investments or severely under-performing residential setups.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</a:pPr>
            <a:endParaRPr lang="en-GB" dirty="0"/>
          </a:p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09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Survey of Existing Systems</a:t>
            </a:r>
            <a:endParaRPr 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916406" y="2352523"/>
            <a:ext cx="10202444" cy="3370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Solar Integration: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Katsanevakis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 (2024) emphasizes predicting household usage and solar generation for highly efficient energy utilization.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Surplus Automation: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This framework switches on specific electrical appliances during predicted energy surpluses to effectively manage local power.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Weather Context: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Hewage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 (2026) highlights integrating weather variables with temporal autocorrelation for fine-grained demand forecasting.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242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Survey of Existing Systems</a:t>
            </a:r>
            <a:endParaRPr lang="en-US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905042" y="2394218"/>
            <a:ext cx="9982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Günther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et al. (2019) analyzes how distinct tariff designs influence homeowner investments in residential PV and battery setups.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Investment Drivers: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Feed-in tariffs significantly incentivize or restrict capacity investments based on external market conditions.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Households currently rely on generic rules-of-thumb instead of precise mathematical tools to calculate net-zero capacity needs.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723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168400" y="2324100"/>
            <a:ext cx="8458200" cy="30239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complete dataset consists of: </a:t>
            </a:r>
            <a:endParaRPr lang="en-GB" sz="19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100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residential homes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70,128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steps per home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7,012,800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home-level records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70,128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 regional timestamps 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30-minute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resolution</a:t>
            </a:r>
          </a:p>
          <a:p>
            <a:pPr>
              <a:lnSpc>
                <a:spcPct val="150000"/>
              </a:lnSpc>
            </a:pP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8623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Dataset Overview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 rotWithShape="1">
          <a:blip r:embed="rId2"/>
          <a:srcRect l="3108" t="1" b="2272"/>
          <a:stretch/>
        </p:blipFill>
        <p:spPr>
          <a:xfrm>
            <a:off x="2776538" y="1970121"/>
            <a:ext cx="6638925" cy="4276658"/>
          </a:xfrm>
          <a:prstGeom prst="rect">
            <a:avLst/>
          </a:prstGeom>
        </p:spPr>
      </p:pic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4717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 smtClean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Data Composition</a:t>
            </a:r>
            <a:endParaRPr lang="en-US" dirty="0"/>
          </a:p>
        </p:txBody>
      </p:sp>
      <p:grpSp>
        <p:nvGrpSpPr>
          <p:cNvPr id="4" name="Group 3"/>
          <p:cNvGrpSpPr/>
          <p:nvPr/>
        </p:nvGrpSpPr>
        <p:grpSpPr>
          <a:xfrm>
            <a:off x="874220" y="2460458"/>
            <a:ext cx="10323243" cy="3395036"/>
            <a:chOff x="509623" y="2217105"/>
            <a:chExt cx="11049148" cy="3733800"/>
          </a:xfrm>
        </p:grpSpPr>
        <p:grpSp>
          <p:nvGrpSpPr>
            <p:cNvPr id="3" name="Group 2"/>
            <p:cNvGrpSpPr/>
            <p:nvPr/>
          </p:nvGrpSpPr>
          <p:grpSpPr>
            <a:xfrm>
              <a:off x="509623" y="2217105"/>
              <a:ext cx="3492549" cy="3733800"/>
              <a:chOff x="509623" y="2217105"/>
              <a:chExt cx="3492549" cy="3733800"/>
            </a:xfrm>
          </p:grpSpPr>
          <p:pic>
            <p:nvPicPr>
              <p:cNvPr id="25" name="Google Shape;158;p18" descr="image.png"/>
              <p:cNvPicPr preferRelativeResize="0"/>
              <p:nvPr/>
            </p:nvPicPr>
            <p:blipFill rotWithShape="1">
              <a:blip r:embed="rId2">
                <a:alphaModFix/>
              </a:blip>
              <a:srcRect/>
              <a:stretch/>
            </p:blipFill>
            <p:spPr>
              <a:xfrm>
                <a:off x="509623" y="2217105"/>
                <a:ext cx="3492549" cy="37338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161;p18" descr="image.png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804898" y="2607630"/>
                <a:ext cx="571500" cy="5715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170;p18" descr="image.png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23960" y="2760030"/>
                <a:ext cx="333375" cy="2667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8" name="Google Shape;162;p18"/>
              <p:cNvSpPr txBox="1"/>
              <p:nvPr/>
            </p:nvSpPr>
            <p:spPr>
              <a:xfrm>
                <a:off x="804898" y="3417255"/>
                <a:ext cx="1820227" cy="333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 b="0" i="0" u="none" strike="noStrike" cap="none" dirty="0">
                    <a:solidFill>
                      <a:srgbClr val="0F172A"/>
                    </a:solidFill>
                    <a:latin typeface="Poppins SemiBold"/>
                    <a:ea typeface="Poppins SemiBold"/>
                    <a:cs typeface="Poppins SemiBold"/>
                    <a:sym typeface="Poppins SemiBold"/>
                  </a:rPr>
                  <a:t>Regional Layer</a:t>
                </a:r>
                <a:endParaRPr dirty="0"/>
              </a:p>
            </p:txBody>
          </p:sp>
          <p:sp>
            <p:nvSpPr>
              <p:cNvPr id="29" name="Google Shape;163;p18"/>
              <p:cNvSpPr txBox="1"/>
              <p:nvPr/>
            </p:nvSpPr>
            <p:spPr>
              <a:xfrm>
                <a:off x="804898" y="3893505"/>
                <a:ext cx="2901999" cy="203092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16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5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External shared signals including NSRDB Solar irradiance, meteorological variables for Sacramento, and </a:t>
                </a:r>
                <a:r>
                  <a:rPr lang="en-US" sz="1500" b="0" i="0" u="none" strike="noStrike" cap="none" dirty="0" smtClean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CAISO </a:t>
                </a:r>
                <a:r>
                  <a:rPr lang="en-US" sz="1500" b="0" i="0" u="none" strike="noStrike" cap="none" dirty="0">
                    <a:solidFill>
                      <a:srgbClr val="334155"/>
                    </a:solidFill>
                    <a:latin typeface="Lato"/>
                    <a:ea typeface="Lato"/>
                    <a:cs typeface="Lato"/>
                    <a:sym typeface="Lato"/>
                  </a:rPr>
                  <a:t>electricity prices.</a:t>
                </a:r>
                <a:endParaRPr dirty="0"/>
              </a:p>
            </p:txBody>
          </p:sp>
        </p:grpSp>
        <p:pic>
          <p:nvPicPr>
            <p:cNvPr id="30" name="Google Shape;159;p18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287922" y="2217105"/>
              <a:ext cx="3492549" cy="37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164;p18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83197" y="260763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171;p18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716547" y="2760030"/>
              <a:ext cx="3048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" name="Google Shape;165;p18"/>
            <p:cNvSpPr txBox="1"/>
            <p:nvPr/>
          </p:nvSpPr>
          <p:spPr>
            <a:xfrm>
              <a:off x="4583197" y="3417255"/>
              <a:ext cx="2570321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Household Scenarios</a:t>
              </a:r>
              <a:endParaRPr dirty="0"/>
            </a:p>
          </p:txBody>
        </p:sp>
        <p:sp>
          <p:nvSpPr>
            <p:cNvPr id="34" name="Google Shape;166;p18"/>
            <p:cNvSpPr txBox="1"/>
            <p:nvPr/>
          </p:nvSpPr>
          <p:spPr>
            <a:xfrm>
              <a:off x="4583197" y="3893505"/>
              <a:ext cx="2901999" cy="12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Heterogeneous tracking of base-load kWh, individual PV generation capabilities, </a:t>
              </a:r>
              <a:r>
                <a:rPr lang="en-US" sz="1500" b="0" i="0" u="none" strike="noStrike" cap="none" dirty="0" err="1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shiftable</a:t>
              </a:r>
              <a:r>
                <a:rPr lang="en-US" sz="1500" b="0" i="0" u="none" strike="noStrike" cap="none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appliances, and occupancy characteristics.</a:t>
              </a:r>
              <a:endParaRPr dirty="0"/>
            </a:p>
          </p:txBody>
        </p:sp>
        <p:pic>
          <p:nvPicPr>
            <p:cNvPr id="35" name="Google Shape;160;p18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8066222" y="2217105"/>
              <a:ext cx="3492549" cy="3733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" name="Google Shape;167;p18" descr="image.png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8361497" y="2607630"/>
              <a:ext cx="571500" cy="57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" name="Google Shape;172;p18" descr="image.png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8494847" y="2760030"/>
              <a:ext cx="304800" cy="26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" name="Google Shape;168;p18"/>
            <p:cNvSpPr txBox="1"/>
            <p:nvPr/>
          </p:nvSpPr>
          <p:spPr>
            <a:xfrm>
              <a:off x="8361497" y="3417255"/>
              <a:ext cx="2330291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 dirty="0">
                  <a:solidFill>
                    <a:srgbClr val="0F172A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Thermal Dynamics</a:t>
              </a:r>
              <a:endParaRPr dirty="0"/>
            </a:p>
          </p:txBody>
        </p:sp>
        <p:sp>
          <p:nvSpPr>
            <p:cNvPr id="39" name="Google Shape;169;p18"/>
            <p:cNvSpPr txBox="1"/>
            <p:nvPr/>
          </p:nvSpPr>
          <p:spPr>
            <a:xfrm>
              <a:off x="8361497" y="3893505"/>
              <a:ext cx="2901999" cy="152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Indoor temperature evolution utilizing heterogeneous reduced-order RC thermal models to generate consistent feedback for HVAC control.</a:t>
              </a:r>
              <a:endParaRPr dirty="0"/>
            </a:p>
          </p:txBody>
        </p:sp>
      </p:grpSp>
      <p:sp>
        <p:nvSpPr>
          <p:cNvPr id="40" name="Slide Number Placeholder 3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4722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543" y="1831305"/>
            <a:ext cx="10646915" cy="4761999"/>
          </a:xfrm>
          <a:prstGeom prst="rect">
            <a:avLst/>
          </a:prstGeom>
        </p:spPr>
      </p:pic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8206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Project Roadmap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788069" y="2033588"/>
            <a:ext cx="10615863" cy="4077044"/>
            <a:chOff x="571500" y="1766292"/>
            <a:chExt cx="11049000" cy="4277915"/>
          </a:xfrm>
        </p:grpSpPr>
        <p:pic>
          <p:nvPicPr>
            <p:cNvPr id="7" name="Google Shape;187;p20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71500" y="4238625"/>
              <a:ext cx="2541240" cy="1805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Google Shape;188;p20" descr="image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407419" y="1766292"/>
              <a:ext cx="2541240" cy="1805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Google Shape;189;p20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6243339" y="4238625"/>
              <a:ext cx="2541240" cy="180558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" name="Google Shape;190;p20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079259" y="1766292"/>
              <a:ext cx="2541240" cy="180558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91;p20"/>
            <p:cNvSpPr/>
            <p:nvPr/>
          </p:nvSpPr>
          <p:spPr>
            <a:xfrm>
              <a:off x="571500" y="3886200"/>
              <a:ext cx="11049000" cy="381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92;p20"/>
            <p:cNvSpPr txBox="1"/>
            <p:nvPr/>
          </p:nvSpPr>
          <p:spPr>
            <a:xfrm>
              <a:off x="717995" y="4438650"/>
              <a:ext cx="2248249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Aug - Oct 2026</a:t>
              </a:r>
              <a:endParaRPr/>
            </a:p>
          </p:txBody>
        </p:sp>
        <p:sp>
          <p:nvSpPr>
            <p:cNvPr id="14" name="Google Shape;193;p20"/>
            <p:cNvSpPr txBox="1"/>
            <p:nvPr/>
          </p:nvSpPr>
          <p:spPr>
            <a:xfrm>
              <a:off x="771525" y="4848225"/>
              <a:ext cx="2141190" cy="853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1:</a:t>
              </a:r>
              <a:r>
                <a:rPr lang="en-US" sz="1200" b="0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Comprehensive literature review, dataset ingestion, and requirement gathering.</a:t>
              </a:r>
              <a:endParaRPr/>
            </a:p>
          </p:txBody>
        </p:sp>
        <p:sp>
          <p:nvSpPr>
            <p:cNvPr id="15" name="Google Shape;194;p20"/>
            <p:cNvSpPr txBox="1"/>
            <p:nvPr/>
          </p:nvSpPr>
          <p:spPr>
            <a:xfrm>
              <a:off x="3553915" y="1966317"/>
              <a:ext cx="2248249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Nov - Dec 2026</a:t>
              </a:r>
              <a:endParaRPr/>
            </a:p>
          </p:txBody>
        </p:sp>
        <p:sp>
          <p:nvSpPr>
            <p:cNvPr id="16" name="Google Shape;195;p20"/>
            <p:cNvSpPr txBox="1"/>
            <p:nvPr/>
          </p:nvSpPr>
          <p:spPr>
            <a:xfrm>
              <a:off x="3607444" y="2375892"/>
              <a:ext cx="2141190" cy="853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2:</a:t>
              </a:r>
              <a:r>
                <a:rPr lang="en-US" sz="1200" b="0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Architecture design, development, and training of the hybrid ML models on the 2020-2021 split.</a:t>
              </a:r>
              <a:endParaRPr/>
            </a:p>
          </p:txBody>
        </p:sp>
        <p:sp>
          <p:nvSpPr>
            <p:cNvPr id="17" name="Google Shape;196;p20"/>
            <p:cNvSpPr txBox="1"/>
            <p:nvPr/>
          </p:nvSpPr>
          <p:spPr>
            <a:xfrm>
              <a:off x="6389835" y="4438650"/>
              <a:ext cx="2248249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Jan - Feb 2027</a:t>
              </a:r>
              <a:endParaRPr/>
            </a:p>
          </p:txBody>
        </p:sp>
        <p:sp>
          <p:nvSpPr>
            <p:cNvPr id="18" name="Google Shape;197;p20"/>
            <p:cNvSpPr txBox="1"/>
            <p:nvPr/>
          </p:nvSpPr>
          <p:spPr>
            <a:xfrm>
              <a:off x="6443364" y="4848225"/>
              <a:ext cx="2141190" cy="853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3:</a:t>
              </a:r>
              <a:r>
                <a:rPr lang="en-US" sz="1200" b="0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Integration of the deterministic optimization engine and running battery simulations (2022 Eval).</a:t>
              </a:r>
              <a:endParaRPr/>
            </a:p>
          </p:txBody>
        </p:sp>
        <p:sp>
          <p:nvSpPr>
            <p:cNvPr id="19" name="Google Shape;198;p20"/>
            <p:cNvSpPr txBox="1"/>
            <p:nvPr/>
          </p:nvSpPr>
          <p:spPr>
            <a:xfrm>
              <a:off x="9225755" y="1966317"/>
              <a:ext cx="2248249" cy="3143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i="0" u="none" strike="noStrike" cap="none">
                  <a:solidFill>
                    <a:srgbClr val="3B82F6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Mar - Apr 2027</a:t>
              </a:r>
              <a:endParaRPr/>
            </a:p>
          </p:txBody>
        </p:sp>
        <p:sp>
          <p:nvSpPr>
            <p:cNvPr id="20" name="Google Shape;199;p20"/>
            <p:cNvSpPr txBox="1"/>
            <p:nvPr/>
          </p:nvSpPr>
          <p:spPr>
            <a:xfrm>
              <a:off x="9279284" y="2375892"/>
              <a:ext cx="2141190" cy="8530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399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Phase 4:</a:t>
              </a:r>
              <a:r>
                <a:rPr lang="en-US" sz="1200" b="0" i="0" u="none" strike="noStrike" cap="none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Extensive system validation on 2023 unseen test data, and final project submission.</a:t>
              </a:r>
              <a:endParaRPr/>
            </a:p>
          </p:txBody>
        </p:sp>
        <p:sp>
          <p:nvSpPr>
            <p:cNvPr id="21" name="Google Shape;200;p20"/>
            <p:cNvSpPr/>
            <p:nvPr/>
          </p:nvSpPr>
          <p:spPr>
            <a:xfrm>
              <a:off x="1727820" y="3790950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01;p20"/>
            <p:cNvSpPr/>
            <p:nvPr/>
          </p:nvSpPr>
          <p:spPr>
            <a:xfrm>
              <a:off x="4563740" y="3790950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02;p20"/>
            <p:cNvSpPr/>
            <p:nvPr/>
          </p:nvSpPr>
          <p:spPr>
            <a:xfrm>
              <a:off x="7399659" y="3790950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03;p20"/>
            <p:cNvSpPr/>
            <p:nvPr/>
          </p:nvSpPr>
          <p:spPr>
            <a:xfrm>
              <a:off x="10235579" y="3790950"/>
              <a:ext cx="2286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38100" cap="flat" cmpd="sng">
              <a:solidFill>
                <a:srgbClr val="3B82F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361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Conclusion</a:t>
            </a:r>
            <a:endParaRPr lang="en-US" dirty="0"/>
          </a:p>
        </p:txBody>
      </p:sp>
      <p:sp>
        <p:nvSpPr>
          <p:cNvPr id="25" name="Google Shape;96;p14"/>
          <p:cNvSpPr txBox="1"/>
          <p:nvPr/>
        </p:nvSpPr>
        <p:spPr>
          <a:xfrm>
            <a:off x="1126457" y="2499848"/>
            <a:ext cx="9871743" cy="2492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research bridges the gap between residential energy demand and solar supply by replacing generic rules-of-thumb with a personalized, data-driven framework. By integrating time-series deep learning and ensemble machine learning models, the system accurately forecasts household electricity consumption alongside weather-driven photovoltaic generation. Ultimately, this deterministic optimization tool determines the exact solar and battery storage capacity needed for a net-zero annual bill, preventing costly over-investments and accelerating cost-effective renewable energy deployment.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817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567490" y="631658"/>
            <a:ext cx="11057021" cy="622634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778042" y="708025"/>
            <a:ext cx="10515600" cy="1325563"/>
          </a:xfrm>
        </p:spPr>
        <p:txBody>
          <a:bodyPr/>
          <a:lstStyle/>
          <a:p>
            <a:pPr lvl="0">
              <a:spcBef>
                <a:spcPts val="0"/>
              </a:spcBef>
            </a:pPr>
            <a:r>
              <a:rPr lang="en-US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References</a:t>
            </a:r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1306931" y="1961146"/>
            <a:ext cx="9578139" cy="4258679"/>
            <a:chOff x="857250" y="1314450"/>
            <a:chExt cx="10477500" cy="4895850"/>
          </a:xfrm>
        </p:grpSpPr>
        <p:sp>
          <p:nvSpPr>
            <p:cNvPr id="26" name="Google Shape;218;p22"/>
            <p:cNvSpPr/>
            <p:nvPr/>
          </p:nvSpPr>
          <p:spPr>
            <a:xfrm>
              <a:off x="857250" y="1314450"/>
              <a:ext cx="10477500" cy="1085850"/>
            </a:xfrm>
            <a:prstGeom prst="roundRect">
              <a:avLst>
                <a:gd name="adj" fmla="val 10526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19;p22"/>
            <p:cNvSpPr txBox="1"/>
            <p:nvPr/>
          </p:nvSpPr>
          <p:spPr>
            <a:xfrm>
              <a:off x="1428750" y="1432289"/>
              <a:ext cx="9620250" cy="905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GB" sz="1600" dirty="0" err="1"/>
                <a:t>Aistis</a:t>
              </a:r>
              <a:r>
                <a:rPr lang="en-GB" sz="1600" dirty="0"/>
                <a:t> </a:t>
              </a:r>
              <a:r>
                <a:rPr lang="en-GB" sz="1600" dirty="0" err="1" smtClean="0"/>
                <a:t>Raudys</a:t>
              </a:r>
              <a:r>
                <a:rPr lang="en-GB" sz="1600" dirty="0" smtClean="0"/>
                <a:t> </a:t>
              </a:r>
              <a:r>
                <a:rPr lang="en-GB" sz="1600" dirty="0"/>
                <a:t>and Julius </a:t>
              </a:r>
              <a:r>
                <a:rPr lang="en-GB" sz="1600" dirty="0" err="1" smtClean="0"/>
                <a:t>Gaidukevicius</a:t>
              </a:r>
              <a:r>
                <a:rPr lang="en-GB" sz="1600" dirty="0" smtClean="0"/>
                <a:t>; </a:t>
              </a:r>
              <a:r>
                <a:rPr lang="en-IN" sz="1600" dirty="0" smtClean="0"/>
                <a:t>Forecasting </a:t>
              </a:r>
              <a:r>
                <a:rPr lang="en-IN" sz="1600" dirty="0"/>
                <a:t>Solar Energy Generation and Household Energy Usage for Efficient </a:t>
              </a:r>
              <a:r>
                <a:rPr lang="en-IN" sz="1600" dirty="0" smtClean="0"/>
                <a:t>Utilisation, MDPI, Energies 2024</a:t>
              </a:r>
              <a:endParaRPr dirty="0"/>
            </a:p>
          </p:txBody>
        </p:sp>
        <p:sp>
          <p:nvSpPr>
            <p:cNvPr id="28" name="Google Shape;220;p22"/>
            <p:cNvSpPr/>
            <p:nvPr/>
          </p:nvSpPr>
          <p:spPr>
            <a:xfrm>
              <a:off x="857250" y="1314450"/>
              <a:ext cx="38100" cy="10858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21;p22"/>
            <p:cNvSpPr/>
            <p:nvPr/>
          </p:nvSpPr>
          <p:spPr>
            <a:xfrm>
              <a:off x="857250" y="2686050"/>
              <a:ext cx="10477500" cy="1085850"/>
            </a:xfrm>
            <a:prstGeom prst="roundRect">
              <a:avLst>
                <a:gd name="adj" fmla="val 10526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22;p22"/>
            <p:cNvSpPr txBox="1"/>
            <p:nvPr/>
          </p:nvSpPr>
          <p:spPr>
            <a:xfrm>
              <a:off x="1428750" y="2748973"/>
              <a:ext cx="9620250" cy="10190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lvl="0">
                <a:lnSpc>
                  <a:spcPct val="160000"/>
                </a:lnSpc>
              </a:pPr>
              <a:r>
                <a:rPr lang="en-IN" sz="1600" dirty="0"/>
                <a:t>Pradeep </a:t>
              </a:r>
              <a:r>
                <a:rPr lang="en-IN" sz="1600" dirty="0" err="1" smtClean="0"/>
                <a:t>Hewage</a:t>
              </a:r>
              <a:r>
                <a:rPr lang="en-IN" sz="1600" dirty="0" smtClean="0"/>
                <a:t>; </a:t>
              </a:r>
              <a:r>
                <a:rPr lang="en-IN" sz="1600" dirty="0"/>
                <a:t>Marcello </a:t>
              </a:r>
              <a:r>
                <a:rPr lang="en-IN" sz="1600" dirty="0" err="1" smtClean="0"/>
                <a:t>Trovati</a:t>
              </a:r>
              <a:r>
                <a:rPr lang="en-IN" sz="1600" dirty="0" smtClean="0"/>
                <a:t>; Ella</a:t>
              </a:r>
              <a:r>
                <a:rPr lang="en-IN" sz="1600" dirty="0"/>
                <a:t> </a:t>
              </a:r>
              <a:r>
                <a:rPr lang="en-IN" sz="1600" dirty="0" smtClean="0"/>
                <a:t>Pereira; </a:t>
              </a:r>
              <a:r>
                <a:rPr lang="en-IN" sz="1600" dirty="0" err="1" smtClean="0"/>
                <a:t>Ardhendu</a:t>
              </a:r>
              <a:r>
                <a:rPr lang="en-IN" sz="1600" dirty="0"/>
                <a:t> </a:t>
              </a:r>
              <a:r>
                <a:rPr lang="en-IN" sz="1600" dirty="0" err="1" smtClean="0"/>
                <a:t>Behera</a:t>
              </a:r>
              <a:r>
                <a:rPr lang="en-IN" sz="1600" dirty="0" smtClean="0"/>
                <a:t>; </a:t>
              </a:r>
              <a:r>
                <a:rPr lang="en-GB" dirty="0"/>
                <a:t>Deep learning‑based effective fine‑grained weather forecasting model, Pattern Analysis and Applications (2021) 24:343–366 </a:t>
              </a:r>
              <a:endParaRPr dirty="0"/>
            </a:p>
          </p:txBody>
        </p:sp>
        <p:sp>
          <p:nvSpPr>
            <p:cNvPr id="31" name="Google Shape;223;p22"/>
            <p:cNvSpPr/>
            <p:nvPr/>
          </p:nvSpPr>
          <p:spPr>
            <a:xfrm>
              <a:off x="857250" y="2686050"/>
              <a:ext cx="38100" cy="10858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24;p22"/>
            <p:cNvSpPr/>
            <p:nvPr/>
          </p:nvSpPr>
          <p:spPr>
            <a:xfrm>
              <a:off x="857250" y="4057650"/>
              <a:ext cx="10477500" cy="1085850"/>
            </a:xfrm>
            <a:prstGeom prst="roundRect">
              <a:avLst>
                <a:gd name="adj" fmla="val 10526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25;p22"/>
            <p:cNvSpPr txBox="1"/>
            <p:nvPr/>
          </p:nvSpPr>
          <p:spPr>
            <a:xfrm>
              <a:off x="1428750" y="4186274"/>
              <a:ext cx="9620250" cy="609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Dataset Source:</a:t>
              </a:r>
              <a:r>
                <a:rPr lang="en-US" sz="1500" b="0" i="0" u="none" strike="noStrike" cap="none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A Hybrid Benchmark Dataset for Multi-Home Residential Energy Management under Heterogeneous Building and Energy Conditions.</a:t>
              </a:r>
              <a:endParaRPr dirty="0"/>
            </a:p>
          </p:txBody>
        </p:sp>
        <p:sp>
          <p:nvSpPr>
            <p:cNvPr id="34" name="Google Shape;226;p22"/>
            <p:cNvSpPr/>
            <p:nvPr/>
          </p:nvSpPr>
          <p:spPr>
            <a:xfrm>
              <a:off x="857250" y="4057650"/>
              <a:ext cx="38100" cy="10858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27;p22"/>
            <p:cNvSpPr/>
            <p:nvPr/>
          </p:nvSpPr>
          <p:spPr>
            <a:xfrm>
              <a:off x="857250" y="5429250"/>
              <a:ext cx="10477500" cy="781050"/>
            </a:xfrm>
            <a:prstGeom prst="roundRect">
              <a:avLst>
                <a:gd name="adj" fmla="val 14634"/>
              </a:avLst>
            </a:prstGeom>
            <a:solidFill>
              <a:srgbClr val="F8FAF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28;p22"/>
            <p:cNvSpPr txBox="1"/>
            <p:nvPr/>
          </p:nvSpPr>
          <p:spPr>
            <a:xfrm>
              <a:off x="1428750" y="5484873"/>
              <a:ext cx="96202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 dirty="0">
                  <a:solidFill>
                    <a:srgbClr val="0F172A"/>
                  </a:solidFill>
                  <a:latin typeface="Lato"/>
                  <a:ea typeface="Lato"/>
                  <a:cs typeface="Lato"/>
                  <a:sym typeface="Lato"/>
                </a:rPr>
                <a:t>NREL NSRDB (2024).</a:t>
              </a:r>
              <a:r>
                <a:rPr lang="en-US" sz="1500" b="0" i="0" u="none" strike="noStrike" cap="none" dirty="0">
                  <a:solidFill>
                    <a:srgbClr val="334155"/>
                  </a:solidFill>
                  <a:latin typeface="Lato"/>
                  <a:ea typeface="Lato"/>
                  <a:cs typeface="Lato"/>
                  <a:sym typeface="Lato"/>
                </a:rPr>
                <a:t> National Solar Radiation Database Data Viewer. Used for regional solar-resource modeling.</a:t>
              </a:r>
              <a:endParaRPr dirty="0"/>
            </a:p>
          </p:txBody>
        </p:sp>
        <p:sp>
          <p:nvSpPr>
            <p:cNvPr id="37" name="Google Shape;229;p22"/>
            <p:cNvSpPr/>
            <p:nvPr/>
          </p:nvSpPr>
          <p:spPr>
            <a:xfrm>
              <a:off x="857250" y="5429250"/>
              <a:ext cx="38100" cy="781050"/>
            </a:xfrm>
            <a:prstGeom prst="rect">
              <a:avLst/>
            </a:prstGeom>
            <a:solidFill>
              <a:srgbClr val="3B82F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8" name="Google Shape;230;p22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5850" y="1571625"/>
              <a:ext cx="17145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" name="Google Shape;231;p22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5850" y="2943225"/>
              <a:ext cx="17145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" name="Google Shape;232;p22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5850" y="4314825"/>
              <a:ext cx="171450" cy="2476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233;p22" descr="image.png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085850" y="5620725"/>
              <a:ext cx="171450" cy="2476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E346E-E42D-42D9-BA66-FBB96240AA5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0652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93345" y="676024"/>
            <a:ext cx="10405311" cy="5505952"/>
          </a:xfrm>
          <a:prstGeom prst="rect">
            <a:avLst/>
          </a:prstGeom>
          <a:solidFill>
            <a:srgbClr val="F3F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38E53B-D229-6447-79FD-D2D0214BAB0C}"/>
              </a:ext>
            </a:extLst>
          </p:cNvPr>
          <p:cNvSpPr txBox="1"/>
          <p:nvPr/>
        </p:nvSpPr>
        <p:spPr>
          <a:xfrm>
            <a:off x="2542573" y="3105835"/>
            <a:ext cx="71068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461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316</TotalTime>
  <Words>619</Words>
  <Application>Microsoft Office PowerPoint</Application>
  <PresentationFormat>Widescreen</PresentationFormat>
  <Paragraphs>81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Lato</vt:lpstr>
      <vt:lpstr>Poppins</vt:lpstr>
      <vt:lpstr>Poppins SemiBold</vt:lpstr>
      <vt:lpstr>Times New Roman</vt:lpstr>
      <vt:lpstr>Wingdings</vt:lpstr>
      <vt:lpstr>Office Theme</vt:lpstr>
      <vt:lpstr>Predictive Modelling and Capacity Optimization  for Net-Zero Residential Energy Systems</vt:lpstr>
      <vt:lpstr>Project Objective</vt:lpstr>
      <vt:lpstr>Problem Definition</vt:lpstr>
      <vt:lpstr>Survey of Existing Systems</vt:lpstr>
      <vt:lpstr>Survey of Existing Systems</vt:lpstr>
      <vt:lpstr>Dataset Overview</vt:lpstr>
      <vt:lpstr>Dataset Overview</vt:lpstr>
      <vt:lpstr>Data Composition</vt:lpstr>
      <vt:lpstr>System Architecture</vt:lpstr>
      <vt:lpstr>Project Roadmap</vt:lpstr>
      <vt:lpstr>Conclusion</vt:lpstr>
      <vt:lpstr>Key 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ROTATIONS IN AVL TREES</dc:title>
  <dc:creator>LENOVO</dc:creator>
  <cp:lastModifiedBy>LENOVO</cp:lastModifiedBy>
  <cp:revision>20</cp:revision>
  <dcterms:created xsi:type="dcterms:W3CDTF">2025-10-28T04:00:33Z</dcterms:created>
  <dcterms:modified xsi:type="dcterms:W3CDTF">2026-08-27T00:53:46Z</dcterms:modified>
</cp:coreProperties>
</file>