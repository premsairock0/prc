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74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72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394" autoAdjust="0"/>
    <p:restoredTop sz="94610"/>
  </p:normalViewPr>
  <p:slideViewPr>
    <p:cSldViewPr snapToGrid="0" snapToObjects="1">
      <p:cViewPr varScale="1">
        <p:scale>
          <a:sx n="118" d="100"/>
          <a:sy n="118" d="100"/>
        </p:scale>
        <p:origin x="158" y="2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98713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jntu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2847" y="199100"/>
            <a:ext cx="1738848" cy="162292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-881930" y="-44770"/>
            <a:ext cx="12191695" cy="16542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5" name="Shape 1"/>
          <p:cNvSpPr/>
          <p:nvPr/>
        </p:nvSpPr>
        <p:spPr>
          <a:xfrm>
            <a:off x="1217672" y="2347608"/>
            <a:ext cx="9572252" cy="1426723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Text 2"/>
          <p:cNvSpPr/>
          <p:nvPr/>
        </p:nvSpPr>
        <p:spPr>
          <a:xfrm>
            <a:off x="1217672" y="2416748"/>
            <a:ext cx="9756656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kern="0" spc="50" dirty="0">
                <a:solidFill>
                  <a:srgbClr val="7030A0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Title of the </a:t>
            </a:r>
            <a:r>
              <a:rPr lang="en-IN" sz="2400" b="1" kern="0" spc="50" dirty="0">
                <a:solidFill>
                  <a:srgbClr val="7030A0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Dissertation Work</a:t>
            </a:r>
            <a:r>
              <a:rPr lang="en-US" sz="2400" b="1" kern="0" spc="50" dirty="0">
                <a:solidFill>
                  <a:srgbClr val="7030A0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 : </a:t>
            </a:r>
          </a:p>
          <a:p>
            <a:pPr algn="ctr"/>
            <a:r>
              <a:rPr lang="en-US" sz="2400" b="1" kern="0" spc="5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“</a:t>
            </a:r>
            <a:r>
              <a:rPr lang="en-US" sz="2400" b="1" i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ORCA — A Reliable, Quality-Validated Backend Pipeline for</a:t>
            </a:r>
            <a:endParaRPr lang="en-US" dirty="0"/>
          </a:p>
          <a:p>
            <a:pPr algn="ctr"/>
            <a:r>
              <a:rPr lang="en-US" sz="2400" b="1" i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Multi-View 3D Object Reconstruction</a:t>
            </a:r>
            <a:r>
              <a:rPr lang="en-US" sz="2400" b="1" kern="0" spc="5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”</a:t>
            </a:r>
            <a:endParaRPr lang="en-US" sz="24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1160661" y="4091363"/>
            <a:ext cx="3239134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PRESENTED BY:</a:t>
            </a:r>
            <a:r>
              <a:rPr lang="en-US" sz="1400" b="1" dirty="0">
                <a:solidFill>
                  <a:srgbClr val="222222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
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M. Sai Koushik - 22011P0524
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8992094" y="4091363"/>
            <a:ext cx="2317671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GUIDED BY:</a:t>
            </a:r>
            <a:r>
              <a:rPr lang="en-US" sz="1400" b="1" dirty="0">
                <a:solidFill>
                  <a:srgbClr val="222222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
    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22222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 Dr. J. Ujwala Rekha</a:t>
            </a:r>
            <a:r>
              <a:rPr lang="en-US" sz="1400" dirty="0">
                <a:solidFill>
                  <a:srgbClr val="222222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
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971238" y="1479432"/>
            <a:ext cx="9701340" cy="555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Vth Year IDP 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r>
              <a:rPr lang="en-US" sz="24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IN" sz="2400" b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DISSERTATION WORK  |  REVIEW 1</a:t>
            </a:r>
            <a:endParaRPr lang="en-US" sz="24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776431-15AA-1516-B792-BD67F0FF28E3}"/>
              </a:ext>
            </a:extLst>
          </p:cNvPr>
          <p:cNvSpPr txBox="1"/>
          <p:nvPr/>
        </p:nvSpPr>
        <p:spPr>
          <a:xfrm>
            <a:off x="-6414" y="328326"/>
            <a:ext cx="1079633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rgbClr val="FF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 </a:t>
            </a:r>
          </a:p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JAWAHARLAL NEHRU TECHNOLOGICAL UNIVERSITY HYDERABAD </a:t>
            </a:r>
          </a:p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UNIVERSITY COLLEGE OF ENGINEERING,SCIENCE &amp; TECHNOLOGY HYDERABAD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6101F5-6745-CEE4-C883-4A487DAAFD61}"/>
              </a:ext>
            </a:extLst>
          </p:cNvPr>
          <p:cNvSpPr txBox="1"/>
          <p:nvPr/>
        </p:nvSpPr>
        <p:spPr>
          <a:xfrm>
            <a:off x="2827507" y="6258287"/>
            <a:ext cx="65369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 of Contents</a:t>
            </a:r>
            <a:endParaRPr lang="en-US" sz="3600" dirty="0"/>
          </a:p>
        </p:txBody>
      </p:sp>
      <p:cxnSp>
        <p:nvCxnSpPr>
          <p:cNvPr id="9001" name="Heading Line"/>
          <p:cNvCxnSpPr/>
          <p:nvPr/>
        </p:nvCxnSpPr>
        <p:spPr>
          <a:xfrm>
            <a:off x="457200" y="1069848"/>
            <a:ext cx="11277600" cy="0"/>
          </a:xfrm>
          <a:prstGeom prst="line">
            <a:avLst/>
          </a:prstGeom>
          <a:ln w="28575">
            <a:solidFill>
              <a:srgbClr val="142850"/>
            </a:solidFill>
          </a:ln>
        </p:spPr>
      </p:cxnSp>
      <p:graphicFrame>
        <p:nvGraphicFramePr>
          <p:cNvPr id="20" name="TOC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7542482"/>
              </p:ext>
            </p:extLst>
          </p:nvPr>
        </p:nvGraphicFramePr>
        <p:xfrm>
          <a:off x="548640" y="1250000"/>
          <a:ext cx="11064240" cy="4840560"/>
        </p:xfrm>
        <a:graphic>
          <a:graphicData uri="http://schemas.openxmlformats.org/drawingml/2006/table">
            <a:tbl>
              <a:tblPr firstRow="1"/>
              <a:tblGrid>
                <a:gridCol w="11064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90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671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No.</a:t>
                      </a:r>
                      <a:endParaRPr lang="en-US" sz="1600" dirty="0"/>
                    </a:p>
                  </a:txBody>
                  <a:tcPr marT="22860" marB="22860" anchor="ctr">
                    <a:lnL w="6350" cap="flat" cmpd="sng" algn="ctr">
                      <a:solidFill>
                        <a:srgbClr val="C9CFD9"/>
                      </a:solidFill>
                      <a:prstDash val="solid"/>
                    </a:lnL>
                    <a:lnR w="6350" cap="flat" cmpd="sng" algn="ctr">
                      <a:solidFill>
                        <a:srgbClr val="C9CFD9"/>
                      </a:solidFill>
                      <a:prstDash val="solid"/>
                    </a:lnR>
                    <a:lnT w="6350" cap="flat" cmpd="sng" algn="ctr">
                      <a:solidFill>
                        <a:srgbClr val="C9CFD9"/>
                      </a:solidFill>
                      <a:prstDash val="solid"/>
                    </a:lnT>
                    <a:lnB w="6350" cap="flat" cmpd="sng" algn="ctr">
                      <a:solidFill>
                        <a:srgbClr val="C9CFD9"/>
                      </a:solidFill>
                      <a:prstDash val="solid"/>
                    </a:lnB>
                    <a:solidFill>
                      <a:srgbClr val="1428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</a:t>
                      </a:r>
                      <a:endParaRPr lang="en-US" sz="1600" dirty="0"/>
                    </a:p>
                  </a:txBody>
                  <a:tcPr marT="22860" marB="22860" anchor="ctr">
                    <a:lnL w="6350" cap="flat" cmpd="sng" algn="ctr">
                      <a:solidFill>
                        <a:srgbClr val="C9CFD9"/>
                      </a:solidFill>
                      <a:prstDash val="solid"/>
                    </a:lnL>
                    <a:lnR w="6350" cap="flat" cmpd="sng" algn="ctr">
                      <a:solidFill>
                        <a:srgbClr val="C9CFD9"/>
                      </a:solidFill>
                      <a:prstDash val="solid"/>
                    </a:lnR>
                    <a:lnT w="6350" cap="flat" cmpd="sng" algn="ctr">
                      <a:solidFill>
                        <a:srgbClr val="C9CFD9"/>
                      </a:solidFill>
                      <a:prstDash val="solid"/>
                    </a:lnT>
                    <a:lnB w="6350" cap="flat" cmpd="sng" algn="ctr">
                      <a:solidFill>
                        <a:srgbClr val="C9CFD9"/>
                      </a:solidFill>
                      <a:prstDash val="solid"/>
                    </a:lnB>
                    <a:solidFill>
                      <a:srgbClr val="1428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 No.</a:t>
                      </a:r>
                      <a:endParaRPr lang="en-US" sz="1600" dirty="0"/>
                    </a:p>
                  </a:txBody>
                  <a:tcPr marT="22860" marB="22860" anchor="ctr">
                    <a:lnL w="6350" cap="flat" cmpd="sng" algn="ctr">
                      <a:solidFill>
                        <a:srgbClr val="C9CFD9"/>
                      </a:solidFill>
                      <a:prstDash val="solid"/>
                    </a:lnL>
                    <a:lnR w="6350" cap="flat" cmpd="sng" algn="ctr">
                      <a:solidFill>
                        <a:srgbClr val="C9CFD9"/>
                      </a:solidFill>
                      <a:prstDash val="solid"/>
                    </a:lnR>
                    <a:lnT w="6350" cap="flat" cmpd="sng" algn="ctr">
                      <a:solidFill>
                        <a:srgbClr val="C9CFD9"/>
                      </a:solidFill>
                      <a:prstDash val="solid"/>
                    </a:lnT>
                    <a:lnB w="6350" cap="flat" cmpd="sng" algn="ctr">
                      <a:solidFill>
                        <a:srgbClr val="C9CFD9"/>
                      </a:solidFill>
                      <a:prstDash val="solid"/>
                    </a:lnB>
                    <a:solidFill>
                      <a:srgbClr val="1428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428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600" dirty="0"/>
                    </a:p>
                  </a:txBody>
                  <a:tcPr marT="22860" marB="22860" anchor="ctr">
                    <a:lnL w="6350" cap="flat" cmpd="sng" algn="ctr">
                      <a:solidFill>
                        <a:srgbClr val="C9CFD9"/>
                      </a:solidFill>
                      <a:prstDash val="solid"/>
                    </a:lnL>
                    <a:lnR w="6350" cap="flat" cmpd="sng" algn="ctr">
                      <a:solidFill>
                        <a:srgbClr val="C9CFD9"/>
                      </a:solidFill>
                      <a:prstDash val="solid"/>
                    </a:lnR>
                    <a:lnT w="6350" cap="flat" cmpd="sng" algn="ctr">
                      <a:solidFill>
                        <a:srgbClr val="C9CFD9"/>
                      </a:solidFill>
                      <a:prstDash val="solid"/>
                    </a:lnT>
                    <a:lnB w="6350" cap="flat" cmpd="sng" algn="ctr">
                      <a:solidFill>
                        <a:srgbClr val="C9CF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Abstract</a:t>
                      </a:r>
                      <a:endParaRPr lang="en-US" sz="1800" dirty="0"/>
                    </a:p>
                  </a:txBody>
                  <a:tcPr marT="22860" marB="22860" anchor="ctr">
                    <a:lnL w="6350" cap="flat" cmpd="sng" algn="ctr">
                      <a:solidFill>
                        <a:srgbClr val="C9CFD9"/>
                      </a:solidFill>
                      <a:prstDash val="solid"/>
                    </a:lnL>
                    <a:lnR w="6350" cap="flat" cmpd="sng" algn="ctr">
                      <a:solidFill>
                        <a:srgbClr val="C9CFD9"/>
                      </a:solidFill>
                      <a:prstDash val="solid"/>
                    </a:lnR>
                    <a:lnT w="6350" cap="flat" cmpd="sng" algn="ctr">
                      <a:solidFill>
                        <a:srgbClr val="C9CFD9"/>
                      </a:solidFill>
                      <a:prstDash val="solid"/>
                    </a:lnT>
                    <a:lnB w="6350" cap="flat" cmpd="sng" algn="ctr">
                      <a:solidFill>
                        <a:srgbClr val="C9CF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B88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600" dirty="0"/>
                    </a:p>
                  </a:txBody>
                  <a:tcPr marT="22860" marB="22860" anchor="ctr">
                    <a:lnL w="6350" cap="flat" cmpd="sng" algn="ctr">
                      <a:solidFill>
                        <a:srgbClr val="C9CFD9"/>
                      </a:solidFill>
                      <a:prstDash val="solid"/>
                    </a:lnL>
                    <a:lnR w="6350" cap="flat" cmpd="sng" algn="ctr">
                      <a:solidFill>
                        <a:srgbClr val="C9CFD9"/>
                      </a:solidFill>
                      <a:prstDash val="solid"/>
                    </a:lnR>
                    <a:lnT w="6350" cap="flat" cmpd="sng" algn="ctr">
                      <a:solidFill>
                        <a:srgbClr val="C9CFD9"/>
                      </a:solidFill>
                      <a:prstDash val="solid"/>
                    </a:lnT>
                    <a:lnB w="6350" cap="flat" cmpd="sng" algn="ctr">
                      <a:solidFill>
                        <a:srgbClr val="C9CF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428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600" dirty="0"/>
                    </a:p>
                  </a:txBody>
                  <a:tcPr marT="22860" marB="22860" anchor="ctr">
                    <a:lnL w="6350" cap="flat" cmpd="sng" algn="ctr">
                      <a:solidFill>
                        <a:srgbClr val="C9CFD9"/>
                      </a:solidFill>
                      <a:prstDash val="solid"/>
                    </a:lnL>
                    <a:lnR w="6350" cap="flat" cmpd="sng" algn="ctr">
                      <a:solidFill>
                        <a:srgbClr val="C9CFD9"/>
                      </a:solidFill>
                      <a:prstDash val="solid"/>
                    </a:lnR>
                    <a:lnT w="6350" cap="flat" cmpd="sng" algn="ctr">
                      <a:solidFill>
                        <a:srgbClr val="C9CFD9"/>
                      </a:solidFill>
                      <a:prstDash val="solid"/>
                    </a:lnT>
                    <a:lnB w="6350" cap="flat" cmpd="sng" algn="ctr">
                      <a:solidFill>
                        <a:srgbClr val="C9CFD9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Introduction — What is ORCA?</a:t>
                      </a:r>
                      <a:endParaRPr lang="en-US" sz="1800" dirty="0"/>
                    </a:p>
                  </a:txBody>
                  <a:tcPr marT="22860" marB="22860" anchor="ctr">
                    <a:lnL w="6350" cap="flat" cmpd="sng" algn="ctr">
                      <a:solidFill>
                        <a:srgbClr val="C9CFD9"/>
                      </a:solidFill>
                      <a:prstDash val="solid"/>
                    </a:lnL>
                    <a:lnR w="6350" cap="flat" cmpd="sng" algn="ctr">
                      <a:solidFill>
                        <a:srgbClr val="C9CFD9"/>
                      </a:solidFill>
                      <a:prstDash val="solid"/>
                    </a:lnR>
                    <a:lnT w="6350" cap="flat" cmpd="sng" algn="ctr">
                      <a:solidFill>
                        <a:srgbClr val="C9CFD9"/>
                      </a:solidFill>
                      <a:prstDash val="solid"/>
                    </a:lnT>
                    <a:lnB w="6350" cap="flat" cmpd="sng" algn="ctr">
                      <a:solidFill>
                        <a:srgbClr val="C9CFD9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B88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600" dirty="0"/>
                    </a:p>
                  </a:txBody>
                  <a:tcPr marT="22860" marB="22860" anchor="ctr">
                    <a:lnL w="6350" cap="flat" cmpd="sng" algn="ctr">
                      <a:solidFill>
                        <a:srgbClr val="C9CFD9"/>
                      </a:solidFill>
                      <a:prstDash val="solid"/>
                    </a:lnL>
                    <a:lnR w="6350" cap="flat" cmpd="sng" algn="ctr">
                      <a:solidFill>
                        <a:srgbClr val="C9CFD9"/>
                      </a:solidFill>
                      <a:prstDash val="solid"/>
                    </a:lnR>
                    <a:lnT w="6350" cap="flat" cmpd="sng" algn="ctr">
                      <a:solidFill>
                        <a:srgbClr val="C9CFD9"/>
                      </a:solidFill>
                      <a:prstDash val="solid"/>
                    </a:lnT>
                    <a:lnB w="6350" cap="flat" cmpd="sng" algn="ctr">
                      <a:solidFill>
                        <a:srgbClr val="C9CFD9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428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600" dirty="0"/>
                    </a:p>
                  </a:txBody>
                  <a:tcPr marT="22860" marB="22860" anchor="ctr">
                    <a:lnL w="6350" cap="flat" cmpd="sng" algn="ctr">
                      <a:solidFill>
                        <a:srgbClr val="C9CFD9"/>
                      </a:solidFill>
                      <a:prstDash val="solid"/>
                    </a:lnL>
                    <a:lnR w="6350" cap="flat" cmpd="sng" algn="ctr">
                      <a:solidFill>
                        <a:srgbClr val="C9CFD9"/>
                      </a:solidFill>
                      <a:prstDash val="solid"/>
                    </a:lnR>
                    <a:lnT w="6350" cap="flat" cmpd="sng" algn="ctr">
                      <a:solidFill>
                        <a:srgbClr val="C9CFD9"/>
                      </a:solidFill>
                      <a:prstDash val="solid"/>
                    </a:lnT>
                    <a:lnB w="6350" cap="flat" cmpd="sng" algn="ctr">
                      <a:solidFill>
                        <a:srgbClr val="C9CF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Are We Doing This? (Motivation)</a:t>
                      </a:r>
                      <a:endParaRPr lang="en-US" sz="1800" dirty="0"/>
                    </a:p>
                  </a:txBody>
                  <a:tcPr marT="22860" marB="22860" anchor="ctr">
                    <a:lnL w="6350" cap="flat" cmpd="sng" algn="ctr">
                      <a:solidFill>
                        <a:srgbClr val="C9CFD9"/>
                      </a:solidFill>
                      <a:prstDash val="solid"/>
                    </a:lnL>
                    <a:lnR w="6350" cap="flat" cmpd="sng" algn="ctr">
                      <a:solidFill>
                        <a:srgbClr val="C9CFD9"/>
                      </a:solidFill>
                      <a:prstDash val="solid"/>
                    </a:lnR>
                    <a:lnT w="6350" cap="flat" cmpd="sng" algn="ctr">
                      <a:solidFill>
                        <a:srgbClr val="C9CFD9"/>
                      </a:solidFill>
                      <a:prstDash val="solid"/>
                    </a:lnT>
                    <a:lnB w="6350" cap="flat" cmpd="sng" algn="ctr">
                      <a:solidFill>
                        <a:srgbClr val="C9CF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B88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600" dirty="0"/>
                    </a:p>
                  </a:txBody>
                  <a:tcPr marT="22860" marB="22860" anchor="ctr">
                    <a:lnL w="6350" cap="flat" cmpd="sng" algn="ctr">
                      <a:solidFill>
                        <a:srgbClr val="C9CFD9"/>
                      </a:solidFill>
                      <a:prstDash val="solid"/>
                    </a:lnL>
                    <a:lnR w="6350" cap="flat" cmpd="sng" algn="ctr">
                      <a:solidFill>
                        <a:srgbClr val="C9CFD9"/>
                      </a:solidFill>
                      <a:prstDash val="solid"/>
                    </a:lnR>
                    <a:lnT w="6350" cap="flat" cmpd="sng" algn="ctr">
                      <a:solidFill>
                        <a:srgbClr val="C9CFD9"/>
                      </a:solidFill>
                      <a:prstDash val="solid"/>
                    </a:lnT>
                    <a:lnB w="6350" cap="flat" cmpd="sng" algn="ctr">
                      <a:solidFill>
                        <a:srgbClr val="C9CF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428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600" dirty="0"/>
                    </a:p>
                  </a:txBody>
                  <a:tcPr marT="22860" marB="22860" anchor="ctr">
                    <a:lnL w="6350" cap="flat" cmpd="sng" algn="ctr">
                      <a:solidFill>
                        <a:srgbClr val="C9CFD9"/>
                      </a:solidFill>
                      <a:prstDash val="solid"/>
                    </a:lnL>
                    <a:lnR w="6350" cap="flat" cmpd="sng" algn="ctr">
                      <a:solidFill>
                        <a:srgbClr val="C9CFD9"/>
                      </a:solidFill>
                      <a:prstDash val="solid"/>
                    </a:lnR>
                    <a:lnT w="6350" cap="flat" cmpd="sng" algn="ctr">
                      <a:solidFill>
                        <a:srgbClr val="C9CFD9"/>
                      </a:solidFill>
                      <a:prstDash val="solid"/>
                    </a:lnT>
                    <a:lnB w="6350" cap="flat" cmpd="sng" algn="ctr">
                      <a:solidFill>
                        <a:srgbClr val="C9CFD9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Issues &amp; How ORCA Solves Them</a:t>
                      </a:r>
                      <a:endParaRPr lang="en-US" sz="1800" dirty="0"/>
                    </a:p>
                  </a:txBody>
                  <a:tcPr marT="22860" marB="22860" anchor="ctr">
                    <a:lnL w="6350" cap="flat" cmpd="sng" algn="ctr">
                      <a:solidFill>
                        <a:srgbClr val="C9CFD9"/>
                      </a:solidFill>
                      <a:prstDash val="solid"/>
                    </a:lnL>
                    <a:lnR w="6350" cap="flat" cmpd="sng" algn="ctr">
                      <a:solidFill>
                        <a:srgbClr val="C9CFD9"/>
                      </a:solidFill>
                      <a:prstDash val="solid"/>
                    </a:lnR>
                    <a:lnT w="6350" cap="flat" cmpd="sng" algn="ctr">
                      <a:solidFill>
                        <a:srgbClr val="C9CFD9"/>
                      </a:solidFill>
                      <a:prstDash val="solid"/>
                    </a:lnT>
                    <a:lnB w="6350" cap="flat" cmpd="sng" algn="ctr">
                      <a:solidFill>
                        <a:srgbClr val="C9CFD9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B88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600" dirty="0"/>
                    </a:p>
                  </a:txBody>
                  <a:tcPr marT="22860" marB="22860" anchor="ctr">
                    <a:lnL w="6350" cap="flat" cmpd="sng" algn="ctr">
                      <a:solidFill>
                        <a:srgbClr val="C9CFD9"/>
                      </a:solidFill>
                      <a:prstDash val="solid"/>
                    </a:lnL>
                    <a:lnR w="6350" cap="flat" cmpd="sng" algn="ctr">
                      <a:solidFill>
                        <a:srgbClr val="C9CFD9"/>
                      </a:solidFill>
                      <a:prstDash val="solid"/>
                    </a:lnR>
                    <a:lnT w="6350" cap="flat" cmpd="sng" algn="ctr">
                      <a:solidFill>
                        <a:srgbClr val="C9CFD9"/>
                      </a:solidFill>
                      <a:prstDash val="solid"/>
                    </a:lnT>
                    <a:lnB w="6350" cap="flat" cmpd="sng" algn="ctr">
                      <a:solidFill>
                        <a:srgbClr val="C9CFD9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428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600" dirty="0"/>
                    </a:p>
                  </a:txBody>
                  <a:tcPr marT="22860" marB="22860" anchor="ctr">
                    <a:lnL w="6350" cap="flat" cmpd="sng" algn="ctr">
                      <a:solidFill>
                        <a:srgbClr val="C9CFD9"/>
                      </a:solidFill>
                      <a:prstDash val="solid"/>
                    </a:lnL>
                    <a:lnR w="6350" cap="flat" cmpd="sng" algn="ctr">
                      <a:solidFill>
                        <a:srgbClr val="C9CFD9"/>
                      </a:solidFill>
                      <a:prstDash val="solid"/>
                    </a:lnR>
                    <a:lnT w="6350" cap="flat" cmpd="sng" algn="ctr">
                      <a:solidFill>
                        <a:srgbClr val="C9CFD9"/>
                      </a:solidFill>
                      <a:prstDash val="solid"/>
                    </a:lnT>
                    <a:lnB w="6350" cap="flat" cmpd="sng" algn="ctr">
                      <a:solidFill>
                        <a:srgbClr val="C9CF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Work &amp; Research Gaps (Papers 1–3)</a:t>
                      </a:r>
                      <a:endParaRPr lang="en-US" sz="1800" dirty="0"/>
                    </a:p>
                  </a:txBody>
                  <a:tcPr marT="22860" marB="22860" anchor="ctr">
                    <a:lnL w="6350" cap="flat" cmpd="sng" algn="ctr">
                      <a:solidFill>
                        <a:srgbClr val="C9CFD9"/>
                      </a:solidFill>
                      <a:prstDash val="solid"/>
                    </a:lnL>
                    <a:lnR w="6350" cap="flat" cmpd="sng" algn="ctr">
                      <a:solidFill>
                        <a:srgbClr val="C9CFD9"/>
                      </a:solidFill>
                      <a:prstDash val="solid"/>
                    </a:lnR>
                    <a:lnT w="6350" cap="flat" cmpd="sng" algn="ctr">
                      <a:solidFill>
                        <a:srgbClr val="C9CFD9"/>
                      </a:solidFill>
                      <a:prstDash val="solid"/>
                    </a:lnT>
                    <a:lnB w="6350" cap="flat" cmpd="sng" algn="ctr">
                      <a:solidFill>
                        <a:srgbClr val="C9CF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B88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600" dirty="0"/>
                    </a:p>
                  </a:txBody>
                  <a:tcPr marT="22860" marB="22860" anchor="ctr">
                    <a:lnL w="6350" cap="flat" cmpd="sng" algn="ctr">
                      <a:solidFill>
                        <a:srgbClr val="C9CFD9"/>
                      </a:solidFill>
                      <a:prstDash val="solid"/>
                    </a:lnL>
                    <a:lnR w="6350" cap="flat" cmpd="sng" algn="ctr">
                      <a:solidFill>
                        <a:srgbClr val="C9CFD9"/>
                      </a:solidFill>
                      <a:prstDash val="solid"/>
                    </a:lnR>
                    <a:lnT w="6350" cap="flat" cmpd="sng" algn="ctr">
                      <a:solidFill>
                        <a:srgbClr val="C9CFD9"/>
                      </a:solidFill>
                      <a:prstDash val="solid"/>
                    </a:lnT>
                    <a:lnB w="6350" cap="flat" cmpd="sng" algn="ctr">
                      <a:solidFill>
                        <a:srgbClr val="C9CF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428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600" dirty="0"/>
                    </a:p>
                  </a:txBody>
                  <a:tcPr marT="22860" marB="22860" anchor="ctr">
                    <a:lnL w="6350" cap="flat" cmpd="sng" algn="ctr">
                      <a:solidFill>
                        <a:srgbClr val="C9CFD9"/>
                      </a:solidFill>
                      <a:prstDash val="solid"/>
                    </a:lnL>
                    <a:lnR w="6350" cap="flat" cmpd="sng" algn="ctr">
                      <a:solidFill>
                        <a:srgbClr val="C9CFD9"/>
                      </a:solidFill>
                      <a:prstDash val="solid"/>
                    </a:lnR>
                    <a:lnT w="6350" cap="flat" cmpd="sng" algn="ctr">
                      <a:solidFill>
                        <a:srgbClr val="C9CFD9"/>
                      </a:solidFill>
                      <a:prstDash val="solid"/>
                    </a:lnT>
                    <a:lnB w="6350" cap="flat" cmpd="sng" algn="ctr">
                      <a:solidFill>
                        <a:srgbClr val="C9CFD9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Work &amp; Research Gaps (Papers 4–6)</a:t>
                      </a:r>
                      <a:endParaRPr lang="en-US" sz="1800" dirty="0"/>
                    </a:p>
                  </a:txBody>
                  <a:tcPr marT="22860" marB="22860" anchor="ctr">
                    <a:lnL w="6350" cap="flat" cmpd="sng" algn="ctr">
                      <a:solidFill>
                        <a:srgbClr val="C9CFD9"/>
                      </a:solidFill>
                      <a:prstDash val="solid"/>
                    </a:lnL>
                    <a:lnR w="6350" cap="flat" cmpd="sng" algn="ctr">
                      <a:solidFill>
                        <a:srgbClr val="C9CFD9"/>
                      </a:solidFill>
                      <a:prstDash val="solid"/>
                    </a:lnR>
                    <a:lnT w="6350" cap="flat" cmpd="sng" algn="ctr">
                      <a:solidFill>
                        <a:srgbClr val="C9CFD9"/>
                      </a:solidFill>
                      <a:prstDash val="solid"/>
                    </a:lnT>
                    <a:lnB w="6350" cap="flat" cmpd="sng" algn="ctr">
                      <a:solidFill>
                        <a:srgbClr val="C9CFD9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B88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600" dirty="0"/>
                    </a:p>
                  </a:txBody>
                  <a:tcPr marT="22860" marB="22860" anchor="ctr">
                    <a:lnL w="6350" cap="flat" cmpd="sng" algn="ctr">
                      <a:solidFill>
                        <a:srgbClr val="C9CFD9"/>
                      </a:solidFill>
                      <a:prstDash val="solid"/>
                    </a:lnL>
                    <a:lnR w="6350" cap="flat" cmpd="sng" algn="ctr">
                      <a:solidFill>
                        <a:srgbClr val="C9CFD9"/>
                      </a:solidFill>
                      <a:prstDash val="solid"/>
                    </a:lnR>
                    <a:lnT w="6350" cap="flat" cmpd="sng" algn="ctr">
                      <a:solidFill>
                        <a:srgbClr val="C9CFD9"/>
                      </a:solidFill>
                      <a:prstDash val="solid"/>
                    </a:lnT>
                    <a:lnB w="6350" cap="flat" cmpd="sng" algn="ctr">
                      <a:solidFill>
                        <a:srgbClr val="C9CFD9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428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600" dirty="0"/>
                    </a:p>
                  </a:txBody>
                  <a:tcPr marT="22860" marB="22860" anchor="ctr">
                    <a:lnL w="6350" cap="flat" cmpd="sng" algn="ctr">
                      <a:solidFill>
                        <a:srgbClr val="C9CFD9"/>
                      </a:solidFill>
                      <a:prstDash val="solid"/>
                    </a:lnL>
                    <a:lnR w="6350" cap="flat" cmpd="sng" algn="ctr">
                      <a:solidFill>
                        <a:srgbClr val="C9CFD9"/>
                      </a:solidFill>
                      <a:prstDash val="solid"/>
                    </a:lnR>
                    <a:lnT w="6350" cap="flat" cmpd="sng" algn="ctr">
                      <a:solidFill>
                        <a:srgbClr val="C9CFD9"/>
                      </a:solidFill>
                      <a:prstDash val="solid"/>
                    </a:lnT>
                    <a:lnB w="6350" cap="flat" cmpd="sng" algn="ctr">
                      <a:solidFill>
                        <a:srgbClr val="C9CF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 Work</a:t>
                      </a:r>
                      <a:endParaRPr lang="en-US" sz="1800" dirty="0"/>
                    </a:p>
                  </a:txBody>
                  <a:tcPr marT="22860" marB="22860" anchor="ctr">
                    <a:lnL w="6350" cap="flat" cmpd="sng" algn="ctr">
                      <a:solidFill>
                        <a:srgbClr val="C9CFD9"/>
                      </a:solidFill>
                      <a:prstDash val="solid"/>
                    </a:lnL>
                    <a:lnR w="6350" cap="flat" cmpd="sng" algn="ctr">
                      <a:solidFill>
                        <a:srgbClr val="C9CFD9"/>
                      </a:solidFill>
                      <a:prstDash val="solid"/>
                    </a:lnR>
                    <a:lnT w="6350" cap="flat" cmpd="sng" algn="ctr">
                      <a:solidFill>
                        <a:srgbClr val="C9CFD9"/>
                      </a:solidFill>
                      <a:prstDash val="solid"/>
                    </a:lnT>
                    <a:lnB w="6350" cap="flat" cmpd="sng" algn="ctr">
                      <a:solidFill>
                        <a:srgbClr val="C9CF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B88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600" dirty="0"/>
                    </a:p>
                  </a:txBody>
                  <a:tcPr marT="22860" marB="22860" anchor="ctr">
                    <a:lnL w="6350" cap="flat" cmpd="sng" algn="ctr">
                      <a:solidFill>
                        <a:srgbClr val="C9CFD9"/>
                      </a:solidFill>
                      <a:prstDash val="solid"/>
                    </a:lnL>
                    <a:lnR w="6350" cap="flat" cmpd="sng" algn="ctr">
                      <a:solidFill>
                        <a:srgbClr val="C9CFD9"/>
                      </a:solidFill>
                      <a:prstDash val="solid"/>
                    </a:lnR>
                    <a:lnT w="6350" cap="flat" cmpd="sng" algn="ctr">
                      <a:solidFill>
                        <a:srgbClr val="C9CFD9"/>
                      </a:solidFill>
                      <a:prstDash val="solid"/>
                    </a:lnT>
                    <a:lnB w="6350" cap="flat" cmpd="sng" algn="ctr">
                      <a:solidFill>
                        <a:srgbClr val="C9CF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428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600" dirty="0"/>
                    </a:p>
                  </a:txBody>
                  <a:tcPr marT="22860" marB="22860" anchor="ctr">
                    <a:lnL w="6350" cap="flat" cmpd="sng" algn="ctr">
                      <a:solidFill>
                        <a:srgbClr val="C9CFD9"/>
                      </a:solidFill>
                      <a:prstDash val="solid"/>
                    </a:lnL>
                    <a:lnR w="6350" cap="flat" cmpd="sng" algn="ctr">
                      <a:solidFill>
                        <a:srgbClr val="C9CFD9"/>
                      </a:solidFill>
                      <a:prstDash val="solid"/>
                    </a:lnR>
                    <a:lnT w="6350" cap="flat" cmpd="sng" algn="ctr">
                      <a:solidFill>
                        <a:srgbClr val="C9CFD9"/>
                      </a:solidFill>
                      <a:prstDash val="solid"/>
                    </a:lnT>
                    <a:lnB w="6350" cap="flat" cmpd="sng" algn="ctr">
                      <a:solidFill>
                        <a:srgbClr val="C9CFD9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 Dataset / Test Objects</a:t>
                      </a:r>
                      <a:endParaRPr lang="en-US" sz="1800" dirty="0"/>
                    </a:p>
                  </a:txBody>
                  <a:tcPr marT="22860" marB="22860" anchor="ctr">
                    <a:lnL w="6350" cap="flat" cmpd="sng" algn="ctr">
                      <a:solidFill>
                        <a:srgbClr val="C9CFD9"/>
                      </a:solidFill>
                      <a:prstDash val="solid"/>
                    </a:lnL>
                    <a:lnR w="6350" cap="flat" cmpd="sng" algn="ctr">
                      <a:solidFill>
                        <a:srgbClr val="C9CFD9"/>
                      </a:solidFill>
                      <a:prstDash val="solid"/>
                    </a:lnR>
                    <a:lnT w="6350" cap="flat" cmpd="sng" algn="ctr">
                      <a:solidFill>
                        <a:srgbClr val="C9CFD9"/>
                      </a:solidFill>
                      <a:prstDash val="solid"/>
                    </a:lnT>
                    <a:lnB w="6350" cap="flat" cmpd="sng" algn="ctr">
                      <a:solidFill>
                        <a:srgbClr val="C9CFD9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B88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600" dirty="0"/>
                    </a:p>
                  </a:txBody>
                  <a:tcPr marT="22860" marB="22860" anchor="ctr">
                    <a:lnL w="6350" cap="flat" cmpd="sng" algn="ctr">
                      <a:solidFill>
                        <a:srgbClr val="C9CFD9"/>
                      </a:solidFill>
                      <a:prstDash val="solid"/>
                    </a:lnL>
                    <a:lnR w="6350" cap="flat" cmpd="sng" algn="ctr">
                      <a:solidFill>
                        <a:srgbClr val="C9CFD9"/>
                      </a:solidFill>
                      <a:prstDash val="solid"/>
                    </a:lnR>
                    <a:lnT w="6350" cap="flat" cmpd="sng" algn="ctr">
                      <a:solidFill>
                        <a:srgbClr val="C9CFD9"/>
                      </a:solidFill>
                      <a:prstDash val="solid"/>
                    </a:lnT>
                    <a:lnB w="6350" cap="flat" cmpd="sng" algn="ctr">
                      <a:solidFill>
                        <a:srgbClr val="C9CFD9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428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600" dirty="0"/>
                    </a:p>
                  </a:txBody>
                  <a:tcPr marT="22860" marB="22860" anchor="ctr">
                    <a:lnL w="6350" cap="flat" cmpd="sng" algn="ctr">
                      <a:solidFill>
                        <a:srgbClr val="C9CFD9"/>
                      </a:solidFill>
                      <a:prstDash val="solid"/>
                    </a:lnL>
                    <a:lnR w="6350" cap="flat" cmpd="sng" algn="ctr">
                      <a:solidFill>
                        <a:srgbClr val="C9CFD9"/>
                      </a:solidFill>
                      <a:prstDash val="solid"/>
                    </a:lnR>
                    <a:lnT w="6350" cap="flat" cmpd="sng" algn="ctr">
                      <a:solidFill>
                        <a:srgbClr val="C9CFD9"/>
                      </a:solidFill>
                      <a:prstDash val="solid"/>
                    </a:lnT>
                    <a:lnB w="6350" cap="flat" cmpd="sng" algn="ctr">
                      <a:solidFill>
                        <a:srgbClr val="C9CF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 System Architecture</a:t>
                      </a:r>
                      <a:endParaRPr lang="en-US" sz="1800" dirty="0"/>
                    </a:p>
                  </a:txBody>
                  <a:tcPr marT="22860" marB="22860" anchor="ctr">
                    <a:lnL w="6350" cap="flat" cmpd="sng" algn="ctr">
                      <a:solidFill>
                        <a:srgbClr val="C9CFD9"/>
                      </a:solidFill>
                      <a:prstDash val="solid"/>
                    </a:lnL>
                    <a:lnR w="6350" cap="flat" cmpd="sng" algn="ctr">
                      <a:solidFill>
                        <a:srgbClr val="C9CFD9"/>
                      </a:solidFill>
                      <a:prstDash val="solid"/>
                    </a:lnR>
                    <a:lnT w="6350" cap="flat" cmpd="sng" algn="ctr">
                      <a:solidFill>
                        <a:srgbClr val="C9CFD9"/>
                      </a:solidFill>
                      <a:prstDash val="solid"/>
                    </a:lnT>
                    <a:lnB w="6350" cap="flat" cmpd="sng" algn="ctr">
                      <a:solidFill>
                        <a:srgbClr val="C9CF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B88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600" dirty="0"/>
                    </a:p>
                  </a:txBody>
                  <a:tcPr marT="22860" marB="22860" anchor="ctr">
                    <a:lnL w="6350" cap="flat" cmpd="sng" algn="ctr">
                      <a:solidFill>
                        <a:srgbClr val="C9CFD9"/>
                      </a:solidFill>
                      <a:prstDash val="solid"/>
                    </a:lnL>
                    <a:lnR w="6350" cap="flat" cmpd="sng" algn="ctr">
                      <a:solidFill>
                        <a:srgbClr val="C9CFD9"/>
                      </a:solidFill>
                      <a:prstDash val="solid"/>
                    </a:lnR>
                    <a:lnT w="6350" cap="flat" cmpd="sng" algn="ctr">
                      <a:solidFill>
                        <a:srgbClr val="C9CFD9"/>
                      </a:solidFill>
                      <a:prstDash val="solid"/>
                    </a:lnT>
                    <a:lnB w="6350" cap="flat" cmpd="sng" algn="ctr">
                      <a:solidFill>
                        <a:srgbClr val="C9CF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428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600" dirty="0"/>
                    </a:p>
                  </a:txBody>
                  <a:tcPr marT="22860" marB="22860" anchor="ctr">
                    <a:lnL w="6350" cap="flat" cmpd="sng" algn="ctr">
                      <a:solidFill>
                        <a:srgbClr val="C9CFD9"/>
                      </a:solidFill>
                      <a:prstDash val="solid"/>
                    </a:lnL>
                    <a:lnR w="6350" cap="flat" cmpd="sng" algn="ctr">
                      <a:solidFill>
                        <a:srgbClr val="C9CFD9"/>
                      </a:solidFill>
                      <a:prstDash val="solid"/>
                    </a:lnR>
                    <a:lnT w="6350" cap="flat" cmpd="sng" algn="ctr">
                      <a:solidFill>
                        <a:srgbClr val="C9CFD9"/>
                      </a:solidFill>
                      <a:prstDash val="solid"/>
                    </a:lnT>
                    <a:lnB w="6350" cap="flat" cmpd="sng" algn="ctr">
                      <a:solidFill>
                        <a:srgbClr val="C9CFD9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ORCA Works — Pipeline Stages</a:t>
                      </a:r>
                      <a:endParaRPr lang="en-US" sz="1800" dirty="0"/>
                    </a:p>
                  </a:txBody>
                  <a:tcPr marT="22860" marB="22860" anchor="ctr">
                    <a:lnL w="6350" cap="flat" cmpd="sng" algn="ctr">
                      <a:solidFill>
                        <a:srgbClr val="C9CFD9"/>
                      </a:solidFill>
                      <a:prstDash val="solid"/>
                    </a:lnL>
                    <a:lnR w="6350" cap="flat" cmpd="sng" algn="ctr">
                      <a:solidFill>
                        <a:srgbClr val="C9CFD9"/>
                      </a:solidFill>
                      <a:prstDash val="solid"/>
                    </a:lnR>
                    <a:lnT w="6350" cap="flat" cmpd="sng" algn="ctr">
                      <a:solidFill>
                        <a:srgbClr val="C9CFD9"/>
                      </a:solidFill>
                      <a:prstDash val="solid"/>
                    </a:lnT>
                    <a:lnB w="6350" cap="flat" cmpd="sng" algn="ctr">
                      <a:solidFill>
                        <a:srgbClr val="C9CFD9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B88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600" dirty="0"/>
                    </a:p>
                  </a:txBody>
                  <a:tcPr marT="22860" marB="22860" anchor="ctr">
                    <a:lnL w="6350" cap="flat" cmpd="sng" algn="ctr">
                      <a:solidFill>
                        <a:srgbClr val="C9CFD9"/>
                      </a:solidFill>
                      <a:prstDash val="solid"/>
                    </a:lnL>
                    <a:lnR w="6350" cap="flat" cmpd="sng" algn="ctr">
                      <a:solidFill>
                        <a:srgbClr val="C9CFD9"/>
                      </a:solidFill>
                      <a:prstDash val="solid"/>
                    </a:lnR>
                    <a:lnT w="6350" cap="flat" cmpd="sng" algn="ctr">
                      <a:solidFill>
                        <a:srgbClr val="C9CFD9"/>
                      </a:solidFill>
                      <a:prstDash val="solid"/>
                    </a:lnT>
                    <a:lnB w="6350" cap="flat" cmpd="sng" algn="ctr">
                      <a:solidFill>
                        <a:srgbClr val="C9CFD9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428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600" dirty="0"/>
                    </a:p>
                  </a:txBody>
                  <a:tcPr marT="22860" marB="22860" anchor="ctr">
                    <a:lnL w="6350" cap="flat" cmpd="sng" algn="ctr">
                      <a:solidFill>
                        <a:srgbClr val="C9CFD9"/>
                      </a:solidFill>
                      <a:prstDash val="solid"/>
                    </a:lnL>
                    <a:lnR w="6350" cap="flat" cmpd="sng" algn="ctr">
                      <a:solidFill>
                        <a:srgbClr val="C9CFD9"/>
                      </a:solidFill>
                      <a:prstDash val="solid"/>
                    </a:lnR>
                    <a:lnT w="6350" cap="flat" cmpd="sng" algn="ctr">
                      <a:solidFill>
                        <a:srgbClr val="C9CFD9"/>
                      </a:solidFill>
                      <a:prstDash val="solid"/>
                    </a:lnT>
                    <a:lnB w="6350" cap="flat" cmpd="sng" algn="ctr">
                      <a:solidFill>
                        <a:srgbClr val="C9CF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 Stack Summary</a:t>
                      </a:r>
                      <a:endParaRPr lang="en-US" sz="1800" dirty="0"/>
                    </a:p>
                  </a:txBody>
                  <a:tcPr marT="22860" marB="22860" anchor="ctr">
                    <a:lnL w="6350" cap="flat" cmpd="sng" algn="ctr">
                      <a:solidFill>
                        <a:srgbClr val="C9CFD9"/>
                      </a:solidFill>
                      <a:prstDash val="solid"/>
                    </a:lnL>
                    <a:lnR w="6350" cap="flat" cmpd="sng" algn="ctr">
                      <a:solidFill>
                        <a:srgbClr val="C9CFD9"/>
                      </a:solidFill>
                      <a:prstDash val="solid"/>
                    </a:lnR>
                    <a:lnT w="6350" cap="flat" cmpd="sng" algn="ctr">
                      <a:solidFill>
                        <a:srgbClr val="C9CFD9"/>
                      </a:solidFill>
                      <a:prstDash val="solid"/>
                    </a:lnT>
                    <a:lnB w="6350" cap="flat" cmpd="sng" algn="ctr">
                      <a:solidFill>
                        <a:srgbClr val="C9CF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B88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600" dirty="0"/>
                    </a:p>
                  </a:txBody>
                  <a:tcPr marT="22860" marB="22860" anchor="ctr">
                    <a:lnL w="6350" cap="flat" cmpd="sng" algn="ctr">
                      <a:solidFill>
                        <a:srgbClr val="C9CFD9"/>
                      </a:solidFill>
                      <a:prstDash val="solid"/>
                    </a:lnL>
                    <a:lnR w="6350" cap="flat" cmpd="sng" algn="ctr">
                      <a:solidFill>
                        <a:srgbClr val="C9CFD9"/>
                      </a:solidFill>
                      <a:prstDash val="solid"/>
                    </a:lnR>
                    <a:lnT w="6350" cap="flat" cmpd="sng" algn="ctr">
                      <a:solidFill>
                        <a:srgbClr val="C9CFD9"/>
                      </a:solidFill>
                      <a:prstDash val="solid"/>
                    </a:lnT>
                    <a:lnB w="6350" cap="flat" cmpd="sng" algn="ctr">
                      <a:solidFill>
                        <a:srgbClr val="C9CF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428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600" dirty="0"/>
                    </a:p>
                  </a:txBody>
                  <a:tcPr marT="22860" marB="22860" anchor="ctr">
                    <a:lnL w="6350" cap="flat" cmpd="sng" algn="ctr">
                      <a:solidFill>
                        <a:srgbClr val="C9CFD9"/>
                      </a:solidFill>
                      <a:prstDash val="solid"/>
                    </a:lnL>
                    <a:lnR w="6350" cap="flat" cmpd="sng" algn="ctr">
                      <a:solidFill>
                        <a:srgbClr val="C9CFD9"/>
                      </a:solidFill>
                      <a:prstDash val="solid"/>
                    </a:lnR>
                    <a:lnT w="6350" cap="flat" cmpd="sng" algn="ctr">
                      <a:solidFill>
                        <a:srgbClr val="C9CFD9"/>
                      </a:solidFill>
                      <a:prstDash val="solid"/>
                    </a:lnT>
                    <a:lnB w="6350" cap="flat" cmpd="sng" algn="ctr">
                      <a:solidFill>
                        <a:srgbClr val="C9CFD9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Conclusion</a:t>
                      </a:r>
                      <a:endParaRPr lang="en-US" sz="1800" dirty="0"/>
                    </a:p>
                  </a:txBody>
                  <a:tcPr marT="22860" marB="22860" anchor="ctr">
                    <a:lnL w="6350" cap="flat" cmpd="sng" algn="ctr">
                      <a:solidFill>
                        <a:srgbClr val="C9CFD9"/>
                      </a:solidFill>
                      <a:prstDash val="solid"/>
                    </a:lnL>
                    <a:lnR w="6350" cap="flat" cmpd="sng" algn="ctr">
                      <a:solidFill>
                        <a:srgbClr val="C9CFD9"/>
                      </a:solidFill>
                      <a:prstDash val="solid"/>
                    </a:lnR>
                    <a:lnT w="6350" cap="flat" cmpd="sng" algn="ctr">
                      <a:solidFill>
                        <a:srgbClr val="C9CFD9"/>
                      </a:solidFill>
                      <a:prstDash val="solid"/>
                    </a:lnT>
                    <a:lnB w="6350" cap="flat" cmpd="sng" algn="ctr">
                      <a:solidFill>
                        <a:srgbClr val="C9CFD9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B88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600" dirty="0"/>
                    </a:p>
                  </a:txBody>
                  <a:tcPr marT="22860" marB="22860" anchor="ctr">
                    <a:lnL w="6350" cap="flat" cmpd="sng" algn="ctr">
                      <a:solidFill>
                        <a:srgbClr val="C9CFD9"/>
                      </a:solidFill>
                      <a:prstDash val="solid"/>
                    </a:lnL>
                    <a:lnR w="6350" cap="flat" cmpd="sng" algn="ctr">
                      <a:solidFill>
                        <a:srgbClr val="C9CFD9"/>
                      </a:solidFill>
                      <a:prstDash val="solid"/>
                    </a:lnR>
                    <a:lnT w="6350" cap="flat" cmpd="sng" algn="ctr">
                      <a:solidFill>
                        <a:srgbClr val="C9CFD9"/>
                      </a:solidFill>
                      <a:prstDash val="solid"/>
                    </a:lnT>
                    <a:lnB w="6350" cap="flat" cmpd="sng" algn="ctr">
                      <a:solidFill>
                        <a:srgbClr val="C9CFD9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428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600" dirty="0"/>
                    </a:p>
                  </a:txBody>
                  <a:tcPr marT="22860" marB="22860" anchor="ctr">
                    <a:lnL w="6350" cap="flat" cmpd="sng" algn="ctr">
                      <a:solidFill>
                        <a:srgbClr val="C9CFD9"/>
                      </a:solidFill>
                      <a:prstDash val="solid"/>
                    </a:lnL>
                    <a:lnR w="6350" cap="flat" cmpd="sng" algn="ctr">
                      <a:solidFill>
                        <a:srgbClr val="C9CFD9"/>
                      </a:solidFill>
                      <a:prstDash val="solid"/>
                    </a:lnR>
                    <a:lnT w="6350" cap="flat" cmpd="sng" algn="ctr">
                      <a:solidFill>
                        <a:srgbClr val="C9CFD9"/>
                      </a:solidFill>
                      <a:prstDash val="solid"/>
                    </a:lnT>
                    <a:lnB w="6350" cap="flat" cmpd="sng" algn="ctr">
                      <a:solidFill>
                        <a:srgbClr val="C9CF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References</a:t>
                      </a:r>
                      <a:endParaRPr lang="en-US" sz="1800" dirty="0"/>
                    </a:p>
                  </a:txBody>
                  <a:tcPr marT="22860" marB="22860" anchor="ctr">
                    <a:lnL w="6350" cap="flat" cmpd="sng" algn="ctr">
                      <a:solidFill>
                        <a:srgbClr val="C9CFD9"/>
                      </a:solidFill>
                      <a:prstDash val="solid"/>
                    </a:lnL>
                    <a:lnR w="6350" cap="flat" cmpd="sng" algn="ctr">
                      <a:solidFill>
                        <a:srgbClr val="C9CFD9"/>
                      </a:solidFill>
                      <a:prstDash val="solid"/>
                    </a:lnR>
                    <a:lnT w="6350" cap="flat" cmpd="sng" algn="ctr">
                      <a:solidFill>
                        <a:srgbClr val="C9CFD9"/>
                      </a:solidFill>
                      <a:prstDash val="solid"/>
                    </a:lnT>
                    <a:lnB w="6350" cap="flat" cmpd="sng" algn="ctr">
                      <a:solidFill>
                        <a:srgbClr val="C9CF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B88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600" dirty="0"/>
                    </a:p>
                  </a:txBody>
                  <a:tcPr marT="22860" marB="22860" anchor="ctr">
                    <a:lnL w="6350" cap="flat" cmpd="sng" algn="ctr">
                      <a:solidFill>
                        <a:srgbClr val="C9CFD9"/>
                      </a:solidFill>
                      <a:prstDash val="solid"/>
                    </a:lnL>
                    <a:lnR w="6350" cap="flat" cmpd="sng" algn="ctr">
                      <a:solidFill>
                        <a:srgbClr val="C9CFD9"/>
                      </a:solidFill>
                      <a:prstDash val="solid"/>
                    </a:lnR>
                    <a:lnT w="6350" cap="flat" cmpd="sng" algn="ctr">
                      <a:solidFill>
                        <a:srgbClr val="C9CFD9"/>
                      </a:solidFill>
                      <a:prstDash val="solid"/>
                    </a:lnT>
                    <a:lnB w="6350" cap="flat" cmpd="sng" algn="ctr">
                      <a:solidFill>
                        <a:srgbClr val="C9CF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428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600" dirty="0"/>
                    </a:p>
                  </a:txBody>
                  <a:tcPr marT="22860" marB="22860" anchor="ctr">
                    <a:lnL w="6350" cap="flat" cmpd="sng" algn="ctr">
                      <a:solidFill>
                        <a:srgbClr val="C9CFD9"/>
                      </a:solidFill>
                      <a:prstDash val="solid"/>
                    </a:lnL>
                    <a:lnR w="6350" cap="flat" cmpd="sng" algn="ctr">
                      <a:solidFill>
                        <a:srgbClr val="C9CFD9"/>
                      </a:solidFill>
                      <a:prstDash val="solid"/>
                    </a:lnR>
                    <a:lnT w="6350" cap="flat" cmpd="sng" algn="ctr">
                      <a:solidFill>
                        <a:srgbClr val="C9CFD9"/>
                      </a:solidFill>
                      <a:prstDash val="solid"/>
                    </a:lnT>
                    <a:lnB w="6350" cap="flat" cmpd="sng" algn="ctr">
                      <a:solidFill>
                        <a:srgbClr val="C9CFD9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Thank You / Q&amp;A</a:t>
                      </a:r>
                      <a:endParaRPr lang="en-US" sz="1800" dirty="0"/>
                    </a:p>
                  </a:txBody>
                  <a:tcPr marT="22860" marB="22860" anchor="ctr">
                    <a:lnL w="6350" cap="flat" cmpd="sng" algn="ctr">
                      <a:solidFill>
                        <a:srgbClr val="C9CFD9"/>
                      </a:solidFill>
                      <a:prstDash val="solid"/>
                    </a:lnL>
                    <a:lnR w="6350" cap="flat" cmpd="sng" algn="ctr">
                      <a:solidFill>
                        <a:srgbClr val="C9CFD9"/>
                      </a:solidFill>
                      <a:prstDash val="solid"/>
                    </a:lnR>
                    <a:lnT w="6350" cap="flat" cmpd="sng" algn="ctr">
                      <a:solidFill>
                        <a:srgbClr val="C9CFD9"/>
                      </a:solidFill>
                      <a:prstDash val="solid"/>
                    </a:lnT>
                    <a:lnB w="6350" cap="flat" cmpd="sng" algn="ctr">
                      <a:solidFill>
                        <a:srgbClr val="C9CFD9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B88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600" dirty="0"/>
                    </a:p>
                  </a:txBody>
                  <a:tcPr marT="22860" marB="22860" anchor="ctr">
                    <a:lnL w="6350" cap="flat" cmpd="sng" algn="ctr">
                      <a:solidFill>
                        <a:srgbClr val="C9CFD9"/>
                      </a:solidFill>
                      <a:prstDash val="solid"/>
                    </a:lnL>
                    <a:lnR w="6350" cap="flat" cmpd="sng" algn="ctr">
                      <a:solidFill>
                        <a:srgbClr val="C9CFD9"/>
                      </a:solidFill>
                      <a:prstDash val="solid"/>
                    </a:lnR>
                    <a:lnT w="6350" cap="flat" cmpd="sng" algn="ctr">
                      <a:solidFill>
                        <a:srgbClr val="C9CFD9"/>
                      </a:solidFill>
                      <a:prstDash val="solid"/>
                    </a:lnT>
                    <a:lnB w="6350" cap="flat" cmpd="sng" algn="ctr">
                      <a:solidFill>
                        <a:srgbClr val="C9CFD9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5" name="Text 3"/>
          <p:cNvSpPr/>
          <p:nvPr/>
        </p:nvSpPr>
        <p:spPr>
          <a:xfrm>
            <a:off x="5408676" y="64465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3600" dirty="0"/>
          </a:p>
        </p:txBody>
      </p:sp>
      <p:cxnSp>
        <p:nvCxnSpPr>
          <p:cNvPr id="9001" name="Heading Line"/>
          <p:cNvCxnSpPr/>
          <p:nvPr/>
        </p:nvCxnSpPr>
        <p:spPr>
          <a:xfrm>
            <a:off x="457200" y="1069848"/>
            <a:ext cx="11277600" cy="0"/>
          </a:xfrm>
          <a:prstGeom prst="line">
            <a:avLst/>
          </a:prstGeom>
          <a:ln w="28575">
            <a:solidFill>
              <a:srgbClr val="142850"/>
            </a:solidFill>
          </a:ln>
        </p:spPr>
      </p:cxnSp>
      <p:sp>
        <p:nvSpPr>
          <p:cNvPr id="3" name="Text 1"/>
          <p:cNvSpPr/>
          <p:nvPr/>
        </p:nvSpPr>
        <p:spPr>
          <a:xfrm>
            <a:off x="640080" y="1234440"/>
            <a:ext cx="108813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600"/>
              </a:spcAft>
              <a:buSzPct val="100000"/>
              <a:buChar char="●"/>
            </a:pPr>
            <a:r>
              <a:rPr lang="en-US" sz="2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3D reconstruction from images is used in archaeology, reverse engineering, gaming, and VR — but turning photos into a reliable, ready-to-use 3D model remains difficult in practice.</a:t>
            </a:r>
            <a:endParaRPr lang="en-US" sz="2300" dirty="0"/>
          </a:p>
          <a:p>
            <a:pPr marL="342900" indent="-342900">
              <a:lnSpc>
                <a:spcPct val="110000"/>
              </a:lnSpc>
              <a:spcAft>
                <a:spcPts val="1600"/>
              </a:spcAft>
              <a:buSzPct val="100000"/>
              <a:buChar char="●"/>
            </a:pPr>
            <a:r>
              <a:rPr lang="en-US" sz="2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ORCA is a backend system that automates multi-view 3D reconstruction via a classical photogrammetric pipeline: Structure-from-Motion + Multi-View Stereo, built on COLMAP.</a:t>
            </a:r>
            <a:endParaRPr lang="en-US" sz="2300" dirty="0"/>
          </a:p>
          <a:p>
            <a:pPr marL="342900" indent="-342900">
              <a:lnSpc>
                <a:spcPct val="110000"/>
              </a:lnSpc>
              <a:spcAft>
                <a:spcPts val="1600"/>
              </a:spcAft>
              <a:buSzPct val="100000"/>
              <a:buChar char="●"/>
            </a:pPr>
            <a:r>
              <a:rPr lang="en-US" sz="2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Orchestrated by a strict job state-machine, decoupled asynchronous workers, and cloud–local storage synchronization.</a:t>
            </a:r>
            <a:endParaRPr lang="en-US" sz="2300" dirty="0"/>
          </a:p>
          <a:p>
            <a:pPr marL="342900" indent="-342900">
              <a:lnSpc>
                <a:spcPct val="110000"/>
              </a:lnSpc>
              <a:spcAft>
                <a:spcPts val="1600"/>
              </a:spcAft>
              <a:buSzPct val="100000"/>
              <a:buChar char="●"/>
            </a:pPr>
            <a:r>
              <a:rPr lang="en-US" sz="2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Integrates mesh post-processing and an automated Quality Checker before delivery.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08676" y="64465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— What is ORCA?</a:t>
            </a:r>
            <a:endParaRPr lang="en-US" sz="3600" dirty="0"/>
          </a:p>
        </p:txBody>
      </p:sp>
      <p:cxnSp>
        <p:nvCxnSpPr>
          <p:cNvPr id="9001" name="Heading Line"/>
          <p:cNvCxnSpPr/>
          <p:nvPr/>
        </p:nvCxnSpPr>
        <p:spPr>
          <a:xfrm>
            <a:off x="457200" y="1069848"/>
            <a:ext cx="11277600" cy="0"/>
          </a:xfrm>
          <a:prstGeom prst="line">
            <a:avLst/>
          </a:prstGeom>
          <a:ln w="28575">
            <a:solidFill>
              <a:srgbClr val="142850"/>
            </a:solidFill>
          </a:ln>
        </p:spPr>
      </p:cxnSp>
      <p:sp>
        <p:nvSpPr>
          <p:cNvPr id="3" name="Text 1"/>
          <p:cNvSpPr/>
          <p:nvPr/>
        </p:nvSpPr>
        <p:spPr>
          <a:xfrm>
            <a:off x="640080" y="1234440"/>
            <a:ext cx="108813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600"/>
              </a:spcAft>
              <a:buSzPct val="100000"/>
              <a:buChar char="●"/>
            </a:pPr>
            <a:r>
              <a:rPr lang="en-US" sz="2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ORCA takes multiple 2D photographs of an object and automatically reconstructs a validated 3D mesh.</a:t>
            </a:r>
            <a:endParaRPr lang="en-US" sz="2300" dirty="0"/>
          </a:p>
          <a:p>
            <a:pPr marL="342900" indent="-342900">
              <a:lnSpc>
                <a:spcPct val="110000"/>
              </a:lnSpc>
              <a:spcAft>
                <a:spcPts val="1600"/>
              </a:spcAft>
              <a:buSzPct val="100000"/>
              <a:buChar char="●"/>
            </a:pPr>
            <a:r>
              <a:rPr lang="en-US" sz="2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not just a reconstruction algorithm — it is a reliability layer built around reconstruction.</a:t>
            </a:r>
            <a:endParaRPr lang="en-US" sz="2300" dirty="0"/>
          </a:p>
          <a:p>
            <a:pPr marL="342900" indent="-342900">
              <a:lnSpc>
                <a:spcPct val="110000"/>
              </a:lnSpc>
              <a:spcAft>
                <a:spcPts val="1600"/>
              </a:spcAft>
              <a:buSzPct val="100000"/>
              <a:buChar char="●"/>
            </a:pPr>
            <a:r>
              <a:rPr lang="en-US" sz="2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pipeline flow:</a:t>
            </a:r>
            <a:endParaRPr lang="en-US" sz="2300" dirty="0"/>
          </a:p>
          <a:p>
            <a:pPr marL="342900" indent="-342900">
              <a:lnSpc>
                <a:spcPct val="110000"/>
              </a:lnSpc>
              <a:spcAft>
                <a:spcPts val="1600"/>
              </a:spcAft>
              <a:buSzPct val="100000"/>
              <a:buChar char="●"/>
            </a:pPr>
            <a:r>
              <a:rPr lang="en-US" sz="2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Images  →  SfM  →  MVS  →  Mesh  →  Post-processing  →  Quality Check  →  Delivery</a:t>
            </a:r>
            <a:endParaRPr lang="en-US" sz="2300" dirty="0"/>
          </a:p>
          <a:p>
            <a:pPr marL="342900" indent="-342900">
              <a:lnSpc>
                <a:spcPct val="110000"/>
              </a:lnSpc>
              <a:spcAft>
                <a:spcPts val="1600"/>
              </a:spcAft>
              <a:buSzPct val="100000"/>
              <a:buChar char="●"/>
            </a:pPr>
            <a:r>
              <a:rPr lang="en-US" sz="2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automation + reliability + recovery + quality validation + accessibility — not a new SfM/MVS algorithm.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08676" y="64465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Are We Doing This? (Motivation)</a:t>
            </a:r>
            <a:endParaRPr lang="en-US" sz="3600" dirty="0"/>
          </a:p>
        </p:txBody>
      </p:sp>
      <p:cxnSp>
        <p:nvCxnSpPr>
          <p:cNvPr id="9001" name="Heading Line"/>
          <p:cNvCxnSpPr/>
          <p:nvPr/>
        </p:nvCxnSpPr>
        <p:spPr>
          <a:xfrm>
            <a:off x="457200" y="1069848"/>
            <a:ext cx="11277600" cy="0"/>
          </a:xfrm>
          <a:prstGeom prst="line">
            <a:avLst/>
          </a:prstGeom>
          <a:ln w="28575">
            <a:solidFill>
              <a:srgbClr val="142850"/>
            </a:solidFill>
          </a:ln>
        </p:spPr>
      </p:cxnSp>
      <p:sp>
        <p:nvSpPr>
          <p:cNvPr id="3" name="Text 1"/>
          <p:cNvSpPr/>
          <p:nvPr/>
        </p:nvSpPr>
        <p:spPr>
          <a:xfrm>
            <a:off x="640080" y="1188720"/>
            <a:ext cx="10881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600"/>
              </a:spcAft>
              <a:buSzPct val="100000"/>
              <a:buChar char="●"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reconstruction capability already exists — the real problem is reliability at the pipeline level.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600"/>
              </a:spcAft>
              <a:buSzPct val="100000"/>
              <a:buChar char="●"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is usually assessed manually or externally, not embedded into the reconstruction workflow.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600"/>
              </a:spcAft>
              <a:buSzPct val="100000"/>
              <a:buChar char="●"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failed stage can silently propagate and kill the whole job — with no recovery path.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600"/>
              </a:spcAft>
              <a:buSzPct val="100000"/>
              <a:buChar char="●"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technical complexity of SfM / MVS workflows blocks non-expert users.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4663440"/>
            <a:ext cx="10881360" cy="1280160"/>
          </a:xfrm>
          <a:prstGeom prst="rect">
            <a:avLst/>
          </a:prstGeom>
          <a:solidFill>
            <a:srgbClr val="F4F6F9"/>
          </a:solidFill>
          <a:ln w="15875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68680" y="480060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Gap:  </a:t>
            </a:r>
            <a:r>
              <a:rPr lang="en-US" sz="2100" i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existing system integrates automated reconstruction + job orchestration + failure recovery + built-in quality validation into one reliable backend.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08676" y="64465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Issues &amp; How ORCA Solves Them</a:t>
            </a:r>
            <a:endParaRPr lang="en-US" sz="3600" dirty="0"/>
          </a:p>
        </p:txBody>
      </p:sp>
      <p:cxnSp>
        <p:nvCxnSpPr>
          <p:cNvPr id="9001" name="Heading Line"/>
          <p:cNvCxnSpPr/>
          <p:nvPr/>
        </p:nvCxnSpPr>
        <p:spPr>
          <a:xfrm>
            <a:off x="457200" y="1069848"/>
            <a:ext cx="11277600" cy="0"/>
          </a:xfrm>
          <a:prstGeom prst="line">
            <a:avLst/>
          </a:prstGeom>
          <a:ln w="28575">
            <a:solidFill>
              <a:srgbClr val="142850"/>
            </a:solidFill>
          </a:ln>
        </p:spPr>
      </p:cxn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4480560"/>
        </p:xfrm>
        <a:graphic>
          <a:graphicData uri="http://schemas.openxmlformats.org/drawingml/2006/table">
            <a:tbl>
              <a:tblPr/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 in Current Practice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ORCA Solves It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built-in quality validation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Mandatory Quality Checker validates every mesh before delivery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Failures have no recovery path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Automatic Ball-Pivoting fallback when meshing fails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controlled execution flow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Strict job state-machine manages every stage of the job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complexity for non-experts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 REST API abstracts the SfM/MVS pipeline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Manual, inconsistent mesh cleanup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post-processing: cleanup, smoothing, decimation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08676" y="64465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Work &amp; Research Gaps  (1 of 2)</a:t>
            </a:r>
            <a:endParaRPr lang="en-US" sz="3600" dirty="0"/>
          </a:p>
        </p:txBody>
      </p:sp>
      <p:cxnSp>
        <p:nvCxnSpPr>
          <p:cNvPr id="9001" name="Heading Line"/>
          <p:cNvCxnSpPr/>
          <p:nvPr/>
        </p:nvCxnSpPr>
        <p:spPr>
          <a:xfrm>
            <a:off x="457200" y="1069848"/>
            <a:ext cx="11277600" cy="0"/>
          </a:xfrm>
          <a:prstGeom prst="line">
            <a:avLst/>
          </a:prstGeom>
          <a:ln w="28575">
            <a:solidFill>
              <a:srgbClr val="142850"/>
            </a:solidFill>
          </a:ln>
        </p:spPr>
      </p:cxnSp>
      <p:sp>
        <p:nvSpPr>
          <p:cNvPr id="3" name="Shape 1"/>
          <p:cNvSpPr/>
          <p:nvPr/>
        </p:nvSpPr>
        <p:spPr>
          <a:xfrm>
            <a:off x="640080" y="1280160"/>
            <a:ext cx="10881360" cy="1508760"/>
          </a:xfrm>
          <a:prstGeom prst="rect">
            <a:avLst/>
          </a:prstGeom>
          <a:solidFill>
            <a:srgbClr val="FFFFFF"/>
          </a:solidFill>
          <a:ln w="15875">
            <a:solidFill>
              <a:srgbClr val="1428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548640" cy="1508760"/>
          </a:xfrm>
          <a:prstGeom prst="rect">
            <a:avLst/>
          </a:prstGeom>
          <a:solidFill>
            <a:srgbClr val="1428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548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325880" y="1353312"/>
            <a:ext cx="10012680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Paul, Beniwal &amp; Rohil (2025) — Improved 3D Reconstruction Pipeline, Sci. Reports</a:t>
            </a:r>
            <a:r>
              <a:rPr lang="en-US" sz="170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700" dirty="0"/>
          </a:p>
          <a:p>
            <a:pPr marL="0" indent="0">
              <a:lnSpc>
                <a:spcPct val="110000"/>
              </a:lnSpc>
              <a:buNone/>
            </a:pPr>
            <a:r>
              <a:rPr lang="en-US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</a:t>
            </a: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Refines bundle adjustment, triangulation angle &amp; tiling buffer in a Meshroom pipeline.</a:t>
            </a: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700" dirty="0"/>
          </a:p>
          <a:p>
            <a:pPr marL="0" indent="0">
              <a:lnSpc>
                <a:spcPct val="110000"/>
              </a:lnSpc>
              <a:buNone/>
            </a:pPr>
            <a:r>
              <a:rPr lang="en-US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</a:t>
            </a:r>
            <a:r>
              <a:rPr lang="en-US" i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3D models are not evaluated for quality in a systematic, built-in way.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40080" y="3044952"/>
            <a:ext cx="10881360" cy="1508760"/>
          </a:xfrm>
          <a:prstGeom prst="rect">
            <a:avLst/>
          </a:prstGeom>
          <a:solidFill>
            <a:srgbClr val="FFFFFF"/>
          </a:solidFill>
          <a:ln w="15875">
            <a:solidFill>
              <a:srgbClr val="1428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40080" y="3044952"/>
            <a:ext cx="548640" cy="1508760"/>
          </a:xfrm>
          <a:prstGeom prst="rect">
            <a:avLst/>
          </a:prstGeom>
          <a:solidFill>
            <a:srgbClr val="1428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40080" y="3044952"/>
            <a:ext cx="548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325880" y="3118104"/>
            <a:ext cx="10012680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Dall’Asta et al. (2015) — Network Design and Quality Checks in Close-Range Photogrammetric Blocks, Sensors
</a:t>
            </a:r>
            <a:endParaRPr lang="en-US" sz="1700" dirty="0"/>
          </a:p>
          <a:p>
            <a:pPr marL="0" indent="0">
              <a:lnSpc>
                <a:spcPct val="110000"/>
              </a:lnSpc>
              <a:buNone/>
            </a:pPr>
            <a:r>
              <a:rPr lang="en-US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</a:t>
            </a: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/ reliability assessment of SfM block orientation.</a:t>
            </a: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700" dirty="0"/>
          </a:p>
          <a:p>
            <a:pPr marL="0" indent="0">
              <a:lnSpc>
                <a:spcPct val="110000"/>
              </a:lnSpc>
              <a:buNone/>
            </a:pPr>
            <a:r>
              <a:rPr lang="en-US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</a:t>
            </a:r>
            <a:r>
              <a:rPr lang="en-US" i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assessment is a manual, external check — not an embedded pipeline stage.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640080" y="4809744"/>
            <a:ext cx="10881360" cy="1508760"/>
          </a:xfrm>
          <a:prstGeom prst="rect">
            <a:avLst/>
          </a:prstGeom>
          <a:solidFill>
            <a:srgbClr val="FFFFFF"/>
          </a:solidFill>
          <a:ln w="15875">
            <a:solidFill>
              <a:srgbClr val="1428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640080" y="4809744"/>
            <a:ext cx="548640" cy="1508760"/>
          </a:xfrm>
          <a:prstGeom prst="rect">
            <a:avLst/>
          </a:prstGeom>
          <a:solidFill>
            <a:srgbClr val="1428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40080" y="4809744"/>
            <a:ext cx="548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325880" y="4882896"/>
            <a:ext cx="10012680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 et al. (2026) — A Comparison of MVS Methods for Photogrammetric 3D Reconstruction, arXiv:2604.10246
</a:t>
            </a:r>
            <a:endParaRPr lang="en-US" sz="1700" dirty="0"/>
          </a:p>
          <a:p>
            <a:pPr marL="0" indent="0">
              <a:lnSpc>
                <a:spcPct val="110000"/>
              </a:lnSpc>
              <a:buNone/>
            </a:pPr>
            <a:r>
              <a:rPr lang="en-US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</a:t>
            </a: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 COLMAP vs. learning-based MVS methods.</a:t>
            </a: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700" dirty="0"/>
          </a:p>
          <a:p>
            <a:pPr marL="0" indent="0">
              <a:lnSpc>
                <a:spcPct val="110000"/>
              </a:lnSpc>
              <a:buNone/>
            </a:pPr>
            <a:r>
              <a:rPr lang="en-US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</a:t>
            </a:r>
            <a:r>
              <a:rPr lang="en-US" i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failure during sparse/dense reconstruction propagates downstream with no recovery path.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408676" y="64465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Work &amp; Research Gaps  (2 of 2)</a:t>
            </a:r>
            <a:endParaRPr lang="en-US" sz="3600" dirty="0"/>
          </a:p>
        </p:txBody>
      </p:sp>
      <p:cxnSp>
        <p:nvCxnSpPr>
          <p:cNvPr id="9001" name="Heading Line"/>
          <p:cNvCxnSpPr/>
          <p:nvPr/>
        </p:nvCxnSpPr>
        <p:spPr>
          <a:xfrm>
            <a:off x="457200" y="1069848"/>
            <a:ext cx="11277600" cy="0"/>
          </a:xfrm>
          <a:prstGeom prst="line">
            <a:avLst/>
          </a:prstGeom>
          <a:ln w="28575">
            <a:solidFill>
              <a:srgbClr val="142850"/>
            </a:solidFill>
          </a:ln>
        </p:spPr>
      </p:cxnSp>
      <p:sp>
        <p:nvSpPr>
          <p:cNvPr id="3" name="Shape 1"/>
          <p:cNvSpPr/>
          <p:nvPr/>
        </p:nvSpPr>
        <p:spPr>
          <a:xfrm>
            <a:off x="640080" y="1280160"/>
            <a:ext cx="10881360" cy="1508760"/>
          </a:xfrm>
          <a:prstGeom prst="rect">
            <a:avLst/>
          </a:prstGeom>
          <a:solidFill>
            <a:srgbClr val="FFFFFF"/>
          </a:solidFill>
          <a:ln w="15875">
            <a:solidFill>
              <a:srgbClr val="1428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548640" cy="1508760"/>
          </a:xfrm>
          <a:prstGeom prst="rect">
            <a:avLst/>
          </a:prstGeom>
          <a:solidFill>
            <a:srgbClr val="1428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548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325880" y="1353312"/>
            <a:ext cx="10012680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Dietz &amp; Grubert (2022) — Towards Open-Source Web-Based 3D Reconstruction for Non-Professionals, Frontiers in VR</a:t>
            </a:r>
            <a:endParaRPr lang="en-US" sz="1700" dirty="0"/>
          </a:p>
          <a:p>
            <a:pPr marL="0" indent="0">
              <a:lnSpc>
                <a:spcPct val="110000"/>
              </a:lnSpc>
              <a:buNone/>
            </a:pPr>
            <a:r>
              <a:rPr lang="en-US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</a:t>
            </a: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Cloud-based UI wrapping AliceVision for non-expert users.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</a:t>
            </a:r>
            <a:r>
              <a:rPr lang="en-US" i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UI complexity only — no mesh-level quality validation or failure recovery.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3044952"/>
            <a:ext cx="10881360" cy="1508760"/>
          </a:xfrm>
          <a:prstGeom prst="rect">
            <a:avLst/>
          </a:prstGeom>
          <a:solidFill>
            <a:srgbClr val="FFFFFF"/>
          </a:solidFill>
          <a:ln w="15875">
            <a:solidFill>
              <a:srgbClr val="1428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40080" y="3044952"/>
            <a:ext cx="548640" cy="1508760"/>
          </a:xfrm>
          <a:prstGeom prst="rect">
            <a:avLst/>
          </a:prstGeom>
          <a:solidFill>
            <a:srgbClr val="1428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40080" y="3044952"/>
            <a:ext cx="548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325880" y="3118104"/>
            <a:ext cx="10012680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Schönberger &amp; Frahm (2016) — Structure-from-Motion Revisited, CVPR
</a:t>
            </a:r>
            <a:endParaRPr lang="en-US" sz="1700" dirty="0"/>
          </a:p>
          <a:p>
            <a:pPr marL="0" indent="0">
              <a:lnSpc>
                <a:spcPct val="110000"/>
              </a:lnSpc>
              <a:buNone/>
            </a:pPr>
            <a:r>
              <a:rPr lang="en-US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</a:t>
            </a: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incremental SfM engine ORCA builds on (via COLMAP).</a:t>
            </a: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700" dirty="0"/>
          </a:p>
          <a:p>
            <a:pPr marL="0" indent="0">
              <a:lnSpc>
                <a:spcPct val="110000"/>
              </a:lnSpc>
              <a:buNone/>
            </a:pPr>
            <a:r>
              <a:rPr lang="en-US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</a:t>
            </a:r>
            <a:r>
              <a:rPr lang="en-US" i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camera pose / sparse reconstruction only — no downstream reliability layer.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640080" y="4809744"/>
            <a:ext cx="10881360" cy="1508760"/>
          </a:xfrm>
          <a:prstGeom prst="rect">
            <a:avLst/>
          </a:prstGeom>
          <a:solidFill>
            <a:srgbClr val="FFFFFF"/>
          </a:solidFill>
          <a:ln w="15875">
            <a:solidFill>
              <a:srgbClr val="1428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640080" y="4809744"/>
            <a:ext cx="548640" cy="1508760"/>
          </a:xfrm>
          <a:prstGeom prst="rect">
            <a:avLst/>
          </a:prstGeom>
          <a:solidFill>
            <a:srgbClr val="1428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40080" y="4809744"/>
            <a:ext cx="548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325880" y="4882896"/>
            <a:ext cx="10012680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Schönberger et al. (2016) — Pixelwise View Selection for Unstructured Multi-View Stereo, ECCV
</a:t>
            </a:r>
            <a:endParaRPr lang="en-US" sz="1700" dirty="0"/>
          </a:p>
          <a:p>
            <a:pPr marL="0" indent="0">
              <a:lnSpc>
                <a:spcPct val="110000"/>
              </a:lnSpc>
              <a:buNone/>
            </a:pPr>
            <a:r>
              <a:rPr lang="en-US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</a:t>
            </a: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dense stereo / fusion engine ORCA builds on (via COLMAP).</a:t>
            </a: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700" dirty="0"/>
          </a:p>
          <a:p>
            <a:pPr marL="0" indent="0">
              <a:lnSpc>
                <a:spcPct val="110000"/>
              </a:lnSpc>
              <a:buNone/>
            </a:pPr>
            <a:r>
              <a:rPr lang="en-US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</a:t>
            </a:r>
            <a:r>
              <a:rPr lang="en-US" i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dense geometry only — no mesh QA or fallback mechanism.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408676" y="64465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Work</a:t>
            </a:r>
            <a:endParaRPr lang="en-US" sz="3600" dirty="0"/>
          </a:p>
        </p:txBody>
      </p:sp>
      <p:cxnSp>
        <p:nvCxnSpPr>
          <p:cNvPr id="9001" name="Heading Line"/>
          <p:cNvCxnSpPr/>
          <p:nvPr/>
        </p:nvCxnSpPr>
        <p:spPr>
          <a:xfrm>
            <a:off x="457200" y="1069848"/>
            <a:ext cx="11277600" cy="0"/>
          </a:xfrm>
          <a:prstGeom prst="line">
            <a:avLst/>
          </a:prstGeom>
          <a:ln w="28575">
            <a:solidFill>
              <a:srgbClr val="142850"/>
            </a:solidFill>
          </a:ln>
        </p:spPr>
      </p:cxnSp>
      <p:sp>
        <p:nvSpPr>
          <p:cNvPr id="3" name="Text 1"/>
          <p:cNvSpPr/>
          <p:nvPr/>
        </p:nvSpPr>
        <p:spPr>
          <a:xfrm>
            <a:off x="640080" y="1234440"/>
            <a:ext cx="108813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600"/>
              </a:spcAft>
              <a:buSzPct val="100000"/>
              <a:buChar char="●"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 reconstruction into a controlled, auditable job pipeline rather than one monolithic operation.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600"/>
              </a:spcAft>
              <a:buSzPct val="100000"/>
              <a:buChar char="●"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 geometry using an established classical photogrammetric core (SfM + MVS via COLMAP).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600"/>
              </a:spcAft>
              <a:buSzPct val="100000"/>
              <a:buChar char="●"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 automatic recovery path (Ball-Pivoting fallback) when the primary meshing route fails.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600"/>
              </a:spcAft>
              <a:buSzPct val="100000"/>
              <a:buChar char="●"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mesh-quality validation a mandatory stage of the job lifecycle.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600"/>
              </a:spcAft>
              <a:buSzPct val="100000"/>
              <a:buChar char="●"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everything through a REST API with cloud-backed storage.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08676" y="64465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Dataset / Test Objects</a:t>
            </a:r>
            <a:endParaRPr lang="en-US" sz="3600" dirty="0"/>
          </a:p>
        </p:txBody>
      </p:sp>
      <p:cxnSp>
        <p:nvCxnSpPr>
          <p:cNvPr id="9001" name="Heading Line"/>
          <p:cNvCxnSpPr/>
          <p:nvPr/>
        </p:nvCxnSpPr>
        <p:spPr>
          <a:xfrm>
            <a:off x="457200" y="1069848"/>
            <a:ext cx="11277600" cy="0"/>
          </a:xfrm>
          <a:prstGeom prst="line">
            <a:avLst/>
          </a:prstGeom>
          <a:ln w="28575">
            <a:solidFill>
              <a:srgbClr val="142850"/>
            </a:solidFill>
          </a:ln>
        </p:spPr>
      </p:cxnSp>
      <p:sp>
        <p:nvSpPr>
          <p:cNvPr id="3" name="Text 1"/>
          <p:cNvSpPr/>
          <p:nvPr/>
        </p:nvSpPr>
        <p:spPr>
          <a:xfrm>
            <a:off x="548640" y="115412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ORCA does not train on a labeled dataset — it is validated on a set of real photographed objects, each run through the full pipeline end to end.</a:t>
            </a:r>
            <a:endParaRPr lang="en-US" sz="1700" dirty="0"/>
          </a:p>
        </p:txBody>
      </p:sp>
      <p:sp>
        <p:nvSpPr>
          <p:cNvPr id="30" name="Dataset Metadata"/>
          <p:cNvSpPr/>
          <p:nvPr/>
        </p:nvSpPr>
        <p:spPr>
          <a:xfrm>
            <a:off x="548640" y="1950000"/>
            <a:ext cx="11064240" cy="700000"/>
          </a:xfrm>
          <a:prstGeom prst="rect">
            <a:avLst/>
          </a:prstGeom>
          <a:solidFill>
            <a:srgbClr val="F4F6F9"/>
          </a:solidFill>
          <a:ln w="9525">
            <a:solidFill>
              <a:srgbClr val="C9CFD9"/>
            </a:solidFill>
          </a:ln>
        </p:spPr>
        <p:txBody>
          <a:bodyPr wrap="square" lIns="137160" tIns="45720" rIns="137160" bIns="45720" rtlCol="0" anchor="ctr"/>
          <a:lstStyle/>
          <a:p>
            <a:r>
              <a:rPr lang="en-US" sz="150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 </a:t>
            </a:r>
            <a:r>
              <a:rPr lang="en-IN" sz="1600" dirty="0"/>
              <a:t>BlendedMVS, MiddleburyMVS  </a:t>
            </a:r>
            <a:r>
              <a:rPr lang="en-US" sz="1500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</a:t>
            </a:r>
            <a:r>
              <a:rPr lang="en-US" sz="150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 </a:t>
            </a: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ORCA Evaluation Object Set (5 rows)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Size:  </a:t>
            </a: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objects / 215 total input images     </a:t>
            </a:r>
            <a:r>
              <a:rPr lang="en-US" sz="150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Attributes:  </a:t>
            </a: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columns (Sample, Category, Images, Resolution, Outcome, Verdict)</a:t>
            </a:r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1080076"/>
              </p:ext>
            </p:extLst>
          </p:nvPr>
        </p:nvGraphicFramePr>
        <p:xfrm>
          <a:off x="457200" y="2780000"/>
          <a:ext cx="10311743" cy="333756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7942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 Category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Images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Resolution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 Verdict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OBJ-01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Fossil Shell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4032×3024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Watertight — Pass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OBJ-02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Household Mug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3840×2160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Non-watertight — Warning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OBJ-03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Toy Figure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4032×3024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OBJ-04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Potted Plant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3024×4032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Insufficient images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OBJ-05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4032×3024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08676" y="64465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System Architecture</a:t>
            </a:r>
            <a:endParaRPr lang="en-US" sz="3600" dirty="0"/>
          </a:p>
        </p:txBody>
      </p:sp>
      <p:cxnSp>
        <p:nvCxnSpPr>
          <p:cNvPr id="9001" name="Heading Line"/>
          <p:cNvCxnSpPr/>
          <p:nvPr/>
        </p:nvCxnSpPr>
        <p:spPr>
          <a:xfrm>
            <a:off x="457200" y="1069848"/>
            <a:ext cx="11277600" cy="0"/>
          </a:xfrm>
          <a:prstGeom prst="line">
            <a:avLst/>
          </a:prstGeom>
          <a:ln w="28575">
            <a:solidFill>
              <a:srgbClr val="142850"/>
            </a:solidFill>
          </a:ln>
        </p:spPr>
      </p:cxnSp>
      <p:sp>
        <p:nvSpPr>
          <p:cNvPr id="3" name="Text 1"/>
          <p:cNvSpPr/>
          <p:nvPr/>
        </p:nvSpPr>
        <p:spPr>
          <a:xfrm>
            <a:off x="513588" y="1396648"/>
            <a:ext cx="3617402" cy="2858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INPUT &amp; ORCHESTRATION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291764" y="1396648"/>
            <a:ext cx="3617402" cy="2858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RECONSTRUCTION  (COLMAP)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061009" y="1396648"/>
            <a:ext cx="3617402" cy="2858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VALIDATION &amp; DELIVERY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13588" y="1753922"/>
            <a:ext cx="3572743" cy="893185"/>
          </a:xfrm>
          <a:prstGeom prst="rect">
            <a:avLst/>
          </a:prstGeom>
          <a:solidFill>
            <a:srgbClr val="FFFFFF"/>
          </a:solidFill>
          <a:ln w="17780">
            <a:solidFill>
              <a:srgbClr val="1428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13588" y="1753922"/>
            <a:ext cx="3572743" cy="303683"/>
          </a:xfrm>
          <a:prstGeom prst="rect">
            <a:avLst/>
          </a:prstGeom>
          <a:solidFill>
            <a:srgbClr val="1428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85042" y="1753922"/>
            <a:ext cx="3429833" cy="303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Upload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20770" y="2093333"/>
            <a:ext cx="3358379" cy="500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300"/>
              </a:spcAft>
              <a:buSzPct val="100000"/>
              <a:buChar char="‣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2D photos of the object</a:t>
            </a:r>
            <a:endParaRPr lang="en-US" sz="1400" dirty="0"/>
          </a:p>
          <a:p>
            <a:pPr marL="342900" indent="-342900">
              <a:lnSpc>
                <a:spcPct val="108000"/>
              </a:lnSpc>
              <a:spcAft>
                <a:spcPts val="300"/>
              </a:spcAft>
              <a:buSzPct val="100000"/>
              <a:buChar char="‣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5 images required per job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157050" y="2647108"/>
            <a:ext cx="285819" cy="196500"/>
          </a:xfrm>
          <a:prstGeom prst="downArrow">
            <a:avLst/>
          </a:prstGeom>
          <a:solidFill>
            <a:srgbClr val="B886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513588" y="2772154"/>
            <a:ext cx="3572743" cy="1161141"/>
          </a:xfrm>
          <a:prstGeom prst="rect">
            <a:avLst/>
          </a:prstGeom>
          <a:solidFill>
            <a:srgbClr val="FFFFFF"/>
          </a:solidFill>
          <a:ln w="17780">
            <a:solidFill>
              <a:srgbClr val="1428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513588" y="2772154"/>
            <a:ext cx="3572743" cy="303683"/>
          </a:xfrm>
          <a:prstGeom prst="rect">
            <a:avLst/>
          </a:prstGeom>
          <a:solidFill>
            <a:srgbClr val="1428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85042" y="2772154"/>
            <a:ext cx="3429833" cy="303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State Machine  (FastAPI + Supabase)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20770" y="3111565"/>
            <a:ext cx="3358379" cy="768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300"/>
              </a:spcAft>
              <a:buSzPct val="100000"/>
              <a:buChar char="‣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→ UPLOADING → PENDING</a:t>
            </a:r>
            <a:endParaRPr lang="en-US" sz="1400" dirty="0"/>
          </a:p>
          <a:p>
            <a:pPr marL="342900" indent="-342900">
              <a:lnSpc>
                <a:spcPct val="108000"/>
              </a:lnSpc>
              <a:spcAft>
                <a:spcPts val="300"/>
              </a:spcAft>
              <a:buSzPct val="100000"/>
              <a:buChar char="‣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PROCESSING → COMPLETED / FAILED</a:t>
            </a:r>
            <a:endParaRPr lang="en-US" sz="1400" dirty="0"/>
          </a:p>
          <a:p>
            <a:pPr marL="342900" indent="-342900">
              <a:lnSpc>
                <a:spcPct val="108000"/>
              </a:lnSpc>
              <a:spcAft>
                <a:spcPts val="300"/>
              </a:spcAft>
              <a:buSzPct val="100000"/>
              <a:buChar char="‣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transition is logged &amp; auditable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157050" y="3933296"/>
            <a:ext cx="285819" cy="196500"/>
          </a:xfrm>
          <a:prstGeom prst="downArrow">
            <a:avLst/>
          </a:prstGeom>
          <a:solidFill>
            <a:srgbClr val="B886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513588" y="4129796"/>
            <a:ext cx="3572743" cy="1045828"/>
          </a:xfrm>
          <a:prstGeom prst="rect">
            <a:avLst/>
          </a:prstGeom>
          <a:solidFill>
            <a:srgbClr val="FFFFFF"/>
          </a:solidFill>
          <a:ln w="17780">
            <a:solidFill>
              <a:srgbClr val="1428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13588" y="4058342"/>
            <a:ext cx="3572743" cy="303683"/>
          </a:xfrm>
          <a:prstGeom prst="rect">
            <a:avLst/>
          </a:prstGeom>
          <a:solidFill>
            <a:srgbClr val="1428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85042" y="4058342"/>
            <a:ext cx="3429833" cy="303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TaskDispatcher → WorkerExecutor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20770" y="4397753"/>
            <a:ext cx="3358379" cy="634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300"/>
              </a:spcAft>
              <a:buSzPct val="100000"/>
              <a:buChar char="‣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Decoupled asynchronous workers</a:t>
            </a:r>
            <a:endParaRPr lang="en-US" sz="1400" dirty="0"/>
          </a:p>
          <a:p>
            <a:pPr marL="342900" indent="-342900">
              <a:lnSpc>
                <a:spcPct val="108000"/>
              </a:lnSpc>
              <a:spcAft>
                <a:spcPts val="300"/>
              </a:spcAft>
              <a:buSzPct val="100000"/>
              <a:buChar char="‣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REST API responsive during heavy compute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175650" y="2093333"/>
            <a:ext cx="232228" cy="285819"/>
          </a:xfrm>
          <a:prstGeom prst="rightArrow">
            <a:avLst/>
          </a:prstGeom>
          <a:solidFill>
            <a:srgbClr val="B886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291764" y="1753922"/>
            <a:ext cx="3572743" cy="893185"/>
          </a:xfrm>
          <a:prstGeom prst="rect">
            <a:avLst/>
          </a:prstGeom>
          <a:solidFill>
            <a:srgbClr val="FFFFFF"/>
          </a:solidFill>
          <a:ln w="17780">
            <a:solidFill>
              <a:srgbClr val="1428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291764" y="1753922"/>
            <a:ext cx="3572743" cy="303683"/>
          </a:xfrm>
          <a:prstGeom prst="rect">
            <a:avLst/>
          </a:prstGeom>
          <a:solidFill>
            <a:srgbClr val="1428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363219" y="1753922"/>
            <a:ext cx="3429833" cy="303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Structure-from-Motion (SfM)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398946" y="2093333"/>
            <a:ext cx="3358379" cy="500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300"/>
              </a:spcAft>
              <a:buSzPct val="100000"/>
              <a:buChar char="‣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 → matching</a:t>
            </a:r>
            <a:endParaRPr lang="en-US" sz="1400" dirty="0"/>
          </a:p>
          <a:p>
            <a:pPr marL="342900" indent="-342900">
              <a:lnSpc>
                <a:spcPct val="108000"/>
              </a:lnSpc>
              <a:spcAft>
                <a:spcPts val="300"/>
              </a:spcAft>
              <a:buSzPct val="100000"/>
              <a:buChar char="‣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pose estimation → sparse cloud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935226" y="2647108"/>
            <a:ext cx="285819" cy="196500"/>
          </a:xfrm>
          <a:prstGeom prst="downArrow">
            <a:avLst/>
          </a:prstGeom>
          <a:solidFill>
            <a:srgbClr val="B886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291764" y="2772154"/>
            <a:ext cx="3572743" cy="893185"/>
          </a:xfrm>
          <a:prstGeom prst="rect">
            <a:avLst/>
          </a:prstGeom>
          <a:solidFill>
            <a:srgbClr val="FFFFFF"/>
          </a:solidFill>
          <a:ln w="17780">
            <a:solidFill>
              <a:srgbClr val="1428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4291764" y="2772154"/>
            <a:ext cx="3572743" cy="303683"/>
          </a:xfrm>
          <a:prstGeom prst="rect">
            <a:avLst/>
          </a:prstGeom>
          <a:solidFill>
            <a:srgbClr val="1428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363219" y="2772154"/>
            <a:ext cx="3429833" cy="303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Multi-View Stereo (MVS)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4398946" y="3111565"/>
            <a:ext cx="3358379" cy="500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300"/>
              </a:spcAft>
              <a:buSzPct val="100000"/>
              <a:buChar char="‣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undistortion → PatchMatch Stereo</a:t>
            </a:r>
            <a:endParaRPr lang="en-US" sz="1400" dirty="0"/>
          </a:p>
          <a:p>
            <a:pPr marL="342900" indent="-342900">
              <a:lnSpc>
                <a:spcPct val="108000"/>
              </a:lnSpc>
              <a:spcAft>
                <a:spcPts val="300"/>
              </a:spcAft>
              <a:buSzPct val="100000"/>
              <a:buChar char="‣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fusion → dense point cloud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935226" y="3665340"/>
            <a:ext cx="285819" cy="196500"/>
          </a:xfrm>
          <a:prstGeom prst="downArrow">
            <a:avLst/>
          </a:prstGeom>
          <a:solidFill>
            <a:srgbClr val="B886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4291764" y="3790386"/>
            <a:ext cx="3572743" cy="1027163"/>
          </a:xfrm>
          <a:prstGeom prst="rect">
            <a:avLst/>
          </a:prstGeom>
          <a:solidFill>
            <a:srgbClr val="FFFFFF"/>
          </a:solidFill>
          <a:ln w="17780">
            <a:solidFill>
              <a:srgbClr val="1428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4291764" y="3790386"/>
            <a:ext cx="3572743" cy="303683"/>
          </a:xfrm>
          <a:prstGeom prst="rect">
            <a:avLst/>
          </a:prstGeom>
          <a:solidFill>
            <a:srgbClr val="1428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363219" y="3790386"/>
            <a:ext cx="3429833" cy="303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 Builder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4398946" y="4129797"/>
            <a:ext cx="3358379" cy="634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300"/>
              </a:spcAft>
              <a:buSzPct val="100000"/>
              <a:buChar char="‣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Primary: Poisson Surface Reconstruction</a:t>
            </a:r>
            <a:endParaRPr lang="en-US" sz="1400" dirty="0"/>
          </a:p>
          <a:p>
            <a:pPr marL="342900" indent="-342900">
              <a:lnSpc>
                <a:spcPct val="108000"/>
              </a:lnSpc>
              <a:spcAft>
                <a:spcPts val="300"/>
              </a:spcAft>
              <a:buSzPct val="100000"/>
              <a:buChar char="‣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fails → auto fallback to Ball-Pivoting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291764" y="4906869"/>
            <a:ext cx="3572743" cy="446592"/>
          </a:xfrm>
          <a:prstGeom prst="rect">
            <a:avLst/>
          </a:prstGeom>
          <a:solidFill>
            <a:srgbClr val="FFF3E0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345355" y="4906869"/>
            <a:ext cx="3465561" cy="446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100" b="1" i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Solves Gap 3 (Li et al. 2026) — recovery path, no dead-end failures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953826" y="2093333"/>
            <a:ext cx="232228" cy="285819"/>
          </a:xfrm>
          <a:prstGeom prst="rightArrow">
            <a:avLst/>
          </a:prstGeom>
          <a:solidFill>
            <a:srgbClr val="B886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8061009" y="1753922"/>
            <a:ext cx="3572743" cy="1179005"/>
          </a:xfrm>
          <a:prstGeom prst="rect">
            <a:avLst/>
          </a:prstGeom>
          <a:solidFill>
            <a:srgbClr val="FFFFFF"/>
          </a:solidFill>
          <a:ln w="17780">
            <a:solidFill>
              <a:srgbClr val="1428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8061009" y="1753922"/>
            <a:ext cx="3572743" cy="303683"/>
          </a:xfrm>
          <a:prstGeom prst="rect">
            <a:avLst/>
          </a:prstGeom>
          <a:solidFill>
            <a:srgbClr val="1428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8132463" y="1753922"/>
            <a:ext cx="3429833" cy="303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 Post-Processing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8168191" y="2093333"/>
            <a:ext cx="3358379" cy="786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300"/>
              </a:spcAft>
              <a:buSzPct val="100000"/>
              <a:buChar char="‣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&amp; duplicate-face removal</a:t>
            </a:r>
            <a:endParaRPr lang="en-US" sz="1400" dirty="0"/>
          </a:p>
          <a:p>
            <a:pPr marL="342900" indent="-342900">
              <a:lnSpc>
                <a:spcPct val="108000"/>
              </a:lnSpc>
              <a:spcAft>
                <a:spcPts val="300"/>
              </a:spcAft>
              <a:buSzPct val="100000"/>
              <a:buChar char="‣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component → Taubin smoothing</a:t>
            </a:r>
            <a:endParaRPr lang="en-US" sz="1400" dirty="0"/>
          </a:p>
          <a:p>
            <a:pPr marL="342900" indent="-342900">
              <a:lnSpc>
                <a:spcPct val="108000"/>
              </a:lnSpc>
              <a:spcAft>
                <a:spcPts val="300"/>
              </a:spcAft>
              <a:buSzPct val="100000"/>
              <a:buChar char="‣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Quadric decimation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9704471" y="2932928"/>
            <a:ext cx="285819" cy="196500"/>
          </a:xfrm>
          <a:prstGeom prst="downArrow">
            <a:avLst/>
          </a:prstGeom>
          <a:solidFill>
            <a:srgbClr val="B886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8061009" y="3057974"/>
            <a:ext cx="3572743" cy="893185"/>
          </a:xfrm>
          <a:prstGeom prst="rect">
            <a:avLst/>
          </a:prstGeom>
          <a:solidFill>
            <a:srgbClr val="FFFFFF"/>
          </a:solidFill>
          <a:ln w="17780">
            <a:solidFill>
              <a:srgbClr val="1428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8061009" y="3057974"/>
            <a:ext cx="3572743" cy="303683"/>
          </a:xfrm>
          <a:prstGeom prst="rect">
            <a:avLst/>
          </a:prstGeom>
          <a:solidFill>
            <a:srgbClr val="1428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8132463" y="3057974"/>
            <a:ext cx="3429833" cy="303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Checker  (mandatory)</a:t>
            </a:r>
            <a:endParaRPr lang="en-US" sz="1350" dirty="0"/>
          </a:p>
        </p:txBody>
      </p:sp>
      <p:sp>
        <p:nvSpPr>
          <p:cNvPr id="46" name="Text 44"/>
          <p:cNvSpPr/>
          <p:nvPr/>
        </p:nvSpPr>
        <p:spPr>
          <a:xfrm>
            <a:off x="8168191" y="3397384"/>
            <a:ext cx="3358379" cy="500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300"/>
              </a:spcAft>
              <a:buSzPct val="100000"/>
              <a:buChar char="‣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/ face count</a:t>
            </a:r>
            <a:endParaRPr lang="en-US" sz="1400" dirty="0"/>
          </a:p>
          <a:p>
            <a:pPr marL="342900" indent="-342900">
              <a:lnSpc>
                <a:spcPct val="108000"/>
              </a:lnSpc>
              <a:spcAft>
                <a:spcPts val="300"/>
              </a:spcAft>
              <a:buSzPct val="100000"/>
              <a:buChar char="‣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Watertightness → Euler number check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8061009" y="4040478"/>
            <a:ext cx="3572743" cy="446592"/>
          </a:xfrm>
          <a:prstGeom prst="rect">
            <a:avLst/>
          </a:prstGeom>
          <a:solidFill>
            <a:srgbClr val="FFF3E0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8114600" y="4040478"/>
            <a:ext cx="3465561" cy="446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100" b="1" i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Solves Gaps 1 &amp; 2 — built-in, mandatory QA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9704471" y="4487071"/>
            <a:ext cx="285819" cy="196500"/>
          </a:xfrm>
          <a:prstGeom prst="downArrow">
            <a:avLst/>
          </a:prstGeom>
          <a:solidFill>
            <a:srgbClr val="B886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8061009" y="4594254"/>
            <a:ext cx="3572743" cy="1078325"/>
          </a:xfrm>
          <a:prstGeom prst="rect">
            <a:avLst/>
          </a:prstGeom>
          <a:solidFill>
            <a:srgbClr val="FFFFFF"/>
          </a:solidFill>
          <a:ln w="17780">
            <a:solidFill>
              <a:srgbClr val="1428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8061009" y="4594254"/>
            <a:ext cx="3572743" cy="303683"/>
          </a:xfrm>
          <a:prstGeom prst="rect">
            <a:avLst/>
          </a:prstGeom>
          <a:solidFill>
            <a:srgbClr val="1428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8132463" y="4594254"/>
            <a:ext cx="3429833" cy="303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+ Cloud Delivery</a:t>
            </a:r>
            <a:endParaRPr lang="en-US" sz="1350" dirty="0"/>
          </a:p>
        </p:txBody>
      </p:sp>
      <p:sp>
        <p:nvSpPr>
          <p:cNvPr id="53" name="Text 51"/>
          <p:cNvSpPr/>
          <p:nvPr/>
        </p:nvSpPr>
        <p:spPr>
          <a:xfrm>
            <a:off x="8168191" y="4933664"/>
            <a:ext cx="3358379" cy="500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300"/>
              </a:spcAft>
              <a:buSzPct val="100000"/>
              <a:buChar char="‣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Supabase-backed storage</a:t>
            </a:r>
            <a:endParaRPr lang="en-US" sz="1400" dirty="0"/>
          </a:p>
          <a:p>
            <a:pPr marL="342900" indent="-342900">
              <a:lnSpc>
                <a:spcPct val="108000"/>
              </a:lnSpc>
              <a:spcAft>
                <a:spcPts val="300"/>
              </a:spcAft>
              <a:buSzPct val="100000"/>
              <a:buChar char="‣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SfM/MVS complexity abstracted from user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8114600" y="5726170"/>
            <a:ext cx="3572743" cy="446592"/>
          </a:xfrm>
          <a:prstGeom prst="rect">
            <a:avLst/>
          </a:prstGeom>
          <a:solidFill>
            <a:srgbClr val="FFF3E0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8114600" y="5715062"/>
            <a:ext cx="3465561" cy="446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100" b="1" i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Solves Gap 4 — accessible to non-experts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5408676" y="64465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ORCA Works — Pipeline Stages</a:t>
            </a:r>
            <a:endParaRPr lang="en-US" sz="3600" dirty="0"/>
          </a:p>
        </p:txBody>
      </p:sp>
      <p:cxnSp>
        <p:nvCxnSpPr>
          <p:cNvPr id="9001" name="Heading Line"/>
          <p:cNvCxnSpPr/>
          <p:nvPr/>
        </p:nvCxnSpPr>
        <p:spPr>
          <a:xfrm>
            <a:off x="457200" y="1069848"/>
            <a:ext cx="11277600" cy="0"/>
          </a:xfrm>
          <a:prstGeom prst="line">
            <a:avLst/>
          </a:prstGeom>
          <a:ln w="28575">
            <a:solidFill>
              <a:srgbClr val="142850"/>
            </a:solidFill>
          </a:ln>
        </p:spPr>
      </p:cxn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325880"/>
          <a:ext cx="11365992" cy="4892040"/>
        </p:xfrm>
        <a:graphic>
          <a:graphicData uri="http://schemas.openxmlformats.org/drawingml/2006/table">
            <a:tbl>
              <a:tblPr/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683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 Orchestration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FastAPI + Supabase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 moves through CREATED→UPLOADING→PENDING→PROCESSING→COMPLETED/FAILED; async workers handle compute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Structure-from-Motion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COLMAP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extraction → matching → camera pose estimation → sparse reconstruction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Multi-View Stereo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COLMAP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 undistortion → PatchMatch Stereo → dense point-cloud fusion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Mesh Generation &amp; Recovery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Open3D / Trimesh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Poisson meshing; automatic fallback to Ball-Pivoting if it fails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Post-Processing &amp; Quality Check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Open3D / Trimesh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Cleanup → smoothing → decimation → mandatory quality validation before delivery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08676" y="64465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 Summary</a:t>
            </a:r>
            <a:endParaRPr lang="en-US" sz="3600" dirty="0"/>
          </a:p>
        </p:txBody>
      </p:sp>
      <p:cxnSp>
        <p:nvCxnSpPr>
          <p:cNvPr id="9001" name="Heading Line"/>
          <p:cNvCxnSpPr/>
          <p:nvPr/>
        </p:nvCxnSpPr>
        <p:spPr>
          <a:xfrm>
            <a:off x="457200" y="1069848"/>
            <a:ext cx="11277600" cy="0"/>
          </a:xfrm>
          <a:prstGeom prst="line">
            <a:avLst/>
          </a:prstGeom>
          <a:ln w="28575">
            <a:solidFill>
              <a:srgbClr val="142850"/>
            </a:solidFill>
          </a:ln>
        </p:spPr>
      </p:cxnSp>
      <p:sp>
        <p:nvSpPr>
          <p:cNvPr id="3" name="Text 1"/>
          <p:cNvSpPr/>
          <p:nvPr/>
        </p:nvSpPr>
        <p:spPr>
          <a:xfrm>
            <a:off x="716030" y="1221763"/>
            <a:ext cx="10849605" cy="358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and technologies used across ORCA's backend: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626364" y="1714927"/>
            <a:ext cx="3496980" cy="493163"/>
          </a:xfrm>
          <a:prstGeom prst="rect">
            <a:avLst/>
          </a:prstGeom>
          <a:solidFill>
            <a:srgbClr val="1428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26364" y="1714927"/>
            <a:ext cx="3496980" cy="493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&amp; Job Orchestration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6364" y="2208091"/>
            <a:ext cx="3496980" cy="1613990"/>
          </a:xfrm>
          <a:prstGeom prst="rect">
            <a:avLst/>
          </a:prstGeom>
          <a:solidFill>
            <a:srgbClr val="F4F6F9"/>
          </a:solidFill>
          <a:ln w="12700">
            <a:solidFill>
              <a:srgbClr val="1428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60863" y="2360524"/>
            <a:ext cx="3227981" cy="134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(REST API)</a:t>
            </a:r>
            <a:endParaRPr lang="en-US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+ RQ (async job queue)</a:t>
            </a:r>
            <a:endParaRPr lang="en-US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pydantic-settings (config)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302676" y="1714927"/>
            <a:ext cx="3496980" cy="493163"/>
          </a:xfrm>
          <a:prstGeom prst="rect">
            <a:avLst/>
          </a:prstGeom>
          <a:solidFill>
            <a:srgbClr val="1428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302676" y="1714927"/>
            <a:ext cx="3496980" cy="493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Storage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302676" y="2208091"/>
            <a:ext cx="3496980" cy="1613990"/>
          </a:xfrm>
          <a:prstGeom prst="rect">
            <a:avLst/>
          </a:prstGeom>
          <a:solidFill>
            <a:srgbClr val="F4F6F9"/>
          </a:solidFill>
          <a:ln w="12700">
            <a:solidFill>
              <a:srgbClr val="1428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437175" y="2360524"/>
            <a:ext cx="3227981" cy="134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object storage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7978989" y="1714927"/>
            <a:ext cx="3496980" cy="493163"/>
          </a:xfrm>
          <a:prstGeom prst="rect">
            <a:avLst/>
          </a:prstGeom>
          <a:solidFill>
            <a:srgbClr val="1428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978989" y="1714927"/>
            <a:ext cx="3496980" cy="493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Reconstruction Core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978989" y="2208091"/>
            <a:ext cx="3496980" cy="1613990"/>
          </a:xfrm>
          <a:prstGeom prst="rect">
            <a:avLst/>
          </a:prstGeom>
          <a:solidFill>
            <a:srgbClr val="F4F6F9"/>
          </a:solidFill>
          <a:ln w="12700">
            <a:solidFill>
              <a:srgbClr val="1428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8113488" y="2360524"/>
            <a:ext cx="3227981" cy="134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COLMAP (Structure from Motion + Multi View Stereo)</a:t>
            </a:r>
            <a:endParaRPr lang="en-US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PatchMatch Stereo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1670974" y="4091081"/>
            <a:ext cx="4393642" cy="493163"/>
          </a:xfrm>
          <a:prstGeom prst="rect">
            <a:avLst/>
          </a:prstGeom>
          <a:solidFill>
            <a:srgbClr val="1428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1670974" y="4091081"/>
            <a:ext cx="4393642" cy="493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 Processing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670974" y="4584245"/>
            <a:ext cx="4393642" cy="1613990"/>
          </a:xfrm>
          <a:prstGeom prst="rect">
            <a:avLst/>
          </a:prstGeom>
          <a:solidFill>
            <a:srgbClr val="F4F6F9"/>
          </a:solidFill>
          <a:ln w="12700">
            <a:solidFill>
              <a:srgbClr val="1428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1805474" y="4736677"/>
            <a:ext cx="4124643" cy="134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Open3D</a:t>
            </a:r>
            <a:endParaRPr lang="en-US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Trimesh</a:t>
            </a:r>
            <a:endParaRPr lang="en-US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Poisson Reconstruction / Ball-Pivoting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6243949" y="4091081"/>
            <a:ext cx="4393642" cy="493163"/>
          </a:xfrm>
          <a:prstGeom prst="rect">
            <a:avLst/>
          </a:prstGeom>
          <a:solidFill>
            <a:srgbClr val="1428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243949" y="4091081"/>
            <a:ext cx="4393642" cy="493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&amp; Testing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243949" y="4584245"/>
            <a:ext cx="4393642" cy="1613990"/>
          </a:xfrm>
          <a:prstGeom prst="rect">
            <a:avLst/>
          </a:prstGeom>
          <a:solidFill>
            <a:srgbClr val="F4F6F9"/>
          </a:solidFill>
          <a:ln w="12700">
            <a:solidFill>
              <a:srgbClr val="1428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378448" y="4736677"/>
            <a:ext cx="4124643" cy="134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(containerization)</a:t>
            </a:r>
            <a:endParaRPr lang="en-US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(test suite)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408676" y="64465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600" dirty="0"/>
          </a:p>
        </p:txBody>
      </p:sp>
      <p:cxnSp>
        <p:nvCxnSpPr>
          <p:cNvPr id="9001" name="Heading Line"/>
          <p:cNvCxnSpPr/>
          <p:nvPr/>
        </p:nvCxnSpPr>
        <p:spPr>
          <a:xfrm>
            <a:off x="457200" y="1069848"/>
            <a:ext cx="11277600" cy="0"/>
          </a:xfrm>
          <a:prstGeom prst="line">
            <a:avLst/>
          </a:prstGeom>
          <a:ln w="28575">
            <a:solidFill>
              <a:srgbClr val="142850"/>
            </a:solidFill>
          </a:ln>
        </p:spPr>
      </p:cxnSp>
      <p:sp>
        <p:nvSpPr>
          <p:cNvPr id="3" name="Text 1"/>
          <p:cNvSpPr/>
          <p:nvPr/>
        </p:nvSpPr>
        <p:spPr>
          <a:xfrm>
            <a:off x="640080" y="1234440"/>
            <a:ext cx="108813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600"/>
              </a:spcAft>
              <a:buSzPct val="100000"/>
              <a:buChar char="●"/>
            </a:pPr>
            <a:r>
              <a:rPr lang="en-US" sz="2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Reframes 3D reconstruction as a reliability engineering problem, not just an algorithmic one.</a:t>
            </a:r>
            <a:endParaRPr lang="en-US" sz="2300" dirty="0"/>
          </a:p>
          <a:p>
            <a:pPr marL="342900" indent="-342900">
              <a:lnSpc>
                <a:spcPct val="110000"/>
              </a:lnSpc>
              <a:spcAft>
                <a:spcPts val="1600"/>
              </a:spcAft>
              <a:buSzPct val="100000"/>
              <a:buChar char="●"/>
            </a:pPr>
            <a:r>
              <a:rPr lang="en-US" sz="2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Embeds quality validation as a mandatory pipeline stage rather than an external, manual step.</a:t>
            </a:r>
            <a:endParaRPr lang="en-US" sz="2300" dirty="0"/>
          </a:p>
          <a:p>
            <a:pPr marL="342900" indent="-342900">
              <a:lnSpc>
                <a:spcPct val="110000"/>
              </a:lnSpc>
              <a:spcAft>
                <a:spcPts val="1600"/>
              </a:spcAft>
              <a:buSzPct val="100000"/>
              <a:buChar char="●"/>
            </a:pPr>
            <a:r>
              <a:rPr lang="en-US" sz="2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Introduces automatic recovery (Ball-Pivoting fallback) when dense meshing fails.</a:t>
            </a:r>
            <a:endParaRPr lang="en-US" sz="2300" dirty="0"/>
          </a:p>
          <a:p>
            <a:pPr marL="342900" indent="-342900">
              <a:lnSpc>
                <a:spcPct val="110000"/>
              </a:lnSpc>
              <a:spcAft>
                <a:spcPts val="1600"/>
              </a:spcAft>
              <a:buSzPct val="100000"/>
              <a:buChar char="●"/>
            </a:pPr>
            <a:r>
              <a:rPr lang="en-US" sz="2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Abstracts SfM/MVS complexity behind a simple REST API with cloud-backed job management.</a:t>
            </a:r>
            <a:endParaRPr lang="en-US" sz="2300" dirty="0"/>
          </a:p>
          <a:p>
            <a:pPr marL="342900" indent="-342900">
              <a:lnSpc>
                <a:spcPct val="110000"/>
              </a:lnSpc>
              <a:spcAft>
                <a:spcPts val="1600"/>
              </a:spcAft>
              <a:buSzPct val="100000"/>
              <a:buChar char="●"/>
            </a:pPr>
            <a:r>
              <a:rPr lang="en-US" sz="2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Establishes ORCA as a reliable, quality-assured, accessible backend for 3D object reconstruction.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08676" y="64465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600" dirty="0"/>
          </a:p>
        </p:txBody>
      </p:sp>
      <p:cxnSp>
        <p:nvCxnSpPr>
          <p:cNvPr id="9001" name="Heading Line"/>
          <p:cNvCxnSpPr/>
          <p:nvPr/>
        </p:nvCxnSpPr>
        <p:spPr>
          <a:xfrm>
            <a:off x="457200" y="1069848"/>
            <a:ext cx="11277600" cy="0"/>
          </a:xfrm>
          <a:prstGeom prst="line">
            <a:avLst/>
          </a:prstGeom>
          <a:ln w="28575">
            <a:solidFill>
              <a:srgbClr val="142850"/>
            </a:solidFill>
          </a:ln>
        </p:spPr>
      </p:cxnSp>
      <p:sp>
        <p:nvSpPr>
          <p:cNvPr id="3" name="Text 1"/>
          <p:cNvSpPr/>
          <p:nvPr/>
        </p:nvSpPr>
        <p:spPr>
          <a:xfrm>
            <a:off x="640080" y="1188720"/>
            <a:ext cx="10881360" cy="51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spcAft>
                <a:spcPts val="1300"/>
              </a:spcAft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Paul, T., Beniwal, A., &amp; Rohil, M.K. (2025). Improved 3D reconstruction pipeline for enhancing the quality of 3D model generation from multi-view images. Scientific Reports, 15, 33231. doi.org/10.1038/s41598-025-18318-x</a:t>
            </a:r>
            <a:endParaRPr lang="en-US" sz="2000" dirty="0"/>
          </a:p>
          <a:p>
            <a:pPr marL="0" indent="0">
              <a:lnSpc>
                <a:spcPct val="110000"/>
              </a:lnSpc>
              <a:spcAft>
                <a:spcPts val="1300"/>
              </a:spcAft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Dall’Asta, E., Thoeni, K., Santise, M., Forlani, G., Giacomini, A., &amp; Roncella, R. (2015). Network Design and Quality Checks in Automatic Orientation of Close-Range Photogrammetric Blocks. Sensors, 15(4), 7985–8008. doi.org/10.3390/s150407985</a:t>
            </a:r>
            <a:endParaRPr lang="en-US" sz="2000" dirty="0"/>
          </a:p>
          <a:p>
            <a:pPr marL="0" indent="0">
              <a:lnSpc>
                <a:spcPct val="110000"/>
              </a:lnSpc>
              <a:spcAft>
                <a:spcPts val="1300"/>
              </a:spcAft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Li, Y., et al. (2026). A Comparison of Multi-View Stereo Methods for Photogrammetric 3D Reconstruction. arXiv:2604.10246</a:t>
            </a:r>
            <a:endParaRPr lang="en-US" sz="2000" dirty="0"/>
          </a:p>
          <a:p>
            <a:pPr marL="0" indent="0">
              <a:lnSpc>
                <a:spcPct val="110000"/>
              </a:lnSpc>
              <a:spcAft>
                <a:spcPts val="1300"/>
              </a:spcAft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Dietz, O., &amp; Grubert, J. (2022). Towards Open-Source Web-Based 3D Reconstruction for Non-Professionals. Frontiers in Virtual Reality, 2, 786558. doi.org/10.3389/frvir.2021.786558</a:t>
            </a:r>
            <a:endParaRPr lang="en-US" sz="2000" dirty="0"/>
          </a:p>
          <a:p>
            <a:pPr marL="0" indent="0">
              <a:lnSpc>
                <a:spcPct val="110000"/>
              </a:lnSpc>
              <a:spcAft>
                <a:spcPts val="1300"/>
              </a:spcAft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Schönberger, J.L., &amp; Frahm, J.-M. (2016). Structure-from-Motion Revisited. CVPR.</a:t>
            </a:r>
            <a:endParaRPr lang="en-US" sz="2000" dirty="0"/>
          </a:p>
          <a:p>
            <a:pPr marL="0" indent="0">
              <a:lnSpc>
                <a:spcPct val="110000"/>
              </a:lnSpc>
              <a:spcAft>
                <a:spcPts val="1300"/>
              </a:spcAft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Schönberger, J.L., Zheng, E., Frahm, J.-M., &amp; Pollefeys, M. (2016). Pixelwise View Selection for Unstructured Multi-View Stereo. ECCV.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08676" y="64465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46888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6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6600" dirty="0"/>
          </a:p>
        </p:txBody>
      </p:sp>
      <p:sp>
        <p:nvSpPr>
          <p:cNvPr id="3" name="Text 1"/>
          <p:cNvSpPr/>
          <p:nvPr/>
        </p:nvSpPr>
        <p:spPr>
          <a:xfrm>
            <a:off x="457200" y="34290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08676" y="64465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296</TotalTime>
  <Words>1719</Words>
  <Application>Microsoft Office PowerPoint</Application>
  <PresentationFormat>Widescreen</PresentationFormat>
  <Paragraphs>275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Cambria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Sai Koushik Marelly</cp:lastModifiedBy>
  <cp:revision>4</cp:revision>
  <dcterms:created xsi:type="dcterms:W3CDTF">2026-08-23T14:31:16Z</dcterms:created>
  <dcterms:modified xsi:type="dcterms:W3CDTF">2026-08-23T20:04:45Z</dcterms:modified>
</cp:coreProperties>
</file>