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851BE4-6A26-4EE1-A95C-B547894460CA}" v="1" dt="2026-08-26T15:18:30.1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4" autoAdjust="0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78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 Koushik Marelly" userId="9aefc5a058bce651" providerId="LiveId" clId="{5187D578-BB9C-4EE0-8E34-6CD3EA027384}"/>
    <pc:docChg chg="custSel modSld">
      <pc:chgData name="Sai Koushik Marelly" userId="9aefc5a058bce651" providerId="LiveId" clId="{5187D578-BB9C-4EE0-8E34-6CD3EA027384}" dt="2026-08-26T15:22:59.358" v="252" actId="14100"/>
      <pc:docMkLst>
        <pc:docMk/>
      </pc:docMkLst>
      <pc:sldChg chg="modSp mod">
        <pc:chgData name="Sai Koushik Marelly" userId="9aefc5a058bce651" providerId="LiveId" clId="{5187D578-BB9C-4EE0-8E34-6CD3EA027384}" dt="2026-08-26T15:22:59.358" v="252" actId="14100"/>
        <pc:sldMkLst>
          <pc:docMk/>
          <pc:sldMk cId="0" sldId="274"/>
        </pc:sldMkLst>
        <pc:spChg chg="mod">
          <ac:chgData name="Sai Koushik Marelly" userId="9aefc5a058bce651" providerId="LiveId" clId="{5187D578-BB9C-4EE0-8E34-6CD3EA027384}" dt="2026-08-26T15:15:24.936" v="104" actId="14100"/>
          <ac:spMkLst>
            <pc:docMk/>
            <pc:sldMk cId="0" sldId="274"/>
            <ac:spMk id="5" creationId="{00000000-0000-0000-0000-000000000000}"/>
          </ac:spMkLst>
        </pc:spChg>
        <pc:spChg chg="mod">
          <ac:chgData name="Sai Koushik Marelly" userId="9aefc5a058bce651" providerId="LiveId" clId="{5187D578-BB9C-4EE0-8E34-6CD3EA027384}" dt="2026-08-26T15:22:59.358" v="252" actId="14100"/>
          <ac:spMkLst>
            <pc:docMk/>
            <pc:sldMk cId="0" sldId="274"/>
            <ac:spMk id="6" creationId="{00000000-0000-0000-0000-000000000000}"/>
          </ac:spMkLst>
        </pc:spChg>
        <pc:spChg chg="mod">
          <ac:chgData name="Sai Koushik Marelly" userId="9aefc5a058bce651" providerId="LiveId" clId="{5187D578-BB9C-4EE0-8E34-6CD3EA027384}" dt="2026-08-26T15:18:54.403" v="200" actId="1076"/>
          <ac:spMkLst>
            <pc:docMk/>
            <pc:sldMk cId="0" sldId="274"/>
            <ac:spMk id="8" creationId="{00000000-0000-0000-0000-000000000000}"/>
          </ac:spMkLst>
        </pc:spChg>
        <pc:spChg chg="mod">
          <ac:chgData name="Sai Koushik Marelly" userId="9aefc5a058bce651" providerId="LiveId" clId="{5187D578-BB9C-4EE0-8E34-6CD3EA027384}" dt="2026-08-26T15:20:54.449" v="247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Sai Koushik Marelly" userId="9aefc5a058bce651" providerId="LiveId" clId="{5187D578-BB9C-4EE0-8E34-6CD3EA027384}" dt="2026-08-26T15:12:00.469" v="34" actId="1076"/>
          <ac:spMkLst>
            <pc:docMk/>
            <pc:sldMk cId="0" sldId="274"/>
            <ac:spMk id="11" creationId="{00000000-0000-0000-0000-000000000000}"/>
          </ac:spMkLst>
        </pc:spChg>
        <pc:spChg chg="mod">
          <ac:chgData name="Sai Koushik Marelly" userId="9aefc5a058bce651" providerId="LiveId" clId="{5187D578-BB9C-4EE0-8E34-6CD3EA027384}" dt="2026-08-26T15:21:29.298" v="248" actId="1076"/>
          <ac:spMkLst>
            <pc:docMk/>
            <pc:sldMk cId="0" sldId="274"/>
            <ac:spMk id="12" creationId="{53776431-15AA-1516-B792-BD67F0FF28E3}"/>
          </ac:spMkLst>
        </pc:spChg>
        <pc:picChg chg="mod">
          <ac:chgData name="Sai Koushik Marelly" userId="9aefc5a058bce651" providerId="LiveId" clId="{5187D578-BB9C-4EE0-8E34-6CD3EA027384}" dt="2026-08-26T15:12:22.496" v="36" actId="14100"/>
          <ac:picMkLst>
            <pc:docMk/>
            <pc:sldMk cId="0" sldId="274"/>
            <ac:picMk id="3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9871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jntu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" y="710"/>
            <a:ext cx="2416836" cy="1965657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-881930" y="-44770"/>
            <a:ext cx="12191695" cy="16542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9611" y="1832002"/>
            <a:ext cx="12191695" cy="249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2"/>
          <p:cNvSpPr/>
          <p:nvPr/>
        </p:nvSpPr>
        <p:spPr>
          <a:xfrm>
            <a:off x="370540" y="2771676"/>
            <a:ext cx="11689977" cy="963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kern="0" spc="5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“</a:t>
            </a:r>
            <a:r>
              <a:rPr lang="en-US" sz="2800" b="1" i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ORCA — A Reliable, Quality-Validated Backend Pipeline for</a:t>
            </a:r>
            <a:endParaRPr lang="en-US" sz="2000" dirty="0"/>
          </a:p>
          <a:p>
            <a:pPr algn="ctr"/>
            <a:r>
              <a:rPr lang="en-US" sz="2800" b="1" i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Multi-View 3D Object Reconstruction</a:t>
            </a:r>
            <a:r>
              <a:rPr lang="en-US" sz="2400" b="1" kern="0" spc="5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”</a:t>
            </a:r>
            <a:endParaRPr lang="en-US" sz="24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762337" y="4709670"/>
            <a:ext cx="3239134" cy="12591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PRESENTED BY:</a:t>
            </a:r>
            <a:r>
              <a:rPr lang="en-US" sz="1400" b="1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
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M. Sai Koushik (22011P0524)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B.Tech-IDP, 5th Year I Semester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CSE, JNTUH UCEH
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9063812" y="4709670"/>
            <a:ext cx="2317671" cy="1357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GUIDED BY:</a:t>
            </a:r>
            <a:r>
              <a:rPr lang="en-US" sz="1400" b="1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
    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DR. J. UJWALA REKHA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Professor, CSE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JNTUH UCEH
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2262375" y="2025423"/>
            <a:ext cx="8144531" cy="55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400" b="1" dirty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  <a:ea typeface="Calibri" pitchFamily="34" charset="-122"/>
                <a:cs typeface="Calibri" pitchFamily="34" charset="-120"/>
              </a:rPr>
              <a:t>DISSERTATION WORK REVIEW I</a:t>
            </a:r>
            <a:endParaRPr lang="en-US" sz="2400" b="1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776431-15AA-1516-B792-BD67F0FF28E3}"/>
              </a:ext>
            </a:extLst>
          </p:cNvPr>
          <p:cNvSpPr txBox="1"/>
          <p:nvPr/>
        </p:nvSpPr>
        <p:spPr>
          <a:xfrm>
            <a:off x="1426810" y="218718"/>
            <a:ext cx="966490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 </a:t>
            </a:r>
          </a:p>
          <a:p>
            <a:pPr algn="ctr"/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JAWAHARLAL NEHRU TECHNOLOGICAL UNIVERSITY HYDERABAD </a:t>
            </a:r>
          </a:p>
          <a:p>
            <a:pPr algn="ctr"/>
            <a:r>
              <a:rPr lang="en-IN" sz="16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UNIVERSITY COLLEGE OF ENGINEERING HYDERABAD</a:t>
            </a:r>
          </a:p>
          <a:p>
            <a:pPr algn="ctr"/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Kukatpally ,Hyderabad ,Telangana(India) – 500 085.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6101F5-6745-CEE4-C883-4A487DAAFD61}"/>
              </a:ext>
            </a:extLst>
          </p:cNvPr>
          <p:cNvSpPr txBox="1"/>
          <p:nvPr/>
        </p:nvSpPr>
        <p:spPr>
          <a:xfrm>
            <a:off x="2827507" y="6258287"/>
            <a:ext cx="65369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graphicFrame>
        <p:nvGraphicFramePr>
          <p:cNvPr id="20" name="TOC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542482"/>
              </p:ext>
            </p:extLst>
          </p:nvPr>
        </p:nvGraphicFramePr>
        <p:xfrm>
          <a:off x="548640" y="1250000"/>
          <a:ext cx="11064240" cy="4840560"/>
        </p:xfrm>
        <a:graphic>
          <a:graphicData uri="http://schemas.openxmlformats.org/drawingml/2006/table">
            <a:tbl>
              <a:tblPr firstRow="1"/>
              <a:tblGrid>
                <a:gridCol w="1106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7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No.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1428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Abstract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Introduction — What is ORCA?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Are We Doing This? (Motivation)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Issues &amp; How ORCA Solves Them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Work &amp; Research Gaps (Papers 1–3)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Work &amp; Research Gaps (Papers 4–6)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Work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Dataset / Test Objects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System Architecture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ORCA Works — Pipeline Stages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Stack Summary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Conclusion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References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42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 / Q&amp;A</a:t>
                      </a:r>
                      <a:endParaRPr lang="en-US" sz="18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600" dirty="0"/>
                    </a:p>
                  </a:txBody>
                  <a:tcPr marT="22860" marB="22860" anchor="ctr">
                    <a:lnL w="6350" cap="flat" cmpd="sng" algn="ctr">
                      <a:solidFill>
                        <a:srgbClr val="C9CFD9"/>
                      </a:solidFill>
                      <a:prstDash val="solid"/>
                    </a:lnL>
                    <a:lnR w="6350" cap="flat" cmpd="sng" algn="ctr">
                      <a:solidFill>
                        <a:srgbClr val="C9CFD9"/>
                      </a:solidFill>
                      <a:prstDash val="solid"/>
                    </a:lnR>
                    <a:lnT w="6350" cap="flat" cmpd="sng" algn="ctr">
                      <a:solidFill>
                        <a:srgbClr val="C9CFD9"/>
                      </a:solidFill>
                      <a:prstDash val="solid"/>
                    </a:lnT>
                    <a:lnB w="6350" cap="flat" cmpd="sng" algn="ctr">
                      <a:solidFill>
                        <a:srgbClr val="C9CFD9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3D reconstruction from images is used in archaeology, reverse engineering, gaming, and VR — but turning photos into a reliable, ready-to-use 3D model remains difficult in practice.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is a backend system that automates multi-view 3D reconstruction via a classical photogrammetric pipeline: Structure-from-Motion + Multi-View Stereo, built on COLMAP.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by a strict job state-machine, decoupled asynchronous workers, and cloud–local storage synchronization.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mesh post-processing and an automated Quality Checker before delivery.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ORCA?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takes multiple 2D photographs of an object and automatically reconstructs a validated 3D mesh.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just a reconstruction algorithm — it is a reliability layer built around reconstruction.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pipeline flow: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Images  →  SfM  →  MVS  →  Mesh  →  Post-processing  →  Quality Check  →  Delivery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automation + reliability + recovery + quality validation + accessibility — not a new SfM/MVS algorithm.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Are We Doing This? (Motivation)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640080" y="1188720"/>
            <a:ext cx="10881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reconstruction capability already exists — the real problem is reliability at the pipeline level.</a:t>
            </a:r>
            <a:endParaRPr lang="en-US" sz="22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usually assessed manually or externally, not embedded into the reconstruction workflow.</a:t>
            </a:r>
            <a:endParaRPr lang="en-US" sz="22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failed stage can silently propagate and kill the whole job — with no recovery path.</a:t>
            </a:r>
            <a:endParaRPr lang="en-US" sz="22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technical complexity of SfM / MVS workflows blocks non-expert users.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663440"/>
            <a:ext cx="10881360" cy="1280160"/>
          </a:xfrm>
          <a:prstGeom prst="rect">
            <a:avLst/>
          </a:prstGeom>
          <a:solidFill>
            <a:srgbClr val="F4F6F9"/>
          </a:solidFill>
          <a:ln w="15875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68680" y="48006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Gap:  </a:t>
            </a:r>
            <a:r>
              <a:rPr lang="en-US" sz="2100" i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system integrates automated reconstruction + job orchestration + failure recovery + built-in quality validation into one reliable backend.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Issues &amp; How ORCA Solves Them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48056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in Current Practice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ORCA Solves 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built-in quality validation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 Quality Checker validates every mesh before delivery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Failures have no recovery path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Ball-Pivoting fallback when meshing fails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controlled execution flow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job state-machine manages every stage of the job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complexity for non-experts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REST API abstracts the SfM/MVS pipeline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Manual, inconsistent mesh cleanup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post-processing: cleanup, smoothing, decimation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Work &amp; Research Gaps  (1 of 2)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Shape 1"/>
          <p:cNvSpPr/>
          <p:nvPr/>
        </p:nvSpPr>
        <p:spPr>
          <a:xfrm>
            <a:off x="640080" y="1280160"/>
            <a:ext cx="1088136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548640" cy="1508760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25880" y="1353312"/>
            <a:ext cx="100126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Beniwal &amp; Rohil (2025) — Improved 3D Reconstruction Pipeline, Sci. Reports</a:t>
            </a:r>
            <a:r>
              <a:rPr lang="en-US" sz="17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Refines bundle adjustment, triangulation angle &amp; tiling buffer in a Meshroom pipeline.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r>
              <a:rPr lang="en-US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3D models are not evaluated for quality in a systematic, built-in way.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40080" y="3044952"/>
            <a:ext cx="1088136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548640" cy="1508760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3044952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25880" y="3118104"/>
            <a:ext cx="100126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Dall’Asta et al. (2015) — Network Design and Quality Checks in Close-Range Photogrammetric Blocks, Sensors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/ reliability assessment of SfM block orientation.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r>
              <a:rPr lang="en-US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assessment is a manual, external check — not an embedded pipeline stage.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40080" y="4809744"/>
            <a:ext cx="1088136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40080" y="4809744"/>
            <a:ext cx="548640" cy="1508760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4809744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325880" y="4882896"/>
            <a:ext cx="100126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(2026) — A Comparison of MVS Methods for Photogrammetric 3D Reconstruction, arXiv:2604.10246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COLMAP vs. learning-based MVS methods.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r>
              <a:rPr lang="en-US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failure during sparse/dense reconstruction propagates downstream with no recovery path.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Work &amp; Research Gaps  (2 of 2)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Shape 1"/>
          <p:cNvSpPr/>
          <p:nvPr/>
        </p:nvSpPr>
        <p:spPr>
          <a:xfrm>
            <a:off x="640080" y="1280160"/>
            <a:ext cx="1088136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548640" cy="1508760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25880" y="1353312"/>
            <a:ext cx="100126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Dietz &amp; Grubert (2022) — Towards Open-Source Web-Based 3D Reconstruction for Non-Professionals, Frontiers in VR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UI wrapping AliceVision for non-expert users.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r>
              <a:rPr lang="en-US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UI complexity only — no mesh-level quality validation or failure recovery.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044952"/>
            <a:ext cx="1088136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548640" cy="1508760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3044952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25880" y="3118104"/>
            <a:ext cx="100126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Schönberger &amp; Frahm (2016) — Structure-from-Motion Revisited, CVPR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incremental SfM engine ORCA builds on (via COLMAP).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r>
              <a:rPr lang="en-US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camera pose / sparse reconstruction only — no downstream reliability layer.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40080" y="4809744"/>
            <a:ext cx="1088136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40080" y="4809744"/>
            <a:ext cx="548640" cy="1508760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4809744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325880" y="4882896"/>
            <a:ext cx="100126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Schönberger et al. (2016) — Pixelwise View Selection for Unstructured Multi-View Stereo, ECCV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dense stereo / fusion engine ORCA builds on (via COLMAP).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r>
              <a:rPr lang="en-US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dense geometry only — no mesh QA or fallback mechanism.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reconstruction into a controlled, auditable job pipeline rather than one monolithic operation.</a:t>
            </a:r>
            <a:endParaRPr lang="en-US" sz="22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geometry using an established classical photogrammetric core (SfM + MVS via COLMAP).</a:t>
            </a:r>
            <a:endParaRPr lang="en-US" sz="22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automatic recovery path (Ball-Pivoting fallback) when the primary meshing route fails.</a:t>
            </a:r>
            <a:endParaRPr lang="en-US" sz="22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mesh-quality validation a mandatory stage of the job lifecycle.</a:t>
            </a:r>
            <a:endParaRPr lang="en-US" sz="22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everything through a REST API with cloud-backed storage.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Dataset / Test Objects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548640" y="115412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does not train on a labeled dataset — it is validated on a set of real photographed objects, each run through the full pipeline end to end.</a:t>
            </a:r>
            <a:endParaRPr lang="en-US" sz="1700" dirty="0"/>
          </a:p>
        </p:txBody>
      </p:sp>
      <p:sp>
        <p:nvSpPr>
          <p:cNvPr id="30" name="Dataset Metadata"/>
          <p:cNvSpPr/>
          <p:nvPr/>
        </p:nvSpPr>
        <p:spPr>
          <a:xfrm>
            <a:off x="548640" y="1950000"/>
            <a:ext cx="11064240" cy="700000"/>
          </a:xfrm>
          <a:prstGeom prst="rect">
            <a:avLst/>
          </a:prstGeom>
          <a:solidFill>
            <a:srgbClr val="F4F6F9"/>
          </a:solidFill>
          <a:ln w="9525">
            <a:solidFill>
              <a:srgbClr val="C9CFD9"/>
            </a:solidFill>
          </a:ln>
        </p:spPr>
        <p:txBody>
          <a:bodyPr wrap="square" lIns="137160" tIns="45720" rIns="137160" bIns="45720" rtlCol="0" anchor="ctr"/>
          <a:lstStyle/>
          <a:p>
            <a:r>
              <a:rPr lang="en-US" sz="15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 </a:t>
            </a:r>
            <a:r>
              <a:rPr lang="en-IN" sz="1600" dirty="0"/>
              <a:t>BlendedMVS, MiddleburyMVS  </a:t>
            </a:r>
            <a:r>
              <a:rPr lang="en-US" sz="1500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r>
              <a:rPr lang="en-US" sz="15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 </a:t>
            </a: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Evaluation Object Set (5 rows)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 </a:t>
            </a: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objects / 215 total input images     </a:t>
            </a:r>
            <a:r>
              <a:rPr lang="en-US" sz="15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Attributes:  </a:t>
            </a: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columns (Sample, Category, Images, Resolution, Outcome, Verdict)</a:t>
            </a: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1080076"/>
              </p:ext>
            </p:extLst>
          </p:nvPr>
        </p:nvGraphicFramePr>
        <p:xfrm>
          <a:off x="457200" y="2780000"/>
          <a:ext cx="10311743" cy="33375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794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Category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Images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OBJ-01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Fossil Shell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4032×3024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Watertight — Pass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Household Mug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3840×2160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Non-watertight —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OBJ-03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Toy Figure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4032×3024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Potted Plant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3024×4032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Insufficient images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OBJ-05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4032×3024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System Architecture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513588" y="1396648"/>
            <a:ext cx="3617402" cy="2858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INPUT &amp; ORCHESTRATION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291764" y="1396648"/>
            <a:ext cx="3617402" cy="2858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RECONSTRUCTION  (COLMAP)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61009" y="1396648"/>
            <a:ext cx="3617402" cy="2858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VALIDATION &amp; DELIVERY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13588" y="1753922"/>
            <a:ext cx="3572743" cy="893185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13588" y="1753922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85042" y="1753922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Upload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20770" y="2093333"/>
            <a:ext cx="3358379" cy="50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2D photos of the object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5 images required per job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57050" y="2647108"/>
            <a:ext cx="285819" cy="196500"/>
          </a:xfrm>
          <a:prstGeom prst="downArrow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513588" y="2772154"/>
            <a:ext cx="3572743" cy="1161141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513588" y="2772154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85042" y="2772154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State Machine  (FastAPI + Supabase)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20770" y="3111565"/>
            <a:ext cx="3358379" cy="76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→ UPLOADING → PENDING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PROCESSING → COMPLETED / FAILED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transition is logged &amp; auditable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157050" y="3933296"/>
            <a:ext cx="285819" cy="196500"/>
          </a:xfrm>
          <a:prstGeom prst="downArrow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13588" y="4129796"/>
            <a:ext cx="3572743" cy="1045828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513588" y="4058342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85042" y="4058342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TaskDispatcher → WorkerExecutor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0770" y="4397753"/>
            <a:ext cx="3358379" cy="63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asynchronous workers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REST API responsive during heavy compute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75650" y="2093333"/>
            <a:ext cx="232228" cy="285819"/>
          </a:xfrm>
          <a:prstGeom prst="rightArrow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4291764" y="1753922"/>
            <a:ext cx="3572743" cy="893185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291764" y="1753922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363219" y="1753922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Structure-from-Motion (SfM)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398946" y="2093333"/>
            <a:ext cx="3358379" cy="50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 → matching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pose estimation → sparse cloud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35226" y="2647108"/>
            <a:ext cx="285819" cy="196500"/>
          </a:xfrm>
          <a:prstGeom prst="downArrow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4291764" y="2772154"/>
            <a:ext cx="3572743" cy="893185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291764" y="2772154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363219" y="2772154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Multi-View Stereo (MVS)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398946" y="3111565"/>
            <a:ext cx="3358379" cy="50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undistortion → PatchMatch Stereo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fusion → dense point cloud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935226" y="3665340"/>
            <a:ext cx="285819" cy="196500"/>
          </a:xfrm>
          <a:prstGeom prst="downArrow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291764" y="3790386"/>
            <a:ext cx="3572743" cy="1027163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291764" y="3790386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363219" y="3790386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Builder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4398946" y="4129797"/>
            <a:ext cx="3358379" cy="63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Poisson Surface Reconstruction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 → auto fallback to Ball-Pivoting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291764" y="4906869"/>
            <a:ext cx="3572743" cy="446592"/>
          </a:xfrm>
          <a:prstGeom prst="rect">
            <a:avLst/>
          </a:prstGeom>
          <a:solidFill>
            <a:srgbClr val="FFF3E0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45355" y="4906869"/>
            <a:ext cx="3465561" cy="44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00" b="1" i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Solves Gap 3 (Li et al. 2026) — recovery path, no dead-end failures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953826" y="2093333"/>
            <a:ext cx="232228" cy="285819"/>
          </a:xfrm>
          <a:prstGeom prst="rightArrow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8061009" y="1753922"/>
            <a:ext cx="3572743" cy="1179005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8061009" y="1753922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8132463" y="1753922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Post-Processing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168191" y="2093333"/>
            <a:ext cx="3358379" cy="786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&amp; duplicate-face removal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component → Taubin smoothing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Quadric decimation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9704471" y="2932928"/>
            <a:ext cx="285819" cy="196500"/>
          </a:xfrm>
          <a:prstGeom prst="downArrow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8061009" y="3057974"/>
            <a:ext cx="3572743" cy="893185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8061009" y="3057974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8132463" y="3057974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Checker  (mandatory)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8168191" y="3397384"/>
            <a:ext cx="3358379" cy="50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/ face count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Watertightness → Euler number check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8061009" y="4040478"/>
            <a:ext cx="3572743" cy="446592"/>
          </a:xfrm>
          <a:prstGeom prst="rect">
            <a:avLst/>
          </a:prstGeom>
          <a:solidFill>
            <a:srgbClr val="FFF3E0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8114600" y="4040478"/>
            <a:ext cx="3465561" cy="44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00" b="1" i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Solves Gaps 1 &amp; 2 — built-in, mandatory QA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04471" y="4487071"/>
            <a:ext cx="285819" cy="196500"/>
          </a:xfrm>
          <a:prstGeom prst="downArrow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8061009" y="4594254"/>
            <a:ext cx="3572743" cy="1078325"/>
          </a:xfrm>
          <a:prstGeom prst="rect">
            <a:avLst/>
          </a:prstGeom>
          <a:solidFill>
            <a:srgbClr val="FFFFFF"/>
          </a:solidFill>
          <a:ln w="1778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8061009" y="4594254"/>
            <a:ext cx="3572743" cy="30368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8132463" y="4594254"/>
            <a:ext cx="3429833" cy="303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Cloud Delivery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8168191" y="4933664"/>
            <a:ext cx="3358379" cy="50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Supabase-backed storage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‣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SfM/MVS complexity abstracted from user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114600" y="5726170"/>
            <a:ext cx="3572743" cy="446592"/>
          </a:xfrm>
          <a:prstGeom prst="rect">
            <a:avLst/>
          </a:prstGeom>
          <a:solidFill>
            <a:srgbClr val="FFF3E0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8114600" y="5715062"/>
            <a:ext cx="3465561" cy="44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00" b="1" i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Solves Gap 4 — accessible to non-experts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ORCA Works — Pipeline Stages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489204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8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Orchestration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+ Supabase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moves through CREATED→UPLOADING→PENDING→PROCESSING→COMPLETED/FAILED; async workers handle compute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Structure-from-Motion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COLMAP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extraction → matching → camera pose estimation → sparse reconstruction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Multi-View Stereo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COLMAP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undistortion → PatchMatch Stereo → dense point-cloud fusion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 Generation &amp; Recovery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Open3D / Trimesh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Poisson meshing; automatic fallback to Ball-Pivoting if it fails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Post-Processing &amp; Quality Check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Open3D / Trimesh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Cleanup → smoothing → decimation → mandatory quality validation before delivery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F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 Summary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716030" y="1221763"/>
            <a:ext cx="10849605" cy="358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technologies used across ORCA's backend: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26364" y="1714927"/>
            <a:ext cx="3496980" cy="49316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26364" y="1714927"/>
            <a:ext cx="3496980" cy="493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Job Orchestration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6364" y="2208091"/>
            <a:ext cx="3496980" cy="1613990"/>
          </a:xfrm>
          <a:prstGeom prst="rect">
            <a:avLst/>
          </a:prstGeom>
          <a:solidFill>
            <a:srgbClr val="F4F6F9"/>
          </a:solidFill>
          <a:ln w="1270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60863" y="2360524"/>
            <a:ext cx="3227981" cy="134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(REST API)</a:t>
            </a:r>
            <a:endParaRPr lang="en-US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+ RQ (async job queue)</a:t>
            </a:r>
            <a:endParaRPr lang="en-US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pydantic-settings (config)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2676" y="1714927"/>
            <a:ext cx="3496980" cy="49316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302676" y="1714927"/>
            <a:ext cx="3496980" cy="493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Storage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02676" y="2208091"/>
            <a:ext cx="3496980" cy="1613990"/>
          </a:xfrm>
          <a:prstGeom prst="rect">
            <a:avLst/>
          </a:prstGeom>
          <a:solidFill>
            <a:srgbClr val="F4F6F9"/>
          </a:solidFill>
          <a:ln w="1270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437175" y="2360524"/>
            <a:ext cx="3227981" cy="134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7978989" y="1714927"/>
            <a:ext cx="3496980" cy="49316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978989" y="1714927"/>
            <a:ext cx="3496980" cy="493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Core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978989" y="2208091"/>
            <a:ext cx="3496980" cy="1613990"/>
          </a:xfrm>
          <a:prstGeom prst="rect">
            <a:avLst/>
          </a:prstGeom>
          <a:solidFill>
            <a:srgbClr val="F4F6F9"/>
          </a:solidFill>
          <a:ln w="1270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113488" y="2360524"/>
            <a:ext cx="3227981" cy="134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COLMAP (Structure from Motion + Multi View Stereo)</a:t>
            </a:r>
            <a:endParaRPr lang="en-US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PatchMatch Stereo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670974" y="4091081"/>
            <a:ext cx="4393642" cy="49316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670974" y="4091081"/>
            <a:ext cx="4393642" cy="493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Processing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670974" y="4584245"/>
            <a:ext cx="4393642" cy="1613990"/>
          </a:xfrm>
          <a:prstGeom prst="rect">
            <a:avLst/>
          </a:prstGeom>
          <a:solidFill>
            <a:srgbClr val="F4F6F9"/>
          </a:solidFill>
          <a:ln w="1270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1805474" y="4736677"/>
            <a:ext cx="4124643" cy="134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Open3D</a:t>
            </a:r>
            <a:endParaRPr lang="en-US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Trimesh</a:t>
            </a:r>
            <a:endParaRPr lang="en-US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Reconstruction / Ball-Pivoting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43949" y="4091081"/>
            <a:ext cx="4393642" cy="493163"/>
          </a:xfrm>
          <a:prstGeom prst="rect">
            <a:avLst/>
          </a:prstGeom>
          <a:solidFill>
            <a:srgbClr val="1428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243949" y="4091081"/>
            <a:ext cx="4393642" cy="493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Testing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43949" y="4584245"/>
            <a:ext cx="4393642" cy="1613990"/>
          </a:xfrm>
          <a:prstGeom prst="rect">
            <a:avLst/>
          </a:prstGeom>
          <a:solidFill>
            <a:srgbClr val="F4F6F9"/>
          </a:solidFill>
          <a:ln w="12700">
            <a:solidFill>
              <a:srgbClr val="1428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378448" y="4736677"/>
            <a:ext cx="4124643" cy="134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(containerization)</a:t>
            </a:r>
            <a:endParaRPr lang="en-US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(test suite)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Reframes 3D reconstruction as a reliability engineering problem, not just an algorithmic one.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quality validation as a mandatory pipeline stage rather than an external, manual step.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Introduces automatic recovery (Ball-Pivoting fallback) when dense meshing fails.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Abstracts SfM/MVS complexity behind a simple REST API with cloud-backed job management.</a:t>
            </a:r>
            <a:endParaRPr lang="en-US" sz="2300" dirty="0"/>
          </a:p>
          <a:p>
            <a:pPr marL="342900" indent="-3429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2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Establishes ORCA as a reliable, quality-assured, accessible backend for 3D object reconstruction.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cxnSp>
        <p:nvCxnSpPr>
          <p:cNvPr id="9001" name="Heading Line"/>
          <p:cNvCxnSpPr/>
          <p:nvPr/>
        </p:nvCxnSpPr>
        <p:spPr>
          <a:xfrm>
            <a:off x="457200" y="1069848"/>
            <a:ext cx="11277600" cy="0"/>
          </a:xfrm>
          <a:prstGeom prst="line">
            <a:avLst/>
          </a:prstGeom>
          <a:ln w="28575">
            <a:solidFill>
              <a:srgbClr val="142850"/>
            </a:solidFill>
          </a:ln>
        </p:spPr>
      </p:cxnSp>
      <p:sp>
        <p:nvSpPr>
          <p:cNvPr id="3" name="Text 1"/>
          <p:cNvSpPr/>
          <p:nvPr/>
        </p:nvSpPr>
        <p:spPr>
          <a:xfrm>
            <a:off x="640080" y="1188720"/>
            <a:ext cx="10881360" cy="5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13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Paul, T., Beniwal, A., &amp; Rohil, M.K. (2025). Improved 3D reconstruction pipeline for enhancing the quality of 3D model generation from multi-view images. Scientific Reports, 15, 33231. doi.org/10.1038/s41598-025-18318-x</a:t>
            </a:r>
            <a:endParaRPr lang="en-US" sz="2000" dirty="0"/>
          </a:p>
          <a:p>
            <a:pPr marL="0" indent="0">
              <a:lnSpc>
                <a:spcPct val="110000"/>
              </a:lnSpc>
              <a:spcAft>
                <a:spcPts val="13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Dall’Asta, E., Thoeni, K., Santise, M., Forlani, G., Giacomini, A., &amp; Roncella, R. (2015). Network Design and Quality Checks in Automatic Orientation of Close-Range Photogrammetric Blocks. Sensors, 15(4), 7985–8008. doi.org/10.3390/s150407985</a:t>
            </a:r>
            <a:endParaRPr lang="en-US" sz="2000" dirty="0"/>
          </a:p>
          <a:p>
            <a:pPr marL="0" indent="0">
              <a:lnSpc>
                <a:spcPct val="110000"/>
              </a:lnSpc>
              <a:spcAft>
                <a:spcPts val="13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Li, Y., et al. (2026). A Comparison of Multi-View Stereo Methods for Photogrammetric 3D Reconstruction. arXiv:2604.10246</a:t>
            </a:r>
            <a:endParaRPr lang="en-US" sz="2000" dirty="0"/>
          </a:p>
          <a:p>
            <a:pPr marL="0" indent="0">
              <a:lnSpc>
                <a:spcPct val="110000"/>
              </a:lnSpc>
              <a:spcAft>
                <a:spcPts val="13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Dietz, O., &amp; Grubert, J. (2022). Towards Open-Source Web-Based 3D Reconstruction for Non-Professionals. Frontiers in Virtual Reality, 2, 786558. doi.org/10.3389/frvir.2021.786558</a:t>
            </a:r>
            <a:endParaRPr lang="en-US" sz="2000" dirty="0"/>
          </a:p>
          <a:p>
            <a:pPr marL="0" indent="0">
              <a:lnSpc>
                <a:spcPct val="110000"/>
              </a:lnSpc>
              <a:spcAft>
                <a:spcPts val="13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Schönberger, J.L., &amp; Frahm, J.-M. (2016). Structure-from-Motion Revisited. CVPR.</a:t>
            </a:r>
            <a:endParaRPr lang="en-US" sz="2000" dirty="0"/>
          </a:p>
          <a:p>
            <a:pPr marL="0" indent="0">
              <a:lnSpc>
                <a:spcPct val="110000"/>
              </a:lnSpc>
              <a:spcAft>
                <a:spcPts val="13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Schönberger, J.L., Zheng, E., Frahm, J.-M., &amp; Pollefeys, M. (2016). Pixelwise View Selection for Unstructured Multi-View Stereo. ECCV.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1428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457200" y="34290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08676" y="6446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1734</Words>
  <Application>Microsoft Office PowerPoint</Application>
  <PresentationFormat>Widescreen</PresentationFormat>
  <Paragraphs>279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Bookman Old Style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Sai Koushik Marelly</cp:lastModifiedBy>
  <cp:revision>4</cp:revision>
  <dcterms:created xsi:type="dcterms:W3CDTF">2026-08-23T14:31:16Z</dcterms:created>
  <dcterms:modified xsi:type="dcterms:W3CDTF">2026-08-26T15:22:59Z</dcterms:modified>
</cp:coreProperties>
</file>