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/>
          <p:nvPr>
            <p:ph type="title"/>
          </p:nvPr>
        </p:nvSpPr>
        <p:spPr>
          <a:xfrm>
            <a:off x="914400" y="2125979"/>
            <a:ext cx="10363200" cy="14401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sz="quarter" idx="1"/>
          </p:nvPr>
        </p:nvSpPr>
        <p:spPr>
          <a:xfrm>
            <a:off x="1828800" y="3840479"/>
            <a:ext cx="8534400" cy="17145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/>
          <p:nvPr>
            <p:ph type="title"/>
          </p:nvPr>
        </p:nvSpPr>
        <p:spPr>
          <a:xfrm>
            <a:off x="490219" y="245877"/>
            <a:ext cx="3471546" cy="47041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idx="1"/>
          </p:nvPr>
        </p:nvSpPr>
        <p:spPr>
          <a:xfrm>
            <a:off x="457834" y="1044575"/>
            <a:ext cx="11245851" cy="319849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/>
          <p:nvPr>
            <p:ph type="title"/>
          </p:nvPr>
        </p:nvSpPr>
        <p:spPr>
          <a:xfrm>
            <a:off x="490219" y="245877"/>
            <a:ext cx="3471546" cy="47041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idx="1"/>
          </p:nvPr>
        </p:nvSpPr>
        <p:spPr>
          <a:xfrm>
            <a:off x="457834" y="1044575"/>
            <a:ext cx="11245851" cy="3198496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/>
          <p:nvPr>
            <p:ph type="title"/>
          </p:nvPr>
        </p:nvSpPr>
        <p:spPr>
          <a:xfrm>
            <a:off x="490219" y="245877"/>
            <a:ext cx="3471546" cy="47041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2" name="Body Level One…"/>
          <p:cNvSpPr txBox="1"/>
          <p:nvPr>
            <p:ph type="body" sz="half" idx="1"/>
          </p:nvPr>
        </p:nvSpPr>
        <p:spPr>
          <a:xfrm>
            <a:off x="609600" y="1577339"/>
            <a:ext cx="5303521" cy="45262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/>
          <p:nvPr>
            <p:ph type="title"/>
          </p:nvPr>
        </p:nvSpPr>
        <p:spPr>
          <a:xfrm>
            <a:off x="490219" y="245877"/>
            <a:ext cx="3471546" cy="47041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 descr="bg object 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347472"/>
            <a:ext cx="960120" cy="102412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bg object 17"/>
          <p:cNvSpPr/>
          <p:nvPr/>
        </p:nvSpPr>
        <p:spPr>
          <a:xfrm>
            <a:off x="685797" y="1598422"/>
            <a:ext cx="10835644" cy="12702"/>
          </a:xfrm>
          <a:prstGeom prst="rect">
            <a:avLst/>
          </a:prstGeom>
          <a:solidFill>
            <a:srgbClr val="D2D2D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" name="bg object 18"/>
          <p:cNvSpPr/>
          <p:nvPr/>
        </p:nvSpPr>
        <p:spPr>
          <a:xfrm>
            <a:off x="685797" y="1598422"/>
            <a:ext cx="10835644" cy="12702"/>
          </a:xfrm>
          <a:prstGeom prst="rect">
            <a:avLst/>
          </a:prstGeom>
          <a:ln w="6350">
            <a:solidFill>
              <a:srgbClr val="D2D2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11347601" y="6497318"/>
            <a:ext cx="211114" cy="12851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indent="69850">
              <a:lnSpc>
                <a:spcPts val="1000"/>
              </a:lnSpc>
              <a:defRPr b="1" spc="-50" sz="10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2355B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6985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ts val="1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5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bject 2"/>
          <p:cNvSpPr txBox="1"/>
          <p:nvPr/>
        </p:nvSpPr>
        <p:spPr>
          <a:xfrm>
            <a:off x="2423160" y="359744"/>
            <a:ext cx="7772401" cy="2642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920750" algn="ctr">
              <a:spcBef>
                <a:spcPts val="500"/>
              </a:spcBef>
              <a:defRPr b="1" sz="1900">
                <a:solidFill>
                  <a:srgbClr val="AA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</a:t>
            </a:r>
            <a:r>
              <a:rPr spc="-70"/>
              <a:t> </a:t>
            </a:r>
            <a:r>
              <a:t>of</a:t>
            </a:r>
            <a:r>
              <a:rPr spc="-40"/>
              <a:t> </a:t>
            </a:r>
            <a:r>
              <a:t>Computer</a:t>
            </a:r>
            <a:r>
              <a:rPr spc="-70"/>
              <a:t> </a:t>
            </a:r>
            <a:r>
              <a:rPr spc="-10"/>
              <a:t>Science</a:t>
            </a:r>
            <a:r>
              <a:rPr spc="-110"/>
              <a:t> </a:t>
            </a:r>
            <a:r>
              <a:t>And</a:t>
            </a:r>
            <a:r>
              <a:rPr spc="-35"/>
              <a:t> </a:t>
            </a:r>
            <a:r>
              <a:rPr spc="-10"/>
              <a:t>Engineering</a:t>
            </a:r>
          </a:p>
          <a:p>
            <a:pPr marR="5080" indent="384175" algn="ctr">
              <a:lnSpc>
                <a:spcPts val="2100"/>
              </a:lnSpc>
              <a:defRPr b="1" spc="-50" sz="1500">
                <a:solidFill>
                  <a:srgbClr val="AA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JAWAHARLAL</a:t>
            </a:r>
            <a:r>
              <a:rPr spc="-65"/>
              <a:t> </a:t>
            </a:r>
            <a:r>
              <a:rPr spc="0"/>
              <a:t>NEHRU </a:t>
            </a:r>
            <a:r>
              <a:rPr spc="-10"/>
              <a:t>TECHNOLOGICAL</a:t>
            </a:r>
            <a:r>
              <a:rPr spc="-65"/>
              <a:t> </a:t>
            </a:r>
            <a:r>
              <a:rPr spc="-10"/>
              <a:t>UNIVERSITY</a:t>
            </a:r>
            <a:r>
              <a:rPr spc="-35"/>
              <a:t> </a:t>
            </a:r>
            <a:r>
              <a:rPr spc="-10"/>
              <a:t>HYDERABAD </a:t>
            </a:r>
            <a:r>
              <a:rPr spc="-10">
                <a:solidFill>
                  <a:srgbClr val="142D4B"/>
                </a:solidFill>
              </a:rPr>
              <a:t>UNIVERSITY</a:t>
            </a:r>
            <a:r>
              <a:rPr spc="-85">
                <a:solidFill>
                  <a:srgbClr val="142D4B"/>
                </a:solidFill>
              </a:rPr>
              <a:t> </a:t>
            </a:r>
            <a:r>
              <a:rPr spc="0">
                <a:solidFill>
                  <a:srgbClr val="142D4B"/>
                </a:solidFill>
              </a:rPr>
              <a:t>COLLEGE</a:t>
            </a:r>
            <a:r>
              <a:rPr spc="-30">
                <a:solidFill>
                  <a:srgbClr val="142D4B"/>
                </a:solidFill>
              </a:rPr>
              <a:t> </a:t>
            </a:r>
            <a:r>
              <a:rPr spc="0">
                <a:solidFill>
                  <a:srgbClr val="142D4B"/>
                </a:solidFill>
              </a:rPr>
              <a:t>OF</a:t>
            </a:r>
            <a:r>
              <a:rPr spc="-80">
                <a:solidFill>
                  <a:srgbClr val="142D4B"/>
                </a:solidFill>
              </a:rPr>
              <a:t> </a:t>
            </a:r>
            <a:r>
              <a:rPr spc="0">
                <a:solidFill>
                  <a:srgbClr val="142D4B"/>
                </a:solidFill>
              </a:rPr>
              <a:t>ENGINEERING</a:t>
            </a:r>
            <a:r>
              <a:rPr spc="-30">
                <a:solidFill>
                  <a:srgbClr val="142D4B"/>
                </a:solidFill>
              </a:rPr>
              <a:t> </a:t>
            </a:r>
            <a:r>
              <a:rPr spc="-10">
                <a:solidFill>
                  <a:srgbClr val="142D4B"/>
                </a:solidFill>
              </a:rPr>
              <a:t>HYDERABAD</a:t>
            </a:r>
          </a:p>
          <a:p>
            <a:pPr indent="372109" algn="ctr">
              <a:spcBef>
                <a:spcPts val="500"/>
              </a:spcBef>
              <a:defRPr spc="-9"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Kukatpally,</a:t>
            </a:r>
            <a:r>
              <a:rPr spc="-4"/>
              <a:t> </a:t>
            </a:r>
            <a:r>
              <a:rPr spc="0"/>
              <a:t>Hyderabad,</a:t>
            </a:r>
            <a:r>
              <a:rPr spc="-19"/>
              <a:t> </a:t>
            </a:r>
            <a:r>
              <a:t>Telangana</a:t>
            </a:r>
            <a:r>
              <a:rPr spc="-4"/>
              <a:t> </a:t>
            </a:r>
            <a:r>
              <a:rPr spc="0"/>
              <a:t>(India) - 500 </a:t>
            </a:r>
            <a:r>
              <a:rPr spc="-19"/>
              <a:t>085.</a:t>
            </a:r>
          </a:p>
          <a:p>
            <a: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spcBef>
                <a:spcPts val="7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922655" algn="ctr">
              <a:defRPr b="1" spc="-34" sz="2100">
                <a:solidFill>
                  <a:srgbClr val="142D4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DISSERTATION</a:t>
            </a:r>
            <a:r>
              <a:rPr spc="-65"/>
              <a:t> </a:t>
            </a:r>
            <a:r>
              <a:rPr spc="0"/>
              <a:t>WORK</a:t>
            </a:r>
            <a:r>
              <a:rPr spc="-30"/>
              <a:t> </a:t>
            </a:r>
            <a:r>
              <a:rPr spc="0"/>
              <a:t>REVIEW</a:t>
            </a:r>
            <a:r>
              <a:rPr spc="-65"/>
              <a:t> </a:t>
            </a:r>
            <a:r>
              <a:rPr spc="-50"/>
              <a:t>I</a:t>
            </a:r>
          </a:p>
          <a:p>
            <a:pPr>
              <a:spcBef>
                <a:spcPts val="900"/>
              </a:spcBef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2700" algn="ctr">
              <a:defRPr b="1" sz="2200">
                <a:solidFill>
                  <a:srgbClr val="AA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</a:t>
            </a:r>
            <a:r>
              <a:rPr spc="-50"/>
              <a:t> </a:t>
            </a:r>
            <a:r>
              <a:rPr spc="-9"/>
              <a:t>Learning-</a:t>
            </a:r>
            <a:r>
              <a:t>Based</a:t>
            </a:r>
            <a:r>
              <a:rPr spc="-30"/>
              <a:t> </a:t>
            </a:r>
            <a:r>
              <a:t>Phishing</a:t>
            </a:r>
            <a:r>
              <a:rPr spc="-30"/>
              <a:t> </a:t>
            </a:r>
            <a:r>
              <a:t>URL</a:t>
            </a:r>
            <a:r>
              <a:rPr spc="-140"/>
              <a:t> </a:t>
            </a:r>
            <a:r>
              <a:rPr spc="-9"/>
              <a:t>Detection</a:t>
            </a:r>
          </a:p>
        </p:txBody>
      </p:sp>
      <p:grpSp>
        <p:nvGrpSpPr>
          <p:cNvPr id="70" name="object 3"/>
          <p:cNvGrpSpPr/>
          <p:nvPr/>
        </p:nvGrpSpPr>
        <p:grpSpPr>
          <a:xfrm>
            <a:off x="685797" y="3975858"/>
            <a:ext cx="10835644" cy="12702"/>
            <a:chOff x="0" y="0"/>
            <a:chExt cx="10835642" cy="12701"/>
          </a:xfrm>
        </p:grpSpPr>
        <p:sp>
          <p:nvSpPr>
            <p:cNvPr id="68" name="object 4"/>
            <p:cNvSpPr/>
            <p:nvPr/>
          </p:nvSpPr>
          <p:spPr>
            <a:xfrm>
              <a:off x="0" y="0"/>
              <a:ext cx="10835643" cy="12702"/>
            </a:xfrm>
            <a:prstGeom prst="rect">
              <a:avLst/>
            </a:prstGeom>
            <a:solidFill>
              <a:srgbClr val="D2D2D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" name="object 5"/>
            <p:cNvSpPr/>
            <p:nvPr/>
          </p:nvSpPr>
          <p:spPr>
            <a:xfrm>
              <a:off x="0" y="0"/>
              <a:ext cx="10835643" cy="12702"/>
            </a:xfrm>
            <a:prstGeom prst="rect">
              <a:avLst/>
            </a:prstGeom>
            <a:noFill/>
            <a:ln w="6350" cap="flat">
              <a:solidFill>
                <a:srgbClr val="D2D2D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71" name="object 6"/>
          <p:cNvSpPr txBox="1"/>
          <p:nvPr/>
        </p:nvSpPr>
        <p:spPr>
          <a:xfrm>
            <a:off x="1130300" y="4292067"/>
            <a:ext cx="1480820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z="1500">
                <a:solidFill>
                  <a:srgbClr val="AA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PRESENTED</a:t>
            </a:r>
            <a:r>
              <a:rPr spc="-95"/>
              <a:t> </a:t>
            </a:r>
            <a:r>
              <a:rPr spc="-25"/>
              <a:t>BY</a:t>
            </a:r>
          </a:p>
        </p:txBody>
      </p:sp>
      <p:sp>
        <p:nvSpPr>
          <p:cNvPr id="72" name="object 10"/>
          <p:cNvSpPr txBox="1"/>
          <p:nvPr/>
        </p:nvSpPr>
        <p:spPr>
          <a:xfrm>
            <a:off x="11277600" y="6459992"/>
            <a:ext cx="76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3" name="object 7"/>
          <p:cNvSpPr txBox="1"/>
          <p:nvPr/>
        </p:nvSpPr>
        <p:spPr>
          <a:xfrm>
            <a:off x="1130300" y="4703038"/>
            <a:ext cx="2504440" cy="645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ts val="1700"/>
              </a:lnSpc>
              <a:spcBef>
                <a:spcPts val="2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Boda</a:t>
            </a:r>
            <a:r>
              <a:rPr spc="-15"/>
              <a:t> </a:t>
            </a:r>
            <a:r>
              <a:t>Kiran</a:t>
            </a:r>
            <a:r>
              <a:rPr spc="-5"/>
              <a:t> </a:t>
            </a:r>
            <a:r>
              <a:rPr spc="-10"/>
              <a:t>(22011P0555) </a:t>
            </a:r>
            <a:r>
              <a:rPr spc="-25"/>
              <a:t>B.Tech-</a:t>
            </a:r>
            <a:r>
              <a:rPr spc="-45"/>
              <a:t>IDP,</a:t>
            </a:r>
            <a:r>
              <a:rPr spc="-15"/>
              <a:t> </a:t>
            </a:r>
            <a:r>
              <a:t>5th</a:t>
            </a:r>
            <a:r>
              <a:rPr spc="-70"/>
              <a:t> </a:t>
            </a:r>
            <a:r>
              <a:rPr spc="-30"/>
              <a:t>Year</a:t>
            </a:r>
            <a:r>
              <a:rPr spc="-15"/>
              <a:t> </a:t>
            </a:r>
            <a:r>
              <a:t>I</a:t>
            </a:r>
            <a:r>
              <a:rPr spc="-10"/>
              <a:t> Semester </a:t>
            </a:r>
            <a:r>
              <a:t>CSE,</a:t>
            </a:r>
            <a:r>
              <a:rPr spc="-40"/>
              <a:t> </a:t>
            </a:r>
            <a:r>
              <a:t>JNTUH</a:t>
            </a:r>
            <a:r>
              <a:rPr spc="-35"/>
              <a:t> </a:t>
            </a:r>
            <a:r>
              <a:rPr spc="-20"/>
              <a:t>UCEH</a:t>
            </a:r>
          </a:p>
        </p:txBody>
      </p:sp>
      <p:sp>
        <p:nvSpPr>
          <p:cNvPr id="74" name="object 8"/>
          <p:cNvSpPr txBox="1"/>
          <p:nvPr/>
        </p:nvSpPr>
        <p:spPr>
          <a:xfrm>
            <a:off x="6936740" y="4292067"/>
            <a:ext cx="713741" cy="20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10" sz="1500">
                <a:solidFill>
                  <a:srgbClr val="AA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GUIDE:</a:t>
            </a:r>
          </a:p>
        </p:txBody>
      </p:sp>
      <p:sp>
        <p:nvSpPr>
          <p:cNvPr id="75" name="object 9"/>
          <p:cNvSpPr txBox="1"/>
          <p:nvPr/>
        </p:nvSpPr>
        <p:spPr>
          <a:xfrm>
            <a:off x="6936740" y="4703784"/>
            <a:ext cx="1856105" cy="810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ts val="1600"/>
              </a:lnSpc>
              <a:spcBef>
                <a:spcPts val="200"/>
              </a:spcBef>
              <a:defRPr spc="-1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</a:t>
            </a:r>
            <a:r>
              <a:rPr spc="-40"/>
              <a:t> </a:t>
            </a:r>
            <a:r>
              <a:rPr spc="0"/>
              <a:t>M.</a:t>
            </a:r>
            <a:r>
              <a:rPr spc="-35"/>
              <a:t> </a:t>
            </a:r>
            <a:r>
              <a:t>Dhanalakshmi </a:t>
            </a:r>
            <a:r>
              <a:rPr spc="0"/>
              <a:t>Professor</a:t>
            </a:r>
            <a:r>
              <a:t> </a:t>
            </a:r>
            <a:r>
              <a:rPr spc="0"/>
              <a:t>of</a:t>
            </a:r>
            <a:r>
              <a:rPr spc="-5"/>
              <a:t> </a:t>
            </a:r>
            <a:r>
              <a:rPr spc="0"/>
              <a:t>CSE</a:t>
            </a:r>
            <a:r>
              <a:rPr spc="-15"/>
              <a:t> </a:t>
            </a:r>
            <a:r>
              <a:rPr spc="-50"/>
              <a:t>&amp; </a:t>
            </a:r>
            <a:r>
              <a:t>Coordinator,DAP, </a:t>
            </a:r>
            <a:r>
              <a:rPr spc="0"/>
              <a:t>JNTUH,</a:t>
            </a:r>
            <a:r>
              <a:rPr spc="-40"/>
              <a:t> </a:t>
            </a:r>
            <a:r>
              <a:t>kukatpally,</a:t>
            </a:r>
            <a:r>
              <a:rPr spc="-40"/>
              <a:t> </a:t>
            </a:r>
            <a:r>
              <a:rPr spc="-20"/>
              <a:t>Hyd.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t>Table </a:t>
            </a:r>
            <a:r>
              <a:rPr spc="0"/>
              <a:t>of</a:t>
            </a:r>
            <a:r>
              <a:t> Contents</a:t>
            </a:r>
          </a:p>
        </p:txBody>
      </p:sp>
      <p:sp>
        <p:nvSpPr>
          <p:cNvPr id="78" name="object 3"/>
          <p:cNvSpPr txBox="1"/>
          <p:nvPr/>
        </p:nvSpPr>
        <p:spPr>
          <a:xfrm>
            <a:off x="11504638" y="338333"/>
            <a:ext cx="16700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50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9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81" name="object 6"/>
          <p:cNvGraphicFramePr/>
          <p:nvPr/>
        </p:nvGraphicFramePr>
        <p:xfrm>
          <a:off x="1410333" y="1108580"/>
          <a:ext cx="9326881" cy="471678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05839"/>
                <a:gridCol w="6400800"/>
                <a:gridCol w="1920240"/>
              </a:tblGrid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b="1" spc="-25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No.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b="1" spc="-1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Section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4444">
                        <a:lnSpc>
                          <a:spcPct val="100000"/>
                        </a:lnSpc>
                        <a:spcBef>
                          <a:spcPts val="700"/>
                        </a:spcBef>
                        <a:defRPr b="1" spc="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Slide</a:t>
                      </a:r>
                      <a:r>
                        <a:rPr spc="-25"/>
                        <a:t> No.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1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Abstract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1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Introduction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4444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Existing</a:t>
                      </a:r>
                      <a:r>
                        <a:rPr spc="-35"/>
                        <a:t> </a:t>
                      </a:r>
                      <a:r>
                        <a:rPr spc="-20"/>
                        <a:t>Work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4444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Proposed</a:t>
                      </a:r>
                      <a:r>
                        <a:rPr spc="-75"/>
                        <a:t> </a:t>
                      </a:r>
                      <a:r>
                        <a:rPr spc="-20"/>
                        <a:t>Work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4444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Dataset</a:t>
                      </a:r>
                      <a:r>
                        <a:rPr spc="-50"/>
                        <a:t> </a:t>
                      </a:r>
                      <a:r>
                        <a:rPr spc="-10"/>
                        <a:t>Overview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1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1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Methodology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1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25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5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1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Conclusion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25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25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1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References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25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R="4444" indent="0" algn="ctr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25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4444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Thank</a:t>
                      </a:r>
                      <a:r>
                        <a:rPr spc="-55"/>
                        <a:t> </a:t>
                      </a:r>
                      <a:r>
                        <a:rPr spc="-30"/>
                        <a:t>You</a:t>
                      </a:r>
                      <a:r>
                        <a:rPr spc="-25"/>
                        <a:t> </a:t>
                      </a:r>
                      <a:r>
                        <a:t>/</a:t>
                      </a:r>
                      <a:r>
                        <a:rPr spc="-35"/>
                        <a:t> </a:t>
                      </a:r>
                      <a:r>
                        <a:rPr spc="-25"/>
                        <a:t>Q&amp;A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800"/>
                      </a:pPr>
                      <a:r>
                        <a:rPr spc="-25" sz="13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2" name="object 7"/>
          <p:cNvSpPr txBox="1"/>
          <p:nvPr>
            <p:ph type="sldNum" sz="quarter" idx="4294967295"/>
          </p:nvPr>
        </p:nvSpPr>
        <p:spPr>
          <a:xfrm>
            <a:off x="11347601" y="6497318"/>
            <a:ext cx="146833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Abstract</a:t>
            </a:r>
          </a:p>
        </p:txBody>
      </p:sp>
      <p:sp>
        <p:nvSpPr>
          <p:cNvPr id="85" name="object 3"/>
          <p:cNvSpPr txBox="1"/>
          <p:nvPr/>
        </p:nvSpPr>
        <p:spPr>
          <a:xfrm>
            <a:off x="11504638" y="338333"/>
            <a:ext cx="16700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50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6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object 6"/>
          <p:cNvSpPr/>
          <p:nvPr/>
        </p:nvSpPr>
        <p:spPr>
          <a:xfrm>
            <a:off x="453388" y="1215542"/>
            <a:ext cx="11209022" cy="4668975"/>
          </a:xfrm>
          <a:prstGeom prst="rect">
            <a:avLst/>
          </a:prstGeom>
          <a:ln w="12700">
            <a:solidFill>
              <a:srgbClr val="4472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object 7"/>
          <p:cNvSpPr txBox="1"/>
          <p:nvPr/>
        </p:nvSpPr>
        <p:spPr>
          <a:xfrm>
            <a:off x="447546" y="1570511"/>
            <a:ext cx="11186160" cy="3844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699" marR="351154" indent="-8889">
              <a:lnSpc>
                <a:spcPct val="101899"/>
              </a:lnSpc>
              <a:buSzPct val="91666"/>
              <a:buAutoNum type="arabicPeriod" startAt="1"/>
              <a:tabLst>
                <a:tab pos="190500" algn="l"/>
              </a:tabLst>
              <a:defRPr>
                <a:latin typeface="Arial"/>
                <a:ea typeface="Arial"/>
                <a:cs typeface="Arial"/>
                <a:sym typeface="Arial"/>
              </a:defRPr>
            </a:pPr>
            <a:r>
              <a:t>phishing</a:t>
            </a:r>
            <a:r>
              <a:rPr spc="-10"/>
              <a:t> </a:t>
            </a:r>
            <a:r>
              <a:t>is</a:t>
            </a:r>
            <a:r>
              <a:rPr spc="-15"/>
              <a:t> </a:t>
            </a:r>
            <a:r>
              <a:t>an</a:t>
            </a:r>
            <a:r>
              <a:rPr spc="-5"/>
              <a:t> </a:t>
            </a:r>
            <a:r>
              <a:t>attack</a:t>
            </a:r>
            <a:r>
              <a:rPr spc="-15"/>
              <a:t> </a:t>
            </a:r>
            <a:r>
              <a:t>where</a:t>
            </a:r>
            <a:r>
              <a:rPr spc="-10"/>
              <a:t> </a:t>
            </a:r>
            <a:r>
              <a:t>an</a:t>
            </a:r>
            <a:r>
              <a:rPr spc="-5"/>
              <a:t> </a:t>
            </a:r>
            <a:r>
              <a:t>attacker</a:t>
            </a:r>
            <a:r>
              <a:rPr spc="-15"/>
              <a:t> </a:t>
            </a:r>
            <a:r>
              <a:t>creates</a:t>
            </a:r>
            <a:r>
              <a:rPr spc="-15"/>
              <a:t> </a:t>
            </a:r>
            <a:r>
              <a:t>a</a:t>
            </a:r>
            <a:r>
              <a:rPr spc="-5"/>
              <a:t> </a:t>
            </a:r>
            <a:r>
              <a:t>fake</a:t>
            </a:r>
            <a:r>
              <a:rPr spc="-10"/>
              <a:t> </a:t>
            </a:r>
            <a:r>
              <a:t>link</a:t>
            </a:r>
            <a:r>
              <a:rPr spc="-15"/>
              <a:t> </a:t>
            </a:r>
            <a:r>
              <a:t>or</a:t>
            </a:r>
            <a:r>
              <a:rPr spc="-10"/>
              <a:t> </a:t>
            </a:r>
            <a:r>
              <a:t>website</a:t>
            </a:r>
            <a:r>
              <a:rPr spc="-10"/>
              <a:t> </a:t>
            </a:r>
            <a:r>
              <a:t>that</a:t>
            </a:r>
            <a:r>
              <a:rPr spc="-15"/>
              <a:t> </a:t>
            </a:r>
            <a:r>
              <a:t>looks</a:t>
            </a:r>
            <a:r>
              <a:rPr spc="-10"/>
              <a:t> </a:t>
            </a:r>
            <a:r>
              <a:t>genuine</a:t>
            </a:r>
            <a:r>
              <a:rPr spc="-10"/>
              <a:t> </a:t>
            </a:r>
            <a:r>
              <a:t>and</a:t>
            </a:r>
            <a:r>
              <a:rPr spc="-10"/>
              <a:t> </a:t>
            </a:r>
            <a:r>
              <a:t>tries</a:t>
            </a:r>
            <a:r>
              <a:rPr spc="-10"/>
              <a:t> </a:t>
            </a:r>
            <a:r>
              <a:t>to</a:t>
            </a:r>
            <a:r>
              <a:rPr spc="-10"/>
              <a:t> steal </a:t>
            </a:r>
            <a:r>
              <a:t>information</a:t>
            </a:r>
            <a:r>
              <a:rPr spc="-25"/>
              <a:t> </a:t>
            </a:r>
            <a:r>
              <a:t>such</a:t>
            </a:r>
            <a:r>
              <a:rPr spc="-20"/>
              <a:t> </a:t>
            </a:r>
            <a:r>
              <a:t>as</a:t>
            </a:r>
            <a:r>
              <a:rPr spc="-30"/>
              <a:t> </a:t>
            </a:r>
            <a:r>
              <a:t>usernames,</a:t>
            </a:r>
            <a:r>
              <a:rPr spc="-25"/>
              <a:t> </a:t>
            </a:r>
            <a:r>
              <a:t>passwords</a:t>
            </a:r>
            <a:r>
              <a:rPr spc="-25"/>
              <a:t> </a:t>
            </a:r>
            <a:r>
              <a:t>or</a:t>
            </a:r>
            <a:r>
              <a:rPr spc="-30"/>
              <a:t> </a:t>
            </a:r>
            <a:r>
              <a:t>banking</a:t>
            </a:r>
            <a:r>
              <a:rPr spc="-20"/>
              <a:t> </a:t>
            </a:r>
            <a:r>
              <a:rPr spc="-10"/>
              <a:t>details.</a:t>
            </a:r>
          </a:p>
          <a:p>
            <a:pPr>
              <a:spcBef>
                <a:spcPts val="100"/>
              </a:spcBef>
              <a:buSzPct val="100000"/>
              <a:buAutoNum type="arabicPeriod" startAt="1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12699" marR="8889" indent="-8889">
              <a:lnSpc>
                <a:spcPct val="101899"/>
              </a:lnSpc>
              <a:buSzPct val="91666"/>
              <a:buAutoNum type="arabicPeriod" startAt="2"/>
              <a:tabLst>
                <a:tab pos="190500" algn="l"/>
              </a:tabLst>
              <a:defRPr>
                <a:latin typeface="Arial"/>
                <a:ea typeface="Arial"/>
                <a:cs typeface="Arial"/>
                <a:sym typeface="Arial"/>
              </a:defRPr>
            </a:pPr>
            <a:r>
              <a:t>The</a:t>
            </a:r>
            <a:r>
              <a:rPr spc="-10"/>
              <a:t> </a:t>
            </a:r>
            <a:r>
              <a:t>problem</a:t>
            </a:r>
            <a:r>
              <a:rPr spc="-15"/>
              <a:t> </a:t>
            </a:r>
            <a:r>
              <a:t>with</a:t>
            </a:r>
            <a:r>
              <a:rPr spc="-5"/>
              <a:t> </a:t>
            </a:r>
            <a:r>
              <a:t>traditional</a:t>
            </a:r>
            <a:r>
              <a:rPr spc="-10"/>
              <a:t> blacklist-</a:t>
            </a:r>
            <a:r>
              <a:t>based</a:t>
            </a:r>
            <a:r>
              <a:rPr spc="-10"/>
              <a:t> </a:t>
            </a:r>
            <a:r>
              <a:t>systems</a:t>
            </a:r>
            <a:r>
              <a:rPr spc="-10"/>
              <a:t> </a:t>
            </a:r>
            <a:r>
              <a:t>is</a:t>
            </a:r>
            <a:r>
              <a:rPr spc="-15"/>
              <a:t> </a:t>
            </a:r>
            <a:r>
              <a:t>that</a:t>
            </a:r>
            <a:r>
              <a:rPr spc="-15"/>
              <a:t> </a:t>
            </a:r>
            <a:r>
              <a:t>they</a:t>
            </a:r>
            <a:r>
              <a:rPr spc="-10"/>
              <a:t> </a:t>
            </a:r>
            <a:r>
              <a:t>mainly</a:t>
            </a:r>
            <a:r>
              <a:rPr spc="-15"/>
              <a:t> </a:t>
            </a:r>
            <a:r>
              <a:t>know</a:t>
            </a:r>
            <a:r>
              <a:rPr spc="-15"/>
              <a:t> </a:t>
            </a:r>
            <a:r>
              <a:t>about</a:t>
            </a:r>
            <a:r>
              <a:rPr spc="-10"/>
              <a:t> </a:t>
            </a:r>
            <a:r>
              <a:t>phishing</a:t>
            </a:r>
            <a:r>
              <a:rPr spc="-10"/>
              <a:t> </a:t>
            </a:r>
            <a:r>
              <a:t>URLs</a:t>
            </a:r>
            <a:r>
              <a:rPr spc="-10"/>
              <a:t> </a:t>
            </a:r>
            <a:r>
              <a:t>that</a:t>
            </a:r>
            <a:r>
              <a:rPr spc="-15"/>
              <a:t> </a:t>
            </a:r>
            <a:r>
              <a:rPr spc="-20"/>
              <a:t>have </a:t>
            </a:r>
            <a:r>
              <a:t>already</a:t>
            </a:r>
            <a:r>
              <a:rPr spc="-10"/>
              <a:t> </a:t>
            </a:r>
            <a:r>
              <a:t>been</a:t>
            </a:r>
            <a:r>
              <a:rPr spc="-5"/>
              <a:t> </a:t>
            </a:r>
            <a:r>
              <a:rPr spc="-10"/>
              <a:t>reported.</a:t>
            </a:r>
          </a:p>
          <a:p>
            <a:pPr>
              <a:spcBef>
                <a:spcPts val="100"/>
              </a:spcBef>
              <a:buSzPct val="100000"/>
              <a:buAutoNum type="arabicPeriod" startAt="2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12699" marR="5080" indent="-8889">
              <a:lnSpc>
                <a:spcPct val="101899"/>
              </a:lnSpc>
              <a:buSzPct val="91666"/>
              <a:buAutoNum type="arabicPeriod" startAt="3"/>
              <a:tabLst>
                <a:tab pos="190500" algn="l"/>
              </a:tabLst>
              <a:defRPr>
                <a:latin typeface="Arial"/>
                <a:ea typeface="Arial"/>
                <a:cs typeface="Arial"/>
                <a:sym typeface="Arial"/>
              </a:defRPr>
            </a:pPr>
            <a:r>
              <a:t>For</a:t>
            </a:r>
            <a:r>
              <a:rPr spc="-20"/>
              <a:t> </a:t>
            </a:r>
            <a:r>
              <a:t>example,</a:t>
            </a:r>
            <a:r>
              <a:rPr spc="-20"/>
              <a:t> </a:t>
            </a:r>
            <a:r>
              <a:t>imagine</a:t>
            </a:r>
            <a:r>
              <a:rPr spc="-15"/>
              <a:t> </a:t>
            </a:r>
            <a:r>
              <a:t>an</a:t>
            </a:r>
            <a:r>
              <a:rPr spc="-15"/>
              <a:t> </a:t>
            </a:r>
            <a:r>
              <a:t>attacker</a:t>
            </a:r>
            <a:r>
              <a:rPr spc="-20"/>
              <a:t> </a:t>
            </a:r>
            <a:r>
              <a:t>creates</a:t>
            </a:r>
            <a:r>
              <a:rPr spc="-20"/>
              <a:t> </a:t>
            </a:r>
            <a:r>
              <a:t>a</a:t>
            </a:r>
            <a:r>
              <a:rPr spc="-15"/>
              <a:t> </a:t>
            </a:r>
            <a:r>
              <a:t>completely</a:t>
            </a:r>
            <a:r>
              <a:rPr spc="-15"/>
              <a:t> </a:t>
            </a:r>
            <a:r>
              <a:t>new</a:t>
            </a:r>
            <a:r>
              <a:rPr spc="-20"/>
              <a:t> </a:t>
            </a:r>
            <a:r>
              <a:t>phishing</a:t>
            </a:r>
            <a:r>
              <a:rPr spc="-15"/>
              <a:t> </a:t>
            </a:r>
            <a:r>
              <a:t>URL</a:t>
            </a:r>
            <a:r>
              <a:rPr spc="-85"/>
              <a:t> </a:t>
            </a:r>
            <a:r>
              <a:rPr spc="-10"/>
              <a:t>today.</a:t>
            </a:r>
            <a:r>
              <a:rPr spc="-15"/>
              <a:t> </a:t>
            </a:r>
            <a:r>
              <a:t>Since</a:t>
            </a:r>
            <a:r>
              <a:rPr spc="-15"/>
              <a:t> </a:t>
            </a:r>
            <a:r>
              <a:t>that</a:t>
            </a:r>
            <a:r>
              <a:rPr spc="-20"/>
              <a:t> </a:t>
            </a:r>
            <a:r>
              <a:t>URL</a:t>
            </a:r>
            <a:r>
              <a:rPr spc="-85"/>
              <a:t> </a:t>
            </a:r>
            <a:r>
              <a:t>may</a:t>
            </a:r>
            <a:r>
              <a:rPr spc="-15"/>
              <a:t> </a:t>
            </a:r>
            <a:r>
              <a:t>not</a:t>
            </a:r>
            <a:r>
              <a:rPr spc="-20"/>
              <a:t> </a:t>
            </a:r>
            <a:r>
              <a:rPr spc="-25"/>
              <a:t>yet </a:t>
            </a:r>
            <a:r>
              <a:t>be</a:t>
            </a:r>
            <a:r>
              <a:rPr spc="-30"/>
              <a:t> </a:t>
            </a:r>
            <a:r>
              <a:t>present</a:t>
            </a:r>
            <a:r>
              <a:rPr spc="-20"/>
              <a:t> </a:t>
            </a:r>
            <a:r>
              <a:t>in</a:t>
            </a:r>
            <a:r>
              <a:rPr spc="-15"/>
              <a:t> </a:t>
            </a:r>
            <a:r>
              <a:t>the</a:t>
            </a:r>
            <a:r>
              <a:rPr spc="-20"/>
              <a:t> </a:t>
            </a:r>
            <a:r>
              <a:t>blacklist,</a:t>
            </a:r>
            <a:r>
              <a:rPr spc="-20"/>
              <a:t> </a:t>
            </a:r>
            <a:r>
              <a:t>the</a:t>
            </a:r>
            <a:r>
              <a:rPr spc="-15"/>
              <a:t> </a:t>
            </a:r>
            <a:r>
              <a:t>system</a:t>
            </a:r>
            <a:r>
              <a:rPr spc="-20"/>
              <a:t> </a:t>
            </a:r>
            <a:r>
              <a:t>may</a:t>
            </a:r>
            <a:r>
              <a:rPr spc="-25"/>
              <a:t> </a:t>
            </a:r>
            <a:r>
              <a:t>not</a:t>
            </a:r>
            <a:r>
              <a:rPr spc="-20"/>
              <a:t> </a:t>
            </a:r>
            <a:r>
              <a:t>immediately</a:t>
            </a:r>
            <a:r>
              <a:rPr spc="-20"/>
              <a:t> </a:t>
            </a:r>
            <a:r>
              <a:t>recognise</a:t>
            </a:r>
            <a:r>
              <a:rPr spc="-15"/>
              <a:t> </a:t>
            </a:r>
            <a:r>
              <a:rPr spc="-25"/>
              <a:t>it.</a:t>
            </a:r>
          </a:p>
          <a:p>
            <a:pPr>
              <a:buSzPct val="100000"/>
              <a:buAutoNum type="arabicPeriod" startAt="3"/>
              <a:defRPr>
                <a:latin typeface="Arial"/>
                <a:ea typeface="Arial"/>
                <a:cs typeface="Arial"/>
                <a:sym typeface="Arial"/>
              </a:defRPr>
            </a:pPr>
          </a:p>
          <a:p>
            <a:pPr marL="12700" marR="661034" indent="-9525">
              <a:lnSpc>
                <a:spcPct val="106500"/>
              </a:lnSpc>
              <a:buSzPct val="91666"/>
              <a:buAutoNum type="arabicPeriod" startAt="4"/>
              <a:tabLst>
                <a:tab pos="1778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</a:t>
            </a:r>
            <a:r>
              <a:rPr spc="-30"/>
              <a:t> </a:t>
            </a:r>
            <a:r>
              <a:t>instead</a:t>
            </a:r>
            <a:r>
              <a:rPr spc="-25"/>
              <a:t> </a:t>
            </a:r>
            <a:r>
              <a:t>of</a:t>
            </a:r>
            <a:r>
              <a:rPr spc="-25"/>
              <a:t> </a:t>
            </a:r>
            <a:r>
              <a:t>checking</a:t>
            </a:r>
            <a:r>
              <a:rPr spc="-25"/>
              <a:t> </a:t>
            </a:r>
            <a:r>
              <a:t>only</a:t>
            </a:r>
            <a:r>
              <a:rPr spc="-30"/>
              <a:t> </a:t>
            </a:r>
            <a:r>
              <a:t>whether</a:t>
            </a:r>
            <a:r>
              <a:rPr spc="-25"/>
              <a:t> </a:t>
            </a:r>
            <a:r>
              <a:t>a</a:t>
            </a:r>
            <a:r>
              <a:rPr spc="-30"/>
              <a:t> </a:t>
            </a:r>
            <a:r>
              <a:t>URL</a:t>
            </a:r>
            <a:r>
              <a:rPr spc="-90"/>
              <a:t> </a:t>
            </a:r>
            <a:r>
              <a:t>is</a:t>
            </a:r>
            <a:r>
              <a:rPr spc="-25"/>
              <a:t> </a:t>
            </a:r>
            <a:r>
              <a:t>already</a:t>
            </a:r>
            <a:r>
              <a:rPr spc="-30"/>
              <a:t> </a:t>
            </a:r>
            <a:r>
              <a:t>known,</a:t>
            </a:r>
            <a:r>
              <a:rPr spc="-25"/>
              <a:t> </a:t>
            </a:r>
            <a:r>
              <a:t>our</a:t>
            </a:r>
            <a:r>
              <a:rPr spc="-25"/>
              <a:t> </a:t>
            </a:r>
            <a:r>
              <a:t>idea</a:t>
            </a:r>
            <a:r>
              <a:rPr spc="-30"/>
              <a:t> </a:t>
            </a:r>
            <a:r>
              <a:t>is</a:t>
            </a:r>
            <a:r>
              <a:rPr spc="-25"/>
              <a:t> </a:t>
            </a:r>
            <a:r>
              <a:t>to</a:t>
            </a:r>
            <a:r>
              <a:rPr spc="-30"/>
              <a:t> </a:t>
            </a:r>
            <a:r>
              <a:t>use</a:t>
            </a:r>
            <a:r>
              <a:rPr spc="-30"/>
              <a:t> </a:t>
            </a:r>
            <a:r>
              <a:t>Machine</a:t>
            </a:r>
            <a:r>
              <a:rPr spc="-30"/>
              <a:t> </a:t>
            </a:r>
            <a:r>
              <a:t>Learning</a:t>
            </a:r>
            <a:r>
              <a:rPr spc="-25"/>
              <a:t> </a:t>
            </a:r>
            <a:r>
              <a:t>to</a:t>
            </a:r>
            <a:r>
              <a:rPr spc="-25"/>
              <a:t> </a:t>
            </a:r>
            <a:r>
              <a:t>analyse</a:t>
            </a:r>
            <a:r>
              <a:rPr spc="-30"/>
              <a:t> </a:t>
            </a:r>
            <a:r>
              <a:rPr spc="-25"/>
              <a:t>the </a:t>
            </a:r>
            <a:r>
              <a:rPr b="1" spc="-10"/>
              <a:t>characteristics</a:t>
            </a:r>
            <a:r>
              <a:rPr b="1" spc="-30"/>
              <a:t> </a:t>
            </a:r>
            <a:r>
              <a:rPr b="1"/>
              <a:t>of</a:t>
            </a:r>
            <a:r>
              <a:rPr b="1" spc="-20"/>
              <a:t> </a:t>
            </a:r>
            <a:r>
              <a:rPr b="1"/>
              <a:t>the</a:t>
            </a:r>
            <a:r>
              <a:rPr b="1" spc="-25"/>
              <a:t> </a:t>
            </a:r>
            <a:r>
              <a:rPr b="1"/>
              <a:t>URL</a:t>
            </a:r>
            <a:r>
              <a:rPr b="1" spc="-110"/>
              <a:t> </a:t>
            </a:r>
            <a:r>
              <a:rPr b="1"/>
              <a:t>and</a:t>
            </a:r>
            <a:r>
              <a:rPr b="1" spc="-25"/>
              <a:t> </a:t>
            </a:r>
            <a:r>
              <a:rPr b="1"/>
              <a:t>domain</a:t>
            </a:r>
            <a:r>
              <a:rPr b="1" spc="-25"/>
              <a:t> </a:t>
            </a:r>
            <a:r>
              <a:t>and</a:t>
            </a:r>
            <a:r>
              <a:rPr spc="-20"/>
              <a:t> </a:t>
            </a:r>
            <a:r>
              <a:t>decide</a:t>
            </a:r>
            <a:r>
              <a:rPr spc="-25"/>
              <a:t> </a:t>
            </a:r>
            <a:r>
              <a:t>whether</a:t>
            </a:r>
            <a:r>
              <a:rPr spc="-20"/>
              <a:t> </a:t>
            </a:r>
            <a:r>
              <a:t>it</a:t>
            </a:r>
            <a:r>
              <a:rPr spc="-30"/>
              <a:t> </a:t>
            </a:r>
            <a:r>
              <a:t>behaves</a:t>
            </a:r>
            <a:r>
              <a:rPr spc="-20"/>
              <a:t> </a:t>
            </a:r>
            <a:r>
              <a:t>like</a:t>
            </a:r>
            <a:r>
              <a:rPr spc="-25"/>
              <a:t> </a:t>
            </a:r>
            <a:r>
              <a:t>a</a:t>
            </a:r>
            <a:r>
              <a:rPr spc="-25"/>
              <a:t> </a:t>
            </a:r>
            <a:r>
              <a:t>phishing</a:t>
            </a:r>
            <a:r>
              <a:rPr spc="-20"/>
              <a:t> URL.</a:t>
            </a:r>
          </a:p>
          <a:p>
            <a:pPr>
              <a:spcBef>
                <a:spcPts val="200"/>
              </a:spcBef>
              <a:buSzPct val="100000"/>
              <a:buAutoNum type="arabicPeriod" startAt="4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2699" marR="598169" indent="-8889">
              <a:lnSpc>
                <a:spcPct val="101899"/>
              </a:lnSpc>
              <a:buSzPct val="91666"/>
              <a:buAutoNum type="arabicPeriod" startAt="5"/>
              <a:tabLst>
                <a:tab pos="190500" algn="l"/>
              </a:tabLst>
              <a:defRPr>
                <a:latin typeface="Arial"/>
                <a:ea typeface="Arial"/>
                <a:cs typeface="Arial"/>
                <a:sym typeface="Arial"/>
              </a:defRPr>
            </a:pPr>
            <a:r>
              <a:t>We</a:t>
            </a:r>
            <a:r>
              <a:rPr spc="-40"/>
              <a:t> </a:t>
            </a:r>
            <a:r>
              <a:t>will</a:t>
            </a:r>
            <a:r>
              <a:rPr spc="-34"/>
              <a:t> </a:t>
            </a:r>
            <a:r>
              <a:t>initially</a:t>
            </a:r>
            <a:r>
              <a:rPr spc="-40"/>
              <a:t> </a:t>
            </a:r>
            <a:r>
              <a:t>use</a:t>
            </a:r>
            <a:r>
              <a:rPr spc="-40"/>
              <a:t> </a:t>
            </a:r>
            <a:r>
              <a:rPr b="1"/>
              <a:t>Random</a:t>
            </a:r>
            <a:r>
              <a:rPr b="1" spc="-34"/>
              <a:t> </a:t>
            </a:r>
            <a:r>
              <a:rPr b="1"/>
              <a:t>Forest,</a:t>
            </a:r>
            <a:r>
              <a:rPr b="1" spc="-40"/>
              <a:t> </a:t>
            </a:r>
            <a:r>
              <a:rPr b="1"/>
              <a:t>Decision</a:t>
            </a:r>
            <a:r>
              <a:rPr b="1" spc="-40"/>
              <a:t> </a:t>
            </a:r>
            <a:r>
              <a:rPr b="1"/>
              <a:t>Tree</a:t>
            </a:r>
            <a:r>
              <a:rPr b="1" spc="-34"/>
              <a:t> </a:t>
            </a:r>
            <a:r>
              <a:rPr b="1"/>
              <a:t>and</a:t>
            </a:r>
            <a:r>
              <a:rPr b="1" spc="-40"/>
              <a:t> </a:t>
            </a:r>
            <a:r>
              <a:rPr b="1"/>
              <a:t>SVM</a:t>
            </a:r>
            <a:r>
              <a:t>,</a:t>
            </a:r>
            <a:r>
              <a:rPr spc="-40"/>
              <a:t> </a:t>
            </a:r>
            <a:r>
              <a:t>following</a:t>
            </a:r>
            <a:r>
              <a:rPr spc="-34"/>
              <a:t> </a:t>
            </a:r>
            <a:r>
              <a:t>our</a:t>
            </a:r>
            <a:r>
              <a:rPr spc="-40"/>
              <a:t> </a:t>
            </a:r>
            <a:r>
              <a:t>reference</a:t>
            </a:r>
            <a:r>
              <a:rPr spc="-34"/>
              <a:t> </a:t>
            </a:r>
            <a:r>
              <a:t>paper,</a:t>
            </a:r>
            <a:r>
              <a:rPr spc="-40"/>
              <a:t> </a:t>
            </a:r>
            <a:r>
              <a:t>and</a:t>
            </a:r>
            <a:r>
              <a:rPr spc="-34"/>
              <a:t> </a:t>
            </a:r>
            <a:r>
              <a:rPr spc="-20"/>
              <a:t>then </a:t>
            </a:r>
            <a:r>
              <a:t>investigate</a:t>
            </a:r>
            <a:r>
              <a:rPr spc="-20"/>
              <a:t> </a:t>
            </a:r>
            <a:r>
              <a:t>whether</a:t>
            </a:r>
            <a:r>
              <a:rPr spc="-20"/>
              <a:t> </a:t>
            </a:r>
            <a:r>
              <a:t>feature</a:t>
            </a:r>
            <a:r>
              <a:rPr spc="-15"/>
              <a:t> </a:t>
            </a:r>
            <a:r>
              <a:t>engineering</a:t>
            </a:r>
            <a:r>
              <a:rPr spc="-20"/>
              <a:t> </a:t>
            </a:r>
            <a:r>
              <a:t>and</a:t>
            </a:r>
            <a:r>
              <a:rPr spc="-15"/>
              <a:t> </a:t>
            </a:r>
            <a:r>
              <a:t>stronger</a:t>
            </a:r>
            <a:r>
              <a:rPr spc="-20"/>
              <a:t> </a:t>
            </a:r>
            <a:r>
              <a:t>model</a:t>
            </a:r>
            <a:r>
              <a:rPr spc="-15"/>
              <a:t> </a:t>
            </a:r>
            <a:r>
              <a:t>optimisation</a:t>
            </a:r>
            <a:r>
              <a:rPr spc="-20"/>
              <a:t> </a:t>
            </a:r>
            <a:r>
              <a:t>can</a:t>
            </a:r>
            <a:r>
              <a:rPr spc="-15"/>
              <a:t> </a:t>
            </a:r>
            <a:r>
              <a:t>improve</a:t>
            </a:r>
            <a:r>
              <a:rPr spc="-15"/>
              <a:t> </a:t>
            </a:r>
            <a:r>
              <a:rPr spc="-10"/>
              <a:t>detection.”</a:t>
            </a:r>
          </a:p>
        </p:txBody>
      </p:sp>
      <p:sp>
        <p:nvSpPr>
          <p:cNvPr id="90" name="object 8"/>
          <p:cNvSpPr txBox="1"/>
          <p:nvPr>
            <p:ph type="sldNum" sz="quarter" idx="4294967295"/>
          </p:nvPr>
        </p:nvSpPr>
        <p:spPr>
          <a:xfrm>
            <a:off x="11347601" y="6497318"/>
            <a:ext cx="146833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Introduction</a:t>
            </a:r>
          </a:p>
        </p:txBody>
      </p:sp>
      <p:sp>
        <p:nvSpPr>
          <p:cNvPr id="93" name="object 3"/>
          <p:cNvSpPr txBox="1"/>
          <p:nvPr/>
        </p:nvSpPr>
        <p:spPr>
          <a:xfrm>
            <a:off x="11504638" y="338333"/>
            <a:ext cx="16700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50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4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object 6"/>
          <p:cNvSpPr txBox="1"/>
          <p:nvPr/>
        </p:nvSpPr>
        <p:spPr>
          <a:xfrm>
            <a:off x="537647" y="1078758"/>
            <a:ext cx="5269230" cy="1027622"/>
          </a:xfrm>
          <a:prstGeom prst="rect">
            <a:avLst/>
          </a:prstGeom>
          <a:solidFill>
            <a:srgbClr val="FFF3CD"/>
          </a:solidFill>
          <a:ln w="12700">
            <a:solidFill>
              <a:srgbClr val="B7CDD9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7620">
              <a:defRPr b="1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Why</a:t>
            </a:r>
            <a:r>
              <a:rPr spc="-20"/>
              <a:t> </a:t>
            </a:r>
            <a:r>
              <a:t>phishing</a:t>
            </a:r>
            <a:r>
              <a:rPr spc="-25"/>
              <a:t> </a:t>
            </a:r>
            <a:r>
              <a:t>detection</a:t>
            </a:r>
            <a:r>
              <a:rPr spc="-25"/>
              <a:t> </a:t>
            </a:r>
            <a:r>
              <a:rPr spc="-10"/>
              <a:t>matters</a:t>
            </a:r>
          </a:p>
          <a:p>
            <a:pPr marR="113664" indent="7620">
              <a:lnSpc>
                <a:spcPct val="101200"/>
              </a:lnSpc>
              <a:defRPr sz="14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Users</a:t>
            </a:r>
            <a:r>
              <a:rPr spc="-15"/>
              <a:t> </a:t>
            </a:r>
            <a:r>
              <a:t>receive</a:t>
            </a:r>
            <a:r>
              <a:rPr spc="-15"/>
              <a:t> </a:t>
            </a:r>
            <a:r>
              <a:t>fake</a:t>
            </a:r>
            <a:r>
              <a:rPr spc="-15"/>
              <a:t> </a:t>
            </a:r>
            <a:r>
              <a:t>links</a:t>
            </a:r>
            <a:r>
              <a:rPr spc="-15"/>
              <a:t> </a:t>
            </a:r>
            <a:r>
              <a:t>through</a:t>
            </a:r>
            <a:r>
              <a:rPr spc="-15"/>
              <a:t> </a:t>
            </a:r>
            <a:r>
              <a:t>email,</a:t>
            </a:r>
            <a:r>
              <a:rPr spc="-15"/>
              <a:t> </a:t>
            </a:r>
            <a:r>
              <a:t>SMS,</a:t>
            </a:r>
            <a:r>
              <a:rPr spc="-20"/>
              <a:t> </a:t>
            </a:r>
            <a:r>
              <a:t>social</a:t>
            </a:r>
            <a:r>
              <a:rPr spc="-15"/>
              <a:t> </a:t>
            </a:r>
            <a:r>
              <a:t>media</a:t>
            </a:r>
            <a:r>
              <a:rPr spc="-15"/>
              <a:t> </a:t>
            </a:r>
            <a:r>
              <a:rPr spc="-25"/>
              <a:t>and </a:t>
            </a:r>
            <a:r>
              <a:t>web</a:t>
            </a:r>
            <a:r>
              <a:rPr spc="-15"/>
              <a:t> </a:t>
            </a:r>
            <a:r>
              <a:t>pages.</a:t>
            </a:r>
            <a:r>
              <a:rPr spc="-94"/>
              <a:t> </a:t>
            </a:r>
            <a:r>
              <a:t>A</a:t>
            </a:r>
            <a:r>
              <a:rPr spc="-90"/>
              <a:t> </a:t>
            </a:r>
            <a:r>
              <a:t>single</a:t>
            </a:r>
            <a:r>
              <a:rPr spc="-15"/>
              <a:t> </a:t>
            </a:r>
            <a:r>
              <a:t>wrong</a:t>
            </a:r>
            <a:r>
              <a:rPr spc="-15"/>
              <a:t> </a:t>
            </a:r>
            <a:r>
              <a:t>click</a:t>
            </a:r>
            <a:r>
              <a:rPr spc="-15"/>
              <a:t> </a:t>
            </a:r>
            <a:r>
              <a:t>can</a:t>
            </a:r>
            <a:r>
              <a:rPr spc="-15"/>
              <a:t> </a:t>
            </a:r>
            <a:r>
              <a:t>expose</a:t>
            </a:r>
            <a:r>
              <a:rPr spc="-15"/>
              <a:t> </a:t>
            </a:r>
            <a:r>
              <a:t>passwords,</a:t>
            </a:r>
            <a:r>
              <a:rPr spc="-20"/>
              <a:t> </a:t>
            </a:r>
            <a:r>
              <a:rPr spc="-10"/>
              <a:t>payment </a:t>
            </a:r>
            <a:r>
              <a:t>data</a:t>
            </a:r>
            <a:r>
              <a:rPr spc="-5"/>
              <a:t> </a:t>
            </a:r>
            <a:r>
              <a:t>and</a:t>
            </a:r>
            <a:r>
              <a:rPr spc="-5"/>
              <a:t> </a:t>
            </a:r>
            <a:r>
              <a:t>personal</a:t>
            </a:r>
            <a:r>
              <a:rPr spc="-5"/>
              <a:t> </a:t>
            </a:r>
            <a:r>
              <a:rPr spc="-10"/>
              <a:t>information.</a:t>
            </a:r>
          </a:p>
        </p:txBody>
      </p:sp>
      <p:sp>
        <p:nvSpPr>
          <p:cNvPr id="97" name="object 7"/>
          <p:cNvSpPr txBox="1"/>
          <p:nvPr/>
        </p:nvSpPr>
        <p:spPr>
          <a:xfrm>
            <a:off x="6224182" y="1074594"/>
            <a:ext cx="5160646" cy="822052"/>
          </a:xfrm>
          <a:prstGeom prst="rect">
            <a:avLst/>
          </a:prstGeom>
          <a:solidFill>
            <a:srgbClr val="F8D7DA"/>
          </a:solidFill>
          <a:ln w="12700">
            <a:solidFill>
              <a:srgbClr val="B7CDD9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7620">
              <a:defRPr b="1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Limitation</a:t>
            </a:r>
            <a:r>
              <a:rPr spc="-20"/>
              <a:t> </a:t>
            </a:r>
            <a:r>
              <a:t>of</a:t>
            </a:r>
            <a:r>
              <a:rPr spc="-15"/>
              <a:t> </a:t>
            </a:r>
            <a:r>
              <a:t>blacklist</a:t>
            </a:r>
            <a:r>
              <a:rPr spc="-20"/>
              <a:t> </a:t>
            </a:r>
            <a:r>
              <a:rPr spc="-10"/>
              <a:t>methods</a:t>
            </a:r>
          </a:p>
          <a:p>
            <a:pPr marR="281940" indent="7620">
              <a:lnSpc>
                <a:spcPct val="101200"/>
              </a:lnSpc>
              <a:defRPr sz="14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Blacklist</a:t>
            </a:r>
            <a:r>
              <a:rPr spc="-20"/>
              <a:t> </a:t>
            </a:r>
            <a:r>
              <a:t>systems</a:t>
            </a:r>
            <a:r>
              <a:rPr spc="-15"/>
              <a:t> </a:t>
            </a:r>
            <a:r>
              <a:t>identify</a:t>
            </a:r>
            <a:r>
              <a:rPr spc="-10"/>
              <a:t> </a:t>
            </a:r>
            <a:r>
              <a:t>known</a:t>
            </a:r>
            <a:r>
              <a:rPr spc="-15"/>
              <a:t> </a:t>
            </a:r>
            <a:r>
              <a:t>bad</a:t>
            </a:r>
            <a:r>
              <a:rPr spc="-10"/>
              <a:t> </a:t>
            </a:r>
            <a:r>
              <a:t>URLs,</a:t>
            </a:r>
            <a:r>
              <a:rPr spc="-20"/>
              <a:t> </a:t>
            </a:r>
            <a:r>
              <a:t>but</a:t>
            </a:r>
            <a:r>
              <a:rPr spc="-15"/>
              <a:t> </a:t>
            </a:r>
            <a:r>
              <a:t>newly</a:t>
            </a:r>
            <a:r>
              <a:rPr spc="-15"/>
              <a:t> </a:t>
            </a:r>
            <a:r>
              <a:rPr spc="-10"/>
              <a:t>created </a:t>
            </a:r>
            <a:r>
              <a:t>phishing</a:t>
            </a:r>
            <a:r>
              <a:rPr spc="-10"/>
              <a:t> </a:t>
            </a:r>
            <a:r>
              <a:t>URLs</a:t>
            </a:r>
            <a:r>
              <a:rPr spc="-5"/>
              <a:t> </a:t>
            </a:r>
            <a:r>
              <a:t>may</a:t>
            </a:r>
            <a:r>
              <a:rPr spc="-5"/>
              <a:t> </a:t>
            </a:r>
            <a:r>
              <a:t>not</a:t>
            </a:r>
            <a:r>
              <a:rPr spc="-10"/>
              <a:t> </a:t>
            </a:r>
            <a:r>
              <a:t>be</a:t>
            </a:r>
            <a:r>
              <a:rPr spc="-10"/>
              <a:t> </a:t>
            </a:r>
            <a:r>
              <a:t>present</a:t>
            </a:r>
            <a:r>
              <a:rPr spc="-10"/>
              <a:t> </a:t>
            </a:r>
            <a:r>
              <a:t>in</a:t>
            </a:r>
            <a:r>
              <a:rPr spc="-5"/>
              <a:t> </a:t>
            </a:r>
            <a:r>
              <a:t>any</a:t>
            </a:r>
            <a:r>
              <a:rPr spc="-5"/>
              <a:t> </a:t>
            </a:r>
            <a:r>
              <a:rPr spc="-10"/>
              <a:t>database.</a:t>
            </a:r>
          </a:p>
        </p:txBody>
      </p:sp>
      <p:sp>
        <p:nvSpPr>
          <p:cNvPr id="98" name="object 8"/>
          <p:cNvSpPr txBox="1"/>
          <p:nvPr/>
        </p:nvSpPr>
        <p:spPr>
          <a:xfrm>
            <a:off x="777240" y="3063238"/>
            <a:ext cx="1691640" cy="400999"/>
          </a:xfrm>
          <a:prstGeom prst="rect">
            <a:avLst/>
          </a:prstGeom>
          <a:solidFill>
            <a:srgbClr val="DDEEFF"/>
          </a:solidFill>
          <a:ln w="12700">
            <a:solidFill>
              <a:srgbClr val="A9B8C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452755">
              <a:defRPr b="1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URL</a:t>
            </a:r>
            <a:r>
              <a:rPr spc="-55"/>
              <a:t> </a:t>
            </a:r>
            <a:r>
              <a:rPr spc="-10"/>
              <a:t>Input</a:t>
            </a:r>
          </a:p>
        </p:txBody>
      </p:sp>
      <p:sp>
        <p:nvSpPr>
          <p:cNvPr id="99" name="object 9"/>
          <p:cNvSpPr txBox="1"/>
          <p:nvPr/>
        </p:nvSpPr>
        <p:spPr>
          <a:xfrm>
            <a:off x="2743200" y="3063238"/>
            <a:ext cx="1691639" cy="400999"/>
          </a:xfrm>
          <a:prstGeom prst="rect">
            <a:avLst/>
          </a:prstGeom>
          <a:solidFill>
            <a:srgbClr val="E7F5E8"/>
          </a:solidFill>
          <a:ln w="12700">
            <a:solidFill>
              <a:srgbClr val="A9B8C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20650">
              <a:defRPr b="1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Feature</a:t>
            </a:r>
            <a:r>
              <a:rPr spc="-50"/>
              <a:t> </a:t>
            </a:r>
            <a:r>
              <a:rPr spc="-10"/>
              <a:t>Extraction</a:t>
            </a:r>
          </a:p>
        </p:txBody>
      </p:sp>
      <p:sp>
        <p:nvSpPr>
          <p:cNvPr id="100" name="object 10"/>
          <p:cNvSpPr txBox="1"/>
          <p:nvPr/>
        </p:nvSpPr>
        <p:spPr>
          <a:xfrm>
            <a:off x="5074920" y="3063238"/>
            <a:ext cx="1691640" cy="400999"/>
          </a:xfrm>
          <a:prstGeom prst="rect">
            <a:avLst/>
          </a:prstGeom>
          <a:solidFill>
            <a:srgbClr val="FFF0CC"/>
          </a:solidFill>
          <a:ln w="12700">
            <a:solidFill>
              <a:srgbClr val="A9B8C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333375">
              <a:defRPr b="1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ML</a:t>
            </a:r>
            <a:r>
              <a:rPr spc="-45"/>
              <a:t> </a:t>
            </a:r>
            <a:r>
              <a:rPr spc="-10"/>
              <a:t>Classifier</a:t>
            </a:r>
          </a:p>
        </p:txBody>
      </p:sp>
      <p:sp>
        <p:nvSpPr>
          <p:cNvPr id="101" name="object 11"/>
          <p:cNvSpPr txBox="1"/>
          <p:nvPr/>
        </p:nvSpPr>
        <p:spPr>
          <a:xfrm>
            <a:off x="7315200" y="3063238"/>
            <a:ext cx="1691639" cy="400999"/>
          </a:xfrm>
          <a:prstGeom prst="rect">
            <a:avLst/>
          </a:prstGeom>
          <a:solidFill>
            <a:srgbClr val="EDE7F6"/>
          </a:solidFill>
          <a:ln w="12700">
            <a:solidFill>
              <a:srgbClr val="A9B8C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5240">
              <a:defRPr b="1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Phishing</a:t>
            </a:r>
            <a:r>
              <a:rPr spc="-45"/>
              <a:t> </a:t>
            </a:r>
            <a:r>
              <a:t>/</a:t>
            </a:r>
            <a:r>
              <a:rPr spc="-40"/>
              <a:t> </a:t>
            </a:r>
            <a:r>
              <a:rPr spc="-10"/>
              <a:t>Legitimate</a:t>
            </a:r>
          </a:p>
        </p:txBody>
      </p:sp>
      <p:sp>
        <p:nvSpPr>
          <p:cNvPr id="102" name="object 12"/>
          <p:cNvSpPr txBox="1"/>
          <p:nvPr/>
        </p:nvSpPr>
        <p:spPr>
          <a:xfrm>
            <a:off x="9692640" y="3063238"/>
            <a:ext cx="1691640" cy="400999"/>
          </a:xfrm>
          <a:prstGeom prst="rect">
            <a:avLst/>
          </a:prstGeom>
          <a:solidFill>
            <a:srgbClr val="F8D7DA"/>
          </a:solidFill>
          <a:ln w="12700">
            <a:solidFill>
              <a:srgbClr val="A9B8C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334645">
              <a:defRPr b="1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Action</a:t>
            </a:r>
            <a:r>
              <a:rPr spc="-30"/>
              <a:t> </a:t>
            </a:r>
            <a:r>
              <a:t>/</a:t>
            </a:r>
            <a:r>
              <a:rPr spc="-65"/>
              <a:t> </a:t>
            </a:r>
            <a:r>
              <a:rPr spc="-10"/>
              <a:t>Alert</a:t>
            </a:r>
          </a:p>
        </p:txBody>
      </p:sp>
      <p:grpSp>
        <p:nvGrpSpPr>
          <p:cNvPr id="105" name="object 13"/>
          <p:cNvGrpSpPr/>
          <p:nvPr/>
        </p:nvGrpSpPr>
        <p:grpSpPr>
          <a:xfrm>
            <a:off x="2487166" y="3325266"/>
            <a:ext cx="228602" cy="61163"/>
            <a:chOff x="0" y="0"/>
            <a:chExt cx="228601" cy="61162"/>
          </a:xfrm>
        </p:grpSpPr>
        <p:sp>
          <p:nvSpPr>
            <p:cNvPr id="103" name="object 14"/>
            <p:cNvSpPr/>
            <p:nvPr/>
          </p:nvSpPr>
          <p:spPr>
            <a:xfrm>
              <a:off x="0" y="30579"/>
              <a:ext cx="163205" cy="1"/>
            </a:xfrm>
            <a:prstGeom prst="line">
              <a:avLst/>
            </a:prstGeom>
            <a:noFill/>
            <a:ln w="1524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" name="object 15"/>
            <p:cNvSpPr/>
            <p:nvPr/>
          </p:nvSpPr>
          <p:spPr>
            <a:xfrm>
              <a:off x="167438" y="0"/>
              <a:ext cx="61164" cy="61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8" name="object 16"/>
          <p:cNvGrpSpPr/>
          <p:nvPr/>
        </p:nvGrpSpPr>
        <p:grpSpPr>
          <a:xfrm>
            <a:off x="4480559" y="3325266"/>
            <a:ext cx="548641" cy="61163"/>
            <a:chOff x="0" y="0"/>
            <a:chExt cx="548640" cy="61162"/>
          </a:xfrm>
        </p:grpSpPr>
        <p:sp>
          <p:nvSpPr>
            <p:cNvPr id="106" name="object 17"/>
            <p:cNvSpPr/>
            <p:nvPr/>
          </p:nvSpPr>
          <p:spPr>
            <a:xfrm>
              <a:off x="0" y="30579"/>
              <a:ext cx="483245" cy="1"/>
            </a:xfrm>
            <a:prstGeom prst="line">
              <a:avLst/>
            </a:prstGeom>
            <a:noFill/>
            <a:ln w="1524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7" name="object 18"/>
            <p:cNvSpPr/>
            <p:nvPr/>
          </p:nvSpPr>
          <p:spPr>
            <a:xfrm>
              <a:off x="487477" y="0"/>
              <a:ext cx="61164" cy="61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11" name="object 19"/>
          <p:cNvGrpSpPr/>
          <p:nvPr/>
        </p:nvGrpSpPr>
        <p:grpSpPr>
          <a:xfrm>
            <a:off x="6839709" y="3325266"/>
            <a:ext cx="448058" cy="61163"/>
            <a:chOff x="0" y="0"/>
            <a:chExt cx="448057" cy="61162"/>
          </a:xfrm>
        </p:grpSpPr>
        <p:sp>
          <p:nvSpPr>
            <p:cNvPr id="109" name="object 20"/>
            <p:cNvSpPr/>
            <p:nvPr/>
          </p:nvSpPr>
          <p:spPr>
            <a:xfrm>
              <a:off x="0" y="30579"/>
              <a:ext cx="382663" cy="1"/>
            </a:xfrm>
            <a:prstGeom prst="line">
              <a:avLst/>
            </a:prstGeom>
            <a:noFill/>
            <a:ln w="1524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0" name="object 21"/>
            <p:cNvSpPr/>
            <p:nvPr/>
          </p:nvSpPr>
          <p:spPr>
            <a:xfrm>
              <a:off x="386895" y="0"/>
              <a:ext cx="61163" cy="61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14" name="object 22"/>
          <p:cNvGrpSpPr/>
          <p:nvPr/>
        </p:nvGrpSpPr>
        <p:grpSpPr>
          <a:xfrm>
            <a:off x="9116566" y="3325266"/>
            <a:ext cx="548641" cy="61163"/>
            <a:chOff x="0" y="0"/>
            <a:chExt cx="548640" cy="61162"/>
          </a:xfrm>
        </p:grpSpPr>
        <p:sp>
          <p:nvSpPr>
            <p:cNvPr id="112" name="object 23"/>
            <p:cNvSpPr/>
            <p:nvPr/>
          </p:nvSpPr>
          <p:spPr>
            <a:xfrm>
              <a:off x="0" y="30579"/>
              <a:ext cx="483245" cy="1"/>
            </a:xfrm>
            <a:prstGeom prst="line">
              <a:avLst/>
            </a:prstGeom>
            <a:noFill/>
            <a:ln w="1524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object 24"/>
            <p:cNvSpPr/>
            <p:nvPr/>
          </p:nvSpPr>
          <p:spPr>
            <a:xfrm>
              <a:off x="487477" y="0"/>
              <a:ext cx="61164" cy="61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15" name="object 25"/>
          <p:cNvSpPr txBox="1"/>
          <p:nvPr/>
        </p:nvSpPr>
        <p:spPr>
          <a:xfrm>
            <a:off x="451592" y="4727743"/>
            <a:ext cx="10415907" cy="1140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ts val="1800"/>
              </a:lnSpc>
              <a:spcBef>
                <a:spcPts val="200"/>
              </a:spcBef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t>*</a:t>
            </a:r>
            <a:r>
              <a:rPr sz="1600"/>
              <a:t>Traditional</a:t>
            </a:r>
            <a:r>
              <a:rPr spc="-20" sz="1600"/>
              <a:t> </a:t>
            </a:r>
            <a:r>
              <a:rPr sz="1600"/>
              <a:t>phishing</a:t>
            </a:r>
            <a:r>
              <a:rPr spc="-20" sz="1600"/>
              <a:t> </a:t>
            </a:r>
            <a:r>
              <a:rPr sz="1600"/>
              <a:t>detection</a:t>
            </a:r>
            <a:r>
              <a:rPr spc="-20" sz="1600"/>
              <a:t> </a:t>
            </a:r>
            <a:r>
              <a:rPr sz="1600"/>
              <a:t>methods</a:t>
            </a:r>
            <a:r>
              <a:rPr spc="-25" sz="1600"/>
              <a:t> </a:t>
            </a:r>
            <a:r>
              <a:rPr sz="1600"/>
              <a:t>such</a:t>
            </a:r>
            <a:r>
              <a:rPr spc="-20" sz="1600"/>
              <a:t> </a:t>
            </a:r>
            <a:r>
              <a:rPr sz="1600"/>
              <a:t>as</a:t>
            </a:r>
            <a:r>
              <a:rPr spc="-25" sz="1600"/>
              <a:t> </a:t>
            </a:r>
            <a:r>
              <a:rPr sz="1600"/>
              <a:t>blacklists</a:t>
            </a:r>
            <a:r>
              <a:rPr spc="-25" sz="1600"/>
              <a:t> </a:t>
            </a:r>
            <a:r>
              <a:rPr sz="1600"/>
              <a:t>and</a:t>
            </a:r>
            <a:r>
              <a:rPr spc="-15" sz="1600"/>
              <a:t> </a:t>
            </a:r>
            <a:r>
              <a:rPr spc="-10" sz="1600"/>
              <a:t>rule-</a:t>
            </a:r>
            <a:r>
              <a:rPr sz="1600"/>
              <a:t>based</a:t>
            </a:r>
            <a:r>
              <a:rPr spc="-20" sz="1600"/>
              <a:t> </a:t>
            </a:r>
            <a:r>
              <a:rPr sz="1600"/>
              <a:t>systems</a:t>
            </a:r>
            <a:r>
              <a:rPr spc="-25" sz="1600"/>
              <a:t> </a:t>
            </a:r>
            <a:r>
              <a:rPr sz="1600"/>
              <a:t>mainly</a:t>
            </a:r>
            <a:r>
              <a:rPr spc="-25" sz="1600"/>
              <a:t> </a:t>
            </a:r>
            <a:r>
              <a:rPr sz="1600"/>
              <a:t>identify</a:t>
            </a:r>
            <a:r>
              <a:rPr spc="-25" sz="1600"/>
              <a:t> </a:t>
            </a:r>
            <a:r>
              <a:rPr spc="-10" sz="1600"/>
              <a:t>already-known </a:t>
            </a:r>
            <a:r>
              <a:rPr sz="1600"/>
              <a:t>malicious</a:t>
            </a:r>
            <a:r>
              <a:rPr spc="-30" sz="1600"/>
              <a:t> </a:t>
            </a:r>
            <a:r>
              <a:rPr sz="1600"/>
              <a:t>URLs.</a:t>
            </a:r>
            <a:r>
              <a:rPr spc="-104" sz="1600"/>
              <a:t> </a:t>
            </a:r>
            <a:r>
              <a:rPr sz="1600"/>
              <a:t>Attackers</a:t>
            </a:r>
            <a:r>
              <a:rPr spc="-25" sz="1600"/>
              <a:t> </a:t>
            </a:r>
            <a:r>
              <a:rPr sz="1600"/>
              <a:t>continuously</a:t>
            </a:r>
            <a:r>
              <a:rPr spc="-25" sz="1600"/>
              <a:t> </a:t>
            </a:r>
            <a:r>
              <a:rPr sz="1600"/>
              <a:t>create</a:t>
            </a:r>
            <a:r>
              <a:rPr spc="-20" sz="1600"/>
              <a:t> </a:t>
            </a:r>
            <a:r>
              <a:rPr sz="1600"/>
              <a:t>new</a:t>
            </a:r>
            <a:r>
              <a:rPr spc="-25" sz="1600"/>
              <a:t> </a:t>
            </a:r>
            <a:r>
              <a:rPr sz="1600"/>
              <a:t>or</a:t>
            </a:r>
            <a:r>
              <a:rPr spc="-25" sz="1600"/>
              <a:t> </a:t>
            </a:r>
            <a:r>
              <a:rPr sz="1600"/>
              <a:t>modify</a:t>
            </a:r>
            <a:r>
              <a:rPr spc="-25" sz="1600"/>
              <a:t> </a:t>
            </a:r>
            <a:r>
              <a:rPr sz="1600"/>
              <a:t>existing</a:t>
            </a:r>
            <a:r>
              <a:rPr spc="-20" sz="1600"/>
              <a:t> </a:t>
            </a:r>
            <a:r>
              <a:rPr sz="1600"/>
              <a:t>phishing</a:t>
            </a:r>
            <a:r>
              <a:rPr spc="-20" sz="1600"/>
              <a:t> </a:t>
            </a:r>
            <a:r>
              <a:rPr sz="1600"/>
              <a:t>URLs,</a:t>
            </a:r>
            <a:r>
              <a:rPr spc="-30" sz="1600"/>
              <a:t> </a:t>
            </a:r>
            <a:r>
              <a:rPr sz="1600"/>
              <a:t>so</a:t>
            </a:r>
            <a:r>
              <a:rPr spc="-20" sz="1600"/>
              <a:t> </a:t>
            </a:r>
            <a:r>
              <a:rPr sz="1600"/>
              <a:t>these</a:t>
            </a:r>
            <a:r>
              <a:rPr spc="-20" sz="1600"/>
              <a:t> </a:t>
            </a:r>
            <a:r>
              <a:rPr sz="1600"/>
              <a:t>previously</a:t>
            </a:r>
            <a:r>
              <a:rPr spc="-25" sz="1600"/>
              <a:t> </a:t>
            </a:r>
            <a:r>
              <a:rPr spc="-10" sz="1600"/>
              <a:t>unseen </a:t>
            </a:r>
            <a:r>
              <a:rPr sz="1600"/>
              <a:t>URLs</a:t>
            </a:r>
            <a:r>
              <a:rPr spc="-25" sz="1600"/>
              <a:t> </a:t>
            </a:r>
            <a:r>
              <a:rPr sz="1600"/>
              <a:t>may</a:t>
            </a:r>
            <a:r>
              <a:rPr spc="-20" sz="1600"/>
              <a:t> </a:t>
            </a:r>
            <a:r>
              <a:rPr sz="1600"/>
              <a:t>bypass</a:t>
            </a:r>
            <a:r>
              <a:rPr spc="-25" sz="1600"/>
              <a:t> </a:t>
            </a:r>
            <a:r>
              <a:rPr sz="1600"/>
              <a:t>such</a:t>
            </a:r>
            <a:r>
              <a:rPr spc="-15" sz="1600"/>
              <a:t> </a:t>
            </a:r>
            <a:r>
              <a:rPr sz="1600"/>
              <a:t>systems.</a:t>
            </a:r>
            <a:r>
              <a:rPr spc="-20" sz="1600"/>
              <a:t> </a:t>
            </a:r>
            <a:r>
              <a:rPr sz="1600"/>
              <a:t>Existing</a:t>
            </a:r>
            <a:r>
              <a:rPr spc="-20" sz="1600"/>
              <a:t> </a:t>
            </a:r>
            <a:r>
              <a:rPr sz="1600"/>
              <a:t>Machine</a:t>
            </a:r>
            <a:r>
              <a:rPr spc="-15" sz="1600"/>
              <a:t> </a:t>
            </a:r>
            <a:r>
              <a:rPr sz="1600"/>
              <a:t>Learning</a:t>
            </a:r>
            <a:r>
              <a:rPr spc="-15" sz="1600"/>
              <a:t> </a:t>
            </a:r>
            <a:r>
              <a:rPr sz="1600"/>
              <a:t>approaches</a:t>
            </a:r>
            <a:r>
              <a:rPr spc="-25" sz="1600"/>
              <a:t> </a:t>
            </a:r>
            <a:r>
              <a:rPr sz="1600"/>
              <a:t>also</a:t>
            </a:r>
            <a:r>
              <a:rPr spc="-15" sz="1600"/>
              <a:t> </a:t>
            </a:r>
            <a:r>
              <a:rPr sz="1600"/>
              <a:t>still</a:t>
            </a:r>
            <a:r>
              <a:rPr spc="-15" sz="1600"/>
              <a:t> </a:t>
            </a:r>
            <a:r>
              <a:rPr sz="1600"/>
              <a:t>miss</a:t>
            </a:r>
            <a:r>
              <a:rPr spc="-25" sz="1600"/>
              <a:t> </a:t>
            </a:r>
            <a:r>
              <a:rPr sz="1600"/>
              <a:t>some</a:t>
            </a:r>
            <a:r>
              <a:rPr spc="-15" sz="1600"/>
              <a:t> </a:t>
            </a:r>
            <a:r>
              <a:rPr sz="1600"/>
              <a:t>actual</a:t>
            </a:r>
            <a:r>
              <a:rPr spc="-20" sz="1600"/>
              <a:t> </a:t>
            </a:r>
            <a:r>
              <a:rPr sz="1600"/>
              <a:t>phishing</a:t>
            </a:r>
            <a:r>
              <a:rPr spc="-15" sz="1600"/>
              <a:t> </a:t>
            </a:r>
            <a:r>
              <a:rPr spc="-10" sz="1600"/>
              <a:t>URLs. </a:t>
            </a:r>
            <a:r>
              <a:rPr sz="1600"/>
              <a:t>Therefore,</a:t>
            </a:r>
            <a:r>
              <a:rPr spc="-25" sz="1600"/>
              <a:t> </a:t>
            </a:r>
            <a:r>
              <a:rPr sz="1600"/>
              <a:t>the</a:t>
            </a:r>
            <a:r>
              <a:rPr spc="-15" sz="1600"/>
              <a:t> </a:t>
            </a:r>
            <a:r>
              <a:rPr sz="1600"/>
              <a:t>idea</a:t>
            </a:r>
            <a:r>
              <a:rPr spc="-20" sz="1600"/>
              <a:t> </a:t>
            </a:r>
            <a:r>
              <a:rPr sz="1600"/>
              <a:t>is</a:t>
            </a:r>
            <a:r>
              <a:rPr spc="-20" sz="1600"/>
              <a:t> </a:t>
            </a:r>
            <a:r>
              <a:rPr sz="1600"/>
              <a:t>to</a:t>
            </a:r>
            <a:r>
              <a:rPr spc="-15" sz="1600"/>
              <a:t> </a:t>
            </a:r>
            <a:r>
              <a:rPr sz="1600"/>
              <a:t>develop</a:t>
            </a:r>
            <a:r>
              <a:rPr spc="-20" sz="1600"/>
              <a:t> </a:t>
            </a:r>
            <a:r>
              <a:rPr sz="1600"/>
              <a:t>a</a:t>
            </a:r>
            <a:r>
              <a:rPr spc="-15" sz="1600"/>
              <a:t> </a:t>
            </a:r>
            <a:r>
              <a:rPr sz="1600"/>
              <a:t>more</a:t>
            </a:r>
            <a:r>
              <a:rPr spc="-15" sz="1600"/>
              <a:t> </a:t>
            </a:r>
            <a:r>
              <a:rPr sz="1600"/>
              <a:t>reliable</a:t>
            </a:r>
            <a:r>
              <a:rPr spc="-20" sz="1600"/>
              <a:t> ML-</a:t>
            </a:r>
            <a:r>
              <a:rPr sz="1600"/>
              <a:t>based</a:t>
            </a:r>
            <a:r>
              <a:rPr spc="-15" sz="1600"/>
              <a:t> </a:t>
            </a:r>
            <a:r>
              <a:rPr sz="1600"/>
              <a:t>phishing</a:t>
            </a:r>
            <a:r>
              <a:rPr spc="-20" sz="1600"/>
              <a:t> </a:t>
            </a:r>
            <a:r>
              <a:rPr sz="1600"/>
              <a:t>URL</a:t>
            </a:r>
            <a:r>
              <a:rPr spc="-75" sz="1600"/>
              <a:t> </a:t>
            </a:r>
            <a:r>
              <a:rPr sz="1600"/>
              <a:t>detection</a:t>
            </a:r>
            <a:r>
              <a:rPr spc="-15" sz="1600"/>
              <a:t> </a:t>
            </a:r>
            <a:r>
              <a:rPr sz="1600"/>
              <a:t>system</a:t>
            </a:r>
            <a:r>
              <a:rPr spc="-20" sz="1600"/>
              <a:t> </a:t>
            </a:r>
            <a:r>
              <a:rPr sz="1600"/>
              <a:t>that</a:t>
            </a:r>
            <a:r>
              <a:rPr spc="-25" sz="1600"/>
              <a:t> </a:t>
            </a:r>
            <a:r>
              <a:rPr sz="1600"/>
              <a:t>can</a:t>
            </a:r>
            <a:r>
              <a:rPr spc="-15" sz="1600"/>
              <a:t> </a:t>
            </a:r>
            <a:r>
              <a:rPr sz="1600"/>
              <a:t>improve</a:t>
            </a:r>
            <a:r>
              <a:rPr spc="-15" sz="1600"/>
              <a:t> </a:t>
            </a:r>
            <a:r>
              <a:rPr spc="-25" sz="1600"/>
              <a:t>the </a:t>
            </a:r>
            <a:r>
              <a:rPr sz="1600"/>
              <a:t>detection</a:t>
            </a:r>
            <a:r>
              <a:rPr spc="-10" sz="1600"/>
              <a:t> </a:t>
            </a:r>
            <a:r>
              <a:rPr sz="1600"/>
              <a:t>of</a:t>
            </a:r>
            <a:r>
              <a:rPr spc="-15" sz="1600"/>
              <a:t> </a:t>
            </a:r>
            <a:r>
              <a:rPr sz="1600"/>
              <a:t>previously</a:t>
            </a:r>
            <a:r>
              <a:rPr spc="-15" sz="1600"/>
              <a:t> </a:t>
            </a:r>
            <a:r>
              <a:rPr sz="1600"/>
              <a:t>unseen</a:t>
            </a:r>
            <a:r>
              <a:rPr spc="-10" sz="1600"/>
              <a:t> </a:t>
            </a:r>
            <a:r>
              <a:rPr sz="1600"/>
              <a:t>phishing</a:t>
            </a:r>
            <a:r>
              <a:rPr spc="-10" sz="1600"/>
              <a:t> </a:t>
            </a:r>
            <a:r>
              <a:rPr sz="1600"/>
              <a:t>URLs</a:t>
            </a:r>
            <a:r>
              <a:rPr spc="-15" sz="1600"/>
              <a:t> </a:t>
            </a:r>
            <a:r>
              <a:rPr sz="1600"/>
              <a:t>while</a:t>
            </a:r>
            <a:r>
              <a:rPr spc="-10" sz="1600"/>
              <a:t> </a:t>
            </a:r>
            <a:r>
              <a:rPr sz="1600"/>
              <a:t>keeping</a:t>
            </a:r>
            <a:r>
              <a:rPr spc="-10" sz="1600"/>
              <a:t> </a:t>
            </a:r>
            <a:r>
              <a:rPr sz="1600"/>
              <a:t>false</a:t>
            </a:r>
            <a:r>
              <a:rPr spc="-10" sz="1600"/>
              <a:t> </a:t>
            </a:r>
            <a:r>
              <a:rPr sz="1600"/>
              <a:t>positives</a:t>
            </a:r>
            <a:r>
              <a:rPr spc="-15" sz="1600"/>
              <a:t> </a:t>
            </a:r>
            <a:r>
              <a:rPr spc="-20" sz="1600"/>
              <a:t>low.</a:t>
            </a:r>
          </a:p>
        </p:txBody>
      </p:sp>
      <p:sp>
        <p:nvSpPr>
          <p:cNvPr id="116" name="object 27"/>
          <p:cNvSpPr txBox="1"/>
          <p:nvPr>
            <p:ph type="sldNum" sz="quarter" idx="4294967295"/>
          </p:nvPr>
        </p:nvSpPr>
        <p:spPr>
          <a:xfrm>
            <a:off x="11347601" y="6497318"/>
            <a:ext cx="146833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7" name="object 26"/>
          <p:cNvSpPr txBox="1"/>
          <p:nvPr/>
        </p:nvSpPr>
        <p:spPr>
          <a:xfrm>
            <a:off x="508557" y="3923760"/>
            <a:ext cx="2570482" cy="271923"/>
          </a:xfrm>
          <a:prstGeom prst="rect">
            <a:avLst/>
          </a:prstGeom>
          <a:solidFill>
            <a:srgbClr val="ED7D31"/>
          </a:solidFill>
          <a:ln w="12700">
            <a:solidFill>
              <a:srgbClr val="AD5B24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57785">
              <a:spcBef>
                <a:spcPts val="400"/>
              </a:spcBef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</a:t>
            </a:r>
            <a:r>
              <a:rPr spc="-34"/>
              <a:t> </a:t>
            </a:r>
            <a:r>
              <a:rPr spc="-10"/>
              <a:t>statement: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Existing</a:t>
            </a:r>
            <a:r>
              <a:rPr spc="-200"/>
              <a:t> </a:t>
            </a:r>
            <a:r>
              <a:rPr spc="-100"/>
              <a:t>Work</a:t>
            </a:r>
          </a:p>
        </p:txBody>
      </p:sp>
      <p:sp>
        <p:nvSpPr>
          <p:cNvPr id="120" name="object 3"/>
          <p:cNvSpPr txBox="1"/>
          <p:nvPr/>
        </p:nvSpPr>
        <p:spPr>
          <a:xfrm>
            <a:off x="11504638" y="338333"/>
            <a:ext cx="16700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50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1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23" name="object 6"/>
          <p:cNvGraphicFramePr/>
          <p:nvPr/>
        </p:nvGraphicFramePr>
        <p:xfrm>
          <a:off x="541652" y="998855"/>
          <a:ext cx="11064241" cy="4495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03120"/>
                <a:gridCol w="4572000"/>
                <a:gridCol w="4389120"/>
              </a:tblGrid>
              <a:tr h="7493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500"/>
                        </a:spcBef>
                        <a:defRPr spc="0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14019">
                        <a:lnSpc>
                          <a:spcPct val="100000"/>
                        </a:lnSpc>
                        <a:defRPr b="1" spc="0" sz="14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Study</a:t>
                      </a:r>
                      <a:r>
                        <a:rPr spc="-5"/>
                        <a:t> </a:t>
                      </a:r>
                      <a:r>
                        <a:t>/</a:t>
                      </a:r>
                      <a:r>
                        <a:rPr spc="-10"/>
                        <a:t> Method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500"/>
                        </a:spcBef>
                        <a:defRPr spc="0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0" algn="ctr">
                        <a:lnSpc>
                          <a:spcPct val="100000"/>
                        </a:lnSpc>
                        <a:defRPr b="1" spc="0" sz="14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Focus</a:t>
                      </a:r>
                      <a:r>
                        <a:rPr spc="-10"/>
                        <a:t> </a:t>
                      </a:r>
                      <a:r>
                        <a:t>/</a:t>
                      </a:r>
                      <a:r>
                        <a:rPr spc="-10"/>
                        <a:t> Method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500"/>
                        </a:spcBef>
                        <a:defRPr spc="0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0" algn="ctr">
                        <a:lnSpc>
                          <a:spcPct val="100000"/>
                        </a:lnSpc>
                        <a:defRPr b="1" spc="0" sz="14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Limitation</a:t>
                      </a:r>
                      <a:r>
                        <a:rPr spc="-35"/>
                        <a:t> </a:t>
                      </a:r>
                      <a:r>
                        <a:rPr spc="-20"/>
                        <a:t>(Gap)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1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marR="561975" indent="67310">
                        <a:lnSpc>
                          <a:spcPts val="14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Blacklist /</a:t>
                      </a:r>
                      <a:r>
                        <a:rPr spc="5"/>
                        <a:t> </a:t>
                      </a:r>
                      <a:r>
                        <a:rPr spc="-10"/>
                        <a:t>Rule-</a:t>
                      </a:r>
                      <a:r>
                        <a:rPr spc="-20"/>
                        <a:t>based </a:t>
                      </a:r>
                      <a:r>
                        <a:rPr spc="-10"/>
                        <a:t>Detection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Checks</a:t>
                      </a:r>
                      <a:r>
                        <a:rPr spc="-5"/>
                        <a:t> </a:t>
                      </a:r>
                      <a:r>
                        <a:t>URLs</a:t>
                      </a:r>
                      <a:r>
                        <a:rPr spc="-5"/>
                        <a:t> </a:t>
                      </a:r>
                      <a:r>
                        <a:t>against</a:t>
                      </a:r>
                      <a:r>
                        <a:rPr spc="-10"/>
                        <a:t> </a:t>
                      </a:r>
                      <a:r>
                        <a:t>known malicious</a:t>
                      </a:r>
                      <a:r>
                        <a:rPr spc="-5"/>
                        <a:t> </a:t>
                      </a:r>
                      <a:r>
                        <a:t>lists</a:t>
                      </a:r>
                      <a:r>
                        <a:rPr spc="-5"/>
                        <a:t> </a:t>
                      </a:r>
                      <a:r>
                        <a:t>and</a:t>
                      </a:r>
                      <a:r>
                        <a:rPr spc="-5"/>
                        <a:t> </a:t>
                      </a:r>
                      <a:r>
                        <a:t>fixed </a:t>
                      </a:r>
                      <a:r>
                        <a:rPr spc="-10"/>
                        <a:t>rules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Fails</a:t>
                      </a:r>
                      <a:r>
                        <a:rPr spc="-10"/>
                        <a:t> </a:t>
                      </a:r>
                      <a:r>
                        <a:t>on</a:t>
                      </a:r>
                      <a:r>
                        <a:rPr spc="-5"/>
                        <a:t> </a:t>
                      </a:r>
                      <a:r>
                        <a:t>newly</a:t>
                      </a:r>
                      <a:r>
                        <a:rPr spc="-5"/>
                        <a:t> </a:t>
                      </a:r>
                      <a:r>
                        <a:t>generated</a:t>
                      </a:r>
                      <a:r>
                        <a:rPr spc="-5"/>
                        <a:t> </a:t>
                      </a:r>
                      <a:r>
                        <a:t>or</a:t>
                      </a:r>
                      <a:r>
                        <a:rPr spc="-5"/>
                        <a:t> </a:t>
                      </a:r>
                      <a:r>
                        <a:t>obfuscated</a:t>
                      </a:r>
                      <a:r>
                        <a:rPr spc="-5"/>
                        <a:t> </a:t>
                      </a:r>
                      <a:r>
                        <a:t>phishing</a:t>
                      </a:r>
                      <a:r>
                        <a:rPr spc="-5"/>
                        <a:t> </a:t>
                      </a:r>
                      <a:r>
                        <a:rPr spc="-20"/>
                        <a:t>URLs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Owa</a:t>
                      </a:r>
                      <a:r>
                        <a:rPr spc="-5"/>
                        <a:t> </a:t>
                      </a:r>
                      <a:r>
                        <a:t>&amp;</a:t>
                      </a:r>
                      <a:r>
                        <a:rPr spc="-75"/>
                        <a:t> </a:t>
                      </a:r>
                      <a:r>
                        <a:t>Adewole</a:t>
                      </a:r>
                      <a:r>
                        <a:rPr spc="-5"/>
                        <a:t> </a:t>
                      </a:r>
                      <a:r>
                        <a:rPr spc="-10"/>
                        <a:t>(2025)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-4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RF,</a:t>
                      </a:r>
                      <a:r>
                        <a:rPr spc="-15"/>
                        <a:t> </a:t>
                      </a:r>
                      <a:r>
                        <a:rPr spc="0"/>
                        <a:t>SVM</a:t>
                      </a:r>
                      <a:r>
                        <a:rPr spc="-5"/>
                        <a:t> </a:t>
                      </a:r>
                      <a:r>
                        <a:rPr spc="0"/>
                        <a:t>and</a:t>
                      </a:r>
                      <a:r>
                        <a:rPr spc="-10"/>
                        <a:t> </a:t>
                      </a:r>
                      <a:r>
                        <a:rPr spc="0"/>
                        <a:t>DT</a:t>
                      </a:r>
                      <a:r>
                        <a:rPr spc="-30"/>
                        <a:t> </a:t>
                      </a:r>
                      <a:r>
                        <a:rPr spc="0"/>
                        <a:t>comparison</a:t>
                      </a:r>
                      <a:r>
                        <a:rPr spc="-5"/>
                        <a:t> </a:t>
                      </a:r>
                      <a:r>
                        <a:rPr spc="0"/>
                        <a:t>on</a:t>
                      </a:r>
                      <a:r>
                        <a:rPr spc="-80"/>
                        <a:t> </a:t>
                      </a:r>
                      <a:r>
                        <a:rPr spc="0"/>
                        <a:t>Aalto</a:t>
                      </a:r>
                      <a:r>
                        <a:rPr spc="-5"/>
                        <a:t> </a:t>
                      </a:r>
                      <a:r>
                        <a:rPr spc="0"/>
                        <a:t>+</a:t>
                      </a:r>
                      <a:r>
                        <a:rPr spc="-5"/>
                        <a:t> </a:t>
                      </a:r>
                      <a:r>
                        <a:rPr spc="0"/>
                        <a:t>Kaggle</a:t>
                      </a:r>
                      <a:r>
                        <a:rPr spc="-10"/>
                        <a:t> </a:t>
                      </a:r>
                      <a:r>
                        <a:rPr spc="0"/>
                        <a:t>URL</a:t>
                      </a:r>
                      <a:r>
                        <a:rPr spc="-50"/>
                        <a:t> </a:t>
                      </a:r>
                      <a:r>
                        <a:rPr spc="-10"/>
                        <a:t>datasets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1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marR="459105" indent="67310">
                        <a:lnSpc>
                          <a:spcPts val="14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RF</a:t>
                      </a:r>
                      <a:r>
                        <a:rPr spc="-10"/>
                        <a:t> </a:t>
                      </a:r>
                      <a:r>
                        <a:t>recall</a:t>
                      </a:r>
                      <a:r>
                        <a:rPr spc="-5"/>
                        <a:t> </a:t>
                      </a:r>
                      <a:r>
                        <a:t>on</a:t>
                      </a:r>
                      <a:r>
                        <a:rPr spc="-5"/>
                        <a:t> </a:t>
                      </a:r>
                      <a:r>
                        <a:t>Kaggle is</a:t>
                      </a:r>
                      <a:r>
                        <a:rPr spc="-5"/>
                        <a:t> </a:t>
                      </a:r>
                      <a:r>
                        <a:t>80.59%,</a:t>
                      </a:r>
                      <a:r>
                        <a:rPr spc="-10"/>
                        <a:t> </a:t>
                      </a:r>
                      <a:r>
                        <a:t>so phishing</a:t>
                      </a:r>
                      <a:r>
                        <a:rPr spc="-5"/>
                        <a:t> </a:t>
                      </a:r>
                      <a:r>
                        <a:t>URLs</a:t>
                      </a:r>
                      <a:r>
                        <a:rPr spc="-5"/>
                        <a:t> </a:t>
                      </a:r>
                      <a:r>
                        <a:t>are</a:t>
                      </a:r>
                      <a:r>
                        <a:rPr spc="-5"/>
                        <a:t> </a:t>
                      </a:r>
                      <a:r>
                        <a:rPr spc="-10"/>
                        <a:t>still missed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1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marR="680084" indent="67310">
                        <a:lnSpc>
                          <a:spcPts val="14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Deep</a:t>
                      </a:r>
                      <a:r>
                        <a:rPr spc="-5"/>
                        <a:t> </a:t>
                      </a:r>
                      <a:r>
                        <a:t>Learning </a:t>
                      </a:r>
                      <a:r>
                        <a:rPr spc="-25"/>
                        <a:t>URL </a:t>
                      </a:r>
                      <a:r>
                        <a:rPr spc="-10"/>
                        <a:t>Detection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1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marR="370840" indent="67310">
                        <a:lnSpc>
                          <a:spcPts val="1400"/>
                        </a:lnSpc>
                        <a:defRPr spc="0" sz="1200"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Uses</a:t>
                      </a:r>
                      <a:r>
                        <a:rPr spc="-10"/>
                        <a:t> </a:t>
                      </a:r>
                      <a:r>
                        <a:t>deep</a:t>
                      </a:r>
                      <a:r>
                        <a:rPr spc="-5"/>
                        <a:t> </a:t>
                      </a:r>
                      <a:r>
                        <a:t>neural</a:t>
                      </a:r>
                      <a:r>
                        <a:rPr spc="-10"/>
                        <a:t> </a:t>
                      </a:r>
                      <a:r>
                        <a:t>networks</a:t>
                      </a:r>
                      <a:r>
                        <a:rPr spc="-5"/>
                        <a:t> </a:t>
                      </a:r>
                      <a:r>
                        <a:t>to</a:t>
                      </a:r>
                      <a:r>
                        <a:rPr spc="-10"/>
                        <a:t> </a:t>
                      </a:r>
                      <a:r>
                        <a:t>learn</a:t>
                      </a:r>
                      <a:r>
                        <a:rPr spc="-5"/>
                        <a:t> </a:t>
                      </a:r>
                      <a:r>
                        <a:t>phishing</a:t>
                      </a:r>
                      <a:r>
                        <a:rPr spc="-10"/>
                        <a:t> </a:t>
                      </a:r>
                      <a:r>
                        <a:t>patterns</a:t>
                      </a:r>
                      <a:r>
                        <a:rPr spc="-5"/>
                        <a:t> </a:t>
                      </a:r>
                      <a:r>
                        <a:rPr spc="-10"/>
                        <a:t>directly </a:t>
                      </a:r>
                      <a:r>
                        <a:t>from</a:t>
                      </a:r>
                      <a:r>
                        <a:rPr spc="-15"/>
                        <a:t> </a:t>
                      </a:r>
                      <a:r>
                        <a:t>URL</a:t>
                      </a:r>
                      <a:r>
                        <a:rPr spc="-55"/>
                        <a:t> </a:t>
                      </a:r>
                      <a:r>
                        <a:rPr spc="-10"/>
                        <a:t>representations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Higher</a:t>
                      </a:r>
                      <a:r>
                        <a:rPr spc="-10"/>
                        <a:t> </a:t>
                      </a:r>
                      <a:r>
                        <a:t>cost,</a:t>
                      </a:r>
                      <a:r>
                        <a:rPr spc="-15"/>
                        <a:t> </a:t>
                      </a:r>
                      <a:r>
                        <a:t>lower</a:t>
                      </a:r>
                      <a:r>
                        <a:rPr spc="-10"/>
                        <a:t> </a:t>
                      </a:r>
                      <a:r>
                        <a:t>interpretability</a:t>
                      </a:r>
                      <a:r>
                        <a:rPr spc="-5"/>
                        <a:t> </a:t>
                      </a:r>
                      <a:r>
                        <a:t>and</a:t>
                      </a:r>
                      <a:r>
                        <a:rPr spc="-10"/>
                        <a:t> </a:t>
                      </a:r>
                      <a:r>
                        <a:t>harder</a:t>
                      </a:r>
                      <a:r>
                        <a:rPr spc="-10"/>
                        <a:t> deployment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Feature</a:t>
                      </a:r>
                      <a:r>
                        <a:rPr spc="-15"/>
                        <a:t> </a:t>
                      </a:r>
                      <a:r>
                        <a:t>Selection</a:t>
                      </a:r>
                      <a:r>
                        <a:rPr spc="-15"/>
                        <a:t> </a:t>
                      </a:r>
                      <a:r>
                        <a:rPr spc="-10"/>
                        <a:t>Methods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Reduce</a:t>
                      </a:r>
                      <a:r>
                        <a:rPr spc="-15"/>
                        <a:t> </a:t>
                      </a:r>
                      <a:r>
                        <a:t>URL</a:t>
                      </a:r>
                      <a:r>
                        <a:rPr spc="-55"/>
                        <a:t> </a:t>
                      </a:r>
                      <a:r>
                        <a:t>attributes</a:t>
                      </a:r>
                      <a:r>
                        <a:rPr spc="-10"/>
                        <a:t> </a:t>
                      </a:r>
                      <a:r>
                        <a:t>to</a:t>
                      </a:r>
                      <a:r>
                        <a:rPr spc="-10"/>
                        <a:t> </a:t>
                      </a:r>
                      <a:r>
                        <a:t>important</a:t>
                      </a:r>
                      <a:r>
                        <a:rPr spc="-15"/>
                        <a:t> </a:t>
                      </a:r>
                      <a:r>
                        <a:rPr spc="-10"/>
                        <a:t>indicators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1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marR="671194" indent="67310">
                        <a:lnSpc>
                          <a:spcPts val="14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May</a:t>
                      </a:r>
                      <a:r>
                        <a:rPr spc="-5"/>
                        <a:t> </a:t>
                      </a:r>
                      <a:r>
                        <a:t>lose</a:t>
                      </a:r>
                      <a:r>
                        <a:rPr spc="-5"/>
                        <a:t> </a:t>
                      </a:r>
                      <a:r>
                        <a:t>useful </a:t>
                      </a:r>
                      <a:r>
                        <a:rPr spc="-10"/>
                        <a:t>attack-</a:t>
                      </a:r>
                      <a:r>
                        <a:t>specific</a:t>
                      </a:r>
                      <a:r>
                        <a:rPr spc="-5"/>
                        <a:t> </a:t>
                      </a:r>
                      <a:r>
                        <a:t>features if</a:t>
                      </a:r>
                      <a:r>
                        <a:rPr spc="-10"/>
                        <a:t> </a:t>
                      </a:r>
                      <a:r>
                        <a:t>not</a:t>
                      </a:r>
                      <a:r>
                        <a:rPr spc="-5"/>
                        <a:t> </a:t>
                      </a:r>
                      <a:r>
                        <a:rPr spc="-10"/>
                        <a:t>carefully validated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Explainable</a:t>
                      </a:r>
                      <a:r>
                        <a:rPr spc="-75"/>
                        <a:t> </a:t>
                      </a:r>
                      <a:r>
                        <a:t>AI</a:t>
                      </a:r>
                      <a:r>
                        <a:rPr spc="-10"/>
                        <a:t> </a:t>
                      </a:r>
                      <a:r>
                        <a:t>in</a:t>
                      </a:r>
                      <a:r>
                        <a:rPr spc="-5"/>
                        <a:t> </a:t>
                      </a:r>
                      <a:r>
                        <a:rPr spc="-10"/>
                        <a:t>Security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Uses</a:t>
                      </a:r>
                      <a:r>
                        <a:rPr spc="-10"/>
                        <a:t> </a:t>
                      </a:r>
                      <a:r>
                        <a:t>SHAP/LIME</a:t>
                      </a:r>
                      <a:r>
                        <a:rPr spc="-10"/>
                        <a:t> </a:t>
                      </a:r>
                      <a:r>
                        <a:t>to</a:t>
                      </a:r>
                      <a:r>
                        <a:rPr spc="-10"/>
                        <a:t> </a:t>
                      </a:r>
                      <a:r>
                        <a:t>explain</a:t>
                      </a:r>
                      <a:r>
                        <a:rPr spc="-10"/>
                        <a:t> </a:t>
                      </a:r>
                      <a:r>
                        <a:t>model</a:t>
                      </a:r>
                      <a:r>
                        <a:rPr spc="-5"/>
                        <a:t> </a:t>
                      </a:r>
                      <a:r>
                        <a:rPr spc="-10"/>
                        <a:t>decisions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67310">
                        <a:lnSpc>
                          <a:spcPct val="100000"/>
                        </a:lnSpc>
                        <a:defRPr spc="0" sz="120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Often</a:t>
                      </a:r>
                      <a:r>
                        <a:rPr spc="-5"/>
                        <a:t> </a:t>
                      </a:r>
                      <a:r>
                        <a:t>added after training;</a:t>
                      </a:r>
                      <a:r>
                        <a:rPr spc="-10"/>
                        <a:t> real-</a:t>
                      </a:r>
                      <a:r>
                        <a:t>time explainability is</a:t>
                      </a:r>
                      <a:r>
                        <a:rPr spc="-5"/>
                        <a:t> </a:t>
                      </a:r>
                      <a:r>
                        <a:t>still </a:t>
                      </a:r>
                      <a:r>
                        <a:rPr spc="-10"/>
                        <a:t>limited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4" name="object 7"/>
          <p:cNvSpPr txBox="1"/>
          <p:nvPr>
            <p:ph type="sldNum" sz="quarter" idx="4294967295"/>
          </p:nvPr>
        </p:nvSpPr>
        <p:spPr>
          <a:xfrm>
            <a:off x="11347601" y="6497318"/>
            <a:ext cx="146833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Proposed</a:t>
            </a:r>
            <a:r>
              <a:rPr spc="-200"/>
              <a:t> </a:t>
            </a:r>
            <a:r>
              <a:rPr spc="-100"/>
              <a:t>Work</a:t>
            </a:r>
          </a:p>
        </p:txBody>
      </p:sp>
      <p:sp>
        <p:nvSpPr>
          <p:cNvPr id="127" name="object 3"/>
          <p:cNvSpPr txBox="1"/>
          <p:nvPr/>
        </p:nvSpPr>
        <p:spPr>
          <a:xfrm>
            <a:off x="11504638" y="338333"/>
            <a:ext cx="16700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50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8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object 6"/>
          <p:cNvSpPr txBox="1"/>
          <p:nvPr/>
        </p:nvSpPr>
        <p:spPr>
          <a:xfrm>
            <a:off x="685796" y="1124708"/>
            <a:ext cx="411482" cy="259223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500"/>
              </a:spcBef>
              <a:defRPr b="1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1" name="object 16"/>
          <p:cNvSpPr txBox="1"/>
          <p:nvPr>
            <p:ph type="sldNum" sz="quarter" idx="4294967295"/>
          </p:nvPr>
        </p:nvSpPr>
        <p:spPr>
          <a:xfrm>
            <a:off x="11347601" y="6497318"/>
            <a:ext cx="146833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2" name="object 7"/>
          <p:cNvSpPr txBox="1"/>
          <p:nvPr/>
        </p:nvSpPr>
        <p:spPr>
          <a:xfrm>
            <a:off x="1234438" y="1051558"/>
            <a:ext cx="10058401" cy="433187"/>
          </a:xfrm>
          <a:prstGeom prst="rect">
            <a:avLst/>
          </a:prstGeom>
          <a:solidFill>
            <a:srgbClr val="F8FBFD"/>
          </a:solidFill>
          <a:ln w="7619">
            <a:solidFill>
              <a:srgbClr val="D0DCE7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04775">
              <a:spcBef>
                <a:spcPts val="1000"/>
              </a:spcBef>
              <a:defRPr b="1" sz="15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Collect</a:t>
            </a:r>
            <a:r>
              <a:rPr spc="-30"/>
              <a:t> </a:t>
            </a:r>
            <a:r>
              <a:t>&amp;</a:t>
            </a:r>
            <a:r>
              <a:rPr spc="-20"/>
              <a:t> </a:t>
            </a:r>
            <a:r>
              <a:t>clean</a:t>
            </a:r>
            <a:r>
              <a:rPr spc="-25"/>
              <a:t> </a:t>
            </a:r>
            <a:r>
              <a:t>URL</a:t>
            </a:r>
            <a:r>
              <a:rPr spc="-50"/>
              <a:t> </a:t>
            </a:r>
            <a:r>
              <a:rPr spc="-20"/>
              <a:t>data</a:t>
            </a:r>
          </a:p>
          <a:p>
            <a:pPr indent="104775">
              <a:defRPr spc="-10"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</a:t>
            </a:r>
            <a:r>
              <a:rPr spc="-95"/>
              <a:t> </a:t>
            </a:r>
            <a:r>
              <a:rPr spc="0"/>
              <a:t>Aalto</a:t>
            </a:r>
            <a:r>
              <a:rPr spc="-65"/>
              <a:t> </a:t>
            </a:r>
            <a:r>
              <a:rPr spc="0"/>
              <a:t>and</a:t>
            </a:r>
            <a:r>
              <a:rPr spc="-40"/>
              <a:t> </a:t>
            </a:r>
            <a:r>
              <a:rPr spc="0"/>
              <a:t>Kaggle</a:t>
            </a:r>
            <a:r>
              <a:rPr spc="-40"/>
              <a:t> </a:t>
            </a:r>
            <a:r>
              <a:rPr spc="0"/>
              <a:t>datasets;</a:t>
            </a:r>
            <a:r>
              <a:rPr spc="-45"/>
              <a:t> </a:t>
            </a:r>
            <a:r>
              <a:rPr spc="0"/>
              <a:t>remove</a:t>
            </a:r>
            <a:r>
              <a:rPr spc="-40"/>
              <a:t> </a:t>
            </a:r>
            <a:r>
              <a:rPr spc="0"/>
              <a:t>nulls,</a:t>
            </a:r>
            <a:r>
              <a:rPr spc="-45"/>
              <a:t> </a:t>
            </a:r>
            <a:r>
              <a:rPr spc="0"/>
              <a:t>duplicates</a:t>
            </a:r>
            <a:r>
              <a:rPr spc="-45"/>
              <a:t> </a:t>
            </a:r>
            <a:r>
              <a:rPr spc="0"/>
              <a:t>and</a:t>
            </a:r>
            <a:r>
              <a:rPr spc="-40"/>
              <a:t> </a:t>
            </a:r>
            <a:r>
              <a:rPr spc="0"/>
              <a:t>invalid</a:t>
            </a:r>
            <a:r>
              <a:rPr spc="-40"/>
              <a:t> </a:t>
            </a:r>
            <a:r>
              <a:t>records.</a:t>
            </a:r>
          </a:p>
        </p:txBody>
      </p:sp>
      <p:sp>
        <p:nvSpPr>
          <p:cNvPr id="133" name="object 8"/>
          <p:cNvSpPr txBox="1"/>
          <p:nvPr/>
        </p:nvSpPr>
        <p:spPr>
          <a:xfrm>
            <a:off x="685796" y="2112262"/>
            <a:ext cx="411482" cy="259223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500"/>
              </a:spcBef>
              <a:defRPr b="1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4" name="object 9"/>
          <p:cNvSpPr txBox="1"/>
          <p:nvPr/>
        </p:nvSpPr>
        <p:spPr>
          <a:xfrm>
            <a:off x="1234438" y="2039109"/>
            <a:ext cx="10058401" cy="433187"/>
          </a:xfrm>
          <a:prstGeom prst="rect">
            <a:avLst/>
          </a:prstGeom>
          <a:ln w="7619">
            <a:solidFill>
              <a:srgbClr val="D0DCE7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04775">
              <a:spcBef>
                <a:spcPts val="1000"/>
              </a:spcBef>
              <a:defRPr b="1" sz="15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Extract</a:t>
            </a:r>
            <a:r>
              <a:rPr spc="-50"/>
              <a:t> </a:t>
            </a:r>
            <a:r>
              <a:t>URL</a:t>
            </a:r>
            <a:r>
              <a:rPr spc="-70"/>
              <a:t> </a:t>
            </a:r>
            <a:r>
              <a:rPr spc="-10"/>
              <a:t>features</a:t>
            </a:r>
          </a:p>
          <a:p>
            <a:pPr indent="104775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Study</a:t>
            </a:r>
            <a:r>
              <a:rPr spc="-35"/>
              <a:t> </a:t>
            </a:r>
            <a:r>
              <a:t>lexical,</a:t>
            </a:r>
            <a:r>
              <a:rPr spc="-35"/>
              <a:t> </a:t>
            </a:r>
            <a:r>
              <a:t>host,</a:t>
            </a:r>
            <a:r>
              <a:rPr spc="-35"/>
              <a:t> </a:t>
            </a:r>
            <a:r>
              <a:t>domain</a:t>
            </a:r>
            <a:r>
              <a:rPr spc="-35"/>
              <a:t> </a:t>
            </a:r>
            <a:r>
              <a:t>and</a:t>
            </a:r>
            <a:r>
              <a:rPr spc="-30"/>
              <a:t> </a:t>
            </a:r>
            <a:r>
              <a:rPr spc="-10"/>
              <a:t>WHOIS-</a:t>
            </a:r>
            <a:r>
              <a:t>related</a:t>
            </a:r>
            <a:r>
              <a:rPr spc="-30"/>
              <a:t> </a:t>
            </a:r>
            <a:r>
              <a:rPr spc="-10"/>
              <a:t>characteristics.</a:t>
            </a:r>
          </a:p>
        </p:txBody>
      </p:sp>
      <p:sp>
        <p:nvSpPr>
          <p:cNvPr id="135" name="object 10"/>
          <p:cNvSpPr txBox="1"/>
          <p:nvPr/>
        </p:nvSpPr>
        <p:spPr>
          <a:xfrm>
            <a:off x="685796" y="3099815"/>
            <a:ext cx="411482" cy="259222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500"/>
              </a:spcBef>
              <a:defRPr b="1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6" name="object 11"/>
          <p:cNvSpPr txBox="1"/>
          <p:nvPr/>
        </p:nvSpPr>
        <p:spPr>
          <a:xfrm>
            <a:off x="1234438" y="3026661"/>
            <a:ext cx="10058401" cy="433188"/>
          </a:xfrm>
          <a:prstGeom prst="rect">
            <a:avLst/>
          </a:prstGeom>
          <a:solidFill>
            <a:srgbClr val="F8FBFD"/>
          </a:solidFill>
          <a:ln w="7619">
            <a:solidFill>
              <a:srgbClr val="D0DCE7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04775">
              <a:spcBef>
                <a:spcPts val="1000"/>
              </a:spcBef>
              <a:defRPr b="1" sz="15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Train</a:t>
            </a:r>
            <a:r>
              <a:rPr spc="-60"/>
              <a:t> </a:t>
            </a:r>
            <a:r>
              <a:t>baseline</a:t>
            </a:r>
            <a:r>
              <a:rPr spc="-55"/>
              <a:t> </a:t>
            </a:r>
            <a:r>
              <a:rPr spc="-10"/>
              <a:t>models</a:t>
            </a:r>
          </a:p>
          <a:p>
            <a:pPr indent="104775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Implement</a:t>
            </a:r>
            <a:r>
              <a:rPr spc="-50"/>
              <a:t> </a:t>
            </a:r>
            <a:r>
              <a:t>Random</a:t>
            </a:r>
            <a:r>
              <a:rPr spc="-50"/>
              <a:t> </a:t>
            </a:r>
            <a:r>
              <a:t>Forest,</a:t>
            </a:r>
            <a:r>
              <a:rPr spc="-50"/>
              <a:t> </a:t>
            </a:r>
            <a:r>
              <a:t>Decision</a:t>
            </a:r>
            <a:r>
              <a:rPr spc="-75"/>
              <a:t> </a:t>
            </a:r>
            <a:r>
              <a:t>Tree</a:t>
            </a:r>
            <a:r>
              <a:rPr spc="-45"/>
              <a:t> </a:t>
            </a:r>
            <a:r>
              <a:t>and</a:t>
            </a:r>
            <a:r>
              <a:rPr spc="-45"/>
              <a:t> </a:t>
            </a:r>
            <a:r>
              <a:t>SVM</a:t>
            </a:r>
            <a:r>
              <a:rPr spc="-50"/>
              <a:t> </a:t>
            </a:r>
            <a:r>
              <a:t>for</a:t>
            </a:r>
            <a:r>
              <a:rPr spc="-50"/>
              <a:t> </a:t>
            </a:r>
            <a:r>
              <a:t>comparison</a:t>
            </a:r>
            <a:r>
              <a:rPr spc="-45"/>
              <a:t> </a:t>
            </a:r>
            <a:r>
              <a:t>with</a:t>
            </a:r>
            <a:r>
              <a:rPr spc="-45"/>
              <a:t> </a:t>
            </a:r>
            <a:r>
              <a:t>the</a:t>
            </a:r>
            <a:r>
              <a:rPr spc="-45"/>
              <a:t> </a:t>
            </a:r>
            <a:r>
              <a:t>reference</a:t>
            </a:r>
            <a:r>
              <a:rPr spc="-45"/>
              <a:t> </a:t>
            </a:r>
            <a:r>
              <a:rPr spc="-10"/>
              <a:t>paper.</a:t>
            </a:r>
          </a:p>
        </p:txBody>
      </p:sp>
      <p:sp>
        <p:nvSpPr>
          <p:cNvPr id="137" name="object 12"/>
          <p:cNvSpPr txBox="1"/>
          <p:nvPr/>
        </p:nvSpPr>
        <p:spPr>
          <a:xfrm>
            <a:off x="685796" y="4087366"/>
            <a:ext cx="411482" cy="259222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500"/>
              </a:spcBef>
              <a:defRPr b="1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8" name="object 13"/>
          <p:cNvSpPr txBox="1"/>
          <p:nvPr/>
        </p:nvSpPr>
        <p:spPr>
          <a:xfrm>
            <a:off x="1234438" y="4014213"/>
            <a:ext cx="10058401" cy="433187"/>
          </a:xfrm>
          <a:prstGeom prst="rect">
            <a:avLst/>
          </a:prstGeom>
          <a:ln w="7619">
            <a:solidFill>
              <a:srgbClr val="D0DCE7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04775">
              <a:spcBef>
                <a:spcPts val="1000"/>
              </a:spcBef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t>Improve</a:t>
            </a:r>
            <a:r>
              <a:rPr spc="-35"/>
              <a:t> </a:t>
            </a:r>
            <a:r>
              <a:t>&amp;</a:t>
            </a:r>
            <a:r>
              <a:rPr spc="-35"/>
              <a:t> </a:t>
            </a:r>
            <a:r>
              <a:t>explain</a:t>
            </a:r>
            <a:r>
              <a:rPr spc="-30"/>
              <a:t> </a:t>
            </a:r>
            <a:r>
              <a:t>the</a:t>
            </a:r>
            <a:r>
              <a:rPr spc="-35"/>
              <a:t> </a:t>
            </a:r>
            <a:r>
              <a:rPr spc="-20"/>
              <a:t>model</a:t>
            </a:r>
          </a:p>
          <a:p>
            <a:pPr indent="104775">
              <a:defRPr sz="1500">
                <a:latin typeface="Arial"/>
                <a:ea typeface="Arial"/>
                <a:cs typeface="Arial"/>
                <a:sym typeface="Arial"/>
              </a:defRPr>
            </a:pPr>
            <a:r>
              <a:t>Tune</a:t>
            </a:r>
            <a:r>
              <a:rPr spc="-30"/>
              <a:t> </a:t>
            </a:r>
            <a:r>
              <a:t>features</a:t>
            </a:r>
            <a:r>
              <a:rPr spc="-25"/>
              <a:t> </a:t>
            </a:r>
            <a:r>
              <a:t>and</a:t>
            </a:r>
            <a:r>
              <a:rPr spc="-30"/>
              <a:t> </a:t>
            </a:r>
            <a:r>
              <a:rPr spc="-10"/>
              <a:t>hyperparameters;</a:t>
            </a:r>
            <a:r>
              <a:rPr spc="-30"/>
              <a:t> </a:t>
            </a:r>
            <a:r>
              <a:t>test</a:t>
            </a:r>
            <a:r>
              <a:rPr spc="-35"/>
              <a:t> </a:t>
            </a:r>
            <a:r>
              <a:t>XGBoost/LightGBM</a:t>
            </a:r>
            <a:r>
              <a:rPr spc="-30"/>
              <a:t> </a:t>
            </a:r>
            <a:r>
              <a:t>and</a:t>
            </a:r>
            <a:r>
              <a:rPr spc="-25"/>
              <a:t> </a:t>
            </a:r>
            <a:r>
              <a:t>use</a:t>
            </a:r>
            <a:r>
              <a:rPr spc="-30"/>
              <a:t> </a:t>
            </a:r>
            <a:r>
              <a:t>SHAP</a:t>
            </a:r>
            <a:r>
              <a:rPr spc="-55"/>
              <a:t> </a:t>
            </a:r>
            <a:r>
              <a:t>when</a:t>
            </a:r>
            <a:r>
              <a:rPr spc="-25"/>
              <a:t> </a:t>
            </a:r>
            <a:r>
              <a:rPr spc="-10"/>
              <a:t>useful.</a:t>
            </a:r>
          </a:p>
        </p:txBody>
      </p:sp>
      <p:sp>
        <p:nvSpPr>
          <p:cNvPr id="139" name="object 14"/>
          <p:cNvSpPr txBox="1"/>
          <p:nvPr/>
        </p:nvSpPr>
        <p:spPr>
          <a:xfrm>
            <a:off x="685796" y="5074918"/>
            <a:ext cx="411482" cy="259223"/>
          </a:xfrm>
          <a:prstGeom prst="rect">
            <a:avLst/>
          </a:prstGeom>
          <a:solidFill>
            <a:srgbClr val="1F77B4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500"/>
              </a:spcBef>
              <a:defRPr b="1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0" name="object 15"/>
          <p:cNvSpPr txBox="1"/>
          <p:nvPr/>
        </p:nvSpPr>
        <p:spPr>
          <a:xfrm>
            <a:off x="1234438" y="5001766"/>
            <a:ext cx="10058401" cy="433187"/>
          </a:xfrm>
          <a:prstGeom prst="rect">
            <a:avLst/>
          </a:prstGeom>
          <a:solidFill>
            <a:srgbClr val="F8FBFD"/>
          </a:solidFill>
          <a:ln w="7619">
            <a:solidFill>
              <a:srgbClr val="D0DCE7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04775">
              <a:spcBef>
                <a:spcPts val="1000"/>
              </a:spcBef>
              <a:defRPr b="1" sz="15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Evaluate</a:t>
            </a:r>
            <a:r>
              <a:rPr spc="-55"/>
              <a:t> </a:t>
            </a:r>
            <a:r>
              <a:t>security</a:t>
            </a:r>
            <a:r>
              <a:rPr spc="-55"/>
              <a:t> </a:t>
            </a:r>
            <a:r>
              <a:rPr spc="-10"/>
              <a:t>impact</a:t>
            </a:r>
          </a:p>
          <a:p>
            <a:pPr indent="104775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Prioritize</a:t>
            </a:r>
            <a:r>
              <a:rPr spc="-35"/>
              <a:t> </a:t>
            </a:r>
            <a:r>
              <a:t>recall,</a:t>
            </a:r>
            <a:r>
              <a:rPr spc="-40"/>
              <a:t> </a:t>
            </a:r>
            <a:r>
              <a:rPr spc="-10"/>
              <a:t>F1-</a:t>
            </a:r>
            <a:r>
              <a:t>score,</a:t>
            </a:r>
            <a:r>
              <a:rPr spc="-35"/>
              <a:t> </a:t>
            </a:r>
            <a:r>
              <a:t>false</a:t>
            </a:r>
            <a:r>
              <a:rPr spc="-35"/>
              <a:t> </a:t>
            </a:r>
            <a:r>
              <a:t>negatives</a:t>
            </a:r>
            <a:r>
              <a:rPr spc="-35"/>
              <a:t> </a:t>
            </a:r>
            <a:r>
              <a:t>and</a:t>
            </a:r>
            <a:r>
              <a:rPr spc="-35"/>
              <a:t> </a:t>
            </a:r>
            <a:r>
              <a:rPr spc="-10"/>
              <a:t>generalization</a:t>
            </a:r>
            <a:r>
              <a:rPr spc="-30"/>
              <a:t> </a:t>
            </a:r>
            <a:r>
              <a:t>to</a:t>
            </a:r>
            <a:r>
              <a:rPr spc="-35"/>
              <a:t> </a:t>
            </a:r>
            <a:r>
              <a:t>unseen</a:t>
            </a:r>
            <a:r>
              <a:rPr spc="-35"/>
              <a:t> </a:t>
            </a:r>
            <a:r>
              <a:rPr spc="-10"/>
              <a:t>URLs.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Dataset</a:t>
            </a:r>
            <a:r>
              <a:rPr spc="-200"/>
              <a:t> </a:t>
            </a:r>
            <a:r>
              <a:rPr spc="-100"/>
              <a:t>Overview</a:t>
            </a:r>
          </a:p>
        </p:txBody>
      </p:sp>
      <p:sp>
        <p:nvSpPr>
          <p:cNvPr id="143" name="object 3"/>
          <p:cNvSpPr txBox="1"/>
          <p:nvPr/>
        </p:nvSpPr>
        <p:spPr>
          <a:xfrm>
            <a:off x="11504638" y="338333"/>
            <a:ext cx="16700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50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44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object 6"/>
          <p:cNvSpPr txBox="1"/>
          <p:nvPr/>
        </p:nvSpPr>
        <p:spPr>
          <a:xfrm>
            <a:off x="777237" y="1142996"/>
            <a:ext cx="5074922" cy="1085969"/>
          </a:xfrm>
          <a:prstGeom prst="rect">
            <a:avLst/>
          </a:prstGeom>
          <a:solidFill>
            <a:srgbClr val="DDF4E4"/>
          </a:solidFill>
          <a:ln w="12700">
            <a:solidFill>
              <a:srgbClr val="B7CDD9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7620">
              <a:defRPr b="1" sz="15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Aalto</a:t>
            </a:r>
            <a:r>
              <a:rPr spc="-40"/>
              <a:t> </a:t>
            </a:r>
            <a:r>
              <a:t>University</a:t>
            </a:r>
            <a:r>
              <a:rPr spc="-30"/>
              <a:t> </a:t>
            </a:r>
            <a:r>
              <a:t>URL</a:t>
            </a:r>
            <a:r>
              <a:rPr spc="-60"/>
              <a:t> </a:t>
            </a:r>
            <a:r>
              <a:rPr spc="-10"/>
              <a:t>Dataset</a:t>
            </a:r>
          </a:p>
          <a:p>
            <a:pPr indent="7620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96,018</a:t>
            </a:r>
            <a:r>
              <a:rPr spc="-50"/>
              <a:t> </a:t>
            </a:r>
            <a:r>
              <a:rPr spc="-20"/>
              <a:t>URLs</a:t>
            </a:r>
          </a:p>
          <a:p>
            <a:pPr indent="7620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48,009</a:t>
            </a:r>
            <a:r>
              <a:rPr spc="-35"/>
              <a:t> </a:t>
            </a:r>
            <a:r>
              <a:t>legitimate</a:t>
            </a:r>
            <a:r>
              <a:rPr spc="-35"/>
              <a:t> </a:t>
            </a:r>
            <a:r>
              <a:t>+</a:t>
            </a:r>
            <a:r>
              <a:rPr spc="-35"/>
              <a:t> </a:t>
            </a:r>
            <a:r>
              <a:t>48,009</a:t>
            </a:r>
            <a:r>
              <a:rPr spc="-35"/>
              <a:t> </a:t>
            </a:r>
            <a:r>
              <a:rPr spc="-10"/>
              <a:t>phishing</a:t>
            </a:r>
          </a:p>
          <a:p>
            <a:pPr indent="7620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Balanced</a:t>
            </a:r>
            <a:r>
              <a:rPr spc="-55"/>
              <a:t> </a:t>
            </a:r>
            <a:r>
              <a:t>benchmark</a:t>
            </a:r>
            <a:r>
              <a:rPr spc="-55"/>
              <a:t> </a:t>
            </a:r>
            <a:r>
              <a:t>for</a:t>
            </a:r>
            <a:r>
              <a:rPr spc="-55"/>
              <a:t> </a:t>
            </a:r>
            <a:r>
              <a:t>URL</a:t>
            </a:r>
            <a:r>
              <a:rPr spc="-104"/>
              <a:t> </a:t>
            </a:r>
            <a:r>
              <a:t>legitimacy</a:t>
            </a:r>
            <a:r>
              <a:rPr spc="-50"/>
              <a:t> </a:t>
            </a:r>
            <a:r>
              <a:rPr spc="-10"/>
              <a:t>classification.</a:t>
            </a:r>
          </a:p>
        </p:txBody>
      </p:sp>
      <p:sp>
        <p:nvSpPr>
          <p:cNvPr id="147" name="object 9"/>
          <p:cNvSpPr txBox="1"/>
          <p:nvPr>
            <p:ph type="sldNum" sz="quarter" idx="4294967295"/>
          </p:nvPr>
        </p:nvSpPr>
        <p:spPr>
          <a:xfrm>
            <a:off x="11347601" y="6497318"/>
            <a:ext cx="146833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8" name="object 7"/>
          <p:cNvSpPr txBox="1"/>
          <p:nvPr/>
        </p:nvSpPr>
        <p:spPr>
          <a:xfrm>
            <a:off x="6355076" y="1142996"/>
            <a:ext cx="5074921" cy="1085969"/>
          </a:xfrm>
          <a:prstGeom prst="rect">
            <a:avLst/>
          </a:prstGeom>
          <a:solidFill>
            <a:srgbClr val="EDE7F6"/>
          </a:solidFill>
          <a:ln w="12700">
            <a:solidFill>
              <a:srgbClr val="B7CDD9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6985">
              <a:defRPr b="1" sz="15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Kaggle</a:t>
            </a:r>
            <a:r>
              <a:rPr spc="-25"/>
              <a:t> </a:t>
            </a:r>
            <a:r>
              <a:t>Phishing</a:t>
            </a:r>
            <a:r>
              <a:rPr spc="-30"/>
              <a:t> </a:t>
            </a:r>
            <a:r>
              <a:rPr spc="-10"/>
              <a:t>Dataset</a:t>
            </a:r>
          </a:p>
          <a:p>
            <a:pPr indent="6985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549,346</a:t>
            </a:r>
            <a:r>
              <a:rPr spc="-55"/>
              <a:t> </a:t>
            </a:r>
            <a:r>
              <a:rPr spc="-20"/>
              <a:t>URLs</a:t>
            </a:r>
          </a:p>
          <a:p>
            <a:pPr marR="982344" indent="6985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Used</a:t>
            </a:r>
            <a:r>
              <a:rPr spc="-45"/>
              <a:t> </a:t>
            </a:r>
            <a:r>
              <a:t>for</a:t>
            </a:r>
            <a:r>
              <a:rPr spc="-45"/>
              <a:t> </a:t>
            </a:r>
            <a:r>
              <a:t>model</a:t>
            </a:r>
            <a:r>
              <a:rPr spc="-40"/>
              <a:t> </a:t>
            </a:r>
            <a:r>
              <a:t>optimisation</a:t>
            </a:r>
            <a:r>
              <a:rPr spc="-40"/>
              <a:t> </a:t>
            </a:r>
            <a:r>
              <a:t>and</a:t>
            </a:r>
            <a:r>
              <a:rPr spc="-40"/>
              <a:t> </a:t>
            </a:r>
            <a:r>
              <a:rPr spc="-10"/>
              <a:t>validation </a:t>
            </a:r>
            <a:r>
              <a:t>Requires</a:t>
            </a:r>
            <a:r>
              <a:rPr spc="-40"/>
              <a:t> </a:t>
            </a:r>
            <a:r>
              <a:rPr spc="-10"/>
              <a:t>preprocessing</a:t>
            </a:r>
            <a:r>
              <a:rPr spc="-35"/>
              <a:t> </a:t>
            </a:r>
            <a:r>
              <a:t>and</a:t>
            </a:r>
            <a:r>
              <a:rPr spc="-35"/>
              <a:t> </a:t>
            </a:r>
            <a:r>
              <a:t>balanced</a:t>
            </a:r>
            <a:r>
              <a:rPr spc="-40"/>
              <a:t> </a:t>
            </a:r>
            <a:r>
              <a:rPr spc="-10"/>
              <a:t>sampling.</a:t>
            </a:r>
          </a:p>
        </p:txBody>
      </p:sp>
      <p:sp>
        <p:nvSpPr>
          <p:cNvPr id="149" name="object 8"/>
          <p:cNvSpPr txBox="1"/>
          <p:nvPr/>
        </p:nvSpPr>
        <p:spPr>
          <a:xfrm>
            <a:off x="694875" y="3440307"/>
            <a:ext cx="7042151" cy="1951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Important</a:t>
            </a:r>
            <a:r>
              <a:rPr spc="-55"/>
              <a:t> </a:t>
            </a:r>
            <a:r>
              <a:t>feature</a:t>
            </a:r>
            <a:r>
              <a:rPr spc="-45"/>
              <a:t> </a:t>
            </a:r>
            <a:r>
              <a:rPr spc="-10"/>
              <a:t>categories</a:t>
            </a:r>
          </a:p>
          <a:p>
            <a:pPr indent="75564">
              <a:lnSpc>
                <a:spcPts val="1900"/>
              </a:lnSpc>
              <a:spcBef>
                <a:spcPts val="1900"/>
              </a:spcBef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URL</a:t>
            </a:r>
            <a:r>
              <a:rPr spc="-100"/>
              <a:t> </a:t>
            </a:r>
            <a:r>
              <a:t>length</a:t>
            </a:r>
            <a:r>
              <a:rPr spc="-20"/>
              <a:t> </a:t>
            </a:r>
            <a:r>
              <a:rPr b="0"/>
              <a:t>—</a:t>
            </a:r>
            <a:r>
              <a:rPr b="0" spc="-20"/>
              <a:t> </a:t>
            </a:r>
            <a:r>
              <a:rPr b="0"/>
              <a:t>how</a:t>
            </a:r>
            <a:r>
              <a:rPr b="0" spc="-15"/>
              <a:t> </a:t>
            </a:r>
            <a:r>
              <a:rPr b="0"/>
              <a:t>long</a:t>
            </a:r>
            <a:r>
              <a:rPr b="0" spc="-20"/>
              <a:t> </a:t>
            </a:r>
            <a:r>
              <a:rPr b="0"/>
              <a:t>the</a:t>
            </a:r>
            <a:r>
              <a:rPr b="0" spc="-20"/>
              <a:t> </a:t>
            </a:r>
            <a:r>
              <a:rPr b="0"/>
              <a:t>URL</a:t>
            </a:r>
            <a:r>
              <a:rPr b="0" spc="-75"/>
              <a:t> </a:t>
            </a:r>
            <a:r>
              <a:rPr b="0" spc="-25"/>
              <a:t>is.</a:t>
            </a:r>
          </a:p>
          <a:p>
            <a:pPr indent="75564">
              <a:lnSpc>
                <a:spcPts val="1900"/>
              </a:lnSpc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Digits</a:t>
            </a:r>
            <a:r>
              <a:rPr spc="-35"/>
              <a:t> </a:t>
            </a:r>
            <a:r>
              <a:rPr b="0"/>
              <a:t>—</a:t>
            </a:r>
            <a:r>
              <a:rPr b="0" spc="-30"/>
              <a:t> </a:t>
            </a:r>
            <a:r>
              <a:rPr b="0"/>
              <a:t>how</a:t>
            </a:r>
            <a:r>
              <a:rPr b="0" spc="-30"/>
              <a:t> </a:t>
            </a:r>
            <a:r>
              <a:rPr b="0"/>
              <a:t>many</a:t>
            </a:r>
            <a:r>
              <a:rPr b="0" spc="-30"/>
              <a:t> </a:t>
            </a:r>
            <a:r>
              <a:rPr b="0"/>
              <a:t>numbers</a:t>
            </a:r>
            <a:r>
              <a:rPr b="0" spc="-30"/>
              <a:t> </a:t>
            </a:r>
            <a:r>
              <a:rPr b="0"/>
              <a:t>are</a:t>
            </a:r>
            <a:r>
              <a:rPr b="0" spc="-35"/>
              <a:t> </a:t>
            </a:r>
            <a:r>
              <a:rPr b="0" spc="-10"/>
              <a:t>present.</a:t>
            </a:r>
          </a:p>
          <a:p>
            <a:pPr indent="75564">
              <a:lnSpc>
                <a:spcPts val="1900"/>
              </a:lnSpc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Special</a:t>
            </a:r>
            <a:r>
              <a:rPr spc="-60"/>
              <a:t> </a:t>
            </a:r>
            <a:r>
              <a:t>characters</a:t>
            </a:r>
            <a:r>
              <a:rPr spc="-55"/>
              <a:t> </a:t>
            </a:r>
            <a:r>
              <a:rPr b="0"/>
              <a:t>—</a:t>
            </a:r>
            <a:r>
              <a:rPr b="0" spc="-50"/>
              <a:t> </a:t>
            </a:r>
            <a:r>
              <a:rPr b="0"/>
              <a:t>whether</a:t>
            </a:r>
            <a:r>
              <a:rPr b="0" spc="-55"/>
              <a:t> </a:t>
            </a:r>
            <a:r>
              <a:rPr b="0"/>
              <a:t>unusual</a:t>
            </a:r>
            <a:r>
              <a:rPr b="0" spc="-55"/>
              <a:t> </a:t>
            </a:r>
            <a:r>
              <a:rPr b="0"/>
              <a:t>symbols</a:t>
            </a:r>
            <a:r>
              <a:rPr b="0" spc="-50"/>
              <a:t> </a:t>
            </a:r>
            <a:r>
              <a:rPr b="0"/>
              <a:t>are</a:t>
            </a:r>
            <a:r>
              <a:rPr b="0" spc="-60"/>
              <a:t> </a:t>
            </a:r>
            <a:r>
              <a:rPr b="0" spc="-10"/>
              <a:t>used.</a:t>
            </a:r>
          </a:p>
          <a:p>
            <a:pPr indent="75564">
              <a:lnSpc>
                <a:spcPts val="1900"/>
              </a:lnSpc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Subdomains</a:t>
            </a:r>
            <a:r>
              <a:rPr spc="-45"/>
              <a:t> </a:t>
            </a:r>
            <a:r>
              <a:rPr b="0"/>
              <a:t>—</a:t>
            </a:r>
            <a:r>
              <a:rPr b="0" spc="-35"/>
              <a:t> </a:t>
            </a:r>
            <a:r>
              <a:rPr b="0"/>
              <a:t>whether</a:t>
            </a:r>
            <a:r>
              <a:rPr b="0" spc="-35"/>
              <a:t> </a:t>
            </a:r>
            <a:r>
              <a:rPr b="0"/>
              <a:t>the</a:t>
            </a:r>
            <a:r>
              <a:rPr b="0" spc="-40"/>
              <a:t> </a:t>
            </a:r>
            <a:r>
              <a:rPr b="0"/>
              <a:t>URL</a:t>
            </a:r>
            <a:r>
              <a:rPr b="0" spc="-90"/>
              <a:t> </a:t>
            </a:r>
            <a:r>
              <a:rPr b="0"/>
              <a:t>contains</a:t>
            </a:r>
            <a:r>
              <a:rPr b="0" spc="-40"/>
              <a:t> </a:t>
            </a:r>
            <a:r>
              <a:rPr b="0"/>
              <a:t>many</a:t>
            </a:r>
            <a:r>
              <a:rPr b="0" spc="-35"/>
              <a:t> </a:t>
            </a:r>
            <a:r>
              <a:rPr b="0" spc="-10"/>
              <a:t>levels.</a:t>
            </a:r>
          </a:p>
          <a:p>
            <a:pPr indent="75564">
              <a:lnSpc>
                <a:spcPts val="1900"/>
              </a:lnSpc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IP</a:t>
            </a:r>
            <a:r>
              <a:rPr spc="-100"/>
              <a:t> </a:t>
            </a:r>
            <a:r>
              <a:t>address</a:t>
            </a:r>
            <a:r>
              <a:rPr spc="-55"/>
              <a:t> </a:t>
            </a:r>
            <a:r>
              <a:t>usage</a:t>
            </a:r>
            <a:r>
              <a:rPr spc="-40"/>
              <a:t> </a:t>
            </a:r>
            <a:r>
              <a:rPr b="0"/>
              <a:t>—</a:t>
            </a:r>
            <a:r>
              <a:rPr b="0" spc="-35"/>
              <a:t> </a:t>
            </a:r>
            <a:r>
              <a:rPr b="0"/>
              <a:t>whether</a:t>
            </a:r>
            <a:r>
              <a:rPr b="0" spc="-35"/>
              <a:t> </a:t>
            </a:r>
            <a:r>
              <a:rPr b="0"/>
              <a:t>an</a:t>
            </a:r>
            <a:r>
              <a:rPr b="0" spc="-35"/>
              <a:t> </a:t>
            </a:r>
            <a:r>
              <a:rPr b="0"/>
              <a:t>IP</a:t>
            </a:r>
            <a:r>
              <a:rPr b="0" spc="-90"/>
              <a:t> </a:t>
            </a:r>
            <a:r>
              <a:rPr b="0"/>
              <a:t>address</a:t>
            </a:r>
            <a:r>
              <a:rPr b="0" spc="-35"/>
              <a:t> </a:t>
            </a:r>
            <a:r>
              <a:rPr b="0"/>
              <a:t>is</a:t>
            </a:r>
            <a:r>
              <a:rPr b="0" spc="-35"/>
              <a:t> </a:t>
            </a:r>
            <a:r>
              <a:rPr b="0"/>
              <a:t>used</a:t>
            </a:r>
            <a:r>
              <a:rPr b="0" spc="-35"/>
              <a:t> </a:t>
            </a:r>
            <a:r>
              <a:rPr b="0"/>
              <a:t>instead</a:t>
            </a:r>
            <a:r>
              <a:rPr b="0" spc="-35"/>
              <a:t> </a:t>
            </a:r>
            <a:r>
              <a:rPr b="0"/>
              <a:t>of</a:t>
            </a:r>
            <a:r>
              <a:rPr b="0" spc="-35"/>
              <a:t> </a:t>
            </a:r>
            <a:r>
              <a:rPr b="0"/>
              <a:t>a</a:t>
            </a:r>
            <a:r>
              <a:rPr b="0" spc="-40"/>
              <a:t> </a:t>
            </a:r>
            <a:r>
              <a:rPr b="0"/>
              <a:t>normal</a:t>
            </a:r>
            <a:r>
              <a:rPr b="0" spc="-40"/>
              <a:t> </a:t>
            </a:r>
            <a:r>
              <a:rPr b="0"/>
              <a:t>domain</a:t>
            </a:r>
            <a:r>
              <a:rPr b="0" spc="-35"/>
              <a:t> </a:t>
            </a:r>
            <a:r>
              <a:rPr b="0" spc="-10"/>
              <a:t>name.</a:t>
            </a:r>
          </a:p>
          <a:p>
            <a:pPr indent="75564">
              <a:lnSpc>
                <a:spcPts val="1900"/>
              </a:lnSpc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Domain</a:t>
            </a:r>
            <a:r>
              <a:rPr spc="-55"/>
              <a:t> </a:t>
            </a:r>
            <a:r>
              <a:t>information</a:t>
            </a:r>
            <a:r>
              <a:rPr spc="-55"/>
              <a:t> </a:t>
            </a:r>
            <a:r>
              <a:rPr b="0"/>
              <a:t>—</a:t>
            </a:r>
            <a:r>
              <a:rPr b="0" spc="-55"/>
              <a:t> </a:t>
            </a:r>
            <a:r>
              <a:rPr b="0"/>
              <a:t>information</a:t>
            </a:r>
            <a:r>
              <a:rPr b="0" spc="-50"/>
              <a:t> </a:t>
            </a:r>
            <a:r>
              <a:rPr b="0"/>
              <a:t>related</a:t>
            </a:r>
            <a:r>
              <a:rPr b="0" spc="-50"/>
              <a:t> </a:t>
            </a:r>
            <a:r>
              <a:rPr b="0"/>
              <a:t>to</a:t>
            </a:r>
            <a:r>
              <a:rPr b="0" spc="-55"/>
              <a:t> </a:t>
            </a:r>
            <a:r>
              <a:rPr b="0"/>
              <a:t>the</a:t>
            </a:r>
            <a:r>
              <a:rPr b="0" spc="-55"/>
              <a:t> </a:t>
            </a:r>
            <a:r>
              <a:rPr b="0"/>
              <a:t>registered</a:t>
            </a:r>
            <a:r>
              <a:rPr b="0" spc="-55"/>
              <a:t> </a:t>
            </a:r>
            <a:r>
              <a:rPr b="0" spc="-10"/>
              <a:t>domain.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Dataset</a:t>
            </a:r>
          </a:p>
        </p:txBody>
      </p:sp>
      <p:sp>
        <p:nvSpPr>
          <p:cNvPr id="152" name="object 3"/>
          <p:cNvSpPr txBox="1"/>
          <p:nvPr/>
        </p:nvSpPr>
        <p:spPr>
          <a:xfrm>
            <a:off x="11504638" y="338333"/>
            <a:ext cx="16700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50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3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55" name="object 6"/>
          <p:cNvGraphicFramePr/>
          <p:nvPr/>
        </p:nvGraphicFramePr>
        <p:xfrm>
          <a:off x="495934" y="1044575"/>
          <a:ext cx="11155679" cy="319849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63040"/>
                <a:gridCol w="3108960"/>
                <a:gridCol w="3200400"/>
                <a:gridCol w="3383279"/>
              </a:tblGrid>
              <a:tr h="639445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0" algn="ctr">
                        <a:lnSpc>
                          <a:spcPct val="100000"/>
                        </a:lnSpc>
                        <a:defRPr b="1" spc="-9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Dataset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b="1" spc="-9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Source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b="1"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Size / Class </a:t>
                      </a:r>
                      <a:r>
                        <a:rPr spc="-9"/>
                        <a:t>Distribution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b="1"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Use in</a:t>
                      </a:r>
                      <a:r>
                        <a:rPr spc="-4"/>
                        <a:t> </a:t>
                      </a:r>
                      <a:r>
                        <a:rPr spc="-9"/>
                        <a:t>Project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 w="19050">
                      <a:solidFill>
                        <a:srgbClr val="7893A6"/>
                      </a:solidFill>
                    </a:lnT>
                    <a:lnB>
                      <a:solidFill>
                        <a:srgbClr val="9EB5C7"/>
                      </a:solidFill>
                    </a:lnB>
                    <a:solidFill>
                      <a:srgbClr val="E8EEF5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0" algn="ctr">
                        <a:lnSpc>
                          <a:spcPct val="100000"/>
                        </a:lnSpc>
                        <a:defRPr spc="-9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Aalto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Aalto</a:t>
                      </a:r>
                      <a:r>
                        <a:rPr spc="-15"/>
                        <a:t> </a:t>
                      </a:r>
                      <a:r>
                        <a:t>University</a:t>
                      </a:r>
                      <a:r>
                        <a:rPr spc="-15"/>
                        <a:t> </a:t>
                      </a:r>
                      <a:r>
                        <a:t>URL</a:t>
                      </a:r>
                      <a:r>
                        <a:rPr spc="-50"/>
                        <a:t> </a:t>
                      </a:r>
                      <a:r>
                        <a:rPr spc="-9"/>
                        <a:t>dataset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1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96,018</a:t>
                      </a:r>
                      <a:r>
                        <a:rPr spc="30"/>
                        <a:t> </a:t>
                      </a:r>
                      <a:r>
                        <a:rPr spc="-19"/>
                        <a:t>URLs</a:t>
                      </a: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48,009</a:t>
                      </a:r>
                      <a:r>
                        <a:rPr spc="9"/>
                        <a:t> </a:t>
                      </a:r>
                      <a:r>
                        <a:t>legitimate</a:t>
                      </a:r>
                      <a:r>
                        <a:rPr spc="15"/>
                        <a:t> </a:t>
                      </a:r>
                      <a:r>
                        <a:t>+</a:t>
                      </a:r>
                      <a:r>
                        <a:rPr spc="15"/>
                        <a:t> </a:t>
                      </a:r>
                      <a:r>
                        <a:t>48,009</a:t>
                      </a:r>
                      <a:r>
                        <a:rPr spc="15"/>
                        <a:t> </a:t>
                      </a:r>
                      <a:r>
                        <a:rPr spc="-9"/>
                        <a:t>phishing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Primary</a:t>
                      </a:r>
                      <a:r>
                        <a:rPr spc="-9"/>
                        <a:t> </a:t>
                      </a:r>
                      <a:r>
                        <a:t>benchmark</a:t>
                      </a:r>
                      <a:r>
                        <a:rPr spc="-4"/>
                        <a:t> </a:t>
                      </a:r>
                      <a:r>
                        <a:t>for</a:t>
                      </a:r>
                      <a:r>
                        <a:rPr spc="-9"/>
                        <a:t> </a:t>
                      </a:r>
                      <a:r>
                        <a:t>baseline</a:t>
                      </a:r>
                      <a:r>
                        <a:rPr spc="-4"/>
                        <a:t> </a:t>
                      </a:r>
                      <a:r>
                        <a:rPr spc="-9"/>
                        <a:t>comparison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0" algn="ctr">
                        <a:lnSpc>
                          <a:spcPct val="100000"/>
                        </a:lnSpc>
                        <a:defRPr spc="-9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Kaggle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Kaggle phishing URL</a:t>
                      </a:r>
                      <a:r>
                        <a:rPr spc="-35"/>
                        <a:t> </a:t>
                      </a:r>
                      <a:r>
                        <a:rPr spc="-9"/>
                        <a:t>dataset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549,346</a:t>
                      </a:r>
                      <a:r>
                        <a:rPr spc="35"/>
                        <a:t> </a:t>
                      </a:r>
                      <a:r>
                        <a:rPr spc="-19"/>
                        <a:t>URLs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Model</a:t>
                      </a:r>
                      <a:r>
                        <a:rPr spc="4"/>
                        <a:t> </a:t>
                      </a:r>
                      <a:r>
                        <a:t>optimisation, validation</a:t>
                      </a:r>
                      <a:r>
                        <a:rPr spc="9"/>
                        <a:t> </a:t>
                      </a:r>
                      <a:r>
                        <a:t>and</a:t>
                      </a:r>
                      <a:r>
                        <a:rPr spc="4"/>
                        <a:t> </a:t>
                      </a:r>
                      <a:r>
                        <a:t>generalization</a:t>
                      </a:r>
                      <a:r>
                        <a:rPr spc="9"/>
                        <a:t> </a:t>
                      </a:r>
                      <a:r>
                        <a:rPr spc="-9"/>
                        <a:t>testing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0" algn="ctr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Verified</a:t>
                      </a:r>
                      <a:r>
                        <a:rPr spc="-60"/>
                        <a:t> </a:t>
                      </a:r>
                      <a:r>
                        <a:rPr spc="-25"/>
                        <a:t>Set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Created</a:t>
                      </a:r>
                      <a:r>
                        <a:rPr spc="-4"/>
                        <a:t> </a:t>
                      </a:r>
                      <a:r>
                        <a:t>after</a:t>
                      </a:r>
                      <a:r>
                        <a:rPr spc="-4"/>
                        <a:t> </a:t>
                      </a:r>
                      <a:r>
                        <a:t>preprocessing</a:t>
                      </a:r>
                      <a:r>
                        <a:rPr spc="-4"/>
                        <a:t> </a:t>
                      </a:r>
                      <a:r>
                        <a:t>+ WHOIS</a:t>
                      </a:r>
                      <a:r>
                        <a:rPr spc="-4"/>
                        <a:t> </a:t>
                      </a:r>
                      <a:r>
                        <a:rPr spc="-9"/>
                        <a:t>checks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1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10,000</a:t>
                      </a:r>
                      <a:r>
                        <a:rPr spc="30"/>
                        <a:t> </a:t>
                      </a:r>
                      <a:r>
                        <a:rPr spc="-19"/>
                        <a:t>URLs</a:t>
                      </a: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5,000</a:t>
                      </a:r>
                      <a:r>
                        <a:rPr spc="15"/>
                        <a:t> </a:t>
                      </a:r>
                      <a:r>
                        <a:t>benign</a:t>
                      </a:r>
                      <a:r>
                        <a:rPr spc="15"/>
                        <a:t> </a:t>
                      </a:r>
                      <a:r>
                        <a:t>+</a:t>
                      </a:r>
                      <a:r>
                        <a:rPr spc="19"/>
                        <a:t> </a:t>
                      </a:r>
                      <a:r>
                        <a:t>5,000</a:t>
                      </a:r>
                      <a:r>
                        <a:rPr spc="15"/>
                        <a:t> </a:t>
                      </a:r>
                      <a:r>
                        <a:rPr spc="-9"/>
                        <a:t>phishing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Controlled balanced</a:t>
                      </a:r>
                      <a:r>
                        <a:rPr spc="4"/>
                        <a:t> </a:t>
                      </a:r>
                      <a:r>
                        <a:t>experiment</a:t>
                      </a:r>
                      <a:r>
                        <a:rPr spc="-4"/>
                        <a:t> </a:t>
                      </a:r>
                      <a:r>
                        <a:t>in</a:t>
                      </a:r>
                      <a:r>
                        <a:rPr spc="4"/>
                        <a:t> </a:t>
                      </a:r>
                      <a:r>
                        <a:t>reference </a:t>
                      </a:r>
                      <a:r>
                        <a:rPr spc="-9"/>
                        <a:t>paper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>
                      <a:solidFill>
                        <a:srgbClr val="9EB5C7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0" algn="ctr">
                        <a:lnSpc>
                          <a:spcPct val="100000"/>
                        </a:lnSpc>
                        <a:defRPr spc="-9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Target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7893A6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Binary</a:t>
                      </a:r>
                      <a:r>
                        <a:rPr spc="-4"/>
                        <a:t> </a:t>
                      </a:r>
                      <a:r>
                        <a:rPr spc="-9"/>
                        <a:t>label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Phishing</a:t>
                      </a:r>
                      <a:r>
                        <a:rPr spc="-4"/>
                        <a:t> </a:t>
                      </a:r>
                      <a:r>
                        <a:t>/</a:t>
                      </a:r>
                      <a:r>
                        <a:rPr spc="-9"/>
                        <a:t> Legitimate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>
                      <a:solidFill>
                        <a:srgbClr val="9EB5C7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700"/>
                        </a:spcBef>
                        <a:defRPr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4444">
                        <a:lnSpc>
                          <a:spcPct val="100000"/>
                        </a:lnSpc>
                        <a:defRPr spc="0">
                          <a:solidFill>
                            <a:srgbClr val="10182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Final</a:t>
                      </a:r>
                      <a:r>
                        <a:rPr spc="-19"/>
                        <a:t> </a:t>
                      </a:r>
                      <a:r>
                        <a:t>classification</a:t>
                      </a:r>
                      <a:r>
                        <a:rPr spc="-15"/>
                        <a:t> </a:t>
                      </a:r>
                      <a:r>
                        <a:rPr spc="-9"/>
                        <a:t>output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B5C7"/>
                      </a:solidFill>
                    </a:lnL>
                    <a:lnR w="19050">
                      <a:solidFill>
                        <a:srgbClr val="7893A6"/>
                      </a:solidFill>
                    </a:lnR>
                    <a:lnT>
                      <a:solidFill>
                        <a:srgbClr val="9EB5C7"/>
                      </a:solidFill>
                    </a:lnT>
                    <a:lnB w="19050">
                      <a:solidFill>
                        <a:srgbClr val="7893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6" name="object 8"/>
          <p:cNvSpPr txBox="1"/>
          <p:nvPr>
            <p:ph type="sldNum" sz="quarter" idx="4294967295"/>
          </p:nvPr>
        </p:nvSpPr>
        <p:spPr>
          <a:xfrm>
            <a:off x="11347601" y="6497318"/>
            <a:ext cx="146833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7" name="object 7"/>
          <p:cNvSpPr txBox="1"/>
          <p:nvPr/>
        </p:nvSpPr>
        <p:spPr>
          <a:xfrm>
            <a:off x="868679" y="4800596"/>
            <a:ext cx="10424160" cy="673287"/>
          </a:xfrm>
          <a:prstGeom prst="rect">
            <a:avLst/>
          </a:prstGeom>
          <a:solidFill>
            <a:srgbClr val="D8EEF8"/>
          </a:solidFill>
          <a:ln w="12700">
            <a:solidFill>
              <a:srgbClr val="B7CDD9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7620">
              <a:spcBef>
                <a:spcPts val="500"/>
              </a:spcBef>
              <a:defRPr b="1" sz="15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Preprocessing</a:t>
            </a:r>
            <a:r>
              <a:rPr spc="-85"/>
              <a:t> </a:t>
            </a:r>
            <a:r>
              <a:rPr spc="-10"/>
              <a:t>Pipeline</a:t>
            </a:r>
          </a:p>
          <a:p>
            <a:pPr indent="7620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Null</a:t>
            </a:r>
            <a:r>
              <a:rPr spc="-35"/>
              <a:t> </a:t>
            </a:r>
            <a:r>
              <a:t>/</a:t>
            </a:r>
            <a:r>
              <a:rPr spc="-35"/>
              <a:t> </a:t>
            </a:r>
            <a:r>
              <a:t>duplicate</a:t>
            </a:r>
            <a:r>
              <a:rPr spc="-35"/>
              <a:t> </a:t>
            </a:r>
            <a:r>
              <a:t>removal</a:t>
            </a:r>
            <a:r>
              <a:rPr spc="-30"/>
              <a:t> </a:t>
            </a:r>
            <a:r>
              <a:rPr>
                <a:latin typeface="Microsoft Sans Serif"/>
                <a:ea typeface="Microsoft Sans Serif"/>
                <a:cs typeface="Microsoft Sans Serif"/>
                <a:sym typeface="Microsoft Sans Serif"/>
              </a:rPr>
              <a:t>→</a:t>
            </a:r>
            <a:r>
              <a:rPr spc="-20">
                <a:latin typeface="Microsoft Sans Serif"/>
                <a:ea typeface="Microsoft Sans Serif"/>
                <a:cs typeface="Microsoft Sans Serif"/>
                <a:sym typeface="Microsoft Sans Serif"/>
              </a:rPr>
              <a:t> </a:t>
            </a:r>
            <a:r>
              <a:t>URL</a:t>
            </a:r>
            <a:r>
              <a:rPr spc="-80"/>
              <a:t> </a:t>
            </a:r>
            <a:r>
              <a:t>validation</a:t>
            </a:r>
            <a:r>
              <a:rPr spc="-40"/>
              <a:t> </a:t>
            </a:r>
            <a:r>
              <a:rPr>
                <a:latin typeface="Microsoft Sans Serif"/>
                <a:ea typeface="Microsoft Sans Serif"/>
                <a:cs typeface="Microsoft Sans Serif"/>
                <a:sym typeface="Microsoft Sans Serif"/>
              </a:rPr>
              <a:t>→</a:t>
            </a:r>
            <a:r>
              <a:rPr spc="-15">
                <a:latin typeface="Microsoft Sans Serif"/>
                <a:ea typeface="Microsoft Sans Serif"/>
                <a:cs typeface="Microsoft Sans Serif"/>
                <a:sym typeface="Microsoft Sans Serif"/>
              </a:rPr>
              <a:t> </a:t>
            </a:r>
            <a:r>
              <a:t>feature</a:t>
            </a:r>
            <a:r>
              <a:rPr spc="-35"/>
              <a:t> </a:t>
            </a:r>
            <a:r>
              <a:t>extraction</a:t>
            </a:r>
            <a:r>
              <a:rPr spc="-35"/>
              <a:t> </a:t>
            </a:r>
            <a:r>
              <a:rPr>
                <a:latin typeface="Microsoft Sans Serif"/>
                <a:ea typeface="Microsoft Sans Serif"/>
                <a:cs typeface="Microsoft Sans Serif"/>
                <a:sym typeface="Microsoft Sans Serif"/>
              </a:rPr>
              <a:t>→</a:t>
            </a:r>
            <a:r>
              <a:rPr spc="-15">
                <a:latin typeface="Microsoft Sans Serif"/>
                <a:ea typeface="Microsoft Sans Serif"/>
                <a:cs typeface="Microsoft Sans Serif"/>
                <a:sym typeface="Microsoft Sans Serif"/>
              </a:rPr>
              <a:t> </a:t>
            </a:r>
            <a:r>
              <a:t>WHOIS</a:t>
            </a:r>
            <a:r>
              <a:rPr spc="-35"/>
              <a:t> </a:t>
            </a:r>
            <a:r>
              <a:t>verification</a:t>
            </a:r>
            <a:r>
              <a:rPr spc="-30"/>
              <a:t> </a:t>
            </a:r>
            <a:r>
              <a:rPr>
                <a:latin typeface="Microsoft Sans Serif"/>
                <a:ea typeface="Microsoft Sans Serif"/>
                <a:cs typeface="Microsoft Sans Serif"/>
                <a:sym typeface="Microsoft Sans Serif"/>
              </a:rPr>
              <a:t>→</a:t>
            </a:r>
            <a:r>
              <a:rPr spc="-20">
                <a:latin typeface="Microsoft Sans Serif"/>
                <a:ea typeface="Microsoft Sans Serif"/>
                <a:cs typeface="Microsoft Sans Serif"/>
                <a:sym typeface="Microsoft Sans Serif"/>
              </a:rPr>
              <a:t> </a:t>
            </a:r>
            <a:r>
              <a:t>label</a:t>
            </a:r>
            <a:r>
              <a:rPr spc="-30"/>
              <a:t> </a:t>
            </a:r>
            <a:r>
              <a:t>encoding</a:t>
            </a:r>
            <a:r>
              <a:rPr spc="-40"/>
              <a:t> </a:t>
            </a:r>
            <a:r>
              <a:rPr>
                <a:latin typeface="Microsoft Sans Serif"/>
                <a:ea typeface="Microsoft Sans Serif"/>
                <a:cs typeface="Microsoft Sans Serif"/>
                <a:sym typeface="Microsoft Sans Serif"/>
              </a:rPr>
              <a:t>→</a:t>
            </a:r>
            <a:r>
              <a:rPr spc="-15">
                <a:latin typeface="Microsoft Sans Serif"/>
                <a:ea typeface="Microsoft Sans Serif"/>
                <a:cs typeface="Microsoft Sans Serif"/>
                <a:sym typeface="Microsoft Sans Serif"/>
              </a:rPr>
              <a:t> </a:t>
            </a:r>
            <a:r>
              <a:t>train/test</a:t>
            </a:r>
            <a:r>
              <a:rPr spc="-35"/>
              <a:t> </a:t>
            </a:r>
            <a:r>
              <a:t>split</a:t>
            </a:r>
            <a:r>
              <a:rPr spc="-35"/>
              <a:t> </a:t>
            </a:r>
            <a:r>
              <a:rPr spc="-50">
                <a:latin typeface="Microsoft Sans Serif"/>
                <a:ea typeface="Microsoft Sans Serif"/>
                <a:cs typeface="Microsoft Sans Serif"/>
                <a:sym typeface="Microsoft Sans Serif"/>
              </a:rPr>
              <a:t>→</a:t>
            </a:r>
            <a:endParaRPr>
              <a:latin typeface="Microsoft Sans Serif"/>
              <a:ea typeface="Microsoft Sans Serif"/>
              <a:cs typeface="Microsoft Sans Serif"/>
              <a:sym typeface="Microsoft Sans Serif"/>
            </a:endParaRPr>
          </a:p>
          <a:p>
            <a:pPr indent="7620"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balanced</a:t>
            </a:r>
            <a:r>
              <a:rPr spc="-60"/>
              <a:t> </a:t>
            </a:r>
            <a:r>
              <a:t>training</a:t>
            </a:r>
            <a:r>
              <a:rPr spc="-55"/>
              <a:t> </a:t>
            </a:r>
            <a:r>
              <a:t>where</a:t>
            </a:r>
            <a:r>
              <a:rPr spc="-55"/>
              <a:t> </a:t>
            </a:r>
            <a:r>
              <a:rPr spc="-10"/>
              <a:t>required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Methodology</a:t>
            </a:r>
          </a:p>
        </p:txBody>
      </p:sp>
      <p:sp>
        <p:nvSpPr>
          <p:cNvPr id="160" name="object 3"/>
          <p:cNvSpPr txBox="1"/>
          <p:nvPr/>
        </p:nvSpPr>
        <p:spPr>
          <a:xfrm>
            <a:off x="11504638" y="338333"/>
            <a:ext cx="16700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50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1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object 6"/>
          <p:cNvSpPr txBox="1"/>
          <p:nvPr/>
        </p:nvSpPr>
        <p:spPr>
          <a:xfrm>
            <a:off x="782826" y="1283573"/>
            <a:ext cx="10370822" cy="423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3370" indent="-280670">
              <a:spcBef>
                <a:spcPts val="1000"/>
              </a:spcBef>
              <a:buSzPct val="100000"/>
              <a:buAutoNum type="arabicPeriod" startAt="1"/>
              <a:tabLst>
                <a:tab pos="292100" algn="l"/>
              </a:tabLst>
              <a:defRPr b="1" sz="20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</a:t>
            </a:r>
            <a:r>
              <a:rPr spc="-35"/>
              <a:t> </a:t>
            </a:r>
            <a:r>
              <a:rPr spc="-9"/>
              <a:t>Collection</a:t>
            </a:r>
          </a:p>
          <a:p>
            <a:pPr indent="12700">
              <a:spcBef>
                <a:spcPts val="700"/>
              </a:spcBef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Use</a:t>
            </a:r>
            <a:r>
              <a:rPr spc="-69"/>
              <a:t> </a:t>
            </a:r>
            <a:r>
              <a:t>labelled</a:t>
            </a:r>
            <a:r>
              <a:rPr spc="-34"/>
              <a:t> </a:t>
            </a:r>
            <a:r>
              <a:t>phishing</a:t>
            </a:r>
            <a:r>
              <a:rPr spc="-40"/>
              <a:t> </a:t>
            </a:r>
            <a:r>
              <a:t>and</a:t>
            </a:r>
            <a:r>
              <a:rPr spc="-40"/>
              <a:t> </a:t>
            </a:r>
            <a:r>
              <a:t>legitimate</a:t>
            </a:r>
            <a:r>
              <a:rPr spc="-40"/>
              <a:t> </a:t>
            </a:r>
            <a:r>
              <a:t>URLs</a:t>
            </a:r>
            <a:r>
              <a:rPr spc="-40"/>
              <a:t> </a:t>
            </a:r>
            <a:r>
              <a:t>from</a:t>
            </a:r>
            <a:r>
              <a:rPr spc="-45"/>
              <a:t> </a:t>
            </a:r>
            <a:r>
              <a:rPr spc="-10"/>
              <a:t>the</a:t>
            </a:r>
            <a:r>
              <a:rPr spc="-110"/>
              <a:t> </a:t>
            </a:r>
            <a:r>
              <a:t>Aalto</a:t>
            </a:r>
            <a:r>
              <a:rPr spc="-34"/>
              <a:t> </a:t>
            </a:r>
            <a:r>
              <a:t>University</a:t>
            </a:r>
            <a:r>
              <a:rPr spc="-45"/>
              <a:t> </a:t>
            </a:r>
            <a:r>
              <a:t>and</a:t>
            </a:r>
            <a:r>
              <a:rPr spc="-40"/>
              <a:t> </a:t>
            </a:r>
            <a:r>
              <a:t>Kaggle</a:t>
            </a:r>
            <a:r>
              <a:rPr spc="-34"/>
              <a:t> </a:t>
            </a:r>
            <a:r>
              <a:rPr spc="-10"/>
              <a:t>datasets.</a:t>
            </a:r>
          </a:p>
          <a:p>
            <a:pPr marL="293370" indent="-280670">
              <a:buSzPct val="100000"/>
              <a:buAutoNum type="arabicPeriod" startAt="2"/>
              <a:tabLst>
                <a:tab pos="292100" algn="l"/>
              </a:tabLst>
              <a:defRPr b="1" sz="20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</a:t>
            </a:r>
            <a:r>
              <a:rPr spc="-45"/>
              <a:t> </a:t>
            </a:r>
            <a:r>
              <a:t>Cleaning</a:t>
            </a:r>
            <a:r>
              <a:rPr spc="-45"/>
              <a:t> </a:t>
            </a:r>
            <a:r>
              <a:t>&amp;</a:t>
            </a:r>
            <a:r>
              <a:rPr spc="-45"/>
              <a:t> </a:t>
            </a:r>
            <a:r>
              <a:rPr spc="-9"/>
              <a:t>Preprocessing</a:t>
            </a:r>
          </a:p>
          <a:p>
            <a:pPr marR="772794" indent="12700">
              <a:lnSpc>
                <a:spcPts val="2000"/>
              </a:lnSpc>
              <a:spcBef>
                <a:spcPts val="800"/>
              </a:spcBef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Remove</a:t>
            </a:r>
            <a:r>
              <a:rPr spc="-50"/>
              <a:t> </a:t>
            </a:r>
            <a:r>
              <a:t>null</a:t>
            </a:r>
            <a:r>
              <a:rPr spc="-45"/>
              <a:t> </a:t>
            </a:r>
            <a:r>
              <a:t>and</a:t>
            </a:r>
            <a:r>
              <a:rPr spc="-45"/>
              <a:t> </a:t>
            </a:r>
            <a:r>
              <a:t>duplicate</a:t>
            </a:r>
            <a:r>
              <a:rPr spc="-45"/>
              <a:t> </a:t>
            </a:r>
            <a:r>
              <a:t>records,</a:t>
            </a:r>
            <a:r>
              <a:rPr spc="-50"/>
              <a:t> </a:t>
            </a:r>
            <a:r>
              <a:t>validate</a:t>
            </a:r>
            <a:r>
              <a:rPr spc="-45"/>
              <a:t> </a:t>
            </a:r>
            <a:r>
              <a:t>URLs,</a:t>
            </a:r>
            <a:r>
              <a:rPr spc="-50"/>
              <a:t> </a:t>
            </a:r>
            <a:r>
              <a:t>encode</a:t>
            </a:r>
            <a:r>
              <a:rPr spc="-45"/>
              <a:t> </a:t>
            </a:r>
            <a:r>
              <a:t>class</a:t>
            </a:r>
            <a:r>
              <a:rPr spc="-50"/>
              <a:t> </a:t>
            </a:r>
            <a:r>
              <a:t>labels</a:t>
            </a:r>
            <a:r>
              <a:rPr spc="-50"/>
              <a:t> </a:t>
            </a:r>
            <a:r>
              <a:t>and</a:t>
            </a:r>
            <a:r>
              <a:rPr spc="-45"/>
              <a:t> </a:t>
            </a:r>
            <a:r>
              <a:t>prepare</a:t>
            </a:r>
            <a:r>
              <a:rPr spc="-45"/>
              <a:t> </a:t>
            </a:r>
            <a:r>
              <a:rPr spc="-10"/>
              <a:t>domain/WHOIS information.</a:t>
            </a:r>
          </a:p>
          <a:p>
            <a:pPr marL="293370" indent="-280670">
              <a:buSzPct val="100000"/>
              <a:buAutoNum type="arabicPeriod" startAt="3"/>
              <a:tabLst>
                <a:tab pos="292100" algn="l"/>
              </a:tabLst>
              <a:defRPr b="1" sz="20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Feature</a:t>
            </a:r>
            <a:r>
              <a:rPr spc="-65"/>
              <a:t> </a:t>
            </a:r>
            <a:r>
              <a:t>Engineering</a:t>
            </a:r>
            <a:r>
              <a:rPr spc="-65"/>
              <a:t> </a:t>
            </a:r>
            <a:r>
              <a:t>&amp;</a:t>
            </a:r>
            <a:r>
              <a:rPr spc="-65"/>
              <a:t> </a:t>
            </a:r>
            <a:r>
              <a:rPr spc="-9"/>
              <a:t>Selection</a:t>
            </a:r>
          </a:p>
          <a:p>
            <a:pPr marR="577215" indent="12700">
              <a:lnSpc>
                <a:spcPts val="2000"/>
              </a:lnSpc>
              <a:spcBef>
                <a:spcPts val="800"/>
              </a:spcBef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Extract</a:t>
            </a:r>
            <a:r>
              <a:rPr spc="-60"/>
              <a:t> </a:t>
            </a:r>
            <a:r>
              <a:t>useful</a:t>
            </a:r>
            <a:r>
              <a:rPr spc="-50"/>
              <a:t> </a:t>
            </a:r>
            <a:r>
              <a:t>lexical</a:t>
            </a:r>
            <a:r>
              <a:rPr spc="-55"/>
              <a:t> </a:t>
            </a:r>
            <a:r>
              <a:t>and</a:t>
            </a:r>
            <a:r>
              <a:rPr spc="-50"/>
              <a:t> </a:t>
            </a:r>
            <a:r>
              <a:t>domain</a:t>
            </a:r>
            <a:r>
              <a:rPr spc="-55"/>
              <a:t> </a:t>
            </a:r>
            <a:r>
              <a:t>characteristics</a:t>
            </a:r>
            <a:r>
              <a:rPr spc="-55"/>
              <a:t> </a:t>
            </a:r>
            <a:r>
              <a:t>such</a:t>
            </a:r>
            <a:r>
              <a:rPr spc="-55"/>
              <a:t> </a:t>
            </a:r>
            <a:r>
              <a:t>as</a:t>
            </a:r>
            <a:r>
              <a:rPr spc="-55"/>
              <a:t> </a:t>
            </a:r>
            <a:r>
              <a:t>URL</a:t>
            </a:r>
            <a:r>
              <a:rPr spc="-110"/>
              <a:t> </a:t>
            </a:r>
            <a:r>
              <a:t>length,</a:t>
            </a:r>
            <a:r>
              <a:rPr spc="-55"/>
              <a:t> </a:t>
            </a:r>
            <a:r>
              <a:t>digits,</a:t>
            </a:r>
            <a:r>
              <a:rPr spc="-60"/>
              <a:t> </a:t>
            </a:r>
            <a:r>
              <a:t>symbols,</a:t>
            </a:r>
            <a:r>
              <a:rPr spc="-55"/>
              <a:t> </a:t>
            </a:r>
            <a:r>
              <a:t>subdomains</a:t>
            </a:r>
            <a:r>
              <a:rPr spc="-55"/>
              <a:t> </a:t>
            </a:r>
            <a:r>
              <a:rPr spc="-25"/>
              <a:t>and </a:t>
            </a:r>
            <a:r>
              <a:t>suspicious</a:t>
            </a:r>
            <a:r>
              <a:rPr spc="-69"/>
              <a:t> </a:t>
            </a:r>
            <a:r>
              <a:t>structural</a:t>
            </a:r>
            <a:r>
              <a:rPr spc="-60"/>
              <a:t> </a:t>
            </a:r>
            <a:r>
              <a:t>patterns;</a:t>
            </a:r>
            <a:r>
              <a:rPr spc="-65"/>
              <a:t> </a:t>
            </a:r>
            <a:r>
              <a:t>retain</a:t>
            </a:r>
            <a:r>
              <a:rPr spc="-60"/>
              <a:t> </a:t>
            </a:r>
            <a:r>
              <a:t>the</a:t>
            </a:r>
            <a:r>
              <a:rPr spc="-60"/>
              <a:t> </a:t>
            </a:r>
            <a:r>
              <a:t>most</a:t>
            </a:r>
            <a:r>
              <a:rPr spc="-65"/>
              <a:t> </a:t>
            </a:r>
            <a:r>
              <a:t>relevant</a:t>
            </a:r>
            <a:r>
              <a:rPr spc="-65"/>
              <a:t> </a:t>
            </a:r>
            <a:r>
              <a:rPr spc="-10"/>
              <a:t>features.</a:t>
            </a:r>
          </a:p>
          <a:p>
            <a:pPr marL="293370" indent="-280670">
              <a:buSzPct val="100000"/>
              <a:buAutoNum type="arabicPeriod" startAt="4"/>
              <a:tabLst>
                <a:tab pos="292100" algn="l"/>
              </a:tabLst>
              <a:defRPr b="1" spc="-35" sz="20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Train–</a:t>
            </a:r>
            <a:r>
              <a:rPr spc="-19"/>
              <a:t>Test</a:t>
            </a:r>
            <a:r>
              <a:rPr spc="-39"/>
              <a:t> </a:t>
            </a:r>
            <a:r>
              <a:rPr spc="0"/>
              <a:t>Split</a:t>
            </a:r>
            <a:r>
              <a:rPr spc="-39"/>
              <a:t> </a:t>
            </a:r>
            <a:r>
              <a:rPr spc="0"/>
              <a:t>&amp;</a:t>
            </a:r>
            <a:r>
              <a:rPr spc="-30"/>
              <a:t> </a:t>
            </a:r>
            <a:r>
              <a:rPr spc="0"/>
              <a:t>Model</a:t>
            </a:r>
            <a:r>
              <a:rPr spc="-39"/>
              <a:t> </a:t>
            </a:r>
            <a:r>
              <a:rPr spc="-9"/>
              <a:t>Training</a:t>
            </a:r>
          </a:p>
          <a:p>
            <a:pPr marR="5080" indent="12700">
              <a:lnSpc>
                <a:spcPts val="2000"/>
              </a:lnSpc>
              <a:spcBef>
                <a:spcPts val="800"/>
              </a:spcBef>
              <a:defRPr sz="1700">
                <a:latin typeface="Arial"/>
                <a:ea typeface="Arial"/>
                <a:cs typeface="Arial"/>
                <a:sym typeface="Arial"/>
              </a:defRPr>
            </a:pPr>
            <a:r>
              <a:t>Separate</a:t>
            </a:r>
            <a:r>
              <a:rPr spc="-55"/>
              <a:t> </a:t>
            </a:r>
            <a:r>
              <a:t>the</a:t>
            </a:r>
            <a:r>
              <a:rPr spc="-55"/>
              <a:t> </a:t>
            </a:r>
            <a:r>
              <a:t>processed</a:t>
            </a:r>
            <a:r>
              <a:rPr spc="-55"/>
              <a:t> </a:t>
            </a:r>
            <a:r>
              <a:t>data</a:t>
            </a:r>
            <a:r>
              <a:rPr spc="-55"/>
              <a:t> </a:t>
            </a:r>
            <a:r>
              <a:t>into</a:t>
            </a:r>
            <a:r>
              <a:rPr spc="-55"/>
              <a:t> </a:t>
            </a:r>
            <a:r>
              <a:t>training</a:t>
            </a:r>
            <a:r>
              <a:rPr spc="-50"/>
              <a:t> </a:t>
            </a:r>
            <a:r>
              <a:t>and</a:t>
            </a:r>
            <a:r>
              <a:rPr spc="-55"/>
              <a:t> </a:t>
            </a:r>
            <a:r>
              <a:t>testing</a:t>
            </a:r>
            <a:r>
              <a:rPr spc="-55"/>
              <a:t> </a:t>
            </a:r>
            <a:r>
              <a:t>sets.</a:t>
            </a:r>
            <a:r>
              <a:rPr spc="-85"/>
              <a:t> </a:t>
            </a:r>
            <a:r>
              <a:t>Train</a:t>
            </a:r>
            <a:r>
              <a:rPr spc="-55"/>
              <a:t> </a:t>
            </a:r>
            <a:r>
              <a:t>Random</a:t>
            </a:r>
            <a:r>
              <a:rPr spc="-60"/>
              <a:t> </a:t>
            </a:r>
            <a:r>
              <a:t>Forest,</a:t>
            </a:r>
            <a:r>
              <a:rPr spc="-55"/>
              <a:t> </a:t>
            </a:r>
            <a:r>
              <a:t>Decision</a:t>
            </a:r>
            <a:r>
              <a:rPr spc="-85"/>
              <a:t> </a:t>
            </a:r>
            <a:r>
              <a:t>Tree</a:t>
            </a:r>
            <a:r>
              <a:rPr spc="-55"/>
              <a:t> </a:t>
            </a:r>
            <a:r>
              <a:t>and</a:t>
            </a:r>
            <a:r>
              <a:rPr spc="-55"/>
              <a:t> </a:t>
            </a:r>
            <a:r>
              <a:t>SVM</a:t>
            </a:r>
            <a:r>
              <a:rPr spc="-60"/>
              <a:t> </a:t>
            </a:r>
            <a:r>
              <a:rPr spc="-25"/>
              <a:t>as </a:t>
            </a:r>
            <a:r>
              <a:t>baseline</a:t>
            </a:r>
            <a:r>
              <a:rPr spc="-50"/>
              <a:t> </a:t>
            </a:r>
            <a:r>
              <a:t>models</a:t>
            </a:r>
            <a:r>
              <a:rPr spc="-55"/>
              <a:t> </a:t>
            </a:r>
            <a:r>
              <a:t>and</a:t>
            </a:r>
            <a:r>
              <a:rPr spc="-45"/>
              <a:t> </a:t>
            </a:r>
            <a:r>
              <a:t>tune</a:t>
            </a:r>
            <a:r>
              <a:rPr spc="-50"/>
              <a:t> </a:t>
            </a:r>
            <a:r>
              <a:t>important</a:t>
            </a:r>
            <a:r>
              <a:rPr spc="-55"/>
              <a:t> </a:t>
            </a:r>
            <a:r>
              <a:t>model</a:t>
            </a:r>
            <a:r>
              <a:rPr spc="-45"/>
              <a:t> </a:t>
            </a:r>
            <a:r>
              <a:rPr spc="-10"/>
              <a:t>parameters.</a:t>
            </a:r>
          </a:p>
          <a:p>
            <a:pPr marL="293370" indent="-280670">
              <a:buSzPct val="100000"/>
              <a:buAutoNum type="arabicPeriod" startAt="5"/>
              <a:tabLst>
                <a:tab pos="292100" algn="l"/>
              </a:tabLst>
              <a:defRPr b="1" sz="20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Model</a:t>
            </a:r>
            <a:r>
              <a:rPr spc="-55"/>
              <a:t> </a:t>
            </a:r>
            <a:r>
              <a:t>Evaluation</a:t>
            </a:r>
            <a:r>
              <a:rPr spc="-55"/>
              <a:t> </a:t>
            </a:r>
            <a:r>
              <a:t>&amp;</a:t>
            </a:r>
            <a:r>
              <a:rPr spc="-50"/>
              <a:t> </a:t>
            </a:r>
            <a:r>
              <a:rPr spc="-9"/>
              <a:t>Improvement</a:t>
            </a:r>
          </a:p>
          <a:p>
            <a:pPr marR="118110" indent="12700">
              <a:lnSpc>
                <a:spcPts val="2000"/>
              </a:lnSpc>
              <a:spcBef>
                <a:spcPts val="800"/>
              </a:spcBef>
              <a:defRPr spc="-40" sz="1700">
                <a:latin typeface="Arial"/>
                <a:ea typeface="Arial"/>
                <a:cs typeface="Arial"/>
                <a:sym typeface="Arial"/>
              </a:defRPr>
            </a:pPr>
            <a:r>
              <a:t>Test</a:t>
            </a:r>
            <a:r>
              <a:rPr spc="-65"/>
              <a:t> </a:t>
            </a:r>
            <a:r>
              <a:rPr spc="0"/>
              <a:t>the</a:t>
            </a:r>
            <a:r>
              <a:t> </a:t>
            </a:r>
            <a:r>
              <a:rPr spc="0"/>
              <a:t>models</a:t>
            </a:r>
            <a:r>
              <a:rPr spc="-45"/>
              <a:t> </a:t>
            </a:r>
            <a:r>
              <a:rPr spc="0"/>
              <a:t>on</a:t>
            </a:r>
            <a:r>
              <a:t> </a:t>
            </a:r>
            <a:r>
              <a:rPr spc="0"/>
              <a:t>unseen</a:t>
            </a:r>
            <a:r>
              <a:t> </a:t>
            </a:r>
            <a:r>
              <a:rPr spc="0"/>
              <a:t>URLs</a:t>
            </a:r>
            <a:r>
              <a:rPr spc="-45"/>
              <a:t> </a:t>
            </a:r>
            <a:r>
              <a:rPr spc="0"/>
              <a:t>and</a:t>
            </a:r>
            <a:r>
              <a:t> </a:t>
            </a:r>
            <a:r>
              <a:rPr spc="-10"/>
              <a:t>compare</a:t>
            </a:r>
            <a:r>
              <a:rPr spc="-110"/>
              <a:t> </a:t>
            </a:r>
            <a:r>
              <a:rPr spc="-20"/>
              <a:t>Accuracy,</a:t>
            </a:r>
            <a:r>
              <a:rPr spc="-45"/>
              <a:t> </a:t>
            </a:r>
            <a:r>
              <a:rPr spc="0"/>
              <a:t>Precision,</a:t>
            </a:r>
            <a:r>
              <a:t> </a:t>
            </a:r>
            <a:r>
              <a:rPr spc="0"/>
              <a:t>Recall,</a:t>
            </a:r>
            <a:r>
              <a:rPr spc="-45"/>
              <a:t> </a:t>
            </a:r>
            <a:r>
              <a:rPr spc="-10"/>
              <a:t>F1-</a:t>
            </a:r>
            <a:r>
              <a:rPr spc="0"/>
              <a:t>score</a:t>
            </a:r>
            <a:r>
              <a:t> </a:t>
            </a:r>
            <a:r>
              <a:rPr spc="0"/>
              <a:t>and</a:t>
            </a:r>
            <a:r>
              <a:t> </a:t>
            </a:r>
            <a:r>
              <a:rPr spc="0"/>
              <a:t>confusion</a:t>
            </a:r>
            <a:r>
              <a:t> </a:t>
            </a:r>
            <a:r>
              <a:rPr spc="-10"/>
              <a:t>matrix. </a:t>
            </a:r>
            <a:r>
              <a:rPr spc="0"/>
              <a:t>Focus</a:t>
            </a:r>
            <a:r>
              <a:rPr spc="-50"/>
              <a:t> </a:t>
            </a:r>
            <a:r>
              <a:rPr spc="0"/>
              <a:t>especially</a:t>
            </a:r>
            <a:r>
              <a:rPr spc="-50"/>
              <a:t> </a:t>
            </a:r>
            <a:r>
              <a:rPr spc="0"/>
              <a:t>on</a:t>
            </a:r>
            <a:r>
              <a:rPr spc="-45"/>
              <a:t> </a:t>
            </a:r>
            <a:r>
              <a:rPr spc="0"/>
              <a:t>reducing</a:t>
            </a:r>
            <a:r>
              <a:rPr spc="-45"/>
              <a:t> </a:t>
            </a:r>
            <a:r>
              <a:rPr spc="0"/>
              <a:t>missed</a:t>
            </a:r>
            <a:r>
              <a:rPr spc="-45"/>
              <a:t> </a:t>
            </a:r>
            <a:r>
              <a:rPr spc="0"/>
              <a:t>phishing</a:t>
            </a:r>
            <a:r>
              <a:rPr spc="-45"/>
              <a:t> </a:t>
            </a:r>
            <a:r>
              <a:rPr spc="0"/>
              <a:t>URLs</a:t>
            </a:r>
            <a:r>
              <a:rPr spc="-45"/>
              <a:t> </a:t>
            </a:r>
            <a:r>
              <a:rPr spc="0"/>
              <a:t>and</a:t>
            </a:r>
            <a:r>
              <a:rPr spc="-45"/>
              <a:t> </a:t>
            </a:r>
            <a:r>
              <a:rPr spc="0"/>
              <a:t>improving</a:t>
            </a:r>
            <a:r>
              <a:rPr spc="-45"/>
              <a:t> </a:t>
            </a:r>
            <a:r>
              <a:rPr spc="-10"/>
              <a:t>generalisation.</a:t>
            </a:r>
          </a:p>
        </p:txBody>
      </p:sp>
      <p:sp>
        <p:nvSpPr>
          <p:cNvPr id="164" name="object 7"/>
          <p:cNvSpPr txBox="1"/>
          <p:nvPr>
            <p:ph type="sldNum" sz="quarter" idx="4294967295"/>
          </p:nvPr>
        </p:nvSpPr>
        <p:spPr>
          <a:xfrm>
            <a:off x="11347601" y="6497318"/>
            <a:ext cx="146833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System</a:t>
            </a:r>
            <a:r>
              <a:rPr spc="-200"/>
              <a:t> </a:t>
            </a:r>
            <a:r>
              <a:rPr spc="-100"/>
              <a:t>Architecture</a:t>
            </a:r>
          </a:p>
        </p:txBody>
      </p:sp>
      <p:sp>
        <p:nvSpPr>
          <p:cNvPr id="167" name="object 3"/>
          <p:cNvSpPr txBox="1"/>
          <p:nvPr/>
        </p:nvSpPr>
        <p:spPr>
          <a:xfrm>
            <a:off x="11363373" y="338333"/>
            <a:ext cx="30797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25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68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object 6"/>
          <p:cNvSpPr txBox="1"/>
          <p:nvPr/>
        </p:nvSpPr>
        <p:spPr>
          <a:xfrm>
            <a:off x="490219" y="6543420"/>
            <a:ext cx="27793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700">
                <a:solidFill>
                  <a:srgbClr val="53627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Department</a:t>
            </a:r>
            <a:r>
              <a:rPr spc="-10"/>
              <a:t> </a:t>
            </a:r>
            <a:r>
              <a:t>of</a:t>
            </a:r>
            <a:r>
              <a:rPr spc="-10"/>
              <a:t> </a:t>
            </a:r>
            <a:r>
              <a:t>Computer</a:t>
            </a:r>
            <a:r>
              <a:rPr spc="-5"/>
              <a:t> </a:t>
            </a:r>
            <a:r>
              <a:t>Science</a:t>
            </a:r>
            <a:r>
              <a:rPr spc="-10"/>
              <a:t> </a:t>
            </a:r>
            <a:r>
              <a:t>and</a:t>
            </a:r>
            <a:r>
              <a:rPr spc="-10"/>
              <a:t> </a:t>
            </a:r>
            <a:r>
              <a:t>Engineering</a:t>
            </a:r>
            <a:r>
              <a:rPr spc="-5"/>
              <a:t> </a:t>
            </a:r>
            <a:r>
              <a:t>•</a:t>
            </a:r>
            <a:r>
              <a:rPr spc="-10"/>
              <a:t> </a:t>
            </a:r>
            <a:r>
              <a:t>JNTUH</a:t>
            </a:r>
            <a:r>
              <a:rPr spc="-10"/>
              <a:t> UCESTH</a:t>
            </a:r>
          </a:p>
        </p:txBody>
      </p:sp>
      <p:sp>
        <p:nvSpPr>
          <p:cNvPr id="171" name="object 7"/>
          <p:cNvSpPr txBox="1"/>
          <p:nvPr/>
        </p:nvSpPr>
        <p:spPr>
          <a:xfrm>
            <a:off x="11369529" y="6480811"/>
            <a:ext cx="16700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25" sz="10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2" name="object 8"/>
          <p:cNvSpPr txBox="1"/>
          <p:nvPr/>
        </p:nvSpPr>
        <p:spPr>
          <a:xfrm>
            <a:off x="502919" y="1188718"/>
            <a:ext cx="1600201" cy="427646"/>
          </a:xfrm>
          <a:prstGeom prst="rect">
            <a:avLst/>
          </a:prstGeom>
          <a:solidFill>
            <a:srgbClr val="DDF4E4"/>
          </a:solidFill>
          <a:ln w="12700">
            <a:solidFill>
              <a:srgbClr val="7893A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1115" marR="349250" indent="325754">
              <a:defRPr b="1" sz="10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Aalto</a:t>
            </a:r>
            <a:r>
              <a:rPr spc="-15"/>
              <a:t> </a:t>
            </a:r>
            <a:r>
              <a:t>+</a:t>
            </a:r>
            <a:r>
              <a:rPr spc="-4"/>
              <a:t> </a:t>
            </a:r>
            <a:r>
              <a:rPr spc="-9"/>
              <a:t>Kaggle </a:t>
            </a:r>
            <a:r>
              <a:t>URL</a:t>
            </a:r>
            <a:r>
              <a:rPr spc="-45"/>
              <a:t> </a:t>
            </a:r>
            <a:r>
              <a:rPr spc="-9"/>
              <a:t>Datasets</a:t>
            </a:r>
          </a:p>
        </p:txBody>
      </p:sp>
      <p:sp>
        <p:nvSpPr>
          <p:cNvPr id="173" name="object 9"/>
          <p:cNvSpPr txBox="1"/>
          <p:nvPr/>
        </p:nvSpPr>
        <p:spPr>
          <a:xfrm>
            <a:off x="2423157" y="1188718"/>
            <a:ext cx="1737361" cy="394643"/>
          </a:xfrm>
          <a:prstGeom prst="rect">
            <a:avLst/>
          </a:prstGeom>
          <a:solidFill>
            <a:srgbClr val="FFF3CD"/>
          </a:solidFill>
          <a:ln w="12700">
            <a:solidFill>
              <a:srgbClr val="7893A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422275" indent="429894" algn="ctr">
              <a:lnSpc>
                <a:spcPct val="101899"/>
              </a:lnSpc>
              <a:spcBef>
                <a:spcPts val="1000"/>
              </a:spcBef>
              <a:defRPr b="1" sz="9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</a:t>
            </a:r>
            <a:r>
              <a:rPr spc="-15"/>
              <a:t> </a:t>
            </a:r>
            <a:r>
              <a:rPr spc="-10"/>
              <a:t>Cleaning </a:t>
            </a:r>
            <a:r>
              <a:t>Null</a:t>
            </a:r>
            <a:r>
              <a:rPr spc="-15"/>
              <a:t> </a:t>
            </a:r>
            <a:r>
              <a:t>/</a:t>
            </a:r>
            <a:r>
              <a:rPr spc="-10"/>
              <a:t> duplicates </a:t>
            </a:r>
            <a:r>
              <a:t>URL</a:t>
            </a:r>
            <a:r>
              <a:rPr spc="-40"/>
              <a:t> </a:t>
            </a:r>
            <a:r>
              <a:rPr spc="-10"/>
              <a:t>validation</a:t>
            </a:r>
          </a:p>
        </p:txBody>
      </p:sp>
      <p:sp>
        <p:nvSpPr>
          <p:cNvPr id="174" name="object 10"/>
          <p:cNvSpPr txBox="1"/>
          <p:nvPr/>
        </p:nvSpPr>
        <p:spPr>
          <a:xfrm>
            <a:off x="4526277" y="1188718"/>
            <a:ext cx="1737362" cy="394643"/>
          </a:xfrm>
          <a:prstGeom prst="rect">
            <a:avLst/>
          </a:prstGeom>
          <a:solidFill>
            <a:srgbClr val="D8EEF8"/>
          </a:solidFill>
          <a:ln w="12700">
            <a:solidFill>
              <a:srgbClr val="7893A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398779" indent="406400" algn="ctr">
              <a:lnSpc>
                <a:spcPct val="101899"/>
              </a:lnSpc>
              <a:spcBef>
                <a:spcPts val="1000"/>
              </a:spcBef>
              <a:defRPr b="1" spc="-10" sz="9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Feature Extraction </a:t>
            </a:r>
            <a:r>
              <a:rPr spc="0"/>
              <a:t>Lexical</a:t>
            </a:r>
            <a:r>
              <a:t> </a:t>
            </a:r>
            <a:r>
              <a:rPr spc="0"/>
              <a:t>+</a:t>
            </a:r>
            <a:r>
              <a:rPr spc="-5"/>
              <a:t> </a:t>
            </a:r>
            <a:r>
              <a:t>domain</a:t>
            </a:r>
          </a:p>
        </p:txBody>
      </p:sp>
      <p:sp>
        <p:nvSpPr>
          <p:cNvPr id="175" name="object 11"/>
          <p:cNvSpPr txBox="1"/>
          <p:nvPr/>
        </p:nvSpPr>
        <p:spPr>
          <a:xfrm>
            <a:off x="6629397" y="1188718"/>
            <a:ext cx="1737361" cy="392302"/>
          </a:xfrm>
          <a:prstGeom prst="rect">
            <a:avLst/>
          </a:prstGeom>
          <a:solidFill>
            <a:srgbClr val="FFE2C6"/>
          </a:solidFill>
          <a:ln w="12700">
            <a:solidFill>
              <a:srgbClr val="7893A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9370" marR="384175" indent="352425">
              <a:lnSpc>
                <a:spcPct val="101899"/>
              </a:lnSpc>
              <a:defRPr b="1" sz="9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Feature</a:t>
            </a:r>
            <a:r>
              <a:rPr spc="-15"/>
              <a:t> </a:t>
            </a:r>
            <a:r>
              <a:rPr spc="-10"/>
              <a:t>Selection Train</a:t>
            </a:r>
            <a:r>
              <a:rPr spc="-25"/>
              <a:t> </a:t>
            </a:r>
            <a:r>
              <a:t>/</a:t>
            </a:r>
            <a:r>
              <a:rPr spc="-20"/>
              <a:t> </a:t>
            </a:r>
            <a:r>
              <a:rPr spc="-10"/>
              <a:t>Test</a:t>
            </a:r>
            <a:r>
              <a:rPr spc="-15"/>
              <a:t> </a:t>
            </a:r>
            <a:r>
              <a:rPr spc="-20"/>
              <a:t>Split</a:t>
            </a:r>
          </a:p>
        </p:txBody>
      </p:sp>
      <p:sp>
        <p:nvSpPr>
          <p:cNvPr id="176" name="object 12"/>
          <p:cNvSpPr txBox="1"/>
          <p:nvPr/>
        </p:nvSpPr>
        <p:spPr>
          <a:xfrm>
            <a:off x="8732517" y="1188718"/>
            <a:ext cx="1508761" cy="392302"/>
          </a:xfrm>
          <a:prstGeom prst="rect">
            <a:avLst/>
          </a:prstGeom>
          <a:solidFill>
            <a:srgbClr val="EDE7F6"/>
          </a:solidFill>
          <a:ln w="12700">
            <a:solidFill>
              <a:srgbClr val="7893A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2383" marR="342900" indent="318137">
              <a:lnSpc>
                <a:spcPct val="101899"/>
              </a:lnSpc>
              <a:defRPr b="1" sz="9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Model</a:t>
            </a:r>
            <a:r>
              <a:rPr spc="-25"/>
              <a:t> </a:t>
            </a:r>
            <a:r>
              <a:rPr spc="-10"/>
              <a:t>Training </a:t>
            </a:r>
            <a:r>
              <a:t>RF</a:t>
            </a:r>
            <a:r>
              <a:rPr spc="-34"/>
              <a:t> </a:t>
            </a:r>
            <a:r>
              <a:t>·</a:t>
            </a:r>
            <a:r>
              <a:rPr spc="-34"/>
              <a:t> </a:t>
            </a:r>
            <a:r>
              <a:t>DT</a:t>
            </a:r>
            <a:r>
              <a:rPr spc="-34"/>
              <a:t> </a:t>
            </a:r>
            <a:r>
              <a:t>·</a:t>
            </a:r>
            <a:r>
              <a:rPr spc="-34"/>
              <a:t> </a:t>
            </a:r>
            <a:r>
              <a:rPr spc="-25"/>
              <a:t>SVM</a:t>
            </a:r>
          </a:p>
        </p:txBody>
      </p:sp>
      <p:sp>
        <p:nvSpPr>
          <p:cNvPr id="177" name="object 13"/>
          <p:cNvSpPr txBox="1"/>
          <p:nvPr/>
        </p:nvSpPr>
        <p:spPr>
          <a:xfrm>
            <a:off x="10469880" y="1188718"/>
            <a:ext cx="1280161" cy="394643"/>
          </a:xfrm>
          <a:prstGeom prst="rect">
            <a:avLst/>
          </a:prstGeom>
          <a:solidFill>
            <a:srgbClr val="F8D7DA"/>
          </a:solidFill>
          <a:ln w="12700">
            <a:solidFill>
              <a:srgbClr val="7893A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22250" indent="369570">
              <a:lnSpc>
                <a:spcPct val="101899"/>
              </a:lnSpc>
              <a:spcBef>
                <a:spcPts val="1000"/>
              </a:spcBef>
              <a:defRPr b="1" spc="-10" sz="9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Validation </a:t>
            </a:r>
            <a:r>
              <a:rPr spc="0"/>
              <a:t>Acc</a:t>
            </a:r>
            <a:r>
              <a:rPr spc="-30"/>
              <a:t> </a:t>
            </a:r>
            <a:r>
              <a:rPr spc="0"/>
              <a:t>·</a:t>
            </a:r>
            <a:r>
              <a:rPr spc="-34"/>
              <a:t> </a:t>
            </a:r>
            <a:r>
              <a:t>Precision</a:t>
            </a:r>
          </a:p>
          <a:p>
            <a:pPr indent="356870">
              <a:defRPr b="1" sz="9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Recall</a:t>
            </a:r>
            <a:r>
              <a:rPr spc="-30"/>
              <a:t> </a:t>
            </a:r>
            <a:r>
              <a:t>·</a:t>
            </a:r>
            <a:r>
              <a:rPr spc="-25"/>
              <a:t> F1</a:t>
            </a:r>
          </a:p>
        </p:txBody>
      </p:sp>
      <p:grpSp>
        <p:nvGrpSpPr>
          <p:cNvPr id="180" name="object 14"/>
          <p:cNvGrpSpPr/>
          <p:nvPr/>
        </p:nvGrpSpPr>
        <p:grpSpPr>
          <a:xfrm>
            <a:off x="2103120" y="1507248"/>
            <a:ext cx="320041" cy="57887"/>
            <a:chOff x="0" y="0"/>
            <a:chExt cx="320040" cy="57886"/>
          </a:xfrm>
        </p:grpSpPr>
        <p:sp>
          <p:nvSpPr>
            <p:cNvPr id="178" name="object 15"/>
            <p:cNvSpPr/>
            <p:nvPr/>
          </p:nvSpPr>
          <p:spPr>
            <a:xfrm>
              <a:off x="0" y="28942"/>
              <a:ext cx="257923" cy="1"/>
            </a:xfrm>
            <a:prstGeom prst="line">
              <a:avLst/>
            </a:prstGeom>
            <a:noFill/>
            <a:ln w="1397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9" name="object 16"/>
            <p:cNvSpPr/>
            <p:nvPr/>
          </p:nvSpPr>
          <p:spPr>
            <a:xfrm>
              <a:off x="262154" y="0"/>
              <a:ext cx="57887" cy="57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83" name="object 17"/>
          <p:cNvGrpSpPr/>
          <p:nvPr/>
        </p:nvGrpSpPr>
        <p:grpSpPr>
          <a:xfrm>
            <a:off x="4160520" y="1507248"/>
            <a:ext cx="365760" cy="57887"/>
            <a:chOff x="0" y="0"/>
            <a:chExt cx="365758" cy="57886"/>
          </a:xfrm>
        </p:grpSpPr>
        <p:sp>
          <p:nvSpPr>
            <p:cNvPr id="181" name="object 18"/>
            <p:cNvSpPr/>
            <p:nvPr/>
          </p:nvSpPr>
          <p:spPr>
            <a:xfrm>
              <a:off x="0" y="28942"/>
              <a:ext cx="303643" cy="1"/>
            </a:xfrm>
            <a:prstGeom prst="line">
              <a:avLst/>
            </a:prstGeom>
            <a:noFill/>
            <a:ln w="1397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2" name="object 19"/>
            <p:cNvSpPr/>
            <p:nvPr/>
          </p:nvSpPr>
          <p:spPr>
            <a:xfrm>
              <a:off x="307873" y="0"/>
              <a:ext cx="57886" cy="57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86" name="object 20"/>
          <p:cNvGrpSpPr/>
          <p:nvPr/>
        </p:nvGrpSpPr>
        <p:grpSpPr>
          <a:xfrm>
            <a:off x="6263640" y="1507248"/>
            <a:ext cx="365760" cy="57887"/>
            <a:chOff x="0" y="0"/>
            <a:chExt cx="365759" cy="57886"/>
          </a:xfrm>
        </p:grpSpPr>
        <p:sp>
          <p:nvSpPr>
            <p:cNvPr id="184" name="object 21"/>
            <p:cNvSpPr/>
            <p:nvPr/>
          </p:nvSpPr>
          <p:spPr>
            <a:xfrm>
              <a:off x="0" y="28942"/>
              <a:ext cx="303642" cy="1"/>
            </a:xfrm>
            <a:prstGeom prst="line">
              <a:avLst/>
            </a:prstGeom>
            <a:noFill/>
            <a:ln w="1397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5" name="object 22"/>
            <p:cNvSpPr/>
            <p:nvPr/>
          </p:nvSpPr>
          <p:spPr>
            <a:xfrm>
              <a:off x="307874" y="0"/>
              <a:ext cx="57886" cy="57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89" name="object 23"/>
          <p:cNvGrpSpPr/>
          <p:nvPr/>
        </p:nvGrpSpPr>
        <p:grpSpPr>
          <a:xfrm>
            <a:off x="8366759" y="1507248"/>
            <a:ext cx="365760" cy="57887"/>
            <a:chOff x="0" y="0"/>
            <a:chExt cx="365759" cy="57886"/>
          </a:xfrm>
        </p:grpSpPr>
        <p:sp>
          <p:nvSpPr>
            <p:cNvPr id="187" name="object 24"/>
            <p:cNvSpPr/>
            <p:nvPr/>
          </p:nvSpPr>
          <p:spPr>
            <a:xfrm>
              <a:off x="0" y="28942"/>
              <a:ext cx="303642" cy="1"/>
            </a:xfrm>
            <a:prstGeom prst="line">
              <a:avLst/>
            </a:prstGeom>
            <a:noFill/>
            <a:ln w="1397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8" name="object 25"/>
            <p:cNvSpPr/>
            <p:nvPr/>
          </p:nvSpPr>
          <p:spPr>
            <a:xfrm>
              <a:off x="307874" y="0"/>
              <a:ext cx="57886" cy="57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92" name="object 26"/>
          <p:cNvGrpSpPr/>
          <p:nvPr/>
        </p:nvGrpSpPr>
        <p:grpSpPr>
          <a:xfrm>
            <a:off x="10241280" y="1507248"/>
            <a:ext cx="228600" cy="57887"/>
            <a:chOff x="0" y="0"/>
            <a:chExt cx="228599" cy="57886"/>
          </a:xfrm>
        </p:grpSpPr>
        <p:sp>
          <p:nvSpPr>
            <p:cNvPr id="190" name="object 27"/>
            <p:cNvSpPr/>
            <p:nvPr/>
          </p:nvSpPr>
          <p:spPr>
            <a:xfrm>
              <a:off x="0" y="28942"/>
              <a:ext cx="166483" cy="1"/>
            </a:xfrm>
            <a:prstGeom prst="line">
              <a:avLst/>
            </a:prstGeom>
            <a:noFill/>
            <a:ln w="13970" cap="flat">
              <a:solidFill>
                <a:srgbClr val="123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1" name="object 28"/>
            <p:cNvSpPr/>
            <p:nvPr/>
          </p:nvSpPr>
          <p:spPr>
            <a:xfrm>
              <a:off x="170713" y="0"/>
              <a:ext cx="57887" cy="57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355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93" name="object 29"/>
          <p:cNvSpPr txBox="1"/>
          <p:nvPr/>
        </p:nvSpPr>
        <p:spPr>
          <a:xfrm>
            <a:off x="4114796" y="4297677"/>
            <a:ext cx="3749042" cy="393113"/>
          </a:xfrm>
          <a:prstGeom prst="rect">
            <a:avLst/>
          </a:prstGeom>
          <a:solidFill>
            <a:srgbClr val="FFF3CD"/>
          </a:solidFill>
          <a:ln w="12700">
            <a:solidFill>
              <a:srgbClr val="7893A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715644" indent="951864">
              <a:lnSpc>
                <a:spcPct val="102600"/>
              </a:lnSpc>
              <a:spcBef>
                <a:spcPts val="1400"/>
              </a:spcBef>
              <a:defRPr b="1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Final</a:t>
            </a:r>
            <a:r>
              <a:rPr spc="-65"/>
              <a:t> </a:t>
            </a:r>
            <a:r>
              <a:t>Phishing</a:t>
            </a:r>
            <a:r>
              <a:rPr spc="-60"/>
              <a:t> </a:t>
            </a:r>
            <a:r>
              <a:rPr spc="-10"/>
              <a:t>Detector </a:t>
            </a:r>
            <a:r>
              <a:t>Output:</a:t>
            </a:r>
            <a:r>
              <a:rPr spc="-55"/>
              <a:t> </a:t>
            </a:r>
            <a:r>
              <a:t>Phishing</a:t>
            </a:r>
            <a:r>
              <a:rPr spc="-55"/>
              <a:t> </a:t>
            </a:r>
            <a:r>
              <a:t>/</a:t>
            </a:r>
            <a:r>
              <a:rPr spc="-50"/>
              <a:t> </a:t>
            </a:r>
            <a:r>
              <a:rPr spc="-10"/>
              <a:t>Legitimate</a:t>
            </a:r>
          </a:p>
        </p:txBody>
      </p:sp>
      <p:graphicFrame>
        <p:nvGraphicFramePr>
          <p:cNvPr id="194" name="object 30"/>
          <p:cNvGraphicFramePr/>
          <p:nvPr/>
        </p:nvGraphicFramePr>
        <p:xfrm>
          <a:off x="4977127" y="2919727"/>
          <a:ext cx="4695825" cy="130873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60119"/>
                <a:gridCol w="960119"/>
                <a:gridCol w="2775585"/>
              </a:tblGrid>
              <a:tr h="337820">
                <a:tc gridSpan="2" rowSpan="2"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400"/>
                        </a:spcBef>
                        <a:defRPr spc="0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indent="506730">
                        <a:lnSpc>
                          <a:spcPct val="100000"/>
                        </a:lnSpc>
                        <a:defRPr b="1" spc="0" sz="1200">
                          <a:solidFill>
                            <a:srgbClr val="12355B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Best</a:t>
                      </a:r>
                      <a:r>
                        <a:rPr spc="-5"/>
                        <a:t> </a:t>
                      </a:r>
                      <a:r>
                        <a:rPr spc="-10"/>
                        <a:t>Model?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7893A6"/>
                      </a:solidFill>
                    </a:lnL>
                    <a:lnR w="12700">
                      <a:solidFill>
                        <a:srgbClr val="7893A6"/>
                      </a:solidFill>
                    </a:lnR>
                    <a:lnT w="12700">
                      <a:solidFill>
                        <a:srgbClr val="7893A6"/>
                      </a:solidFill>
                    </a:lnT>
                    <a:lnB w="12700">
                      <a:solidFill>
                        <a:srgbClr val="7893A6"/>
                      </a:solidFill>
                    </a:lnB>
                    <a:solidFill>
                      <a:srgbClr val="E6F4EA"/>
                    </a:solidFill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pc="0" sz="1800">
                          <a:sym typeface="Calibri"/>
                        </a:defRPr>
                      </a:pP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7893A6"/>
                      </a:solidFill>
                    </a:lnL>
                    <a:lnB w="12700">
                      <a:solidFill>
                        <a:srgbClr val="C0392B"/>
                      </a:solidFill>
                    </a:lnB>
                  </a:tcPr>
                </a:tc>
              </a:tr>
              <a:tr h="347345">
                <a:tc gridSpan="2" vMerge="1">
                  <a:tcPr/>
                </a:tc>
                <a:tc hMerge="1" vMerge="1">
                  <a:tcPr/>
                </a:tc>
                <a:tc>
                  <a:txBody>
                    <a:bodyPr/>
                    <a:lstStyle/>
                    <a:p>
                      <a:pPr indent="456565">
                        <a:lnSpc>
                          <a:spcPct val="100000"/>
                        </a:lnSpc>
                        <a:spcBef>
                          <a:spcPts val="1000"/>
                        </a:spcBef>
                        <a:defRPr b="1" spc="0">
                          <a:solidFill>
                            <a:srgbClr val="C0392B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t>NO:</a:t>
                      </a:r>
                      <a:r>
                        <a:rPr spc="-4"/>
                        <a:t> </a:t>
                      </a:r>
                      <a:r>
                        <a:t>tune</a:t>
                      </a:r>
                      <a:r>
                        <a:rPr spc="-4"/>
                        <a:t> </a:t>
                      </a:r>
                      <a:r>
                        <a:t>features</a:t>
                      </a:r>
                      <a:r>
                        <a:rPr spc="-4"/>
                        <a:t> </a:t>
                      </a:r>
                      <a:r>
                        <a:t>/</a:t>
                      </a:r>
                      <a:r>
                        <a:rPr spc="-9"/>
                        <a:t> parameters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7893A6"/>
                      </a:solidFill>
                    </a:lnL>
                    <a:lnT w="12700">
                      <a:solidFill>
                        <a:srgbClr val="C0392B"/>
                      </a:solidFill>
                    </a:lnT>
                  </a:tcPr>
                </a:tc>
              </a:tr>
              <a:tr h="62357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pc="0" sz="1800">
                          <a:sym typeface="Calibri"/>
                        </a:defRPr>
                      </a:pPr>
                    </a:p>
                  </a:txBody>
                  <a:tcPr marL="0" marR="0" marT="0" marB="0" anchor="t" anchorCtr="0" horzOverflow="overflow">
                    <a:lnR w="19050">
                      <a:solidFill>
                        <a:srgbClr val="12355B"/>
                      </a:solidFill>
                    </a:lnR>
                    <a:lnT w="12700">
                      <a:solidFill>
                        <a:srgbClr val="7893A6"/>
                      </a:solidFill>
                    </a:lnT>
                  </a:tcPr>
                </a:tc>
                <a:tc gridSpan="2"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1100"/>
                        </a:spcBef>
                        <a:defRPr spc="0" sz="1800"/>
                      </a:pPr>
                      <a:r>
                        <a:rPr b="1" spc="-25" sz="1100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0" marR="0" marT="0" marB="0" anchor="t" anchorCtr="0" horzOverflow="overflow">
                    <a:lnL w="19050">
                      <a:solidFill>
                        <a:srgbClr val="12355B"/>
                      </a:solidFill>
                    </a:ln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95" name="object 31"/>
          <p:cNvSpPr/>
          <p:nvPr/>
        </p:nvSpPr>
        <p:spPr>
          <a:xfrm>
            <a:off x="5914656" y="4239793"/>
            <a:ext cx="57886" cy="578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10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2355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9" name="object 32"/>
          <p:cNvGrpSpPr/>
          <p:nvPr/>
        </p:nvGrpSpPr>
        <p:grpSpPr>
          <a:xfrm>
            <a:off x="9683749" y="1874520"/>
            <a:ext cx="81919" cy="1417194"/>
            <a:chOff x="0" y="0"/>
            <a:chExt cx="81917" cy="1417192"/>
          </a:xfrm>
        </p:grpSpPr>
        <p:sp>
          <p:nvSpPr>
            <p:cNvPr id="196" name="object 33"/>
            <p:cNvSpPr/>
            <p:nvPr/>
          </p:nvSpPr>
          <p:spPr>
            <a:xfrm>
              <a:off x="-1" y="1362583"/>
              <a:ext cx="54611" cy="54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39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7" name="object 34"/>
            <p:cNvSpPr/>
            <p:nvPr/>
          </p:nvSpPr>
          <p:spPr>
            <a:xfrm flipH="1">
              <a:off x="54609" y="0"/>
              <a:ext cx="1" cy="1331046"/>
            </a:xfrm>
            <a:prstGeom prst="line">
              <a:avLst/>
            </a:prstGeom>
            <a:noFill/>
            <a:ln w="12700" cap="flat">
              <a:solidFill>
                <a:srgbClr val="C0392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" name="object 35"/>
            <p:cNvSpPr/>
            <p:nvPr/>
          </p:nvSpPr>
          <p:spPr>
            <a:xfrm>
              <a:off x="27305" y="1335278"/>
              <a:ext cx="54613" cy="54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108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39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00" name="object 36"/>
          <p:cNvSpPr txBox="1"/>
          <p:nvPr/>
        </p:nvSpPr>
        <p:spPr>
          <a:xfrm>
            <a:off x="1234436" y="5532120"/>
            <a:ext cx="9784082" cy="388299"/>
          </a:xfrm>
          <a:prstGeom prst="rect">
            <a:avLst/>
          </a:prstGeom>
          <a:solidFill>
            <a:srgbClr val="F6FAFD"/>
          </a:solidFill>
          <a:ln w="12700">
            <a:solidFill>
              <a:srgbClr val="B7CDD9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6985">
              <a:spcBef>
                <a:spcPts val="700"/>
              </a:spcBef>
              <a:defRPr b="1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Main</a:t>
            </a:r>
            <a:r>
              <a:rPr spc="-40"/>
              <a:t> </a:t>
            </a:r>
            <a:r>
              <a:rPr spc="-10"/>
              <a:t>focus</a:t>
            </a:r>
          </a:p>
          <a:p>
            <a:pPr indent="6985">
              <a:defRPr sz="13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Reduce</a:t>
            </a:r>
            <a:r>
              <a:rPr spc="-40"/>
              <a:t> </a:t>
            </a:r>
            <a:r>
              <a:t>false</a:t>
            </a:r>
            <a:r>
              <a:rPr spc="-35"/>
              <a:t> </a:t>
            </a:r>
            <a:r>
              <a:t>negatives</a:t>
            </a:r>
            <a:r>
              <a:rPr spc="-35"/>
              <a:t> </a:t>
            </a:r>
            <a:r>
              <a:t>by</a:t>
            </a:r>
            <a:r>
              <a:rPr spc="-35"/>
              <a:t> </a:t>
            </a:r>
            <a:r>
              <a:t>improving</a:t>
            </a:r>
            <a:r>
              <a:rPr spc="-35"/>
              <a:t> </a:t>
            </a:r>
            <a:r>
              <a:t>phishing</a:t>
            </a:r>
            <a:r>
              <a:rPr spc="-35"/>
              <a:t> </a:t>
            </a:r>
            <a:r>
              <a:t>recall</a:t>
            </a:r>
            <a:r>
              <a:rPr spc="-35"/>
              <a:t> </a:t>
            </a:r>
            <a:r>
              <a:t>and</a:t>
            </a:r>
            <a:r>
              <a:rPr spc="-35"/>
              <a:t> </a:t>
            </a:r>
            <a:r>
              <a:rPr spc="-10"/>
              <a:t>F1-</a:t>
            </a:r>
            <a:r>
              <a:t>score,</a:t>
            </a:r>
            <a:r>
              <a:rPr spc="-40"/>
              <a:t> </a:t>
            </a:r>
            <a:r>
              <a:t>while</a:t>
            </a:r>
            <a:r>
              <a:rPr spc="-35"/>
              <a:t> </a:t>
            </a:r>
            <a:r>
              <a:t>maintaining</a:t>
            </a:r>
            <a:r>
              <a:rPr spc="-35"/>
              <a:t> </a:t>
            </a:r>
            <a:r>
              <a:t>low</a:t>
            </a:r>
            <a:r>
              <a:rPr spc="-35"/>
              <a:t> </a:t>
            </a:r>
            <a:r>
              <a:t>false</a:t>
            </a:r>
            <a:r>
              <a:rPr spc="-35"/>
              <a:t> </a:t>
            </a:r>
            <a:r>
              <a:t>positives</a:t>
            </a:r>
            <a:r>
              <a:rPr spc="-40"/>
              <a:t> </a:t>
            </a:r>
            <a:r>
              <a:t>on</a:t>
            </a:r>
            <a:r>
              <a:rPr spc="-35"/>
              <a:t> </a:t>
            </a:r>
            <a:r>
              <a:t>legitimate</a:t>
            </a:r>
            <a:r>
              <a:rPr spc="-35"/>
              <a:t> </a:t>
            </a:r>
            <a:r>
              <a:rPr spc="-10"/>
              <a:t>URLs.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Conclusion</a:t>
            </a:r>
          </a:p>
        </p:txBody>
      </p:sp>
      <p:sp>
        <p:nvSpPr>
          <p:cNvPr id="203" name="object 3"/>
          <p:cNvSpPr txBox="1"/>
          <p:nvPr/>
        </p:nvSpPr>
        <p:spPr>
          <a:xfrm>
            <a:off x="11377266" y="338333"/>
            <a:ext cx="28194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85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04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object 6"/>
          <p:cNvSpPr txBox="1"/>
          <p:nvPr/>
        </p:nvSpPr>
        <p:spPr>
          <a:xfrm>
            <a:off x="482592" y="2215343"/>
            <a:ext cx="10627997" cy="2433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43180" indent="12700">
              <a:lnSpc>
                <a:spcPts val="2100"/>
              </a:lnSpc>
              <a:spcBef>
                <a:spcPts val="200"/>
              </a:spcBef>
              <a:defRPr>
                <a:latin typeface="Arial"/>
                <a:ea typeface="Arial"/>
                <a:cs typeface="Arial"/>
                <a:sym typeface="Arial"/>
              </a:defRPr>
            </a:pPr>
            <a:r>
              <a:t>*The</a:t>
            </a:r>
            <a:r>
              <a:rPr spc="-20"/>
              <a:t> </a:t>
            </a:r>
            <a:r>
              <a:t>project</a:t>
            </a:r>
            <a:r>
              <a:rPr spc="-20"/>
              <a:t> </a:t>
            </a:r>
            <a:r>
              <a:t>addresses</a:t>
            </a:r>
            <a:r>
              <a:rPr spc="-20"/>
              <a:t> </a:t>
            </a:r>
            <a:r>
              <a:t>phishing</a:t>
            </a:r>
            <a:r>
              <a:rPr spc="-15"/>
              <a:t> </a:t>
            </a:r>
            <a:r>
              <a:t>URL</a:t>
            </a:r>
            <a:r>
              <a:rPr spc="-85"/>
              <a:t> </a:t>
            </a:r>
            <a:r>
              <a:t>detection</a:t>
            </a:r>
            <a:r>
              <a:rPr spc="-15"/>
              <a:t> </a:t>
            </a:r>
            <a:r>
              <a:t>as</a:t>
            </a:r>
            <a:r>
              <a:rPr spc="-20"/>
              <a:t> </a:t>
            </a:r>
            <a:r>
              <a:t>a</a:t>
            </a:r>
            <a:r>
              <a:rPr spc="-20"/>
              <a:t> </a:t>
            </a:r>
            <a:r>
              <a:t>supervised</a:t>
            </a:r>
            <a:r>
              <a:rPr spc="-15"/>
              <a:t> </a:t>
            </a:r>
            <a:r>
              <a:t>Machine</a:t>
            </a:r>
            <a:r>
              <a:rPr spc="-15"/>
              <a:t> </a:t>
            </a:r>
            <a:r>
              <a:t>Learning</a:t>
            </a:r>
            <a:r>
              <a:rPr spc="-15"/>
              <a:t> </a:t>
            </a:r>
            <a:r>
              <a:t>classification</a:t>
            </a:r>
            <a:r>
              <a:rPr spc="-15"/>
              <a:t> </a:t>
            </a:r>
            <a:r>
              <a:rPr spc="-10"/>
              <a:t>problem </a:t>
            </a:r>
            <a:r>
              <a:t>using</a:t>
            </a:r>
            <a:r>
              <a:rPr spc="-10"/>
              <a:t> </a:t>
            </a:r>
            <a:r>
              <a:t>URL</a:t>
            </a:r>
            <a:r>
              <a:rPr spc="-75"/>
              <a:t> </a:t>
            </a:r>
            <a:r>
              <a:t>and</a:t>
            </a:r>
            <a:r>
              <a:rPr spc="-5"/>
              <a:t> </a:t>
            </a:r>
            <a:r>
              <a:t>domain</a:t>
            </a:r>
            <a:r>
              <a:rPr spc="-10"/>
              <a:t> characteristics.</a:t>
            </a:r>
          </a:p>
          <a:p>
            <a:pPr marR="212725" indent="12700">
              <a:lnSpc>
                <a:spcPts val="2100"/>
              </a:lnSpc>
              <a:spcBef>
                <a:spcPts val="800"/>
              </a:spcBef>
              <a:defRPr>
                <a:latin typeface="Arial"/>
                <a:ea typeface="Arial"/>
                <a:cs typeface="Arial"/>
                <a:sym typeface="Arial"/>
              </a:defRPr>
            </a:pPr>
            <a:r>
              <a:t>*It</a:t>
            </a:r>
            <a:r>
              <a:rPr spc="-20"/>
              <a:t> </a:t>
            </a:r>
            <a:r>
              <a:t>is</a:t>
            </a:r>
            <a:r>
              <a:rPr spc="-20"/>
              <a:t> </a:t>
            </a:r>
            <a:r>
              <a:t>needed</a:t>
            </a:r>
            <a:r>
              <a:rPr spc="-10"/>
              <a:t> </a:t>
            </a:r>
            <a:r>
              <a:t>because</a:t>
            </a:r>
            <a:r>
              <a:rPr spc="-15"/>
              <a:t> </a:t>
            </a:r>
            <a:r>
              <a:t>static</a:t>
            </a:r>
            <a:r>
              <a:rPr spc="-15"/>
              <a:t> </a:t>
            </a:r>
            <a:r>
              <a:t>blacklists</a:t>
            </a:r>
            <a:r>
              <a:rPr spc="-20"/>
              <a:t> </a:t>
            </a:r>
            <a:r>
              <a:t>and</a:t>
            </a:r>
            <a:r>
              <a:rPr spc="-15"/>
              <a:t> </a:t>
            </a:r>
            <a:r>
              <a:t>existing</a:t>
            </a:r>
            <a:r>
              <a:rPr spc="-10"/>
              <a:t> </a:t>
            </a:r>
            <a:r>
              <a:t>baseline</a:t>
            </a:r>
            <a:r>
              <a:rPr spc="-15"/>
              <a:t> </a:t>
            </a:r>
            <a:r>
              <a:t>models</a:t>
            </a:r>
            <a:r>
              <a:rPr spc="-15"/>
              <a:t> </a:t>
            </a:r>
            <a:r>
              <a:t>can</a:t>
            </a:r>
            <a:r>
              <a:rPr spc="-15"/>
              <a:t> </a:t>
            </a:r>
            <a:r>
              <a:t>miss</a:t>
            </a:r>
            <a:r>
              <a:rPr spc="-20"/>
              <a:t> </a:t>
            </a:r>
            <a:r>
              <a:t>newly</a:t>
            </a:r>
            <a:r>
              <a:rPr spc="-15"/>
              <a:t> </a:t>
            </a:r>
            <a:r>
              <a:t>created</a:t>
            </a:r>
            <a:r>
              <a:rPr spc="-15"/>
              <a:t> </a:t>
            </a:r>
            <a:r>
              <a:t>or</a:t>
            </a:r>
            <a:r>
              <a:rPr spc="-15"/>
              <a:t> </a:t>
            </a:r>
            <a:r>
              <a:rPr spc="-10"/>
              <a:t>evolving </a:t>
            </a:r>
            <a:r>
              <a:t>phishing</a:t>
            </a:r>
            <a:r>
              <a:rPr spc="-15"/>
              <a:t> </a:t>
            </a:r>
            <a:r>
              <a:t>URLs;</a:t>
            </a:r>
            <a:r>
              <a:rPr spc="-20"/>
              <a:t> </a:t>
            </a:r>
            <a:r>
              <a:t>the</a:t>
            </a:r>
            <a:r>
              <a:rPr spc="-10"/>
              <a:t> </a:t>
            </a:r>
            <a:r>
              <a:t>reference</a:t>
            </a:r>
            <a:r>
              <a:rPr spc="-15"/>
              <a:t> </a:t>
            </a:r>
            <a:r>
              <a:t>study</a:t>
            </a:r>
            <a:r>
              <a:rPr spc="-20"/>
              <a:t> </a:t>
            </a:r>
            <a:r>
              <a:t>still</a:t>
            </a:r>
            <a:r>
              <a:rPr spc="-10"/>
              <a:t> </a:t>
            </a:r>
            <a:r>
              <a:t>shows</a:t>
            </a:r>
            <a:r>
              <a:rPr spc="-25"/>
              <a:t> </a:t>
            </a:r>
            <a:r>
              <a:t>room</a:t>
            </a:r>
            <a:r>
              <a:rPr spc="-20"/>
              <a:t> </a:t>
            </a:r>
            <a:r>
              <a:t>for</a:t>
            </a:r>
            <a:r>
              <a:rPr spc="-15"/>
              <a:t> </a:t>
            </a:r>
            <a:r>
              <a:t>improvement</a:t>
            </a:r>
            <a:r>
              <a:rPr spc="-20"/>
              <a:t> </a:t>
            </a:r>
            <a:r>
              <a:t>in</a:t>
            </a:r>
            <a:r>
              <a:rPr spc="-15"/>
              <a:t> </a:t>
            </a:r>
            <a:r>
              <a:t>phishing</a:t>
            </a:r>
            <a:r>
              <a:rPr spc="-10"/>
              <a:t> recall.</a:t>
            </a:r>
          </a:p>
          <a:p>
            <a:pPr marR="5080" indent="12700">
              <a:lnSpc>
                <a:spcPts val="2100"/>
              </a:lnSpc>
              <a:spcBef>
                <a:spcPts val="800"/>
              </a:spcBef>
              <a:defRPr>
                <a:latin typeface="Arial"/>
                <a:ea typeface="Arial"/>
                <a:cs typeface="Arial"/>
                <a:sym typeface="Arial"/>
              </a:defRPr>
            </a:pPr>
            <a:r>
              <a:t>*The</a:t>
            </a:r>
            <a:r>
              <a:rPr spc="-20"/>
              <a:t> </a:t>
            </a:r>
            <a:r>
              <a:t>planned</a:t>
            </a:r>
            <a:r>
              <a:rPr spc="-20"/>
              <a:t> </a:t>
            </a:r>
            <a:r>
              <a:t>workflow</a:t>
            </a:r>
            <a:r>
              <a:rPr spc="-20"/>
              <a:t> </a:t>
            </a:r>
            <a:r>
              <a:t>combines</a:t>
            </a:r>
            <a:r>
              <a:rPr spc="-25"/>
              <a:t> </a:t>
            </a:r>
            <a:r>
              <a:t>preprocessing,</a:t>
            </a:r>
            <a:r>
              <a:rPr spc="-20"/>
              <a:t> </a:t>
            </a:r>
            <a:r>
              <a:t>feature</a:t>
            </a:r>
            <a:r>
              <a:rPr spc="-20"/>
              <a:t> </a:t>
            </a:r>
            <a:r>
              <a:t>engineering,</a:t>
            </a:r>
            <a:r>
              <a:rPr spc="-20"/>
              <a:t> </a:t>
            </a:r>
            <a:r>
              <a:t>baseline</a:t>
            </a:r>
            <a:r>
              <a:rPr spc="-20"/>
              <a:t> </a:t>
            </a:r>
            <a:r>
              <a:t>ML</a:t>
            </a:r>
            <a:r>
              <a:rPr spc="-85"/>
              <a:t> </a:t>
            </a:r>
            <a:r>
              <a:t>models,</a:t>
            </a:r>
            <a:r>
              <a:rPr spc="-25"/>
              <a:t> </a:t>
            </a:r>
            <a:r>
              <a:t>model</a:t>
            </a:r>
            <a:r>
              <a:rPr spc="-15"/>
              <a:t> </a:t>
            </a:r>
            <a:r>
              <a:rPr spc="-10"/>
              <a:t>tuning, </a:t>
            </a:r>
            <a:r>
              <a:t>error</a:t>
            </a:r>
            <a:r>
              <a:rPr spc="-25"/>
              <a:t> </a:t>
            </a:r>
            <a:r>
              <a:t>analysis</a:t>
            </a:r>
            <a:r>
              <a:rPr spc="-25"/>
              <a:t> </a:t>
            </a:r>
            <a:r>
              <a:t>and</a:t>
            </a:r>
            <a:r>
              <a:rPr spc="-15"/>
              <a:t> </a:t>
            </a:r>
            <a:r>
              <a:t>optional</a:t>
            </a:r>
            <a:r>
              <a:rPr spc="-20"/>
              <a:t> </a:t>
            </a:r>
            <a:r>
              <a:t>explainability</a:t>
            </a:r>
            <a:r>
              <a:rPr spc="-20"/>
              <a:t> </a:t>
            </a:r>
            <a:r>
              <a:t>to</a:t>
            </a:r>
            <a:r>
              <a:rPr spc="-15"/>
              <a:t> </a:t>
            </a:r>
            <a:r>
              <a:t>improve</a:t>
            </a:r>
            <a:r>
              <a:rPr spc="-20"/>
              <a:t> </a:t>
            </a:r>
            <a:r>
              <a:t>reliable</a:t>
            </a:r>
            <a:r>
              <a:rPr spc="-15"/>
              <a:t> </a:t>
            </a:r>
            <a:r>
              <a:t>detection</a:t>
            </a:r>
            <a:r>
              <a:rPr spc="-15"/>
              <a:t> </a:t>
            </a:r>
            <a:r>
              <a:t>of</a:t>
            </a:r>
            <a:r>
              <a:rPr spc="-25"/>
              <a:t> </a:t>
            </a:r>
            <a:r>
              <a:t>unseen</a:t>
            </a:r>
            <a:r>
              <a:rPr spc="-15"/>
              <a:t> </a:t>
            </a:r>
            <a:r>
              <a:t>phishing</a:t>
            </a:r>
            <a:r>
              <a:rPr spc="-15"/>
              <a:t> </a:t>
            </a:r>
            <a:r>
              <a:rPr spc="-10"/>
              <a:t>attacks.</a:t>
            </a:r>
          </a:p>
          <a:p>
            <a:pPr marR="391159" indent="12700">
              <a:lnSpc>
                <a:spcPts val="2100"/>
              </a:lnSpc>
              <a:spcBef>
                <a:spcPts val="800"/>
              </a:spcBef>
              <a:defRPr>
                <a:latin typeface="Arial"/>
                <a:ea typeface="Arial"/>
                <a:cs typeface="Arial"/>
                <a:sym typeface="Arial"/>
              </a:defRPr>
            </a:pPr>
            <a:r>
              <a:t>*The</a:t>
            </a:r>
            <a:r>
              <a:rPr spc="-15"/>
              <a:t> </a:t>
            </a:r>
            <a:r>
              <a:t>expected</a:t>
            </a:r>
            <a:r>
              <a:rPr spc="-10"/>
              <a:t> </a:t>
            </a:r>
            <a:r>
              <a:t>outcome</a:t>
            </a:r>
            <a:r>
              <a:rPr spc="-10"/>
              <a:t> </a:t>
            </a:r>
            <a:r>
              <a:t>is</a:t>
            </a:r>
            <a:r>
              <a:rPr spc="-15"/>
              <a:t> </a:t>
            </a:r>
            <a:r>
              <a:t>a</a:t>
            </a:r>
            <a:r>
              <a:rPr spc="-15"/>
              <a:t> </a:t>
            </a:r>
            <a:r>
              <a:t>practical</a:t>
            </a:r>
            <a:r>
              <a:rPr spc="-10"/>
              <a:t> </a:t>
            </a:r>
            <a:r>
              <a:t>model</a:t>
            </a:r>
            <a:r>
              <a:rPr spc="-10"/>
              <a:t> </a:t>
            </a:r>
            <a:r>
              <a:t>with</a:t>
            </a:r>
            <a:r>
              <a:rPr spc="-10"/>
              <a:t> </a:t>
            </a:r>
            <a:r>
              <a:t>stronger</a:t>
            </a:r>
            <a:r>
              <a:rPr spc="-20"/>
              <a:t> </a:t>
            </a:r>
            <a:r>
              <a:t>recall</a:t>
            </a:r>
            <a:r>
              <a:rPr spc="-10"/>
              <a:t> </a:t>
            </a:r>
            <a:r>
              <a:t>and</a:t>
            </a:r>
            <a:r>
              <a:rPr spc="-10"/>
              <a:t> F1-</a:t>
            </a:r>
            <a:r>
              <a:t>score</a:t>
            </a:r>
            <a:r>
              <a:rPr spc="-10"/>
              <a:t> </a:t>
            </a:r>
            <a:r>
              <a:t>while</a:t>
            </a:r>
            <a:r>
              <a:rPr spc="-10"/>
              <a:t> </a:t>
            </a:r>
            <a:r>
              <a:t>maintaining</a:t>
            </a:r>
            <a:r>
              <a:rPr spc="-15"/>
              <a:t> </a:t>
            </a:r>
            <a:r>
              <a:rPr spc="-20"/>
              <a:t>good </a:t>
            </a:r>
            <a:r>
              <a:t>accuracy</a:t>
            </a:r>
            <a:r>
              <a:rPr spc="-10"/>
              <a:t> </a:t>
            </a:r>
            <a:r>
              <a:t>and</a:t>
            </a:r>
            <a:r>
              <a:rPr spc="-5"/>
              <a:t> </a:t>
            </a:r>
            <a:r>
              <a:t>a</a:t>
            </a:r>
            <a:r>
              <a:rPr spc="-5"/>
              <a:t> </a:t>
            </a:r>
            <a:r>
              <a:t>low</a:t>
            </a:r>
            <a:r>
              <a:rPr spc="-10"/>
              <a:t> false-</a:t>
            </a:r>
            <a:r>
              <a:t>positive</a:t>
            </a:r>
            <a:r>
              <a:rPr spc="-5"/>
              <a:t> </a:t>
            </a:r>
            <a:r>
              <a:rPr spc="-10"/>
              <a:t>rate.</a:t>
            </a:r>
          </a:p>
        </p:txBody>
      </p:sp>
      <p:sp>
        <p:nvSpPr>
          <p:cNvPr id="207" name="object 7"/>
          <p:cNvSpPr txBox="1"/>
          <p:nvPr>
            <p:ph type="sldNum" sz="quarter" idx="4294967295"/>
          </p:nvPr>
        </p:nvSpPr>
        <p:spPr>
          <a:xfrm>
            <a:off x="11347601" y="6497318"/>
            <a:ext cx="174897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34290">
              <a:defRPr spc="-2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object 2"/>
          <p:cNvSpPr txBox="1"/>
          <p:nvPr>
            <p:ph type="title"/>
          </p:nvPr>
        </p:nvSpPr>
        <p:spPr>
          <a:xfrm>
            <a:off x="490218" y="245877"/>
            <a:ext cx="3471547" cy="470410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References</a:t>
            </a:r>
          </a:p>
        </p:txBody>
      </p:sp>
      <p:sp>
        <p:nvSpPr>
          <p:cNvPr id="210" name="object 3"/>
          <p:cNvSpPr txBox="1"/>
          <p:nvPr/>
        </p:nvSpPr>
        <p:spPr>
          <a:xfrm>
            <a:off x="11363373" y="338333"/>
            <a:ext cx="307976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25" sz="20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11" name="object 4"/>
          <p:cNvSpPr/>
          <p:nvPr/>
        </p:nvSpPr>
        <p:spPr>
          <a:xfrm>
            <a:off x="502920" y="804672"/>
            <a:ext cx="11109960" cy="1"/>
          </a:xfrm>
          <a:prstGeom prst="line">
            <a:avLst/>
          </a:prstGeom>
          <a:ln w="17780">
            <a:solidFill>
              <a:srgbClr val="8BBBD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object 5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object 6"/>
          <p:cNvSpPr txBox="1"/>
          <p:nvPr/>
        </p:nvSpPr>
        <p:spPr>
          <a:xfrm>
            <a:off x="563370" y="888621"/>
            <a:ext cx="11042651" cy="4991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66065" marR="224154" indent="-253365">
              <a:lnSpc>
                <a:spcPct val="101899"/>
              </a:lnSpc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Owa,</a:t>
            </a:r>
            <a:r>
              <a:rPr spc="-20"/>
              <a:t> </a:t>
            </a:r>
            <a:r>
              <a:t>K.,</a:t>
            </a:r>
            <a:r>
              <a:rPr spc="-20"/>
              <a:t> </a:t>
            </a:r>
            <a:r>
              <a:t>&amp;</a:t>
            </a:r>
            <a:r>
              <a:rPr spc="-114"/>
              <a:t> </a:t>
            </a:r>
            <a:r>
              <a:t>Adewole,</a:t>
            </a:r>
            <a:r>
              <a:rPr spc="-15"/>
              <a:t> </a:t>
            </a:r>
            <a:r>
              <a:t>O.</a:t>
            </a:r>
            <a:r>
              <a:rPr spc="-20"/>
              <a:t> </a:t>
            </a:r>
            <a:r>
              <a:t>(2025).</a:t>
            </a:r>
            <a:r>
              <a:rPr spc="-20"/>
              <a:t> </a:t>
            </a:r>
            <a:r>
              <a:t>Benchmarking</a:t>
            </a:r>
            <a:r>
              <a:rPr spc="-15"/>
              <a:t> </a:t>
            </a:r>
            <a:r>
              <a:t>Machine</a:t>
            </a:r>
            <a:r>
              <a:rPr spc="-15"/>
              <a:t> </a:t>
            </a:r>
            <a:r>
              <a:t>Learning</a:t>
            </a:r>
            <a:r>
              <a:rPr spc="-50"/>
              <a:t> </a:t>
            </a:r>
            <a:r>
              <a:rPr spc="-20"/>
              <a:t>Techniques</a:t>
            </a:r>
            <a:r>
              <a:rPr spc="-15"/>
              <a:t> </a:t>
            </a:r>
            <a:r>
              <a:t>for</a:t>
            </a:r>
            <a:r>
              <a:rPr spc="-20"/>
              <a:t> </a:t>
            </a:r>
            <a:r>
              <a:t>Phishing</a:t>
            </a:r>
            <a:r>
              <a:rPr spc="-15"/>
              <a:t> </a:t>
            </a:r>
            <a:r>
              <a:t>Detection</a:t>
            </a:r>
            <a:r>
              <a:rPr spc="-15"/>
              <a:t> </a:t>
            </a:r>
            <a:r>
              <a:rPr spc="-25"/>
              <a:t>and </a:t>
            </a:r>
            <a:r>
              <a:t>Secure</a:t>
            </a:r>
            <a:r>
              <a:rPr spc="-30"/>
              <a:t> </a:t>
            </a:r>
            <a:r>
              <a:t>URL</a:t>
            </a:r>
            <a:r>
              <a:rPr spc="-95"/>
              <a:t> </a:t>
            </a:r>
            <a:r>
              <a:t>Classification.</a:t>
            </a:r>
            <a:r>
              <a:rPr spc="-34"/>
              <a:t> </a:t>
            </a:r>
            <a:r>
              <a:t>IJCSMC,</a:t>
            </a:r>
            <a:r>
              <a:rPr spc="-34"/>
              <a:t> </a:t>
            </a:r>
            <a:r>
              <a:t>14(1),</a:t>
            </a:r>
            <a:r>
              <a:rPr spc="-34"/>
              <a:t> </a:t>
            </a:r>
            <a:r>
              <a:t>20–37.</a:t>
            </a:r>
            <a:r>
              <a:rPr spc="-34"/>
              <a:t> </a:t>
            </a:r>
            <a:r>
              <a:rPr spc="-10"/>
              <a:t>DOI:10.47760/ijcsmc.2025.v14i01.003.</a:t>
            </a:r>
          </a:p>
          <a:p>
            <a:pPr marL="266065" indent="-253365">
              <a:spcBef>
                <a:spcPts val="600"/>
              </a:spcBef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Breiman,</a:t>
            </a:r>
            <a:r>
              <a:rPr spc="-20"/>
              <a:t> </a:t>
            </a:r>
            <a:r>
              <a:t>L.</a:t>
            </a:r>
            <a:r>
              <a:rPr spc="-15"/>
              <a:t> </a:t>
            </a:r>
            <a:r>
              <a:t>(2001).</a:t>
            </a:r>
            <a:r>
              <a:rPr spc="-20"/>
              <a:t> </a:t>
            </a:r>
            <a:r>
              <a:t>Random</a:t>
            </a:r>
            <a:r>
              <a:rPr spc="-15"/>
              <a:t> </a:t>
            </a:r>
            <a:r>
              <a:t>Forests.</a:t>
            </a:r>
            <a:r>
              <a:rPr spc="-20"/>
              <a:t> </a:t>
            </a:r>
            <a:r>
              <a:t>Machine</a:t>
            </a:r>
            <a:r>
              <a:rPr spc="-10"/>
              <a:t> </a:t>
            </a:r>
            <a:r>
              <a:t>Learning,</a:t>
            </a:r>
            <a:r>
              <a:rPr spc="-20"/>
              <a:t> </a:t>
            </a:r>
            <a:r>
              <a:t>45,</a:t>
            </a:r>
            <a:r>
              <a:rPr spc="-15"/>
              <a:t> </a:t>
            </a:r>
            <a:r>
              <a:t>5–</a:t>
            </a:r>
            <a:r>
              <a:rPr spc="-25"/>
              <a:t>32.</a:t>
            </a:r>
          </a:p>
          <a:p>
            <a:pPr marL="266065" indent="-253365">
              <a:spcBef>
                <a:spcPts val="600"/>
              </a:spcBef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Cortes,</a:t>
            </a:r>
            <a:r>
              <a:rPr spc="-25"/>
              <a:t> </a:t>
            </a:r>
            <a:r>
              <a:t>C.,</a:t>
            </a:r>
            <a:r>
              <a:rPr spc="-25"/>
              <a:t> </a:t>
            </a:r>
            <a:r>
              <a:t>&amp;</a:t>
            </a:r>
            <a:r>
              <a:rPr spc="-20"/>
              <a:t> </a:t>
            </a:r>
            <a:r>
              <a:rPr spc="-10"/>
              <a:t>Vapnik,</a:t>
            </a:r>
            <a:r>
              <a:rPr spc="-25"/>
              <a:t> </a:t>
            </a:r>
            <a:r>
              <a:rPr spc="-55"/>
              <a:t>V.</a:t>
            </a:r>
            <a:r>
              <a:rPr spc="-25"/>
              <a:t> </a:t>
            </a:r>
            <a:r>
              <a:t>(1995).</a:t>
            </a:r>
            <a:r>
              <a:rPr spc="-25"/>
              <a:t> </a:t>
            </a:r>
            <a:r>
              <a:rPr spc="-10"/>
              <a:t>Support-</a:t>
            </a:r>
            <a:r>
              <a:t>vector</a:t>
            </a:r>
            <a:r>
              <a:rPr spc="-20"/>
              <a:t> </a:t>
            </a:r>
            <a:r>
              <a:t>networks.</a:t>
            </a:r>
            <a:r>
              <a:rPr spc="-25"/>
              <a:t> </a:t>
            </a:r>
            <a:r>
              <a:t>Machine</a:t>
            </a:r>
            <a:r>
              <a:rPr spc="-20"/>
              <a:t> </a:t>
            </a:r>
            <a:r>
              <a:t>Learning,</a:t>
            </a:r>
            <a:r>
              <a:rPr spc="-25"/>
              <a:t> </a:t>
            </a:r>
            <a:r>
              <a:t>20,</a:t>
            </a:r>
            <a:r>
              <a:rPr spc="-25"/>
              <a:t> </a:t>
            </a:r>
            <a:r>
              <a:t>273–</a:t>
            </a:r>
            <a:r>
              <a:rPr spc="-20"/>
              <a:t>297.</a:t>
            </a:r>
          </a:p>
          <a:p>
            <a:pPr marL="266065" indent="-253365">
              <a:spcBef>
                <a:spcPts val="600"/>
              </a:spcBef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Quinlan,</a:t>
            </a:r>
            <a:r>
              <a:rPr spc="-20"/>
              <a:t> </a:t>
            </a:r>
            <a:r>
              <a:t>J.</a:t>
            </a:r>
            <a:r>
              <a:rPr spc="-15"/>
              <a:t> </a:t>
            </a:r>
            <a:r>
              <a:t>R.</a:t>
            </a:r>
            <a:r>
              <a:rPr spc="-15"/>
              <a:t> </a:t>
            </a:r>
            <a:r>
              <a:t>(1993).</a:t>
            </a:r>
            <a:r>
              <a:rPr spc="-20"/>
              <a:t> </a:t>
            </a:r>
            <a:r>
              <a:t>C4.5:</a:t>
            </a:r>
            <a:r>
              <a:rPr spc="-15"/>
              <a:t> </a:t>
            </a:r>
            <a:r>
              <a:t>Programs</a:t>
            </a:r>
            <a:r>
              <a:rPr spc="-20"/>
              <a:t> </a:t>
            </a:r>
            <a:r>
              <a:t>for</a:t>
            </a:r>
            <a:r>
              <a:rPr spc="-15"/>
              <a:t> </a:t>
            </a:r>
            <a:r>
              <a:t>Machine</a:t>
            </a:r>
            <a:r>
              <a:rPr spc="-10"/>
              <a:t> </a:t>
            </a:r>
            <a:r>
              <a:t>Learning.</a:t>
            </a:r>
            <a:r>
              <a:rPr spc="-20"/>
              <a:t> </a:t>
            </a:r>
            <a:r>
              <a:t>Morgan</a:t>
            </a:r>
            <a:r>
              <a:rPr spc="-10"/>
              <a:t> Kaufmann.</a:t>
            </a:r>
          </a:p>
          <a:p>
            <a:pPr marL="266065" marR="5080" indent="-253365">
              <a:lnSpc>
                <a:spcPct val="101899"/>
              </a:lnSpc>
              <a:spcBef>
                <a:spcPts val="600"/>
              </a:spcBef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Sahingoz,</a:t>
            </a:r>
            <a:r>
              <a:rPr spc="-20"/>
              <a:t> </a:t>
            </a:r>
            <a:r>
              <a:t>O.</a:t>
            </a:r>
            <a:r>
              <a:rPr spc="-15"/>
              <a:t> </a:t>
            </a:r>
            <a:r>
              <a:t>K.,</a:t>
            </a:r>
            <a:r>
              <a:rPr spc="-15"/>
              <a:t> </a:t>
            </a:r>
            <a:r>
              <a:t>et</a:t>
            </a:r>
            <a:r>
              <a:rPr spc="-20"/>
              <a:t> </a:t>
            </a:r>
            <a:r>
              <a:t>al.</a:t>
            </a:r>
            <a:r>
              <a:rPr spc="-15"/>
              <a:t> </a:t>
            </a:r>
            <a:r>
              <a:t>(2019).</a:t>
            </a:r>
            <a:r>
              <a:rPr spc="-15"/>
              <a:t> </a:t>
            </a:r>
            <a:r>
              <a:t>Machine</a:t>
            </a:r>
            <a:r>
              <a:rPr spc="-15"/>
              <a:t> </a:t>
            </a:r>
            <a:r>
              <a:t>learning</a:t>
            </a:r>
            <a:r>
              <a:rPr spc="-10"/>
              <a:t> </a:t>
            </a:r>
            <a:r>
              <a:t>based</a:t>
            </a:r>
            <a:r>
              <a:rPr spc="-10"/>
              <a:t> </a:t>
            </a:r>
            <a:r>
              <a:t>phishing</a:t>
            </a:r>
            <a:r>
              <a:rPr spc="-15"/>
              <a:t> </a:t>
            </a:r>
            <a:r>
              <a:t>detection</a:t>
            </a:r>
            <a:r>
              <a:rPr spc="-10"/>
              <a:t> </a:t>
            </a:r>
            <a:r>
              <a:t>from</a:t>
            </a:r>
            <a:r>
              <a:rPr spc="-15"/>
              <a:t> </a:t>
            </a:r>
            <a:r>
              <a:t>URLs.</a:t>
            </a:r>
            <a:r>
              <a:rPr spc="-15"/>
              <a:t> </a:t>
            </a:r>
            <a:r>
              <a:t>Expert</a:t>
            </a:r>
            <a:r>
              <a:rPr spc="-20"/>
              <a:t> </a:t>
            </a:r>
            <a:r>
              <a:t>Systems</a:t>
            </a:r>
            <a:r>
              <a:rPr spc="-15"/>
              <a:t> </a:t>
            </a:r>
            <a:r>
              <a:rPr spc="-20"/>
              <a:t>with </a:t>
            </a:r>
            <a:r>
              <a:t>Applications,</a:t>
            </a:r>
            <a:r>
              <a:rPr spc="-69"/>
              <a:t> </a:t>
            </a:r>
            <a:r>
              <a:rPr spc="-10"/>
              <a:t>117,</a:t>
            </a:r>
            <a:r>
              <a:rPr spc="-65"/>
              <a:t> </a:t>
            </a:r>
            <a:r>
              <a:t>345–</a:t>
            </a:r>
            <a:r>
              <a:rPr spc="-20"/>
              <a:t>357.</a:t>
            </a:r>
          </a:p>
          <a:p>
            <a:pPr marL="266065" marR="1017269" indent="-253365">
              <a:lnSpc>
                <a:spcPct val="101899"/>
              </a:lnSpc>
              <a:spcBef>
                <a:spcPts val="600"/>
              </a:spcBef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Mohammad,</a:t>
            </a:r>
            <a:r>
              <a:rPr spc="-30"/>
              <a:t> </a:t>
            </a:r>
            <a:r>
              <a:t>R.</a:t>
            </a:r>
            <a:r>
              <a:rPr spc="-30"/>
              <a:t> </a:t>
            </a:r>
            <a:r>
              <a:t>M.,</a:t>
            </a:r>
            <a:r>
              <a:rPr spc="-55"/>
              <a:t> </a:t>
            </a:r>
            <a:r>
              <a:t>Thabtah,</a:t>
            </a:r>
            <a:r>
              <a:rPr spc="-30"/>
              <a:t> </a:t>
            </a:r>
            <a:r>
              <a:rPr spc="-50"/>
              <a:t>F.,</a:t>
            </a:r>
            <a:r>
              <a:rPr spc="-30"/>
              <a:t> </a:t>
            </a:r>
            <a:r>
              <a:t>&amp;</a:t>
            </a:r>
            <a:r>
              <a:rPr spc="-25"/>
              <a:t> </a:t>
            </a:r>
            <a:r>
              <a:rPr spc="-10"/>
              <a:t>McCluskey,</a:t>
            </a:r>
            <a:r>
              <a:rPr spc="-25"/>
              <a:t> </a:t>
            </a:r>
            <a:r>
              <a:t>L.</a:t>
            </a:r>
            <a:r>
              <a:rPr spc="-30"/>
              <a:t> </a:t>
            </a:r>
            <a:r>
              <a:t>(2014).</a:t>
            </a:r>
            <a:r>
              <a:rPr spc="-30"/>
              <a:t> </a:t>
            </a:r>
            <a:r>
              <a:t>Intelligent</a:t>
            </a:r>
            <a:r>
              <a:rPr spc="-30"/>
              <a:t> </a:t>
            </a:r>
            <a:r>
              <a:rPr spc="-10"/>
              <a:t>rule-</a:t>
            </a:r>
            <a:r>
              <a:t>based</a:t>
            </a:r>
            <a:r>
              <a:rPr spc="-20"/>
              <a:t> </a:t>
            </a:r>
            <a:r>
              <a:t>phishing</a:t>
            </a:r>
            <a:r>
              <a:rPr spc="-25"/>
              <a:t> </a:t>
            </a:r>
            <a:r>
              <a:rPr spc="-10"/>
              <a:t>websites </a:t>
            </a:r>
            <a:r>
              <a:t>classification.</a:t>
            </a:r>
            <a:r>
              <a:rPr spc="-60"/>
              <a:t> </a:t>
            </a:r>
            <a:r>
              <a:t>IET</a:t>
            </a:r>
            <a:r>
              <a:rPr spc="-75"/>
              <a:t> </a:t>
            </a:r>
            <a:r>
              <a:t>Information</a:t>
            </a:r>
            <a:r>
              <a:rPr spc="-40"/>
              <a:t> </a:t>
            </a:r>
            <a:r>
              <a:rPr spc="-10"/>
              <a:t>Security.</a:t>
            </a:r>
          </a:p>
          <a:p>
            <a:pPr marL="254000" marR="571500" indent="-241300">
              <a:lnSpc>
                <a:spcPct val="101899"/>
              </a:lnSpc>
              <a:spcBef>
                <a:spcPts val="600"/>
              </a:spcBef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Abdelhamid,</a:t>
            </a:r>
            <a:r>
              <a:rPr spc="-30"/>
              <a:t> </a:t>
            </a:r>
            <a:r>
              <a:t>N.,</a:t>
            </a:r>
            <a:r>
              <a:rPr spc="-114"/>
              <a:t> </a:t>
            </a:r>
            <a:r>
              <a:rPr spc="-10"/>
              <a:t>Ayesh,</a:t>
            </a:r>
            <a:r>
              <a:rPr spc="-110"/>
              <a:t> </a:t>
            </a:r>
            <a:r>
              <a:t>A.,</a:t>
            </a:r>
            <a:r>
              <a:rPr spc="-20"/>
              <a:t> </a:t>
            </a:r>
            <a:r>
              <a:t>&amp;</a:t>
            </a:r>
            <a:r>
              <a:rPr spc="-50"/>
              <a:t> </a:t>
            </a:r>
            <a:r>
              <a:t>Thabtah,</a:t>
            </a:r>
            <a:r>
              <a:rPr spc="-20"/>
              <a:t> </a:t>
            </a:r>
            <a:r>
              <a:rPr spc="-95"/>
              <a:t>F.</a:t>
            </a:r>
            <a:r>
              <a:rPr spc="-20"/>
              <a:t> </a:t>
            </a:r>
            <a:r>
              <a:t>(2014).</a:t>
            </a:r>
            <a:r>
              <a:rPr spc="-20"/>
              <a:t> </a:t>
            </a:r>
            <a:r>
              <a:t>Phishing</a:t>
            </a:r>
            <a:r>
              <a:rPr spc="-15"/>
              <a:t> </a:t>
            </a:r>
            <a:r>
              <a:t>detection</a:t>
            </a:r>
            <a:r>
              <a:rPr spc="-15"/>
              <a:t> </a:t>
            </a:r>
            <a:r>
              <a:t>based</a:t>
            </a:r>
            <a:r>
              <a:rPr spc="-110"/>
              <a:t> </a:t>
            </a:r>
            <a:r>
              <a:t>Associative</a:t>
            </a:r>
            <a:r>
              <a:rPr spc="-15"/>
              <a:t> </a:t>
            </a:r>
            <a:r>
              <a:rPr spc="-10"/>
              <a:t>Classification. </a:t>
            </a:r>
            <a:r>
              <a:t>Expert</a:t>
            </a:r>
            <a:r>
              <a:rPr spc="-30"/>
              <a:t> </a:t>
            </a:r>
            <a:r>
              <a:t>Systems</a:t>
            </a:r>
            <a:r>
              <a:rPr spc="-25"/>
              <a:t> </a:t>
            </a:r>
            <a:r>
              <a:t>with</a:t>
            </a:r>
            <a:r>
              <a:rPr spc="-114"/>
              <a:t> </a:t>
            </a:r>
            <a:r>
              <a:rPr spc="-10"/>
              <a:t>Applications.</a:t>
            </a:r>
          </a:p>
          <a:p>
            <a:pPr marL="266065" marR="872489" indent="-253365">
              <a:lnSpc>
                <a:spcPct val="101899"/>
              </a:lnSpc>
              <a:spcBef>
                <a:spcPts val="600"/>
              </a:spcBef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Jain,</a:t>
            </a:r>
            <a:r>
              <a:rPr spc="-110"/>
              <a:t> </a:t>
            </a:r>
            <a:r>
              <a:t>A.</a:t>
            </a:r>
            <a:r>
              <a:rPr spc="-15"/>
              <a:t> </a:t>
            </a:r>
            <a:r>
              <a:t>K.,</a:t>
            </a:r>
            <a:r>
              <a:rPr spc="-10"/>
              <a:t> </a:t>
            </a:r>
            <a:r>
              <a:t>&amp;</a:t>
            </a:r>
            <a:r>
              <a:rPr spc="-10"/>
              <a:t> </a:t>
            </a:r>
            <a:r>
              <a:t>Gupta,</a:t>
            </a:r>
            <a:r>
              <a:rPr spc="-15"/>
              <a:t> </a:t>
            </a:r>
            <a:r>
              <a:t>B.</a:t>
            </a:r>
            <a:r>
              <a:rPr spc="-10"/>
              <a:t> </a:t>
            </a:r>
            <a:r>
              <a:t>B.</a:t>
            </a:r>
            <a:r>
              <a:rPr spc="-15"/>
              <a:t> </a:t>
            </a:r>
            <a:r>
              <a:t>(2018).</a:t>
            </a:r>
            <a:r>
              <a:rPr spc="-45"/>
              <a:t> </a:t>
            </a:r>
            <a:r>
              <a:rPr spc="-25"/>
              <a:t>Towards</a:t>
            </a:r>
            <a:r>
              <a:rPr spc="-10"/>
              <a:t> </a:t>
            </a:r>
            <a:r>
              <a:t>detection</a:t>
            </a:r>
            <a:r>
              <a:rPr spc="-10"/>
              <a:t> </a:t>
            </a:r>
            <a:r>
              <a:t>of</a:t>
            </a:r>
            <a:r>
              <a:rPr spc="-15"/>
              <a:t> </a:t>
            </a:r>
            <a:r>
              <a:t>phishing</a:t>
            </a:r>
            <a:r>
              <a:rPr spc="-10"/>
              <a:t> </a:t>
            </a:r>
            <a:r>
              <a:t>websites</a:t>
            </a:r>
            <a:r>
              <a:rPr spc="-10"/>
              <a:t> </a:t>
            </a:r>
            <a:r>
              <a:t>on</a:t>
            </a:r>
            <a:r>
              <a:rPr spc="-10"/>
              <a:t> client-</a:t>
            </a:r>
            <a:r>
              <a:t>side</a:t>
            </a:r>
            <a:r>
              <a:rPr spc="-10"/>
              <a:t> </a:t>
            </a:r>
            <a:r>
              <a:t>using</a:t>
            </a:r>
            <a:r>
              <a:rPr spc="-5"/>
              <a:t> </a:t>
            </a:r>
            <a:r>
              <a:rPr spc="-25"/>
              <a:t>ML. </a:t>
            </a:r>
            <a:r>
              <a:rPr spc="-20"/>
              <a:t>Telecommunication</a:t>
            </a:r>
            <a:r>
              <a:rPr spc="50"/>
              <a:t> </a:t>
            </a:r>
            <a:r>
              <a:rPr spc="-10"/>
              <a:t>Systems.</a:t>
            </a:r>
          </a:p>
          <a:p>
            <a:pPr marL="266065" marR="953135" indent="-253365">
              <a:lnSpc>
                <a:spcPct val="101899"/>
              </a:lnSpc>
              <a:spcBef>
                <a:spcPts val="500"/>
              </a:spcBef>
              <a:buSzPct val="100000"/>
              <a:buAutoNum type="arabicPeriod" startAt="1"/>
              <a:tabLst>
                <a:tab pos="254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Do,</a:t>
            </a:r>
            <a:r>
              <a:rPr spc="-20"/>
              <a:t> </a:t>
            </a:r>
            <a:r>
              <a:t>N.</a:t>
            </a:r>
            <a:r>
              <a:rPr spc="-15"/>
              <a:t> </a:t>
            </a:r>
            <a:r>
              <a:t>Q.,</a:t>
            </a:r>
            <a:r>
              <a:rPr spc="-15"/>
              <a:t> </a:t>
            </a:r>
            <a:r>
              <a:t>et</a:t>
            </a:r>
            <a:r>
              <a:rPr spc="-15"/>
              <a:t> </a:t>
            </a:r>
            <a:r>
              <a:t>al.</a:t>
            </a:r>
            <a:r>
              <a:rPr spc="-15"/>
              <a:t> </a:t>
            </a:r>
            <a:r>
              <a:t>(2022).</a:t>
            </a:r>
            <a:r>
              <a:rPr spc="-15"/>
              <a:t> </a:t>
            </a:r>
            <a:r>
              <a:t>Deep</a:t>
            </a:r>
            <a:r>
              <a:rPr spc="-10"/>
              <a:t> </a:t>
            </a:r>
            <a:r>
              <a:t>Learning</a:t>
            </a:r>
            <a:r>
              <a:rPr spc="-10"/>
              <a:t> </a:t>
            </a:r>
            <a:r>
              <a:t>for</a:t>
            </a:r>
            <a:r>
              <a:rPr spc="-15"/>
              <a:t> </a:t>
            </a:r>
            <a:r>
              <a:t>Phishing</a:t>
            </a:r>
            <a:r>
              <a:rPr spc="-10"/>
              <a:t> </a:t>
            </a:r>
            <a:r>
              <a:t>Detection:</a:t>
            </a:r>
            <a:r>
              <a:rPr spc="-45"/>
              <a:t> </a:t>
            </a:r>
            <a:r>
              <a:rPr spc="-34"/>
              <a:t>Taxonomy,</a:t>
            </a:r>
            <a:r>
              <a:rPr spc="-15"/>
              <a:t> </a:t>
            </a:r>
            <a:r>
              <a:t>Challenges</a:t>
            </a:r>
            <a:r>
              <a:rPr spc="-15"/>
              <a:t> </a:t>
            </a:r>
            <a:r>
              <a:t>and</a:t>
            </a:r>
            <a:r>
              <a:rPr spc="-10"/>
              <a:t> Future </a:t>
            </a:r>
            <a:r>
              <a:t>Directions.</a:t>
            </a:r>
            <a:r>
              <a:rPr spc="-25"/>
              <a:t> </a:t>
            </a:r>
            <a:r>
              <a:t>IEEE</a:t>
            </a:r>
            <a:r>
              <a:rPr spc="-120"/>
              <a:t> </a:t>
            </a:r>
            <a:r>
              <a:rPr spc="-10"/>
              <a:t>Access.</a:t>
            </a:r>
          </a:p>
          <a:p>
            <a:pPr marL="381000" indent="-368300">
              <a:spcBef>
                <a:spcPts val="600"/>
              </a:spcBef>
              <a:buSzPct val="100000"/>
              <a:buAutoNum type="arabicPeriod" startAt="1"/>
              <a:tabLst>
                <a:tab pos="381000" algn="l"/>
              </a:tabLst>
              <a:defRPr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Aalto</a:t>
            </a:r>
            <a:r>
              <a:rPr spc="-15"/>
              <a:t> </a:t>
            </a:r>
            <a:r>
              <a:t>University</a:t>
            </a:r>
            <a:r>
              <a:rPr spc="-20"/>
              <a:t> </a:t>
            </a:r>
            <a:r>
              <a:t>URL</a:t>
            </a:r>
            <a:r>
              <a:rPr spc="-80"/>
              <a:t> </a:t>
            </a:r>
            <a:r>
              <a:t>Dataset</a:t>
            </a:r>
            <a:r>
              <a:rPr spc="-20"/>
              <a:t> </a:t>
            </a:r>
            <a:r>
              <a:t>and</a:t>
            </a:r>
            <a:r>
              <a:rPr spc="-15"/>
              <a:t> </a:t>
            </a:r>
            <a:r>
              <a:t>Kaggle</a:t>
            </a:r>
            <a:r>
              <a:rPr spc="-15"/>
              <a:t> </a:t>
            </a:r>
            <a:r>
              <a:t>Phishing</a:t>
            </a:r>
            <a:r>
              <a:rPr spc="-15"/>
              <a:t> </a:t>
            </a:r>
            <a:r>
              <a:t>Site</a:t>
            </a:r>
            <a:r>
              <a:rPr spc="-10"/>
              <a:t> </a:t>
            </a:r>
            <a:r>
              <a:t>Prediction</a:t>
            </a:r>
            <a:r>
              <a:rPr spc="-15"/>
              <a:t> </a:t>
            </a:r>
            <a:r>
              <a:t>Dataset</a:t>
            </a:r>
            <a:r>
              <a:rPr spc="-20"/>
              <a:t> </a:t>
            </a:r>
            <a:r>
              <a:rPr spc="-10"/>
              <a:t>documentation.</a:t>
            </a:r>
          </a:p>
        </p:txBody>
      </p:sp>
      <p:sp>
        <p:nvSpPr>
          <p:cNvPr id="214" name="object 7"/>
          <p:cNvSpPr txBox="1"/>
          <p:nvPr>
            <p:ph type="sldNum" sz="quarter" idx="4294967295"/>
          </p:nvPr>
        </p:nvSpPr>
        <p:spPr>
          <a:xfrm>
            <a:off x="11347601" y="6497318"/>
            <a:ext cx="181904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34290">
              <a:defRPr spc="-2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object 3"/>
          <p:cNvSpPr txBox="1"/>
          <p:nvPr>
            <p:ph type="title"/>
          </p:nvPr>
        </p:nvSpPr>
        <p:spPr>
          <a:xfrm>
            <a:off x="4261584" y="2028962"/>
            <a:ext cx="3638551" cy="75692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4800"/>
            </a:pPr>
            <a:r>
              <a:t>THANK</a:t>
            </a:r>
            <a:r>
              <a:rPr spc="-200"/>
              <a:t> </a:t>
            </a:r>
            <a:r>
              <a:rPr spc="-100"/>
              <a:t>YOU</a:t>
            </a:r>
          </a:p>
        </p:txBody>
      </p:sp>
      <p:sp>
        <p:nvSpPr>
          <p:cNvPr id="218" name="object 4"/>
          <p:cNvSpPr/>
          <p:nvPr/>
        </p:nvSpPr>
        <p:spPr>
          <a:xfrm>
            <a:off x="3017520" y="2971800"/>
            <a:ext cx="6126480" cy="0"/>
          </a:xfrm>
          <a:prstGeom prst="line">
            <a:avLst/>
          </a:prstGeom>
          <a:ln w="25400">
            <a:solidFill>
              <a:srgbClr val="1F77B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object 5"/>
          <p:cNvSpPr txBox="1"/>
          <p:nvPr/>
        </p:nvSpPr>
        <p:spPr>
          <a:xfrm>
            <a:off x="4095965" y="3370457"/>
            <a:ext cx="3970021" cy="382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z="2700">
                <a:solidFill>
                  <a:srgbClr val="1F77B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Questions</a:t>
            </a:r>
            <a:r>
              <a:rPr spc="-50"/>
              <a:t> </a:t>
            </a:r>
            <a:r>
              <a:t>&amp;</a:t>
            </a:r>
            <a:r>
              <a:rPr spc="-45"/>
              <a:t> </a:t>
            </a:r>
            <a:r>
              <a:rPr spc="-10"/>
              <a:t>Discussion</a:t>
            </a:r>
          </a:p>
        </p:txBody>
      </p:sp>
      <p:sp>
        <p:nvSpPr>
          <p:cNvPr id="220" name="object 6"/>
          <p:cNvSpPr txBox="1"/>
          <p:nvPr/>
        </p:nvSpPr>
        <p:spPr>
          <a:xfrm>
            <a:off x="3974838" y="5206367"/>
            <a:ext cx="4211955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500">
                <a:solidFill>
                  <a:srgbClr val="53627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Machine</a:t>
            </a:r>
            <a:r>
              <a:rPr spc="-60"/>
              <a:t> </a:t>
            </a:r>
            <a:r>
              <a:rPr spc="-10"/>
              <a:t>Learning-</a:t>
            </a:r>
            <a:r>
              <a:t>Based</a:t>
            </a:r>
            <a:r>
              <a:rPr spc="-55"/>
              <a:t> </a:t>
            </a:r>
            <a:r>
              <a:t>Phishing</a:t>
            </a:r>
            <a:r>
              <a:rPr spc="-55"/>
              <a:t> </a:t>
            </a:r>
            <a:r>
              <a:t>URL</a:t>
            </a:r>
            <a:r>
              <a:rPr spc="-100"/>
              <a:t> </a:t>
            </a:r>
            <a:r>
              <a:rPr spc="-10"/>
              <a:t>Detection</a:t>
            </a:r>
          </a:p>
        </p:txBody>
      </p:sp>
      <p:sp>
        <p:nvSpPr>
          <p:cNvPr id="221" name="object 7"/>
          <p:cNvSpPr/>
          <p:nvPr/>
        </p:nvSpPr>
        <p:spPr>
          <a:xfrm>
            <a:off x="411478" y="6455664"/>
            <a:ext cx="11384283" cy="1"/>
          </a:xfrm>
          <a:prstGeom prst="line">
            <a:avLst/>
          </a:prstGeom>
          <a:ln w="12700">
            <a:solidFill>
              <a:srgbClr val="D4DD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object 8"/>
          <p:cNvSpPr txBox="1"/>
          <p:nvPr>
            <p:ph type="sldNum" sz="quarter" idx="4294967295"/>
          </p:nvPr>
        </p:nvSpPr>
        <p:spPr>
          <a:xfrm>
            <a:off x="11347601" y="6497318"/>
            <a:ext cx="181904" cy="1285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34290">
              <a:defRPr spc="-2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