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69" r:id="rId5"/>
    <p:sldId id="286" r:id="rId6"/>
    <p:sldId id="267" r:id="rId7"/>
    <p:sldId id="268" r:id="rId8"/>
    <p:sldId id="288" r:id="rId9"/>
    <p:sldId id="263" r:id="rId10"/>
    <p:sldId id="287" r:id="rId11"/>
    <p:sldId id="282" r:id="rId12"/>
    <p:sldId id="283" r:id="rId13"/>
    <p:sldId id="285" r:id="rId14"/>
    <p:sldId id="284" r:id="rId15"/>
    <p:sldId id="262" r:id="rId16"/>
    <p:sldId id="281" r:id="rId17"/>
    <p:sldId id="290" r:id="rId18"/>
    <p:sldId id="266" r:id="rId19"/>
    <p:sldId id="294" r:id="rId20"/>
    <p:sldId id="295" r:id="rId21"/>
    <p:sldId id="296" r:id="rId22"/>
    <p:sldId id="291" r:id="rId23"/>
    <p:sldId id="292" r:id="rId24"/>
    <p:sldId id="293" r:id="rId25"/>
    <p:sldId id="280" r:id="rId26"/>
    <p:sldId id="265" r:id="rId27"/>
    <p:sldId id="289"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FD3C3B-3262-4FFD-BD5F-F74C2811367E}" v="3043" dt="2026-08-26T17:02:01.5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91" autoAdjust="0"/>
    <p:restoredTop sz="94610"/>
  </p:normalViewPr>
  <p:slideViewPr>
    <p:cSldViewPr snapToGrid="0" snapToObjects="1">
      <p:cViewPr varScale="1">
        <p:scale>
          <a:sx n="74" d="100"/>
          <a:sy n="74" d="100"/>
        </p:scale>
        <p:origin x="51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46337E93-9CE3-439C-9E07-AA1F239507AD}" type="datetimeFigureOut">
              <a:t>8/27/2026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1C50DAA-17F1-4E5C-AB28-30E4DDD53B2D}" type="slidenum">
              <a:t>‹#›</a:t>
            </a:fld>
            <a:endParaRPr lang="en-US"/>
          </a:p>
        </p:txBody>
      </p:sp>
    </p:spTree>
    <p:extLst>
      <p:ext uri="{BB962C8B-B14F-4D97-AF65-F5344CB8AC3E}">
        <p14:creationId xmlns:p14="http://schemas.microsoft.com/office/powerpoint/2010/main" val="3313149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F1C50DAA-17F1-4E5C-AB28-30E4DDD53B2D}" type="slidenum">
              <a:rPr lang="en-IN" smtClean="0"/>
              <a:t>27</a:t>
            </a:fld>
            <a:endParaRPr lang="en-IN"/>
          </a:p>
        </p:txBody>
      </p:sp>
    </p:spTree>
    <p:extLst>
      <p:ext uri="{BB962C8B-B14F-4D97-AF65-F5344CB8AC3E}">
        <p14:creationId xmlns:p14="http://schemas.microsoft.com/office/powerpoint/2010/main" val="11088736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81C52C5-6979-7E2C-7A0B-7BE5A0ADFC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B0BD7364-20E2-9217-F651-91D29CC324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1C4DF6C-CEBC-7F22-E38A-A7E870FB2C20}"/>
              </a:ext>
            </a:extLst>
          </p:cNvPr>
          <p:cNvSpPr>
            <a:spLocks noGrp="1"/>
          </p:cNvSpPr>
          <p:nvPr>
            <p:ph type="dt" sz="half" idx="10"/>
          </p:nvPr>
        </p:nvSpPr>
        <p:spPr/>
        <p:txBody>
          <a:bodyPr/>
          <a:lstStyle/>
          <a:p>
            <a:fld id="{B874ED16-BFE4-405F-9533-7ACC734E006C}" type="datetimeFigureOut">
              <a:rPr lang="en-IN" smtClean="0"/>
              <a:pPr/>
              <a:t>27-08-2026</a:t>
            </a:fld>
            <a:endParaRPr lang="en-IN"/>
          </a:p>
        </p:txBody>
      </p:sp>
      <p:sp>
        <p:nvSpPr>
          <p:cNvPr id="5" name="Footer Placeholder 4">
            <a:extLst>
              <a:ext uri="{FF2B5EF4-FFF2-40B4-BE49-F238E27FC236}">
                <a16:creationId xmlns:a16="http://schemas.microsoft.com/office/drawing/2014/main" xmlns="" id="{3B9E9D7B-CAE3-4A87-AB56-AAE7D69587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AFCFFD70-0F18-4E79-9E6B-7F5437FBCD07}"/>
              </a:ext>
            </a:extLst>
          </p:cNvPr>
          <p:cNvSpPr>
            <a:spLocks noGrp="1"/>
          </p:cNvSpPr>
          <p:nvPr>
            <p:ph type="sldNum" sz="quarter" idx="12"/>
          </p:nvPr>
        </p:nvSpPr>
        <p:spPr/>
        <p:txBody>
          <a:bodyPr/>
          <a:lstStyle/>
          <a:p>
            <a:fld id="{DCA37861-19D6-48BC-A5D4-B24EC40FF7D9}" type="slidenum">
              <a:rPr lang="en-IN" smtClean="0"/>
              <a:pPr/>
              <a:t>‹#›</a:t>
            </a:fld>
            <a:endParaRPr lang="en-IN"/>
          </a:p>
        </p:txBody>
      </p:sp>
    </p:spTree>
    <p:extLst>
      <p:ext uri="{BB962C8B-B14F-4D97-AF65-F5344CB8AC3E}">
        <p14:creationId xmlns:p14="http://schemas.microsoft.com/office/powerpoint/2010/main" val="2549306768"/>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32" name="Picture 31" descr="Naac A+ accreditation Logo - PTAIndia">
            <a:extLst>
              <a:ext uri="{FF2B5EF4-FFF2-40B4-BE49-F238E27FC236}">
                <a16:creationId xmlns:a16="http://schemas.microsoft.com/office/drawing/2014/main" xmlns="" id="{21EC8C3C-CBE2-02AA-FBC9-CE424CE71FA1}"/>
              </a:ext>
            </a:extLst>
          </p:cNvPr>
          <p:cNvPicPr>
            <a:picLocks noChangeAspect="1"/>
          </p:cNvPicPr>
          <p:nvPr/>
        </p:nvPicPr>
        <p:blipFill>
          <a:blip r:embed="rId3"/>
          <a:stretch>
            <a:fillRect/>
          </a:stretch>
        </p:blipFill>
        <p:spPr>
          <a:xfrm>
            <a:off x="10303175" y="99922"/>
            <a:ext cx="1894218" cy="1295401"/>
          </a:xfrm>
          <a:prstGeom prst="rect">
            <a:avLst/>
          </a:prstGeom>
        </p:spPr>
      </p:pic>
      <p:sp>
        <p:nvSpPr>
          <p:cNvPr id="4" name="Text 0"/>
          <p:cNvSpPr/>
          <p:nvPr/>
        </p:nvSpPr>
        <p:spPr>
          <a:xfrm>
            <a:off x="1280160" y="109728"/>
            <a:ext cx="9601200" cy="384048"/>
          </a:xfrm>
          <a:prstGeom prst="rect">
            <a:avLst/>
          </a:prstGeom>
          <a:noFill/>
          <a:ln/>
        </p:spPr>
        <p:txBody>
          <a:bodyPr wrap="square" lIns="0" tIns="0" rIns="0" bIns="0" rtlCol="0" anchor="ctr"/>
          <a:lstStyle/>
          <a:p>
            <a:pPr marL="0" indent="0" algn="ctr">
              <a:buNone/>
            </a:pPr>
            <a:r>
              <a:rPr lang="en-US" sz="2400" b="1" dirty="0">
                <a:solidFill>
                  <a:srgbClr val="8B1A1A"/>
                </a:solidFill>
                <a:latin typeface="Georgia" pitchFamily="34" charset="0"/>
                <a:ea typeface="Georgia" pitchFamily="34" charset="-122"/>
                <a:cs typeface="Georgia" pitchFamily="34" charset="-120"/>
              </a:rPr>
              <a:t>Department of Computer Science And Engineering</a:t>
            </a:r>
            <a:endParaRPr lang="en-US" sz="2400" dirty="0"/>
          </a:p>
        </p:txBody>
      </p:sp>
      <p:sp>
        <p:nvSpPr>
          <p:cNvPr id="5" name="Text 1"/>
          <p:cNvSpPr/>
          <p:nvPr/>
        </p:nvSpPr>
        <p:spPr>
          <a:xfrm>
            <a:off x="1280160" y="502920"/>
            <a:ext cx="9601200" cy="237744"/>
          </a:xfrm>
          <a:prstGeom prst="rect">
            <a:avLst/>
          </a:prstGeom>
          <a:noFill/>
          <a:ln/>
        </p:spPr>
        <p:txBody>
          <a:bodyPr wrap="square" lIns="0" tIns="0" rIns="0" bIns="0" rtlCol="0" anchor="ctr"/>
          <a:lstStyle/>
          <a:p>
            <a:pPr algn="ctr"/>
            <a:endParaRPr lang="en-US" sz="1200" dirty="0">
              <a:latin typeface="Georgia"/>
              <a:ea typeface="Calibri"/>
              <a:cs typeface="Calibri"/>
            </a:endParaRPr>
          </a:p>
        </p:txBody>
      </p:sp>
      <p:sp>
        <p:nvSpPr>
          <p:cNvPr id="6" name="Text 2"/>
          <p:cNvSpPr/>
          <p:nvPr/>
        </p:nvSpPr>
        <p:spPr>
          <a:xfrm>
            <a:off x="1325880" y="815918"/>
            <a:ext cx="9418320" cy="292608"/>
          </a:xfrm>
          <a:prstGeom prst="rect">
            <a:avLst/>
          </a:prstGeom>
          <a:noFill/>
          <a:ln/>
        </p:spPr>
        <p:txBody>
          <a:bodyPr wrap="square" lIns="0" tIns="0" rIns="0" bIns="0" rtlCol="0" anchor="ctr"/>
          <a:lstStyle/>
          <a:p>
            <a:pPr marL="0" indent="0" algn="ctr">
              <a:buNone/>
            </a:pPr>
            <a:r>
              <a:rPr lang="en-US" sz="1500" b="1" dirty="0">
                <a:solidFill>
                  <a:srgbClr val="1F3B8C"/>
                </a:solidFill>
                <a:latin typeface="Georgia" pitchFamily="34" charset="0"/>
                <a:ea typeface="Georgia" pitchFamily="34" charset="-122"/>
                <a:cs typeface="Georgia" pitchFamily="34" charset="-120"/>
              </a:rPr>
              <a:t>UNIVERSITY COLLEGE OF </a:t>
            </a:r>
            <a:r>
              <a:rPr lang="en-US" sz="1500" b="1" dirty="0" smtClean="0">
                <a:solidFill>
                  <a:srgbClr val="1F3B8C"/>
                </a:solidFill>
                <a:latin typeface="Georgia" pitchFamily="34" charset="0"/>
                <a:ea typeface="Georgia" pitchFamily="34" charset="-122"/>
                <a:cs typeface="Georgia" pitchFamily="34" charset="-120"/>
              </a:rPr>
              <a:t>ENGINNERING HYDERABAD</a:t>
            </a:r>
            <a:endParaRPr lang="en-US" sz="1500" dirty="0"/>
          </a:p>
        </p:txBody>
      </p:sp>
      <p:sp>
        <p:nvSpPr>
          <p:cNvPr id="7" name="Text 3"/>
          <p:cNvSpPr/>
          <p:nvPr/>
        </p:nvSpPr>
        <p:spPr>
          <a:xfrm>
            <a:off x="457200" y="499734"/>
            <a:ext cx="11247120" cy="274320"/>
          </a:xfrm>
          <a:prstGeom prst="rect">
            <a:avLst/>
          </a:prstGeom>
          <a:noFill/>
          <a:ln/>
        </p:spPr>
        <p:txBody>
          <a:bodyPr wrap="square" lIns="0" tIns="0" rIns="0" bIns="0" rtlCol="0" anchor="ctr"/>
          <a:lstStyle/>
          <a:p>
            <a:pPr marL="0" indent="0" algn="ctr">
              <a:buNone/>
            </a:pPr>
            <a:r>
              <a:rPr lang="en-US" sz="1500" b="1" dirty="0">
                <a:solidFill>
                  <a:srgbClr val="FF0000"/>
                </a:solidFill>
                <a:latin typeface="Georgia" pitchFamily="34" charset="0"/>
                <a:ea typeface="Georgia" pitchFamily="34" charset="-122"/>
                <a:cs typeface="Georgia" pitchFamily="34" charset="-120"/>
              </a:rPr>
              <a:t>JAWAHARLAL NEHRU TECHNOLOGICAL UNIVERSITY HYDERABAD</a:t>
            </a:r>
            <a:endParaRPr lang="en-US" sz="1500" dirty="0">
              <a:solidFill>
                <a:srgbClr val="FF0000"/>
              </a:solidFill>
            </a:endParaRPr>
          </a:p>
        </p:txBody>
      </p:sp>
      <p:sp>
        <p:nvSpPr>
          <p:cNvPr id="8" name="Text 4"/>
          <p:cNvSpPr/>
          <p:nvPr/>
        </p:nvSpPr>
        <p:spPr>
          <a:xfrm>
            <a:off x="1280160" y="1157262"/>
            <a:ext cx="9601200" cy="228600"/>
          </a:xfrm>
          <a:prstGeom prst="rect">
            <a:avLst/>
          </a:prstGeom>
          <a:noFill/>
          <a:ln/>
        </p:spPr>
        <p:txBody>
          <a:bodyPr wrap="square" lIns="0" tIns="0" rIns="0" bIns="0" rtlCol="0" anchor="ctr"/>
          <a:lstStyle/>
          <a:p>
            <a:pPr marL="0" indent="0" algn="ctr">
              <a:buNone/>
            </a:pPr>
            <a:r>
              <a:rPr lang="en-US" sz="1100" dirty="0">
                <a:solidFill>
                  <a:srgbClr val="000000"/>
                </a:solidFill>
                <a:latin typeface="Times New Roman"/>
                <a:ea typeface="Georgia" pitchFamily="34" charset="-122"/>
                <a:cs typeface="Times New Roman"/>
              </a:rPr>
              <a:t>(Established by </a:t>
            </a:r>
            <a:r>
              <a:rPr lang="en-US" sz="1100" dirty="0" smtClean="0">
                <a:solidFill>
                  <a:srgbClr val="000000"/>
                </a:solidFill>
                <a:latin typeface="Times New Roman"/>
                <a:ea typeface="Georgia" pitchFamily="34" charset="-122"/>
                <a:cs typeface="Times New Roman"/>
              </a:rPr>
              <a:t>State </a:t>
            </a:r>
            <a:r>
              <a:rPr lang="en-US" sz="1100" dirty="0">
                <a:solidFill>
                  <a:srgbClr val="000000"/>
                </a:solidFill>
                <a:latin typeface="Times New Roman"/>
                <a:ea typeface="Georgia" pitchFamily="34" charset="-122"/>
                <a:cs typeface="Times New Roman"/>
              </a:rPr>
              <a:t>Act No. 30 of 2008)</a:t>
            </a:r>
            <a:endParaRPr lang="en-US" sz="1100" dirty="0">
              <a:latin typeface="Times New Roman"/>
              <a:cs typeface="Times New Roman"/>
            </a:endParaRPr>
          </a:p>
        </p:txBody>
      </p:sp>
      <p:sp>
        <p:nvSpPr>
          <p:cNvPr id="9" name="Text 5"/>
          <p:cNvSpPr/>
          <p:nvPr/>
        </p:nvSpPr>
        <p:spPr>
          <a:xfrm>
            <a:off x="1280160" y="1367574"/>
            <a:ext cx="9601200" cy="228600"/>
          </a:xfrm>
          <a:prstGeom prst="rect">
            <a:avLst/>
          </a:prstGeom>
          <a:noFill/>
          <a:ln/>
        </p:spPr>
        <p:txBody>
          <a:bodyPr wrap="square" lIns="0" tIns="0" rIns="0" bIns="0" rtlCol="0" anchor="ctr"/>
          <a:lstStyle/>
          <a:p>
            <a:pPr marL="0" indent="0" algn="ctr">
              <a:buNone/>
            </a:pPr>
            <a:r>
              <a:rPr lang="en-US" sz="1100" dirty="0">
                <a:solidFill>
                  <a:srgbClr val="000000"/>
                </a:solidFill>
                <a:latin typeface="Times New Roman"/>
                <a:ea typeface="Georgia" pitchFamily="34" charset="-122"/>
                <a:cs typeface="Times New Roman"/>
              </a:rPr>
              <a:t>Kukatpally, Hyderabad, Telangana (India)- 500 085.</a:t>
            </a:r>
            <a:endParaRPr lang="en-US" sz="1100">
              <a:latin typeface="Times New Roman"/>
              <a:cs typeface="Times New Roman"/>
            </a:endParaRPr>
          </a:p>
        </p:txBody>
      </p:sp>
      <p:sp>
        <p:nvSpPr>
          <p:cNvPr id="10" name="Shape 6"/>
          <p:cNvSpPr/>
          <p:nvPr/>
        </p:nvSpPr>
        <p:spPr>
          <a:xfrm>
            <a:off x="365760" y="1687614"/>
            <a:ext cx="11430000" cy="0"/>
          </a:xfrm>
          <a:prstGeom prst="line">
            <a:avLst/>
          </a:prstGeom>
          <a:noFill/>
          <a:ln w="9525">
            <a:solidFill>
              <a:srgbClr val="999999"/>
            </a:solidFill>
            <a:prstDash val="solid"/>
          </a:ln>
        </p:spPr>
      </p:sp>
      <p:sp>
        <p:nvSpPr>
          <p:cNvPr id="11" name="Text 7"/>
          <p:cNvSpPr/>
          <p:nvPr/>
        </p:nvSpPr>
        <p:spPr>
          <a:xfrm>
            <a:off x="914400" y="1763354"/>
            <a:ext cx="10332720" cy="292608"/>
          </a:xfrm>
          <a:prstGeom prst="rect">
            <a:avLst/>
          </a:prstGeom>
          <a:noFill/>
          <a:ln/>
        </p:spPr>
        <p:txBody>
          <a:bodyPr wrap="square" lIns="0" tIns="0" rIns="0" bIns="0" rtlCol="0" anchor="ctr"/>
          <a:lstStyle/>
          <a:p>
            <a:pPr algn="ctr"/>
            <a:r>
              <a:rPr lang="en-US" sz="2000" dirty="0" smtClean="0">
                <a:solidFill>
                  <a:srgbClr val="000000"/>
                </a:solidFill>
                <a:latin typeface="Georgia"/>
                <a:ea typeface="Georgia" pitchFamily="34" charset="-122"/>
                <a:cs typeface="Georgia" pitchFamily="34" charset="-120"/>
              </a:rPr>
              <a:t>Dissertation </a:t>
            </a:r>
            <a:r>
              <a:rPr lang="en-US" sz="2000" dirty="0">
                <a:solidFill>
                  <a:srgbClr val="000000"/>
                </a:solidFill>
                <a:latin typeface="Georgia"/>
                <a:ea typeface="Georgia" pitchFamily="34" charset="-122"/>
                <a:cs typeface="Georgia" pitchFamily="34" charset="-120"/>
              </a:rPr>
              <a:t>Work Review -  I</a:t>
            </a:r>
            <a:endParaRPr lang="en-US" sz="2000" dirty="0">
              <a:latin typeface="Georgia"/>
            </a:endParaRPr>
          </a:p>
        </p:txBody>
      </p:sp>
      <p:sp>
        <p:nvSpPr>
          <p:cNvPr id="13" name="Text 9"/>
          <p:cNvSpPr/>
          <p:nvPr/>
        </p:nvSpPr>
        <p:spPr>
          <a:xfrm>
            <a:off x="871268" y="2053202"/>
            <a:ext cx="10332720" cy="292608"/>
          </a:xfrm>
          <a:prstGeom prst="rect">
            <a:avLst/>
          </a:prstGeom>
          <a:noFill/>
          <a:ln/>
        </p:spPr>
        <p:txBody>
          <a:bodyPr wrap="square" lIns="0" tIns="0" rIns="0" bIns="0" rtlCol="0" anchor="ctr"/>
          <a:lstStyle/>
          <a:p>
            <a:pPr marL="0" indent="0" algn="ctr">
              <a:buNone/>
            </a:pPr>
            <a:r>
              <a:rPr lang="en-US" sz="2000">
                <a:solidFill>
                  <a:srgbClr val="1F3B8C"/>
                </a:solidFill>
                <a:latin typeface="Times New Roman"/>
                <a:ea typeface="Georgia" pitchFamily="34" charset="-122"/>
                <a:cs typeface="Times New Roman"/>
              </a:rPr>
              <a:t>Date: 27-08-2026  From  10:00  am  to 5:00  pm</a:t>
            </a:r>
            <a:endParaRPr lang="en-US" sz="2000">
              <a:latin typeface="Times New Roman"/>
              <a:cs typeface="Times New Roman"/>
            </a:endParaRPr>
          </a:p>
        </p:txBody>
      </p:sp>
      <p:sp>
        <p:nvSpPr>
          <p:cNvPr id="14" name="Text 10"/>
          <p:cNvSpPr/>
          <p:nvPr/>
        </p:nvSpPr>
        <p:spPr>
          <a:xfrm>
            <a:off x="914400" y="2567911"/>
            <a:ext cx="10332720" cy="274320"/>
          </a:xfrm>
          <a:prstGeom prst="rect">
            <a:avLst/>
          </a:prstGeom>
          <a:noFill/>
          <a:ln/>
        </p:spPr>
        <p:txBody>
          <a:bodyPr wrap="square" lIns="0" tIns="0" rIns="0" bIns="0" rtlCol="0" anchor="ctr"/>
          <a:lstStyle/>
          <a:p>
            <a:pPr marL="0" indent="0" algn="ctr">
              <a:buNone/>
            </a:pPr>
            <a:r>
              <a:rPr lang="en-US" sz="2000" b="1" u="sng">
                <a:solidFill>
                  <a:srgbClr val="5B1A8C"/>
                </a:solidFill>
                <a:latin typeface="Times New Roman"/>
                <a:ea typeface="Georgia" pitchFamily="34" charset="-122"/>
                <a:cs typeface="Times New Roman"/>
              </a:rPr>
              <a:t>Title of the Dissertation work:</a:t>
            </a:r>
            <a:endParaRPr lang="en-US" sz="2000">
              <a:latin typeface="Times New Roman"/>
              <a:cs typeface="Times New Roman"/>
            </a:endParaRPr>
          </a:p>
        </p:txBody>
      </p:sp>
      <p:sp>
        <p:nvSpPr>
          <p:cNvPr id="15" name="Text 11"/>
          <p:cNvSpPr/>
          <p:nvPr/>
        </p:nvSpPr>
        <p:spPr>
          <a:xfrm>
            <a:off x="1015041" y="3102289"/>
            <a:ext cx="10332720" cy="822960"/>
          </a:xfrm>
          <a:prstGeom prst="rect">
            <a:avLst/>
          </a:prstGeom>
          <a:noFill/>
          <a:ln/>
        </p:spPr>
        <p:txBody>
          <a:bodyPr wrap="square" lIns="0" tIns="0" rIns="0" bIns="0" rtlCol="0" anchor="ctr"/>
          <a:lstStyle/>
          <a:p>
            <a:pPr algn="ctr">
              <a:lnSpc>
                <a:spcPct val="105000"/>
              </a:lnSpc>
            </a:pPr>
            <a:r>
              <a:rPr lang="en-US" sz="3200" dirty="0" err="1">
                <a:solidFill>
                  <a:srgbClr val="FF0000"/>
                </a:solidFill>
                <a:ea typeface="+mn-lt"/>
                <a:cs typeface="+mn-lt"/>
              </a:rPr>
              <a:t>NyaayPredict</a:t>
            </a:r>
            <a:r>
              <a:rPr lang="en-US" sz="3200" dirty="0">
                <a:solidFill>
                  <a:srgbClr val="FF0000"/>
                </a:solidFill>
                <a:ea typeface="+mn-lt"/>
                <a:cs typeface="+mn-lt"/>
              </a:rPr>
              <a:t>: Predicting Supreme Court Judgment Outcomes using Machine Learning</a:t>
            </a:r>
          </a:p>
        </p:txBody>
      </p:sp>
      <p:sp>
        <p:nvSpPr>
          <p:cNvPr id="16" name="Shape 12"/>
          <p:cNvSpPr/>
          <p:nvPr/>
        </p:nvSpPr>
        <p:spPr>
          <a:xfrm>
            <a:off x="365760" y="4279392"/>
            <a:ext cx="11430000" cy="0"/>
          </a:xfrm>
          <a:prstGeom prst="line">
            <a:avLst/>
          </a:prstGeom>
          <a:noFill/>
          <a:ln w="15875">
            <a:solidFill>
              <a:srgbClr val="000000"/>
            </a:solidFill>
            <a:prstDash val="solid"/>
          </a:ln>
        </p:spPr>
      </p:sp>
      <p:sp>
        <p:nvSpPr>
          <p:cNvPr id="17" name="Text 13"/>
          <p:cNvSpPr/>
          <p:nvPr/>
        </p:nvSpPr>
        <p:spPr>
          <a:xfrm>
            <a:off x="640080" y="4407408"/>
            <a:ext cx="5212080" cy="292608"/>
          </a:xfrm>
          <a:prstGeom prst="rect">
            <a:avLst/>
          </a:prstGeom>
          <a:noFill/>
          <a:ln/>
        </p:spPr>
        <p:txBody>
          <a:bodyPr wrap="square" lIns="0" tIns="0" rIns="0" bIns="0" rtlCol="0" anchor="ctr"/>
          <a:lstStyle/>
          <a:p>
            <a:pPr marL="0" indent="0">
              <a:buNone/>
            </a:pPr>
            <a:r>
              <a:rPr lang="en-US" sz="2400" b="1" dirty="0" smtClean="0">
                <a:solidFill>
                  <a:srgbClr val="8B1A1A"/>
                </a:solidFill>
                <a:latin typeface="Georgia" pitchFamily="34" charset="0"/>
                <a:ea typeface="Georgia" pitchFamily="34" charset="-122"/>
                <a:cs typeface="Georgia" pitchFamily="34" charset="-120"/>
              </a:rPr>
              <a:t>Presented By :</a:t>
            </a:r>
            <a:endParaRPr lang="en-US" sz="2400" dirty="0"/>
          </a:p>
        </p:txBody>
      </p:sp>
      <p:sp>
        <p:nvSpPr>
          <p:cNvPr id="18" name="Text 14"/>
          <p:cNvSpPr/>
          <p:nvPr/>
        </p:nvSpPr>
        <p:spPr>
          <a:xfrm>
            <a:off x="640080" y="4718304"/>
            <a:ext cx="5394960" cy="274320"/>
          </a:xfrm>
          <a:prstGeom prst="rect">
            <a:avLst/>
          </a:prstGeom>
          <a:noFill/>
          <a:ln/>
        </p:spPr>
        <p:txBody>
          <a:bodyPr wrap="square" lIns="0" tIns="0" rIns="0" bIns="0" rtlCol="0" anchor="ctr"/>
          <a:lstStyle/>
          <a:p>
            <a:r>
              <a:rPr lang="en-US">
                <a:solidFill>
                  <a:srgbClr val="000000"/>
                </a:solidFill>
                <a:latin typeface="Georgia"/>
                <a:ea typeface="Georgia" pitchFamily="34" charset="-122"/>
                <a:cs typeface="Georgia" pitchFamily="34" charset="-120"/>
              </a:rPr>
              <a:t>Name:  Kavali Yedidyah Sagar</a:t>
            </a:r>
            <a:endParaRPr lang="en-US" dirty="0"/>
          </a:p>
        </p:txBody>
      </p:sp>
      <p:sp>
        <p:nvSpPr>
          <p:cNvPr id="19" name="Text 15"/>
          <p:cNvSpPr/>
          <p:nvPr/>
        </p:nvSpPr>
        <p:spPr>
          <a:xfrm>
            <a:off x="640080" y="5010912"/>
            <a:ext cx="5394960" cy="274320"/>
          </a:xfrm>
          <a:prstGeom prst="rect">
            <a:avLst/>
          </a:prstGeom>
          <a:noFill/>
          <a:ln/>
        </p:spPr>
        <p:txBody>
          <a:bodyPr wrap="square" lIns="0" tIns="0" rIns="0" bIns="0" rtlCol="0" anchor="ctr"/>
          <a:lstStyle/>
          <a:p>
            <a:pPr marL="0" indent="0">
              <a:buNone/>
            </a:pPr>
            <a:r>
              <a:rPr lang="en-US">
                <a:solidFill>
                  <a:srgbClr val="000000"/>
                </a:solidFill>
                <a:latin typeface="Arial"/>
                <a:ea typeface="Georgia" pitchFamily="34" charset="-122"/>
                <a:cs typeface="Arial"/>
              </a:rPr>
              <a:t>Roll No: 22011P0535</a:t>
            </a:r>
            <a:endParaRPr lang="en-US">
              <a:latin typeface="Arial"/>
              <a:cs typeface="Arial"/>
            </a:endParaRPr>
          </a:p>
        </p:txBody>
      </p:sp>
      <p:sp>
        <p:nvSpPr>
          <p:cNvPr id="20" name="Text 16"/>
          <p:cNvSpPr/>
          <p:nvPr/>
        </p:nvSpPr>
        <p:spPr>
          <a:xfrm>
            <a:off x="640080" y="5303520"/>
            <a:ext cx="5394960" cy="274320"/>
          </a:xfrm>
          <a:prstGeom prst="rect">
            <a:avLst/>
          </a:prstGeom>
          <a:noFill/>
          <a:ln/>
        </p:spPr>
        <p:txBody>
          <a:bodyPr wrap="square" lIns="0" tIns="0" rIns="0" bIns="0" rtlCol="0" anchor="ctr"/>
          <a:lstStyle/>
          <a:p>
            <a:r>
              <a:rPr lang="en-US" dirty="0">
                <a:solidFill>
                  <a:srgbClr val="000000"/>
                </a:solidFill>
                <a:latin typeface="Georgia"/>
                <a:ea typeface="Georgia" pitchFamily="34" charset="-122"/>
                <a:cs typeface="Georgia" pitchFamily="34" charset="-120"/>
              </a:rPr>
              <a:t>Class : IDP (</a:t>
            </a:r>
            <a:r>
              <a:rPr lang="en-US" dirty="0" err="1">
                <a:solidFill>
                  <a:srgbClr val="000000"/>
                </a:solidFill>
                <a:latin typeface="Georgia"/>
                <a:ea typeface="Georgia" pitchFamily="34" charset="-122"/>
                <a:cs typeface="Georgia" pitchFamily="34" charset="-120"/>
              </a:rPr>
              <a:t>B.Tech</a:t>
            </a:r>
            <a:r>
              <a:rPr lang="en-US" dirty="0">
                <a:solidFill>
                  <a:srgbClr val="000000"/>
                </a:solidFill>
                <a:latin typeface="Georgia"/>
                <a:ea typeface="Georgia" pitchFamily="34" charset="-122"/>
                <a:cs typeface="Georgia" pitchFamily="34" charset="-120"/>
              </a:rPr>
              <a:t> + </a:t>
            </a:r>
            <a:r>
              <a:rPr lang="en-US" dirty="0" err="1">
                <a:solidFill>
                  <a:srgbClr val="000000"/>
                </a:solidFill>
                <a:latin typeface="Georgia"/>
                <a:ea typeface="Georgia" pitchFamily="34" charset="-122"/>
                <a:cs typeface="Georgia" pitchFamily="34" charset="-120"/>
              </a:rPr>
              <a:t>M.Tech</a:t>
            </a:r>
            <a:r>
              <a:rPr lang="en-US" dirty="0">
                <a:solidFill>
                  <a:srgbClr val="000000"/>
                </a:solidFill>
                <a:latin typeface="Georgia"/>
                <a:ea typeface="Georgia" pitchFamily="34" charset="-122"/>
                <a:cs typeface="Georgia" pitchFamily="34" charset="-120"/>
              </a:rPr>
              <a:t>) </a:t>
            </a:r>
            <a:endParaRPr lang="en-US" dirty="0">
              <a:latin typeface="Georgia"/>
            </a:endParaRPr>
          </a:p>
        </p:txBody>
      </p:sp>
      <p:sp>
        <p:nvSpPr>
          <p:cNvPr id="21" name="Text 17"/>
          <p:cNvSpPr/>
          <p:nvPr/>
        </p:nvSpPr>
        <p:spPr>
          <a:xfrm>
            <a:off x="640080" y="5596128"/>
            <a:ext cx="5394960" cy="274320"/>
          </a:xfrm>
          <a:prstGeom prst="rect">
            <a:avLst/>
          </a:prstGeom>
          <a:noFill/>
          <a:ln/>
        </p:spPr>
        <p:txBody>
          <a:bodyPr wrap="square" lIns="0" tIns="0" rIns="0" bIns="0" rtlCol="0" anchor="ctr"/>
          <a:lstStyle/>
          <a:p>
            <a:r>
              <a:rPr lang="en-US">
                <a:solidFill>
                  <a:srgbClr val="000000"/>
                </a:solidFill>
                <a:latin typeface="Georgia"/>
                <a:ea typeface="Georgia" pitchFamily="34" charset="-122"/>
                <a:cs typeface="Georgia" pitchFamily="34" charset="-120"/>
              </a:rPr>
              <a:t>Year and Semester: V Year I Semester</a:t>
            </a:r>
            <a:endParaRPr lang="en-US">
              <a:latin typeface="Georgia"/>
            </a:endParaRPr>
          </a:p>
        </p:txBody>
      </p:sp>
      <p:sp>
        <p:nvSpPr>
          <p:cNvPr id="22" name="Text 18"/>
          <p:cNvSpPr/>
          <p:nvPr/>
        </p:nvSpPr>
        <p:spPr>
          <a:xfrm>
            <a:off x="640080" y="5888736"/>
            <a:ext cx="5394960" cy="274320"/>
          </a:xfrm>
          <a:prstGeom prst="rect">
            <a:avLst/>
          </a:prstGeom>
          <a:noFill/>
          <a:ln/>
        </p:spPr>
        <p:txBody>
          <a:bodyPr wrap="square" lIns="0" tIns="0" rIns="0" bIns="0" rtlCol="0" anchor="ctr"/>
          <a:lstStyle/>
          <a:p>
            <a:pPr marL="0" indent="0">
              <a:buNone/>
            </a:pPr>
            <a:r>
              <a:rPr lang="en-US">
                <a:solidFill>
                  <a:srgbClr val="000000"/>
                </a:solidFill>
                <a:latin typeface="Georgia"/>
                <a:ea typeface="Georgia" pitchFamily="34" charset="-122"/>
                <a:cs typeface="Georgia" pitchFamily="34" charset="-120"/>
              </a:rPr>
              <a:t>Batch: 2022-2027</a:t>
            </a:r>
            <a:endParaRPr lang="en-US">
              <a:latin typeface="Georgia"/>
            </a:endParaRPr>
          </a:p>
        </p:txBody>
      </p:sp>
      <p:sp>
        <p:nvSpPr>
          <p:cNvPr id="23" name="Text 19"/>
          <p:cNvSpPr/>
          <p:nvPr/>
        </p:nvSpPr>
        <p:spPr>
          <a:xfrm>
            <a:off x="6400800" y="4407408"/>
            <a:ext cx="5120640" cy="292608"/>
          </a:xfrm>
          <a:prstGeom prst="rect">
            <a:avLst/>
          </a:prstGeom>
          <a:noFill/>
          <a:ln/>
        </p:spPr>
        <p:txBody>
          <a:bodyPr wrap="square" lIns="0" tIns="0" rIns="0" bIns="0" rtlCol="0" anchor="ctr"/>
          <a:lstStyle/>
          <a:p>
            <a:pPr marL="0" indent="0">
              <a:buNone/>
            </a:pPr>
            <a:r>
              <a:rPr lang="en-US" sz="2400" b="1" dirty="0">
                <a:solidFill>
                  <a:srgbClr val="8B1A1A"/>
                </a:solidFill>
                <a:latin typeface="Georgia" pitchFamily="34" charset="0"/>
                <a:ea typeface="Georgia" pitchFamily="34" charset="-122"/>
                <a:cs typeface="Georgia" pitchFamily="34" charset="-120"/>
              </a:rPr>
              <a:t>Under the Supervision </a:t>
            </a:r>
            <a:r>
              <a:rPr lang="en-US" sz="2400" b="1" dirty="0" smtClean="0">
                <a:solidFill>
                  <a:srgbClr val="8B1A1A"/>
                </a:solidFill>
                <a:latin typeface="Georgia" pitchFamily="34" charset="0"/>
                <a:ea typeface="Georgia" pitchFamily="34" charset="-122"/>
                <a:cs typeface="Georgia" pitchFamily="34" charset="-120"/>
              </a:rPr>
              <a:t>of :</a:t>
            </a:r>
            <a:endParaRPr lang="en-US" sz="2400" dirty="0"/>
          </a:p>
        </p:txBody>
      </p:sp>
      <p:sp>
        <p:nvSpPr>
          <p:cNvPr id="24" name="Text 20"/>
          <p:cNvSpPr/>
          <p:nvPr/>
        </p:nvSpPr>
        <p:spPr>
          <a:xfrm>
            <a:off x="6400800" y="4718304"/>
            <a:ext cx="5120640" cy="274320"/>
          </a:xfrm>
          <a:prstGeom prst="rect">
            <a:avLst/>
          </a:prstGeom>
          <a:noFill/>
          <a:ln/>
        </p:spPr>
        <p:txBody>
          <a:bodyPr wrap="square" lIns="0" tIns="0" rIns="0" bIns="0" rtlCol="0" anchor="ctr"/>
          <a:lstStyle/>
          <a:p>
            <a:r>
              <a:rPr lang="en-US">
                <a:solidFill>
                  <a:srgbClr val="000000"/>
                </a:solidFill>
                <a:latin typeface="Georgia"/>
              </a:rPr>
              <a:t>Dr. G. Vijaya Kumari</a:t>
            </a:r>
            <a:endParaRPr lang="en-US" sz="2800"/>
          </a:p>
        </p:txBody>
      </p:sp>
      <p:sp>
        <p:nvSpPr>
          <p:cNvPr id="25" name="Text 21"/>
          <p:cNvSpPr/>
          <p:nvPr/>
        </p:nvSpPr>
        <p:spPr>
          <a:xfrm>
            <a:off x="6400800" y="5010912"/>
            <a:ext cx="5120640" cy="274320"/>
          </a:xfrm>
          <a:prstGeom prst="rect">
            <a:avLst/>
          </a:prstGeom>
          <a:noFill/>
          <a:ln/>
        </p:spPr>
        <p:txBody>
          <a:bodyPr wrap="square" lIns="0" tIns="0" rIns="0" bIns="0" rtlCol="0" anchor="ctr"/>
          <a:lstStyle/>
          <a:p>
            <a:r>
              <a:rPr lang="en-US">
                <a:solidFill>
                  <a:srgbClr val="000000"/>
                </a:solidFill>
                <a:latin typeface="Georgia"/>
                <a:ea typeface="Georgia" pitchFamily="34" charset="-122"/>
                <a:cs typeface="Georgia" pitchFamily="34" charset="-120"/>
              </a:rPr>
              <a:t>Professor of CSE Department</a:t>
            </a:r>
            <a:endParaRPr lang="en-US" dirty="0"/>
          </a:p>
        </p:txBody>
      </p:sp>
      <p:sp>
        <p:nvSpPr>
          <p:cNvPr id="27" name="Text 23"/>
          <p:cNvSpPr/>
          <p:nvPr/>
        </p:nvSpPr>
        <p:spPr>
          <a:xfrm>
            <a:off x="6400800" y="5322958"/>
            <a:ext cx="5120640" cy="274320"/>
          </a:xfrm>
          <a:prstGeom prst="rect">
            <a:avLst/>
          </a:prstGeom>
          <a:noFill/>
          <a:ln/>
        </p:spPr>
        <p:txBody>
          <a:bodyPr wrap="square" lIns="0" tIns="0" rIns="0" bIns="0" rtlCol="0" anchor="ctr"/>
          <a:lstStyle/>
          <a:p>
            <a:pPr marL="0" indent="0">
              <a:buNone/>
            </a:pPr>
            <a:r>
              <a:rPr lang="en-US">
                <a:solidFill>
                  <a:srgbClr val="000000"/>
                </a:solidFill>
                <a:latin typeface="Georgia"/>
                <a:ea typeface="Georgia" pitchFamily="34" charset="-122"/>
                <a:cs typeface="Georgia" pitchFamily="34" charset="-120"/>
              </a:rPr>
              <a:t>JNTUH, Kukatpally, Hyderabad</a:t>
            </a:r>
            <a:endParaRPr lang="en-US">
              <a:latin typeface="Georgia"/>
            </a:endParaRPr>
          </a:p>
        </p:txBody>
      </p:sp>
      <p:sp>
        <p:nvSpPr>
          <p:cNvPr id="28" name="Shape 24"/>
          <p:cNvSpPr/>
          <p:nvPr/>
        </p:nvSpPr>
        <p:spPr>
          <a:xfrm>
            <a:off x="365760" y="6309360"/>
            <a:ext cx="11430000" cy="0"/>
          </a:xfrm>
          <a:prstGeom prst="line">
            <a:avLst/>
          </a:prstGeom>
          <a:noFill/>
          <a:ln w="15875">
            <a:solidFill>
              <a:srgbClr val="000000"/>
            </a:solidFill>
            <a:prstDash val="solid"/>
          </a:ln>
        </p:spPr>
      </p:sp>
      <p:pic>
        <p:nvPicPr>
          <p:cNvPr id="31" name="Picture 30" descr="JNTUH Logo">
            <a:extLst>
              <a:ext uri="{FF2B5EF4-FFF2-40B4-BE49-F238E27FC236}">
                <a16:creationId xmlns:a16="http://schemas.microsoft.com/office/drawing/2014/main" xmlns="" id="{E78CEC74-BBD5-DE78-3093-69FBE83C2322}"/>
              </a:ext>
            </a:extLst>
          </p:cNvPr>
          <p:cNvPicPr>
            <a:picLocks noChangeAspect="1"/>
          </p:cNvPicPr>
          <p:nvPr/>
        </p:nvPicPr>
        <p:blipFill>
          <a:blip r:embed="rId4"/>
          <a:stretch>
            <a:fillRect/>
          </a:stretch>
        </p:blipFill>
        <p:spPr>
          <a:xfrm>
            <a:off x="165968" y="106302"/>
            <a:ext cx="1407724" cy="14839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xmlns="" id="{5CCC1322-58DB-2F80-3EC7-2B392E07E2BE}"/>
              </a:ext>
            </a:extLst>
          </p:cNvPr>
          <p:cNvGraphicFramePr>
            <a:graphicFrameLocks noGrp="1"/>
          </p:cNvGraphicFramePr>
          <p:nvPr>
            <p:extLst>
              <p:ext uri="{D42A27DB-BD31-4B8C-83A1-F6EECF244321}">
                <p14:modId xmlns:p14="http://schemas.microsoft.com/office/powerpoint/2010/main" val="2213297588"/>
              </p:ext>
            </p:extLst>
          </p:nvPr>
        </p:nvGraphicFramePr>
        <p:xfrm>
          <a:off x="-1150" y="3508"/>
          <a:ext cx="12232754" cy="6853440"/>
        </p:xfrm>
        <a:graphic>
          <a:graphicData uri="http://schemas.openxmlformats.org/drawingml/2006/table">
            <a:tbl>
              <a:tblPr firstRow="1" bandRow="1">
                <a:tableStyleId>{5C22544A-7EE6-4342-B048-85BDC9FD1C3A}</a:tableStyleId>
              </a:tblPr>
              <a:tblGrid>
                <a:gridCol w="6116377">
                  <a:extLst>
                    <a:ext uri="{9D8B030D-6E8A-4147-A177-3AD203B41FA5}">
                      <a16:colId xmlns:a16="http://schemas.microsoft.com/office/drawing/2014/main" xmlns="" val="755440474"/>
                    </a:ext>
                  </a:extLst>
                </a:gridCol>
                <a:gridCol w="6116377">
                  <a:extLst>
                    <a:ext uri="{9D8B030D-6E8A-4147-A177-3AD203B41FA5}">
                      <a16:colId xmlns:a16="http://schemas.microsoft.com/office/drawing/2014/main" xmlns="" val="1389109419"/>
                    </a:ext>
                  </a:extLst>
                </a:gridCol>
              </a:tblGrid>
              <a:tr h="685344">
                <a:tc>
                  <a:txBody>
                    <a:bodyPr/>
                    <a:lstStyle/>
                    <a:p>
                      <a:pPr lvl="0" algn="ctr">
                        <a:buNone/>
                      </a:pPr>
                      <a:r>
                        <a:rPr lang="en-US" sz="3200" dirty="0"/>
                        <a:t>CONTENT</a:t>
                      </a:r>
                    </a:p>
                  </a:txBody>
                  <a:tcPr/>
                </a:tc>
                <a:tc>
                  <a:txBody>
                    <a:bodyPr/>
                    <a:lstStyle/>
                    <a:p>
                      <a:pPr lvl="0" algn="ctr">
                        <a:buNone/>
                      </a:pPr>
                      <a:r>
                        <a:rPr lang="en-US" sz="3200"/>
                        <a:t>SLIDE NUMBER</a:t>
                      </a:r>
                    </a:p>
                  </a:txBody>
                  <a:tcPr/>
                </a:tc>
                <a:extLst>
                  <a:ext uri="{0D108BD9-81ED-4DB2-BD59-A6C34878D82A}">
                    <a16:rowId xmlns:a16="http://schemas.microsoft.com/office/drawing/2014/main" xmlns="" val="141496234"/>
                  </a:ext>
                </a:extLst>
              </a:tr>
              <a:tr h="685344">
                <a:tc>
                  <a:txBody>
                    <a:bodyPr/>
                    <a:lstStyle/>
                    <a:p>
                      <a:pPr algn="ctr"/>
                      <a:r>
                        <a:rPr lang="en-US" sz="2800" dirty="0"/>
                        <a:t>ABSTRACT</a:t>
                      </a:r>
                    </a:p>
                  </a:txBody>
                  <a:tcPr/>
                </a:tc>
                <a:tc>
                  <a:txBody>
                    <a:bodyPr/>
                    <a:lstStyle/>
                    <a:p>
                      <a:pPr algn="ctr"/>
                      <a:r>
                        <a:rPr lang="en-US" sz="2800" dirty="0" smtClean="0"/>
                        <a:t>1</a:t>
                      </a:r>
                      <a:endParaRPr lang="en-US" sz="2800" dirty="0"/>
                    </a:p>
                  </a:txBody>
                  <a:tcPr/>
                </a:tc>
                <a:extLst>
                  <a:ext uri="{0D108BD9-81ED-4DB2-BD59-A6C34878D82A}">
                    <a16:rowId xmlns:a16="http://schemas.microsoft.com/office/drawing/2014/main" xmlns="" val="1122358125"/>
                  </a:ext>
                </a:extLst>
              </a:tr>
              <a:tr h="685344">
                <a:tc>
                  <a:txBody>
                    <a:bodyPr/>
                    <a:lstStyle/>
                    <a:p>
                      <a:pPr algn="ctr"/>
                      <a:r>
                        <a:rPr lang="en-US" sz="2800"/>
                        <a:t>INTRODUCTION</a:t>
                      </a:r>
                    </a:p>
                  </a:txBody>
                  <a:tcPr/>
                </a:tc>
                <a:tc>
                  <a:txBody>
                    <a:bodyPr/>
                    <a:lstStyle/>
                    <a:p>
                      <a:pPr algn="ctr"/>
                      <a:r>
                        <a:rPr lang="en-US" sz="2800" dirty="0" smtClean="0"/>
                        <a:t>2</a:t>
                      </a:r>
                      <a:endParaRPr lang="en-US" sz="2800" dirty="0"/>
                    </a:p>
                  </a:txBody>
                  <a:tcPr/>
                </a:tc>
                <a:extLst>
                  <a:ext uri="{0D108BD9-81ED-4DB2-BD59-A6C34878D82A}">
                    <a16:rowId xmlns:a16="http://schemas.microsoft.com/office/drawing/2014/main" xmlns="" val="3245569538"/>
                  </a:ext>
                </a:extLst>
              </a:tr>
              <a:tr h="685344">
                <a:tc>
                  <a:txBody>
                    <a:bodyPr/>
                    <a:lstStyle/>
                    <a:p>
                      <a:pPr algn="ctr"/>
                      <a:r>
                        <a:rPr lang="en-US" sz="2800"/>
                        <a:t>EXISTING WORK</a:t>
                      </a:r>
                    </a:p>
                  </a:txBody>
                  <a:tcPr/>
                </a:tc>
                <a:tc>
                  <a:txBody>
                    <a:bodyPr/>
                    <a:lstStyle/>
                    <a:p>
                      <a:pPr algn="ctr"/>
                      <a:r>
                        <a:rPr lang="en-US" sz="2800" dirty="0" smtClean="0"/>
                        <a:t>6</a:t>
                      </a:r>
                      <a:endParaRPr lang="en-US" sz="2800" dirty="0"/>
                    </a:p>
                  </a:txBody>
                  <a:tcPr/>
                </a:tc>
                <a:extLst>
                  <a:ext uri="{0D108BD9-81ED-4DB2-BD59-A6C34878D82A}">
                    <a16:rowId xmlns:a16="http://schemas.microsoft.com/office/drawing/2014/main" xmlns="" val="3487711632"/>
                  </a:ext>
                </a:extLst>
              </a:tr>
              <a:tr h="685344">
                <a:tc>
                  <a:txBody>
                    <a:bodyPr/>
                    <a:lstStyle/>
                    <a:p>
                      <a:pPr algn="ctr"/>
                      <a:r>
                        <a:rPr lang="en-US" sz="2800"/>
                        <a:t>PROPOSED WORK</a:t>
                      </a:r>
                    </a:p>
                  </a:txBody>
                  <a:tcPr/>
                </a:tc>
                <a:tc>
                  <a:txBody>
                    <a:bodyPr/>
                    <a:lstStyle/>
                    <a:p>
                      <a:pPr algn="ctr"/>
                      <a:r>
                        <a:rPr lang="en-US" sz="2800" dirty="0" smtClean="0"/>
                        <a:t>8</a:t>
                      </a:r>
                      <a:endParaRPr lang="en-US" sz="2800" dirty="0"/>
                    </a:p>
                  </a:txBody>
                  <a:tcPr/>
                </a:tc>
                <a:extLst>
                  <a:ext uri="{0D108BD9-81ED-4DB2-BD59-A6C34878D82A}">
                    <a16:rowId xmlns:a16="http://schemas.microsoft.com/office/drawing/2014/main" xmlns="" val="1520335323"/>
                  </a:ext>
                </a:extLst>
              </a:tr>
              <a:tr h="685344">
                <a:tc>
                  <a:txBody>
                    <a:bodyPr/>
                    <a:lstStyle/>
                    <a:p>
                      <a:pPr algn="ctr"/>
                      <a:r>
                        <a:rPr lang="en-US" sz="2800"/>
                        <a:t>DATASET</a:t>
                      </a:r>
                    </a:p>
                  </a:txBody>
                  <a:tcPr/>
                </a:tc>
                <a:tc>
                  <a:txBody>
                    <a:bodyPr/>
                    <a:lstStyle/>
                    <a:p>
                      <a:pPr algn="ctr"/>
                      <a:r>
                        <a:rPr lang="en-US" sz="2800" dirty="0" smtClean="0"/>
                        <a:t>13</a:t>
                      </a:r>
                      <a:endParaRPr lang="en-US" sz="2800" dirty="0"/>
                    </a:p>
                  </a:txBody>
                  <a:tcPr/>
                </a:tc>
                <a:extLst>
                  <a:ext uri="{0D108BD9-81ED-4DB2-BD59-A6C34878D82A}">
                    <a16:rowId xmlns:a16="http://schemas.microsoft.com/office/drawing/2014/main" xmlns="" val="3593568988"/>
                  </a:ext>
                </a:extLst>
              </a:tr>
              <a:tr h="685344">
                <a:tc>
                  <a:txBody>
                    <a:bodyPr/>
                    <a:lstStyle/>
                    <a:p>
                      <a:pPr algn="ctr"/>
                      <a:r>
                        <a:rPr lang="en-US" sz="2800"/>
                        <a:t>METHODOLOGY</a:t>
                      </a:r>
                    </a:p>
                  </a:txBody>
                  <a:tcPr/>
                </a:tc>
                <a:tc>
                  <a:txBody>
                    <a:bodyPr/>
                    <a:lstStyle/>
                    <a:p>
                      <a:pPr algn="ctr"/>
                      <a:r>
                        <a:rPr lang="en-US" sz="2800" dirty="0" smtClean="0"/>
                        <a:t>15</a:t>
                      </a:r>
                      <a:endParaRPr lang="en-US" sz="2800" dirty="0"/>
                    </a:p>
                  </a:txBody>
                  <a:tcPr/>
                </a:tc>
                <a:extLst>
                  <a:ext uri="{0D108BD9-81ED-4DB2-BD59-A6C34878D82A}">
                    <a16:rowId xmlns:a16="http://schemas.microsoft.com/office/drawing/2014/main" xmlns="" val="1762007821"/>
                  </a:ext>
                </a:extLst>
              </a:tr>
              <a:tr h="685344">
                <a:tc>
                  <a:txBody>
                    <a:bodyPr/>
                    <a:lstStyle/>
                    <a:p>
                      <a:pPr lvl="0" algn="ctr">
                        <a:buNone/>
                      </a:pPr>
                      <a:r>
                        <a:rPr lang="en-US" sz="2800"/>
                        <a:t>ARCHITECTURE</a:t>
                      </a:r>
                    </a:p>
                  </a:txBody>
                  <a:tcPr/>
                </a:tc>
                <a:tc>
                  <a:txBody>
                    <a:bodyPr/>
                    <a:lstStyle/>
                    <a:p>
                      <a:pPr lvl="0" algn="ctr">
                        <a:buNone/>
                      </a:pPr>
                      <a:r>
                        <a:rPr lang="en-US" sz="2800" dirty="0" smtClean="0"/>
                        <a:t>16</a:t>
                      </a:r>
                      <a:endParaRPr lang="en-US" sz="2800" dirty="0"/>
                    </a:p>
                  </a:txBody>
                  <a:tcPr/>
                </a:tc>
                <a:extLst>
                  <a:ext uri="{0D108BD9-81ED-4DB2-BD59-A6C34878D82A}">
                    <a16:rowId xmlns:a16="http://schemas.microsoft.com/office/drawing/2014/main" xmlns="" val="643662499"/>
                  </a:ext>
                </a:extLst>
              </a:tr>
              <a:tr h="685344">
                <a:tc>
                  <a:txBody>
                    <a:bodyPr/>
                    <a:lstStyle/>
                    <a:p>
                      <a:pPr algn="ctr"/>
                      <a:r>
                        <a:rPr lang="en-US" sz="2800"/>
                        <a:t>CONCLUSION</a:t>
                      </a:r>
                    </a:p>
                  </a:txBody>
                  <a:tcPr/>
                </a:tc>
                <a:tc>
                  <a:txBody>
                    <a:bodyPr/>
                    <a:lstStyle/>
                    <a:p>
                      <a:pPr algn="ctr"/>
                      <a:r>
                        <a:rPr lang="en-US" sz="2800" dirty="0" smtClean="0"/>
                        <a:t>24</a:t>
                      </a:r>
                      <a:endParaRPr lang="en-US" sz="2800" dirty="0"/>
                    </a:p>
                  </a:txBody>
                  <a:tcPr/>
                </a:tc>
                <a:extLst>
                  <a:ext uri="{0D108BD9-81ED-4DB2-BD59-A6C34878D82A}">
                    <a16:rowId xmlns:a16="http://schemas.microsoft.com/office/drawing/2014/main" xmlns="" val="4082192370"/>
                  </a:ext>
                </a:extLst>
              </a:tr>
              <a:tr h="685344">
                <a:tc>
                  <a:txBody>
                    <a:bodyPr/>
                    <a:lstStyle/>
                    <a:p>
                      <a:pPr lvl="0" algn="ctr">
                        <a:buNone/>
                      </a:pPr>
                      <a:r>
                        <a:rPr lang="en-US" sz="2800"/>
                        <a:t>REFERENCES</a:t>
                      </a:r>
                    </a:p>
                  </a:txBody>
                  <a:tcPr/>
                </a:tc>
                <a:tc>
                  <a:txBody>
                    <a:bodyPr/>
                    <a:lstStyle/>
                    <a:p>
                      <a:pPr lvl="0" algn="ctr">
                        <a:buNone/>
                      </a:pPr>
                      <a:r>
                        <a:rPr lang="en-US" sz="2800" dirty="0" smtClean="0"/>
                        <a:t>25</a:t>
                      </a:r>
                      <a:endParaRPr lang="en-US" sz="2800" dirty="0"/>
                    </a:p>
                  </a:txBody>
                  <a:tcPr/>
                </a:tc>
                <a:extLst>
                  <a:ext uri="{0D108BD9-81ED-4DB2-BD59-A6C34878D82A}">
                    <a16:rowId xmlns:a16="http://schemas.microsoft.com/office/drawing/2014/main" xmlns="" val="558754165"/>
                  </a:ext>
                </a:extLst>
              </a:tr>
            </a:tbl>
          </a:graphicData>
        </a:graphic>
      </p:graphicFrame>
    </p:spTree>
    <p:extLst>
      <p:ext uri="{BB962C8B-B14F-4D97-AF65-F5344CB8AC3E}">
        <p14:creationId xmlns:p14="http://schemas.microsoft.com/office/powerpoint/2010/main" val="3671348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6E09B2DC-C094-2A85-B77F-F4DBEC18F165}"/>
              </a:ext>
            </a:extLst>
          </p:cNvPr>
          <p:cNvSpPr txBox="1"/>
          <p:nvPr/>
        </p:nvSpPr>
        <p:spPr>
          <a:xfrm>
            <a:off x="454211" y="298823"/>
            <a:ext cx="11391153"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600" b="1" u="sng" dirty="0" smtClean="0">
                <a:latin typeface="Times New Roman"/>
                <a:ea typeface="Calibri"/>
                <a:cs typeface="Times New Roman"/>
              </a:rPr>
              <a:t>ABSTRACT</a:t>
            </a:r>
            <a:endParaRPr lang="en-US" sz="3600" b="1" u="sng" dirty="0">
              <a:latin typeface="Times New Roman"/>
              <a:ea typeface="Calibri"/>
              <a:cs typeface="Times New Roman"/>
            </a:endParaRPr>
          </a:p>
          <a:p>
            <a:pPr algn="just"/>
            <a:endParaRPr lang="en-US" dirty="0">
              <a:latin typeface="Arial"/>
              <a:ea typeface="Calibri"/>
              <a:cs typeface="Arial"/>
            </a:endParaRPr>
          </a:p>
          <a:p>
            <a:pPr algn="just"/>
            <a:r>
              <a:rPr lang="en-US" dirty="0">
                <a:latin typeface="Times New Roman"/>
                <a:ea typeface="Calibri"/>
                <a:cs typeface="Times New Roman"/>
              </a:rPr>
              <a:t>The Indian judiciary handles a large number of cases every year at the Supreme Court. Each of these is a request for the Court to review a matter and decide in favor of one party, with a binary outcome: </a:t>
            </a:r>
            <a:r>
              <a:rPr lang="en-US" b="1" dirty="0">
                <a:solidFill>
                  <a:srgbClr val="00FF00"/>
                </a:solidFill>
                <a:latin typeface="Times New Roman"/>
                <a:ea typeface="Calibri"/>
                <a:cs typeface="Times New Roman"/>
              </a:rPr>
              <a:t>Accepted </a:t>
            </a:r>
            <a:r>
              <a:rPr lang="en-US" dirty="0">
                <a:latin typeface="Times New Roman"/>
                <a:ea typeface="Calibri"/>
                <a:cs typeface="Times New Roman"/>
              </a:rPr>
              <a:t>(the petitioner/appellant wins) or </a:t>
            </a:r>
            <a:r>
              <a:rPr lang="en-US" b="1" dirty="0">
                <a:solidFill>
                  <a:srgbClr val="FF0000"/>
                </a:solidFill>
                <a:latin typeface="Times New Roman"/>
                <a:ea typeface="Calibri"/>
                <a:cs typeface="Times New Roman"/>
              </a:rPr>
              <a:t>Rejected </a:t>
            </a:r>
            <a:r>
              <a:rPr lang="en-US" dirty="0">
                <a:latin typeface="Times New Roman"/>
                <a:ea typeface="Calibri"/>
                <a:cs typeface="Times New Roman"/>
              </a:rPr>
              <a:t>(the original decision stands, or the claim is dismissed). Prior work on judgment prediction relies mostly on the judge's reasoning near the end of the document, rather than the actual facts and arguments. The dataset also treats all Supreme Court cases as one pool, even though case types like SLPs go through two separate decisions (whether the Court agrees to hear the case, and then whether it accepts or rejects it), which may be getting mixed into a single misleading label</a:t>
            </a:r>
            <a:r>
              <a:rPr lang="en-US" dirty="0" smtClean="0">
                <a:latin typeface="Times New Roman"/>
                <a:ea typeface="Calibri"/>
                <a:cs typeface="Times New Roman"/>
              </a:rPr>
              <a:t>. This </a:t>
            </a:r>
            <a:r>
              <a:rPr lang="en-US" dirty="0">
                <a:latin typeface="Times New Roman"/>
                <a:ea typeface="Calibri"/>
                <a:cs typeface="Times New Roman"/>
              </a:rPr>
              <a:t>raises two research questions: 1) Can a model trained only on the facts and arguments, without relying on the judge's reasoning, still give good predictions. 2) Can classifying the cases by type first, and training separate models for each type, improve prediction accuracy.</a:t>
            </a:r>
          </a:p>
          <a:p>
            <a:pPr algn="just"/>
            <a:endParaRPr lang="en-US" dirty="0">
              <a:latin typeface="Times New Roman"/>
              <a:ea typeface="Calibri"/>
              <a:cs typeface="Times New Roman"/>
            </a:endParaRPr>
          </a:p>
          <a:p>
            <a:pPr algn="just"/>
            <a:r>
              <a:rPr lang="en-US" dirty="0">
                <a:latin typeface="Times New Roman"/>
                <a:ea typeface="Calibri"/>
                <a:cs typeface="Times New Roman"/>
              </a:rPr>
              <a:t>This project uses machine learning to predict case outcomes, given the facts and arguments of a case, without the final verdict. We propose using </a:t>
            </a:r>
            <a:r>
              <a:rPr lang="en-US" dirty="0" err="1">
                <a:latin typeface="Times New Roman"/>
                <a:ea typeface="Calibri"/>
                <a:cs typeface="Times New Roman"/>
              </a:rPr>
              <a:t>InLegalBERT</a:t>
            </a:r>
            <a:r>
              <a:rPr lang="en-US" dirty="0">
                <a:latin typeface="Times New Roman"/>
                <a:ea typeface="Calibri"/>
                <a:cs typeface="Times New Roman"/>
              </a:rPr>
              <a:t>, a transformer pretrained specifically on Indian legal text, to better capture domain-specific legal language. We will use the ILDC dataset (34,816 Supreme Court case documents, each labeled accepted or rejected), evaluated using Accuracy, Precision, Recall, F1-score, and a Confusion Matrix</a:t>
            </a:r>
            <a:r>
              <a:rPr lang="en-US" dirty="0" smtClean="0">
                <a:latin typeface="Times New Roman"/>
                <a:ea typeface="Calibri"/>
                <a:cs typeface="Times New Roman"/>
              </a:rPr>
              <a:t>.</a:t>
            </a:r>
            <a:endParaRPr lang="en-US" dirty="0">
              <a:latin typeface="Times New Roman"/>
              <a:ea typeface="Calibri"/>
              <a:cs typeface="Times New Roman"/>
            </a:endParaRPr>
          </a:p>
          <a:p>
            <a:pPr algn="just"/>
            <a:endParaRPr lang="en-US" dirty="0">
              <a:latin typeface="Times New Roman"/>
              <a:ea typeface="Calibri"/>
              <a:cs typeface="Times New Roman"/>
            </a:endParaRPr>
          </a:p>
          <a:p>
            <a:pPr algn="just"/>
            <a:r>
              <a:rPr lang="en-US" dirty="0">
                <a:latin typeface="Times New Roman"/>
                <a:ea typeface="Calibri"/>
                <a:cs typeface="Times New Roman"/>
              </a:rPr>
              <a:t>It is expected that this study will identify whether a meaningful legal signal exists earlier in a case document, independent of the judge’s reasoning, and whether classifying cases by type improves prediction accuracy or reasoning quality. </a:t>
            </a:r>
          </a:p>
          <a:p>
            <a:r>
              <a:rPr lang="en-US" dirty="0"/>
              <a:t/>
            </a:r>
            <a:br>
              <a:rPr lang="en-US" dirty="0"/>
            </a:br>
            <a:endParaRPr lang="en-US" dirty="0"/>
          </a:p>
        </p:txBody>
      </p:sp>
      <p:sp>
        <p:nvSpPr>
          <p:cNvPr id="3" name="TextBox 2"/>
          <p:cNvSpPr txBox="1"/>
          <p:nvPr/>
        </p:nvSpPr>
        <p:spPr>
          <a:xfrm>
            <a:off x="11462198" y="6310648"/>
            <a:ext cx="1219200" cy="400110"/>
          </a:xfrm>
          <a:prstGeom prst="rect">
            <a:avLst/>
          </a:prstGeom>
          <a:noFill/>
        </p:spPr>
        <p:txBody>
          <a:bodyPr wrap="square" rtlCol="0">
            <a:spAutoFit/>
          </a:bodyPr>
          <a:lstStyle/>
          <a:p>
            <a:r>
              <a:rPr lang="en-US" sz="2000" dirty="0" smtClean="0"/>
              <a:t>1</a:t>
            </a:r>
            <a:endParaRPr lang="en-IN" sz="2000" dirty="0"/>
          </a:p>
        </p:txBody>
      </p:sp>
    </p:spTree>
    <p:extLst>
      <p:ext uri="{BB962C8B-B14F-4D97-AF65-F5344CB8AC3E}">
        <p14:creationId xmlns:p14="http://schemas.microsoft.com/office/powerpoint/2010/main" val="972178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C66BAD-2B90-13AC-0CE3-17742AF155E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7CDC3355-79A6-0537-926D-DDD3E5279C25}"/>
              </a:ext>
            </a:extLst>
          </p:cNvPr>
          <p:cNvSpPr txBox="1"/>
          <p:nvPr/>
        </p:nvSpPr>
        <p:spPr>
          <a:xfrm>
            <a:off x="267305" y="471351"/>
            <a:ext cx="11391153"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600" b="1" u="sng" dirty="0" smtClean="0">
                <a:latin typeface="Times New Roman"/>
                <a:ea typeface="Calibri"/>
                <a:cs typeface="Times New Roman"/>
              </a:rPr>
              <a:t>PROBLEM  </a:t>
            </a:r>
            <a:r>
              <a:rPr lang="en-US" sz="3600" b="1" u="sng" dirty="0">
                <a:latin typeface="Times New Roman"/>
                <a:ea typeface="Calibri"/>
                <a:cs typeface="Times New Roman"/>
              </a:rPr>
              <a:t>STATEMENT :</a:t>
            </a:r>
            <a:r>
              <a:rPr lang="en-US" sz="2800" u="sng" dirty="0">
                <a:latin typeface="Times New Roman"/>
                <a:ea typeface="Calibri"/>
                <a:cs typeface="Times New Roman"/>
              </a:rPr>
              <a:t> </a:t>
            </a:r>
            <a:endParaRPr lang="en-US" u="sng" dirty="0">
              <a:latin typeface="Times New Roman"/>
              <a:cs typeface="Times New Roman"/>
            </a:endParaRPr>
          </a:p>
          <a:p>
            <a:pPr algn="just"/>
            <a:endParaRPr lang="en-US" sz="2800" dirty="0">
              <a:latin typeface="Times New Roman"/>
              <a:ea typeface="Calibri"/>
              <a:cs typeface="Times New Roman"/>
            </a:endParaRPr>
          </a:p>
          <a:p>
            <a:pPr algn="just"/>
            <a:r>
              <a:rPr lang="en-US" sz="2800" dirty="0">
                <a:latin typeface="Times New Roman" panose="02020603050405020304" pitchFamily="18" charset="0"/>
                <a:cs typeface="Times New Roman" panose="02020603050405020304" pitchFamily="18" charset="0"/>
              </a:rPr>
              <a:t>The objective of this </a:t>
            </a:r>
            <a:r>
              <a:rPr lang="en-US" sz="2800" dirty="0" smtClean="0">
                <a:latin typeface="Times New Roman" panose="02020603050405020304" pitchFamily="18" charset="0"/>
                <a:cs typeface="Times New Roman" panose="02020603050405020304" pitchFamily="18" charset="0"/>
              </a:rPr>
              <a:t>project is </a:t>
            </a:r>
            <a:r>
              <a:rPr lang="en-US" sz="2800" dirty="0">
                <a:latin typeface="Times New Roman" panose="02020603050405020304" pitchFamily="18" charset="0"/>
                <a:cs typeface="Times New Roman" panose="02020603050405020304" pitchFamily="18" charset="0"/>
              </a:rPr>
              <a:t>to develop a machine learning model, using </a:t>
            </a:r>
            <a:r>
              <a:rPr lang="en-US" sz="2800" dirty="0" err="1">
                <a:latin typeface="Times New Roman" panose="02020603050405020304" pitchFamily="18" charset="0"/>
                <a:cs typeface="Times New Roman" panose="02020603050405020304" pitchFamily="18" charset="0"/>
              </a:rPr>
              <a:t>InLegalBERT</a:t>
            </a:r>
            <a:r>
              <a:rPr lang="en-US" sz="2800" dirty="0">
                <a:latin typeface="Times New Roman" panose="02020603050405020304" pitchFamily="18" charset="0"/>
                <a:cs typeface="Times New Roman" panose="02020603050405020304" pitchFamily="18" charset="0"/>
              </a:rPr>
              <a:t>, that predicts Supreme Court judgment outcomes from the facts and arguments of a case alone, independent of the judge's final reasoning.</a:t>
            </a:r>
            <a:endParaRPr lang="en-US" sz="2800" dirty="0" smtClean="0">
              <a:latin typeface="Times New Roman" panose="02020603050405020304" pitchFamily="18" charset="0"/>
              <a:ea typeface="Calibri"/>
              <a:cs typeface="Times New Roman" panose="02020603050405020304" pitchFamily="18" charset="0"/>
            </a:endParaRPr>
          </a:p>
          <a:p>
            <a:pPr algn="just"/>
            <a:endParaRPr lang="en-US" sz="2800" dirty="0">
              <a:latin typeface="Times New Roman"/>
              <a:ea typeface="Calibri"/>
              <a:cs typeface="Times New Roman"/>
            </a:endParaRPr>
          </a:p>
        </p:txBody>
      </p:sp>
      <p:pic>
        <p:nvPicPr>
          <p:cNvPr id="5" name="Picture 4">
            <a:extLst>
              <a:ext uri="{FF2B5EF4-FFF2-40B4-BE49-F238E27FC236}">
                <a16:creationId xmlns:a16="http://schemas.microsoft.com/office/drawing/2014/main" xmlns="" id="{FF7ECE66-05F7-F043-F1D3-E3A1141A15DC}"/>
              </a:ext>
            </a:extLst>
          </p:cNvPr>
          <p:cNvPicPr>
            <a:picLocks noChangeAspect="1"/>
          </p:cNvPicPr>
          <p:nvPr/>
        </p:nvPicPr>
        <p:blipFill>
          <a:blip r:embed="rId2"/>
          <a:stretch>
            <a:fillRect/>
          </a:stretch>
        </p:blipFill>
        <p:spPr>
          <a:xfrm>
            <a:off x="-28755" y="4064381"/>
            <a:ext cx="12192000" cy="914596"/>
          </a:xfrm>
          <a:prstGeom prst="rect">
            <a:avLst/>
          </a:prstGeom>
        </p:spPr>
      </p:pic>
      <p:sp>
        <p:nvSpPr>
          <p:cNvPr id="4" name="TextBox 3"/>
          <p:cNvSpPr txBox="1"/>
          <p:nvPr/>
        </p:nvSpPr>
        <p:spPr>
          <a:xfrm>
            <a:off x="11462198" y="6310648"/>
            <a:ext cx="1219200" cy="400110"/>
          </a:xfrm>
          <a:prstGeom prst="rect">
            <a:avLst/>
          </a:prstGeom>
          <a:noFill/>
        </p:spPr>
        <p:txBody>
          <a:bodyPr wrap="square" rtlCol="0">
            <a:spAutoFit/>
          </a:bodyPr>
          <a:lstStyle/>
          <a:p>
            <a:r>
              <a:rPr lang="en-US" sz="2000" dirty="0" smtClean="0"/>
              <a:t>2</a:t>
            </a:r>
            <a:endParaRPr lang="en-IN" sz="2000" dirty="0"/>
          </a:p>
        </p:txBody>
      </p:sp>
    </p:spTree>
    <p:extLst>
      <p:ext uri="{BB962C8B-B14F-4D97-AF65-F5344CB8AC3E}">
        <p14:creationId xmlns:p14="http://schemas.microsoft.com/office/powerpoint/2010/main" val="1971943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77657CD-12C1-A4EC-1F00-792D945EA0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15F820E-31BA-5539-FFFE-FE9ED9B80CE3}"/>
              </a:ext>
            </a:extLst>
          </p:cNvPr>
          <p:cNvSpPr txBox="1"/>
          <p:nvPr/>
        </p:nvSpPr>
        <p:spPr>
          <a:xfrm>
            <a:off x="454211" y="298823"/>
            <a:ext cx="1139115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800" dirty="0">
              <a:ea typeface="Calibri"/>
              <a:cs typeface="Calibri"/>
            </a:endParaRPr>
          </a:p>
        </p:txBody>
      </p:sp>
      <p:sp>
        <p:nvSpPr>
          <p:cNvPr id="5" name="TextBox 4">
            <a:extLst>
              <a:ext uri="{FF2B5EF4-FFF2-40B4-BE49-F238E27FC236}">
                <a16:creationId xmlns:a16="http://schemas.microsoft.com/office/drawing/2014/main" xmlns="" id="{539C9527-7A7D-4EF5-0C8C-B5E5D293F42D}"/>
              </a:ext>
            </a:extLst>
          </p:cNvPr>
          <p:cNvSpPr txBox="1"/>
          <p:nvPr/>
        </p:nvSpPr>
        <p:spPr>
          <a:xfrm>
            <a:off x="667785" y="88012"/>
            <a:ext cx="111640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ea typeface="Calibri"/>
                <a:cs typeface="Times New Roman"/>
              </a:rPr>
              <a:t>BACKGROUND OF THE PROBLEM :</a:t>
            </a:r>
            <a:endParaRPr lang="en-US"/>
          </a:p>
        </p:txBody>
      </p:sp>
      <p:pic>
        <p:nvPicPr>
          <p:cNvPr id="3" name="Picture 2">
            <a:extLst>
              <a:ext uri="{FF2B5EF4-FFF2-40B4-BE49-F238E27FC236}">
                <a16:creationId xmlns:a16="http://schemas.microsoft.com/office/drawing/2014/main" xmlns="" id="{699602F5-26D1-0B5F-B31E-EEFE5BD08DE6}"/>
              </a:ext>
            </a:extLst>
          </p:cNvPr>
          <p:cNvPicPr>
            <a:picLocks noChangeAspect="1"/>
          </p:cNvPicPr>
          <p:nvPr/>
        </p:nvPicPr>
        <p:blipFill>
          <a:blip r:embed="rId2"/>
          <a:stretch>
            <a:fillRect/>
          </a:stretch>
        </p:blipFill>
        <p:spPr>
          <a:xfrm>
            <a:off x="1608468" y="823462"/>
            <a:ext cx="8241820" cy="5786168"/>
          </a:xfrm>
          <a:prstGeom prst="rect">
            <a:avLst/>
          </a:prstGeom>
        </p:spPr>
      </p:pic>
      <p:sp>
        <p:nvSpPr>
          <p:cNvPr id="4" name="TextBox 3">
            <a:extLst>
              <a:ext uri="{FF2B5EF4-FFF2-40B4-BE49-F238E27FC236}">
                <a16:creationId xmlns:a16="http://schemas.microsoft.com/office/drawing/2014/main" xmlns="" id="{39D303B4-4F98-16AF-26EA-471774CC1B42}"/>
              </a:ext>
            </a:extLst>
          </p:cNvPr>
          <p:cNvSpPr txBox="1"/>
          <p:nvPr/>
        </p:nvSpPr>
        <p:spPr>
          <a:xfrm>
            <a:off x="258792" y="6448246"/>
            <a:ext cx="1193320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ighlight>
                  <a:srgbClr val="FFFF00"/>
                </a:highlight>
              </a:rPr>
              <a:t>Ref :</a:t>
            </a:r>
            <a:r>
              <a:rPr lang="en-US" dirty="0">
                <a:highlight>
                  <a:srgbClr val="FFFF00"/>
                </a:highlight>
              </a:rPr>
              <a:t> https://thelivenagpur.com/2026/08/03/supreme-court-backlog-tops-96000-cases-10000-pending-for-over-10-years/</a:t>
            </a:r>
            <a:endParaRPr lang="en-US" dirty="0">
              <a:highlight>
                <a:srgbClr val="FFFF00"/>
              </a:highlight>
              <a:ea typeface="Calibri"/>
              <a:cs typeface="Calibri"/>
            </a:endParaRPr>
          </a:p>
          <a:p>
            <a:pPr algn="ctr"/>
            <a:endParaRPr lang="en-US"/>
          </a:p>
        </p:txBody>
      </p:sp>
      <p:sp>
        <p:nvSpPr>
          <p:cNvPr id="6" name="TextBox 5"/>
          <p:cNvSpPr txBox="1"/>
          <p:nvPr/>
        </p:nvSpPr>
        <p:spPr>
          <a:xfrm>
            <a:off x="11706897" y="6448246"/>
            <a:ext cx="1219200" cy="400110"/>
          </a:xfrm>
          <a:prstGeom prst="rect">
            <a:avLst/>
          </a:prstGeom>
          <a:noFill/>
        </p:spPr>
        <p:txBody>
          <a:bodyPr wrap="square" rtlCol="0">
            <a:spAutoFit/>
          </a:bodyPr>
          <a:lstStyle/>
          <a:p>
            <a:r>
              <a:rPr lang="en-US" sz="2000" dirty="0" smtClean="0"/>
              <a:t>3</a:t>
            </a:r>
            <a:endParaRPr lang="en-IN" sz="2000" dirty="0"/>
          </a:p>
        </p:txBody>
      </p:sp>
    </p:spTree>
    <p:extLst>
      <p:ext uri="{BB962C8B-B14F-4D97-AF65-F5344CB8AC3E}">
        <p14:creationId xmlns:p14="http://schemas.microsoft.com/office/powerpoint/2010/main" val="1745055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5E4AA6B-7E31-C43C-3488-611D917D00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6CC3D6E-909E-F4C7-856B-4F1008DA618D}"/>
              </a:ext>
            </a:extLst>
          </p:cNvPr>
          <p:cNvSpPr txBox="1"/>
          <p:nvPr/>
        </p:nvSpPr>
        <p:spPr>
          <a:xfrm>
            <a:off x="454211" y="298823"/>
            <a:ext cx="1139115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800" dirty="0">
              <a:ea typeface="Calibri"/>
              <a:cs typeface="Calibri"/>
            </a:endParaRPr>
          </a:p>
        </p:txBody>
      </p:sp>
      <p:pic>
        <p:nvPicPr>
          <p:cNvPr id="4" name="Picture 3">
            <a:extLst>
              <a:ext uri="{FF2B5EF4-FFF2-40B4-BE49-F238E27FC236}">
                <a16:creationId xmlns:a16="http://schemas.microsoft.com/office/drawing/2014/main" xmlns="" id="{A2A6F726-E869-6AB6-1807-AB6A1E46C8FD}"/>
              </a:ext>
            </a:extLst>
          </p:cNvPr>
          <p:cNvPicPr>
            <a:picLocks noChangeAspect="1"/>
          </p:cNvPicPr>
          <p:nvPr/>
        </p:nvPicPr>
        <p:blipFill>
          <a:blip r:embed="rId2"/>
          <a:srcRect r="-177" b="21008"/>
          <a:stretch>
            <a:fillRect/>
          </a:stretch>
        </p:blipFill>
        <p:spPr>
          <a:xfrm>
            <a:off x="319747" y="1006415"/>
            <a:ext cx="11486490" cy="5417244"/>
          </a:xfrm>
          <a:prstGeom prst="rect">
            <a:avLst/>
          </a:prstGeom>
        </p:spPr>
      </p:pic>
      <p:sp>
        <p:nvSpPr>
          <p:cNvPr id="5" name="TextBox 4">
            <a:extLst>
              <a:ext uri="{FF2B5EF4-FFF2-40B4-BE49-F238E27FC236}">
                <a16:creationId xmlns:a16="http://schemas.microsoft.com/office/drawing/2014/main" xmlns="" id="{005A6B68-7231-3187-9DF8-F288B8057CAE}"/>
              </a:ext>
            </a:extLst>
          </p:cNvPr>
          <p:cNvSpPr txBox="1"/>
          <p:nvPr/>
        </p:nvSpPr>
        <p:spPr>
          <a:xfrm>
            <a:off x="322729" y="274917"/>
            <a:ext cx="1116404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Times New Roman"/>
                <a:ea typeface="Calibri"/>
                <a:cs typeface="Times New Roman"/>
              </a:rPr>
              <a:t>TOTAL BACKLOG CASES IN SUPREME COURT</a:t>
            </a:r>
          </a:p>
        </p:txBody>
      </p:sp>
      <p:sp>
        <p:nvSpPr>
          <p:cNvPr id="6" name="TextBox 5"/>
          <p:cNvSpPr txBox="1"/>
          <p:nvPr/>
        </p:nvSpPr>
        <p:spPr>
          <a:xfrm>
            <a:off x="11694018" y="6407976"/>
            <a:ext cx="1219200" cy="400110"/>
          </a:xfrm>
          <a:prstGeom prst="rect">
            <a:avLst/>
          </a:prstGeom>
          <a:noFill/>
        </p:spPr>
        <p:txBody>
          <a:bodyPr wrap="square" rtlCol="0">
            <a:spAutoFit/>
          </a:bodyPr>
          <a:lstStyle/>
          <a:p>
            <a:r>
              <a:rPr lang="en-US" sz="2000" dirty="0" smtClean="0"/>
              <a:t>4</a:t>
            </a:r>
            <a:endParaRPr lang="en-IN" sz="2000" dirty="0"/>
          </a:p>
        </p:txBody>
      </p:sp>
    </p:spTree>
    <p:extLst>
      <p:ext uri="{BB962C8B-B14F-4D97-AF65-F5344CB8AC3E}">
        <p14:creationId xmlns:p14="http://schemas.microsoft.com/office/powerpoint/2010/main" val="1011535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6B50CA4-9B05-59A6-F8F3-DB8DC826637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741DDF0-4B29-2477-25A9-9A1DF4778813}"/>
              </a:ext>
            </a:extLst>
          </p:cNvPr>
          <p:cNvSpPr txBox="1"/>
          <p:nvPr/>
        </p:nvSpPr>
        <p:spPr>
          <a:xfrm>
            <a:off x="454211" y="298823"/>
            <a:ext cx="1139115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sz="2800" dirty="0">
              <a:ea typeface="Calibri"/>
              <a:cs typeface="Calibri"/>
            </a:endParaRPr>
          </a:p>
        </p:txBody>
      </p:sp>
      <p:sp>
        <p:nvSpPr>
          <p:cNvPr id="5" name="TextBox 4">
            <a:extLst>
              <a:ext uri="{FF2B5EF4-FFF2-40B4-BE49-F238E27FC236}">
                <a16:creationId xmlns:a16="http://schemas.microsoft.com/office/drawing/2014/main" xmlns="" id="{68439A08-9A5C-061A-4890-53B03D2BC919}"/>
              </a:ext>
            </a:extLst>
          </p:cNvPr>
          <p:cNvSpPr txBox="1"/>
          <p:nvPr/>
        </p:nvSpPr>
        <p:spPr>
          <a:xfrm>
            <a:off x="6427" y="821257"/>
            <a:ext cx="1270242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latin typeface="Times New Roman"/>
                <a:ea typeface="Calibri"/>
                <a:cs typeface="Times New Roman"/>
              </a:rPr>
              <a:t>INCREASING NUMBER OF PENDING CASES IN THE SUPREME COURT  </a:t>
            </a:r>
          </a:p>
        </p:txBody>
      </p:sp>
      <p:pic>
        <p:nvPicPr>
          <p:cNvPr id="4" name="Picture 3">
            <a:extLst>
              <a:ext uri="{FF2B5EF4-FFF2-40B4-BE49-F238E27FC236}">
                <a16:creationId xmlns:a16="http://schemas.microsoft.com/office/drawing/2014/main" xmlns="" id="{3CC26F89-1BFD-ADD6-0F30-4CEA323FC001}"/>
              </a:ext>
            </a:extLst>
          </p:cNvPr>
          <p:cNvPicPr>
            <a:picLocks noChangeAspect="1"/>
          </p:cNvPicPr>
          <p:nvPr/>
        </p:nvPicPr>
        <p:blipFill>
          <a:blip r:embed="rId2"/>
          <a:srcRect r="123" b="-395"/>
          <a:stretch>
            <a:fillRect/>
          </a:stretch>
        </p:blipFill>
        <p:spPr>
          <a:xfrm>
            <a:off x="118344" y="2295076"/>
            <a:ext cx="11710889" cy="3662493"/>
          </a:xfrm>
          <a:prstGeom prst="rect">
            <a:avLst/>
          </a:prstGeom>
        </p:spPr>
      </p:pic>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5</a:t>
            </a:r>
            <a:endParaRPr lang="en-IN" sz="2000" dirty="0"/>
          </a:p>
        </p:txBody>
      </p:sp>
    </p:spTree>
    <p:extLst>
      <p:ext uri="{BB962C8B-B14F-4D97-AF65-F5344CB8AC3E}">
        <p14:creationId xmlns:p14="http://schemas.microsoft.com/office/powerpoint/2010/main" val="369733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7103033-4427-3B7A-F18E-6628D654D65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xmlns="" id="{A7288353-1EBE-5CA8-6D72-C0CD2F54C516}"/>
              </a:ext>
            </a:extLst>
          </p:cNvPr>
          <p:cNvPicPr>
            <a:picLocks noChangeAspect="1"/>
          </p:cNvPicPr>
          <p:nvPr/>
        </p:nvPicPr>
        <p:blipFill>
          <a:blip r:embed="rId2"/>
          <a:stretch>
            <a:fillRect/>
          </a:stretch>
        </p:blipFill>
        <p:spPr>
          <a:xfrm>
            <a:off x="3239" y="0"/>
            <a:ext cx="12185522" cy="6858000"/>
          </a:xfrm>
          <a:prstGeom prst="rect">
            <a:avLst/>
          </a:prstGeom>
        </p:spPr>
      </p:pic>
      <p:sp>
        <p:nvSpPr>
          <p:cNvPr id="3" name="TextBox 2"/>
          <p:cNvSpPr txBox="1"/>
          <p:nvPr/>
        </p:nvSpPr>
        <p:spPr>
          <a:xfrm>
            <a:off x="11582400" y="6513420"/>
            <a:ext cx="1219200" cy="369332"/>
          </a:xfrm>
          <a:prstGeom prst="rect">
            <a:avLst/>
          </a:prstGeom>
          <a:noFill/>
        </p:spPr>
        <p:txBody>
          <a:bodyPr wrap="square" rtlCol="0">
            <a:spAutoFit/>
          </a:bodyPr>
          <a:lstStyle/>
          <a:p>
            <a:r>
              <a:rPr lang="en-US" dirty="0" smtClean="0"/>
              <a:t>6</a:t>
            </a:r>
            <a:endParaRPr lang="en-IN" dirty="0"/>
          </a:p>
        </p:txBody>
      </p:sp>
    </p:spTree>
    <p:extLst>
      <p:ext uri="{BB962C8B-B14F-4D97-AF65-F5344CB8AC3E}">
        <p14:creationId xmlns:p14="http://schemas.microsoft.com/office/powerpoint/2010/main" val="1149714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0C5C3CD-C8A9-1B99-F770-46150B6BCD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9FEAAFAE-91AA-69FC-747A-62A731D987B9}"/>
              </a:ext>
            </a:extLst>
          </p:cNvPr>
          <p:cNvSpPr txBox="1"/>
          <p:nvPr/>
        </p:nvSpPr>
        <p:spPr>
          <a:xfrm>
            <a:off x="432561" y="207993"/>
            <a:ext cx="84865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ea typeface="Calibri"/>
                <a:cs typeface="Calibri"/>
              </a:rPr>
              <a:t>EXISTING WORK : (BASE PAPER)</a:t>
            </a:r>
          </a:p>
        </p:txBody>
      </p:sp>
      <p:pic>
        <p:nvPicPr>
          <p:cNvPr id="4" name="Picture 3">
            <a:extLst>
              <a:ext uri="{FF2B5EF4-FFF2-40B4-BE49-F238E27FC236}">
                <a16:creationId xmlns:a16="http://schemas.microsoft.com/office/drawing/2014/main" xmlns="" id="{52CF96F9-2658-E12C-D00D-F77D699C81B4}"/>
              </a:ext>
            </a:extLst>
          </p:cNvPr>
          <p:cNvPicPr>
            <a:picLocks noChangeAspect="1"/>
          </p:cNvPicPr>
          <p:nvPr/>
        </p:nvPicPr>
        <p:blipFill>
          <a:blip r:embed="rId2"/>
          <a:stretch>
            <a:fillRect/>
          </a:stretch>
        </p:blipFill>
        <p:spPr>
          <a:xfrm>
            <a:off x="436263" y="848354"/>
            <a:ext cx="10715625" cy="2314575"/>
          </a:xfrm>
          <a:prstGeom prst="rect">
            <a:avLst/>
          </a:prstGeom>
        </p:spPr>
      </p:pic>
      <p:sp>
        <p:nvSpPr>
          <p:cNvPr id="2" name="TextBox 1">
            <a:extLst>
              <a:ext uri="{FF2B5EF4-FFF2-40B4-BE49-F238E27FC236}">
                <a16:creationId xmlns:a16="http://schemas.microsoft.com/office/drawing/2014/main" xmlns="" id="{85CE1801-7A89-55CA-0E3A-6E0B5538C6A0}"/>
              </a:ext>
            </a:extLst>
          </p:cNvPr>
          <p:cNvSpPr txBox="1"/>
          <p:nvPr/>
        </p:nvSpPr>
        <p:spPr>
          <a:xfrm>
            <a:off x="454211" y="3550023"/>
            <a:ext cx="11391153"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a:ea typeface="+mn-lt"/>
                <a:cs typeface="+mn-lt"/>
              </a:rPr>
              <a:t>Authors/Year</a:t>
            </a:r>
            <a:r>
              <a:rPr lang="en-US" sz="2400">
                <a:ea typeface="+mn-lt"/>
                <a:cs typeface="+mn-lt"/>
              </a:rPr>
              <a:t>: Malik et al. (2021)</a:t>
            </a:r>
            <a:endParaRPr lang="en-US" sz="2400">
              <a:ea typeface="Calibri" panose="020F0502020204030204"/>
              <a:cs typeface="Calibri" panose="020F0502020204030204"/>
            </a:endParaRPr>
          </a:p>
          <a:p>
            <a:pPr algn="just"/>
            <a:r>
              <a:rPr lang="en-US" sz="2400" b="1">
                <a:ea typeface="+mn-lt"/>
                <a:cs typeface="+mn-lt"/>
              </a:rPr>
              <a:t>What they did</a:t>
            </a:r>
            <a:r>
              <a:rPr lang="en-US" sz="2400">
                <a:ea typeface="+mn-lt"/>
                <a:cs typeface="+mn-lt"/>
              </a:rPr>
              <a:t>: Introduced CJPE task - Binary judgment prediction on Indian Supreme Court cases using transformer models</a:t>
            </a:r>
            <a:endParaRPr lang="en-US" sz="2400">
              <a:ea typeface="Calibri" panose="020F0502020204030204"/>
              <a:cs typeface="Calibri" panose="020F0502020204030204"/>
            </a:endParaRPr>
          </a:p>
          <a:p>
            <a:pPr algn="just"/>
            <a:r>
              <a:rPr lang="en-US" sz="2400" b="1">
                <a:ea typeface="+mn-lt"/>
                <a:cs typeface="+mn-lt"/>
              </a:rPr>
              <a:t>Dataset used</a:t>
            </a:r>
            <a:r>
              <a:rPr lang="en-US" sz="2400">
                <a:ea typeface="+mn-lt"/>
                <a:cs typeface="+mn-lt"/>
              </a:rPr>
              <a:t>: ILDC (34,816 case documents)</a:t>
            </a:r>
            <a:endParaRPr lang="en-US" sz="2400">
              <a:ea typeface="Calibri" panose="020F0502020204030204"/>
              <a:cs typeface="Calibri" panose="020F0502020204030204"/>
            </a:endParaRPr>
          </a:p>
          <a:p>
            <a:pPr algn="just"/>
            <a:r>
              <a:rPr lang="en-US" sz="2400" b="1">
                <a:ea typeface="+mn-lt"/>
                <a:cs typeface="+mn-lt"/>
              </a:rPr>
              <a:t>Key finding</a:t>
            </a:r>
            <a:r>
              <a:rPr lang="en-US" sz="2400">
                <a:ea typeface="+mn-lt"/>
                <a:cs typeface="+mn-lt"/>
              </a:rPr>
              <a:t>: Models perform well by relying on reasoning near the end of the document</a:t>
            </a:r>
            <a:endParaRPr lang="en-US" sz="2400">
              <a:ea typeface="Calibri" panose="020F0502020204030204"/>
              <a:cs typeface="Calibri" panose="020F0502020204030204"/>
            </a:endParaRPr>
          </a:p>
          <a:p>
            <a:pPr algn="just"/>
            <a:r>
              <a:rPr lang="en-US" sz="2400" b="1">
                <a:ea typeface="+mn-lt"/>
                <a:cs typeface="+mn-lt"/>
              </a:rPr>
              <a:t>Limitations</a:t>
            </a:r>
            <a:r>
              <a:rPr lang="en-US" sz="2400">
                <a:ea typeface="+mn-lt"/>
                <a:cs typeface="+mn-lt"/>
              </a:rPr>
              <a:t>: </a:t>
            </a:r>
          </a:p>
          <a:p>
            <a:pPr marL="342900" indent="-342900" algn="just">
              <a:buAutoNum type="arabicParenR"/>
            </a:pPr>
            <a:r>
              <a:rPr lang="en-US" sz="2400">
                <a:ea typeface="+mn-lt"/>
                <a:cs typeface="+mn-lt"/>
              </a:rPr>
              <a:t>Doesn't distinguish case types (SLPs, Writs, Appeals)</a:t>
            </a:r>
          </a:p>
          <a:p>
            <a:pPr marL="342900" indent="-342900" algn="just">
              <a:buAutoNum type="arabicParenR"/>
            </a:pPr>
            <a:r>
              <a:rPr lang="en-US" sz="2400">
                <a:ea typeface="+mn-lt"/>
                <a:cs typeface="+mn-lt"/>
              </a:rPr>
              <a:t>Doesn't test whether facts/arguments alone are sufficient</a:t>
            </a:r>
            <a:endParaRPr lang="en-US" sz="2400">
              <a:ea typeface="Calibri" panose="020F0502020204030204"/>
              <a:cs typeface="Calibri" panose="020F0502020204030204"/>
            </a:endParaRPr>
          </a:p>
        </p:txBody>
      </p:sp>
      <p:sp>
        <p:nvSpPr>
          <p:cNvPr id="5" name="TextBox 4"/>
          <p:cNvSpPr txBox="1"/>
          <p:nvPr/>
        </p:nvSpPr>
        <p:spPr>
          <a:xfrm>
            <a:off x="11462198" y="6310648"/>
            <a:ext cx="1219200" cy="400110"/>
          </a:xfrm>
          <a:prstGeom prst="rect">
            <a:avLst/>
          </a:prstGeom>
          <a:noFill/>
        </p:spPr>
        <p:txBody>
          <a:bodyPr wrap="square" rtlCol="0">
            <a:spAutoFit/>
          </a:bodyPr>
          <a:lstStyle/>
          <a:p>
            <a:r>
              <a:rPr lang="en-US" sz="2000" dirty="0" smtClean="0"/>
              <a:t>7</a:t>
            </a:r>
            <a:endParaRPr lang="en-IN" sz="2000" dirty="0"/>
          </a:p>
        </p:txBody>
      </p:sp>
    </p:spTree>
    <p:extLst>
      <p:ext uri="{BB962C8B-B14F-4D97-AF65-F5344CB8AC3E}">
        <p14:creationId xmlns:p14="http://schemas.microsoft.com/office/powerpoint/2010/main" val="2424404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32239-3750-5873-4BB5-D95E488E1D0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xmlns="" id="{97336E2A-3FD3-932A-3A87-ABBF6BFA7F59}"/>
              </a:ext>
            </a:extLst>
          </p:cNvPr>
          <p:cNvPicPr>
            <a:picLocks noChangeAspect="1"/>
          </p:cNvPicPr>
          <p:nvPr/>
        </p:nvPicPr>
        <p:blipFill>
          <a:blip r:embed="rId2"/>
          <a:stretch>
            <a:fillRect/>
          </a:stretch>
        </p:blipFill>
        <p:spPr>
          <a:xfrm>
            <a:off x="3239" y="0"/>
            <a:ext cx="12185522" cy="6858000"/>
          </a:xfrm>
          <a:prstGeom prst="rect">
            <a:avLst/>
          </a:prstGeom>
        </p:spPr>
      </p:pic>
      <p:sp>
        <p:nvSpPr>
          <p:cNvPr id="4" name="TextBox 3"/>
          <p:cNvSpPr txBox="1"/>
          <p:nvPr/>
        </p:nvSpPr>
        <p:spPr>
          <a:xfrm>
            <a:off x="11462198" y="6310648"/>
            <a:ext cx="1219200" cy="400110"/>
          </a:xfrm>
          <a:prstGeom prst="rect">
            <a:avLst/>
          </a:prstGeom>
          <a:noFill/>
        </p:spPr>
        <p:txBody>
          <a:bodyPr wrap="square" rtlCol="0">
            <a:spAutoFit/>
          </a:bodyPr>
          <a:lstStyle/>
          <a:p>
            <a:r>
              <a:rPr lang="en-US" sz="2000" dirty="0" smtClean="0"/>
              <a:t>8</a:t>
            </a:r>
            <a:endParaRPr lang="en-IN" sz="2000" dirty="0"/>
          </a:p>
        </p:txBody>
      </p:sp>
    </p:spTree>
    <p:extLst>
      <p:ext uri="{BB962C8B-B14F-4D97-AF65-F5344CB8AC3E}">
        <p14:creationId xmlns:p14="http://schemas.microsoft.com/office/powerpoint/2010/main" val="2830891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6BE6539-F41A-B8DF-58DD-DF6223031B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650A0079-B65B-75CA-CAA5-63720961B0E4}"/>
              </a:ext>
            </a:extLst>
          </p:cNvPr>
          <p:cNvSpPr txBox="1"/>
          <p:nvPr/>
        </p:nvSpPr>
        <p:spPr>
          <a:xfrm>
            <a:off x="131482" y="155388"/>
            <a:ext cx="1192903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Calibri"/>
                <a:cs typeface="Calibri"/>
              </a:rPr>
              <a:t>ATTENSION &amp; OCCLUSION SCORES vs Chunks</a:t>
            </a:r>
            <a:endParaRPr lang="en-US" b="1" dirty="0">
              <a:ea typeface="Calibri"/>
              <a:cs typeface="Calibri"/>
            </a:endParaRPr>
          </a:p>
        </p:txBody>
      </p:sp>
      <p:pic>
        <p:nvPicPr>
          <p:cNvPr id="3" name="Picture 2">
            <a:extLst>
              <a:ext uri="{FF2B5EF4-FFF2-40B4-BE49-F238E27FC236}">
                <a16:creationId xmlns:a16="http://schemas.microsoft.com/office/drawing/2014/main" xmlns="" id="{7419513F-B880-9E40-82FD-12DD1F3526E3}"/>
              </a:ext>
            </a:extLst>
          </p:cNvPr>
          <p:cNvPicPr>
            <a:picLocks noChangeAspect="1"/>
          </p:cNvPicPr>
          <p:nvPr/>
        </p:nvPicPr>
        <p:blipFill>
          <a:blip r:embed="rId2"/>
          <a:stretch>
            <a:fillRect/>
          </a:stretch>
        </p:blipFill>
        <p:spPr>
          <a:xfrm>
            <a:off x="306237" y="482811"/>
            <a:ext cx="7251939" cy="6079286"/>
          </a:xfrm>
          <a:prstGeom prst="rect">
            <a:avLst/>
          </a:prstGeom>
        </p:spPr>
      </p:pic>
      <p:sp>
        <p:nvSpPr>
          <p:cNvPr id="4" name="TextBox 3">
            <a:extLst>
              <a:ext uri="{FF2B5EF4-FFF2-40B4-BE49-F238E27FC236}">
                <a16:creationId xmlns:a16="http://schemas.microsoft.com/office/drawing/2014/main" xmlns="" id="{18593D85-EBFF-7A90-E8CE-4DF008B89438}"/>
              </a:ext>
            </a:extLst>
          </p:cNvPr>
          <p:cNvSpPr txBox="1"/>
          <p:nvPr/>
        </p:nvSpPr>
        <p:spPr>
          <a:xfrm>
            <a:off x="7697693" y="896470"/>
            <a:ext cx="418352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a:ea typeface="Calibri"/>
                <a:cs typeface="Calibri"/>
              </a:rPr>
              <a:t>Attention</a:t>
            </a:r>
            <a:r>
              <a:rPr lang="en-US">
                <a:ea typeface="+mn-lt"/>
                <a:cs typeface="+mn-lt"/>
              </a:rPr>
              <a:t>: A mechanism </a:t>
            </a:r>
            <a:r>
              <a:rPr lang="en-US" dirty="0">
                <a:ea typeface="+mn-lt"/>
                <a:cs typeface="+mn-lt"/>
              </a:rPr>
              <a:t>learned by the model </a:t>
            </a:r>
            <a:r>
              <a:rPr lang="en-US" dirty="0">
                <a:highlight>
                  <a:srgbClr val="FFFF00"/>
                </a:highlight>
                <a:ea typeface="+mn-lt"/>
                <a:cs typeface="+mn-lt"/>
              </a:rPr>
              <a:t>during training</a:t>
            </a:r>
            <a:r>
              <a:rPr lang="en-US" dirty="0">
                <a:ea typeface="+mn-lt"/>
                <a:cs typeface="+mn-lt"/>
              </a:rPr>
              <a:t> that enables it to focus more on </a:t>
            </a:r>
            <a:r>
              <a:rPr lang="en-US" dirty="0">
                <a:solidFill>
                  <a:srgbClr val="000000"/>
                </a:solidFill>
                <a:highlight>
                  <a:srgbClr val="FFFF00"/>
                </a:highlight>
                <a:ea typeface="+mn-lt"/>
                <a:cs typeface="+mn-lt"/>
              </a:rPr>
              <a:t>important words</a:t>
            </a:r>
            <a:r>
              <a:rPr lang="en-US" dirty="0">
                <a:ea typeface="+mn-lt"/>
                <a:cs typeface="+mn-lt"/>
              </a:rPr>
              <a:t> or sentences, rather than treating the entire document equally.</a:t>
            </a:r>
            <a:endParaRPr lang="en-US" dirty="0">
              <a:ea typeface="Calibri" panose="020F0502020204030204"/>
              <a:cs typeface="Calibri" panose="020F0502020204030204"/>
            </a:endParaRPr>
          </a:p>
        </p:txBody>
      </p:sp>
      <p:sp>
        <p:nvSpPr>
          <p:cNvPr id="5" name="TextBox 4">
            <a:extLst>
              <a:ext uri="{FF2B5EF4-FFF2-40B4-BE49-F238E27FC236}">
                <a16:creationId xmlns:a16="http://schemas.microsoft.com/office/drawing/2014/main" xmlns="" id="{BF3493F1-26E4-8148-9587-F63905F0A637}"/>
              </a:ext>
            </a:extLst>
          </p:cNvPr>
          <p:cNvSpPr txBox="1"/>
          <p:nvPr/>
        </p:nvSpPr>
        <p:spPr>
          <a:xfrm>
            <a:off x="7691887" y="3012057"/>
            <a:ext cx="419818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ea typeface="+mn-lt"/>
                <a:cs typeface="+mn-lt"/>
              </a:rPr>
              <a:t>Occlusion</a:t>
            </a:r>
            <a:r>
              <a:rPr lang="en-US" dirty="0"/>
              <a:t>: </a:t>
            </a:r>
            <a:r>
              <a:rPr lang="en-US" dirty="0">
                <a:ea typeface="+mn-lt"/>
                <a:cs typeface="+mn-lt"/>
              </a:rPr>
              <a:t>A technique applied </a:t>
            </a:r>
            <a:r>
              <a:rPr lang="en-US" dirty="0">
                <a:highlight>
                  <a:srgbClr val="FFFF00"/>
                </a:highlight>
                <a:ea typeface="+mn-lt"/>
                <a:cs typeface="+mn-lt"/>
              </a:rPr>
              <a:t>during testing</a:t>
            </a:r>
            <a:r>
              <a:rPr lang="en-US" dirty="0">
                <a:ea typeface="+mn-lt"/>
                <a:cs typeface="+mn-lt"/>
              </a:rPr>
              <a:t> that involves removing parts of the input to </a:t>
            </a:r>
            <a:r>
              <a:rPr lang="en-US" dirty="0">
                <a:highlight>
                  <a:srgbClr val="FFFF00"/>
                </a:highlight>
                <a:ea typeface="+mn-lt"/>
                <a:cs typeface="+mn-lt"/>
              </a:rPr>
              <a:t>observe the resulting change in prediction</a:t>
            </a:r>
            <a:r>
              <a:rPr lang="en-US" dirty="0">
                <a:ea typeface="+mn-lt"/>
                <a:cs typeface="+mn-lt"/>
              </a:rPr>
              <a:t>, thereby identifying which parts were most influential.</a:t>
            </a:r>
          </a:p>
          <a:p>
            <a:pPr algn="just"/>
            <a:endParaRPr lang="en-US" dirty="0">
              <a:ea typeface="Calibri" panose="020F0502020204030204"/>
              <a:cs typeface="Calibri" panose="020F0502020204030204"/>
            </a:endParaRPr>
          </a:p>
        </p:txBody>
      </p:sp>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9</a:t>
            </a:r>
            <a:endParaRPr lang="en-IN" sz="2000" dirty="0"/>
          </a:p>
        </p:txBody>
      </p:sp>
    </p:spTree>
    <p:extLst>
      <p:ext uri="{BB962C8B-B14F-4D97-AF65-F5344CB8AC3E}">
        <p14:creationId xmlns:p14="http://schemas.microsoft.com/office/powerpoint/2010/main" val="187990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752E3FF-4998-272A-6FE7-62D227101475}"/>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xmlns="" id="{9CEA1181-8B47-B58C-D1BD-FE1EFBC6E87C}"/>
              </a:ext>
            </a:extLst>
          </p:cNvPr>
          <p:cNvSpPr txBox="1"/>
          <p:nvPr/>
        </p:nvSpPr>
        <p:spPr>
          <a:xfrm>
            <a:off x="124546" y="832871"/>
            <a:ext cx="11952941" cy="51944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2800" b="1" u="sng" dirty="0">
                <a:latin typeface="PT Serif"/>
                <a:ea typeface="Calibri"/>
                <a:cs typeface="Calibri"/>
              </a:rPr>
              <a:t>Limitation 1 : </a:t>
            </a:r>
          </a:p>
          <a:p>
            <a:pPr marL="285750" indent="-285750" algn="just">
              <a:buFont typeface="Arial"/>
              <a:buChar char="•"/>
            </a:pPr>
            <a:r>
              <a:rPr lang="en-US" sz="2800" dirty="0">
                <a:ea typeface="+mn-lt"/>
                <a:cs typeface="+mn-lt"/>
              </a:rPr>
              <a:t>CJPE models rely mainly on the </a:t>
            </a:r>
            <a:r>
              <a:rPr lang="en-US" sz="2800" b="1" dirty="0">
                <a:ea typeface="+mn-lt"/>
                <a:cs typeface="+mn-lt"/>
              </a:rPr>
              <a:t>final 512 tokens</a:t>
            </a:r>
          </a:p>
          <a:p>
            <a:pPr marL="285750" indent="-285750" algn="just">
              <a:buFont typeface="Arial"/>
              <a:buChar char="•"/>
            </a:pPr>
            <a:r>
              <a:rPr lang="en-US" sz="2800" dirty="0">
                <a:ea typeface="+mn-lt"/>
                <a:cs typeface="+mn-lt"/>
              </a:rPr>
              <a:t>Attention &amp; occlusion scores peak there</a:t>
            </a:r>
            <a:endParaRPr lang="en-US" sz="2800" dirty="0">
              <a:ea typeface="Calibri"/>
              <a:cs typeface="Calibri"/>
            </a:endParaRPr>
          </a:p>
          <a:p>
            <a:pPr marL="285750" indent="-285750" algn="just">
              <a:buFont typeface="Arial"/>
              <a:buChar char="•"/>
            </a:pPr>
            <a:r>
              <a:rPr lang="en-US" sz="2800" dirty="0">
                <a:ea typeface="+mn-lt"/>
                <a:cs typeface="+mn-lt"/>
              </a:rPr>
              <a:t>Verdict sentences are removed, but </a:t>
            </a:r>
            <a:r>
              <a:rPr lang="en-US" sz="2800" b="1" dirty="0">
                <a:ea typeface="+mn-lt"/>
                <a:cs typeface="+mn-lt"/>
              </a:rPr>
              <a:t>judge's reasoning is still present</a:t>
            </a:r>
            <a:endParaRPr lang="en-US" sz="2800" dirty="0">
              <a:ea typeface="Calibri"/>
              <a:cs typeface="Calibri"/>
            </a:endParaRPr>
          </a:p>
          <a:p>
            <a:pPr marL="285750" indent="-285750" algn="just">
              <a:buFont typeface="Arial"/>
              <a:buChar char="•"/>
            </a:pPr>
            <a:r>
              <a:rPr lang="en-US" sz="2800" dirty="0">
                <a:ea typeface="+mn-lt"/>
                <a:cs typeface="+mn-lt"/>
              </a:rPr>
              <a:t>Models predict outcomes </a:t>
            </a:r>
            <a:r>
              <a:rPr lang="en-US" sz="2800" b="1" dirty="0">
                <a:ea typeface="+mn-lt"/>
                <a:cs typeface="+mn-lt"/>
              </a:rPr>
              <a:t>without processing earlier facts, arguments, precedents</a:t>
            </a:r>
          </a:p>
          <a:p>
            <a:pPr marL="285750" indent="-285750" algn="just">
              <a:buFont typeface="Arial"/>
              <a:buChar char="•"/>
            </a:pPr>
            <a:endParaRPr lang="en-US" sz="2800" b="1" dirty="0">
              <a:latin typeface="Calibri"/>
              <a:ea typeface="Calibri"/>
              <a:cs typeface="Calibri"/>
            </a:endParaRPr>
          </a:p>
          <a:p>
            <a:pPr algn="just">
              <a:lnSpc>
                <a:spcPct val="150000"/>
              </a:lnSpc>
            </a:pPr>
            <a:r>
              <a:rPr lang="en-US" sz="2800" b="1" u="sng" dirty="0">
                <a:latin typeface="PT Serif"/>
                <a:ea typeface="Calibri"/>
                <a:cs typeface="Calibri"/>
              </a:rPr>
              <a:t>Research Question 1 :</a:t>
            </a:r>
            <a:r>
              <a:rPr lang="en-US" sz="2800" dirty="0">
                <a:latin typeface="PT Serif"/>
                <a:ea typeface="Calibri"/>
                <a:cs typeface="Calibri"/>
              </a:rPr>
              <a:t> </a:t>
            </a:r>
            <a:endParaRPr lang="en-US" sz="2800" dirty="0">
              <a:latin typeface="PT Serif"/>
            </a:endParaRPr>
          </a:p>
          <a:p>
            <a:pPr algn="just">
              <a:lnSpc>
                <a:spcPct val="150000"/>
              </a:lnSpc>
            </a:pPr>
            <a:r>
              <a:rPr lang="en-US" sz="2800" dirty="0">
                <a:latin typeface="PT Serif"/>
                <a:ea typeface="Calibri"/>
                <a:cs typeface="Calibri"/>
              </a:rPr>
              <a:t>Can a model </a:t>
            </a:r>
            <a:r>
              <a:rPr lang="en-US" sz="2800" dirty="0" err="1">
                <a:latin typeface="PT Serif"/>
                <a:ea typeface="Calibri"/>
                <a:cs typeface="Calibri"/>
              </a:rPr>
              <a:t>trained</a:t>
            </a:r>
            <a:r>
              <a:rPr lang="en-US" sz="2800" dirty="0">
                <a:latin typeface="PT Serif"/>
                <a:ea typeface="Calibri"/>
                <a:cs typeface="Calibri"/>
              </a:rPr>
              <a:t> only on the earlier facts and arguments (without the reasoning near the end) still make accurate predictions? </a:t>
            </a:r>
          </a:p>
        </p:txBody>
      </p:sp>
      <p:sp>
        <p:nvSpPr>
          <p:cNvPr id="3" name="TextBox 2"/>
          <p:cNvSpPr txBox="1"/>
          <p:nvPr/>
        </p:nvSpPr>
        <p:spPr>
          <a:xfrm>
            <a:off x="11462198" y="6310648"/>
            <a:ext cx="1219200" cy="400110"/>
          </a:xfrm>
          <a:prstGeom prst="rect">
            <a:avLst/>
          </a:prstGeom>
          <a:noFill/>
        </p:spPr>
        <p:txBody>
          <a:bodyPr wrap="square" rtlCol="0">
            <a:spAutoFit/>
          </a:bodyPr>
          <a:lstStyle/>
          <a:p>
            <a:r>
              <a:rPr lang="en-US" sz="2000" dirty="0" smtClean="0"/>
              <a:t>10</a:t>
            </a:r>
            <a:endParaRPr lang="en-IN" sz="2000" dirty="0"/>
          </a:p>
        </p:txBody>
      </p:sp>
    </p:spTree>
    <p:extLst>
      <p:ext uri="{BB962C8B-B14F-4D97-AF65-F5344CB8AC3E}">
        <p14:creationId xmlns:p14="http://schemas.microsoft.com/office/powerpoint/2010/main" val="769244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0B6217E-B9DF-68FD-D1C3-0C077F28155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xmlns="" id="{DD42E078-3408-A4CD-1EAB-58334BC0B1BC}"/>
              </a:ext>
            </a:extLst>
          </p:cNvPr>
          <p:cNvPicPr>
            <a:picLocks noChangeAspect="1"/>
          </p:cNvPicPr>
          <p:nvPr/>
        </p:nvPicPr>
        <p:blipFill>
          <a:blip r:embed="rId2"/>
          <a:stretch>
            <a:fillRect/>
          </a:stretch>
        </p:blipFill>
        <p:spPr>
          <a:xfrm>
            <a:off x="4313" y="355571"/>
            <a:ext cx="8402127" cy="5801802"/>
          </a:xfrm>
          <a:prstGeom prst="rect">
            <a:avLst/>
          </a:prstGeom>
        </p:spPr>
      </p:pic>
      <p:sp>
        <p:nvSpPr>
          <p:cNvPr id="7" name="TextBox 6">
            <a:extLst>
              <a:ext uri="{FF2B5EF4-FFF2-40B4-BE49-F238E27FC236}">
                <a16:creationId xmlns:a16="http://schemas.microsoft.com/office/drawing/2014/main" xmlns="" id="{B9A5C4FA-996D-2394-649B-DDCFDC88192A}"/>
              </a:ext>
            </a:extLst>
          </p:cNvPr>
          <p:cNvSpPr txBox="1"/>
          <p:nvPr/>
        </p:nvSpPr>
        <p:spPr>
          <a:xfrm>
            <a:off x="8409175" y="1310313"/>
            <a:ext cx="3674909" cy="33829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1600" b="1">
                <a:ea typeface="+mn-lt"/>
                <a:cs typeface="+mn-lt"/>
              </a:rPr>
              <a:t>SLP (Special Leave Permission) :</a:t>
            </a:r>
            <a:endParaRPr lang="en-US" sz="1600" b="1" dirty="0">
              <a:ea typeface="Calibri"/>
              <a:cs typeface="Calibri"/>
            </a:endParaRPr>
          </a:p>
          <a:p>
            <a:pPr algn="just">
              <a:lnSpc>
                <a:spcPct val="150000"/>
              </a:lnSpc>
            </a:pPr>
            <a:endParaRPr lang="en-US" sz="1600" b="1" dirty="0">
              <a:ea typeface="+mn-lt"/>
              <a:cs typeface="+mn-lt"/>
            </a:endParaRPr>
          </a:p>
          <a:p>
            <a:pPr marL="285750" indent="-285750" algn="just">
              <a:lnSpc>
                <a:spcPct val="150000"/>
              </a:lnSpc>
              <a:buFont typeface="Arial"/>
              <a:buChar char="•"/>
            </a:pPr>
            <a:r>
              <a:rPr lang="en-US" sz="1400">
                <a:ea typeface="+mn-lt"/>
                <a:cs typeface="+mn-lt"/>
              </a:rPr>
              <a:t>It is a special way to ask the Supreme Court of India for </a:t>
            </a:r>
            <a:r>
              <a:rPr lang="en-US" sz="1400">
                <a:highlight>
                  <a:srgbClr val="FFFF00"/>
                </a:highlight>
                <a:ea typeface="+mn-lt"/>
                <a:cs typeface="+mn-lt"/>
              </a:rPr>
              <a:t>permission to hear an appeal.</a:t>
            </a:r>
            <a:endParaRPr lang="en-US" sz="1400">
              <a:highlight>
                <a:srgbClr val="FFFF00"/>
              </a:highlight>
              <a:ea typeface="Calibri"/>
              <a:cs typeface="Calibri"/>
            </a:endParaRPr>
          </a:p>
          <a:p>
            <a:pPr algn="just">
              <a:lnSpc>
                <a:spcPct val="150000"/>
              </a:lnSpc>
            </a:pPr>
            <a:endParaRPr lang="en-US" sz="1400" dirty="0">
              <a:ea typeface="+mn-lt"/>
              <a:cs typeface="+mn-lt"/>
            </a:endParaRPr>
          </a:p>
          <a:p>
            <a:pPr marL="285750" indent="-285750" algn="just">
              <a:lnSpc>
                <a:spcPct val="150000"/>
              </a:lnSpc>
              <a:buFont typeface="Arial"/>
              <a:buChar char="•"/>
            </a:pPr>
            <a:r>
              <a:rPr lang="en-US" sz="1400">
                <a:ea typeface="+mn-lt"/>
                <a:cs typeface="+mn-lt"/>
              </a:rPr>
              <a:t>It </a:t>
            </a:r>
            <a:r>
              <a:rPr lang="en-US" sz="1400">
                <a:highlight>
                  <a:srgbClr val="FFFF00"/>
                </a:highlight>
                <a:ea typeface="+mn-lt"/>
                <a:cs typeface="+mn-lt"/>
              </a:rPr>
              <a:t>challenges a judgment</a:t>
            </a:r>
            <a:r>
              <a:rPr lang="en-US" sz="1400">
                <a:ea typeface="+mn-lt"/>
                <a:cs typeface="+mn-lt"/>
              </a:rPr>
              <a:t> or order from any lower court or high court in the country.</a:t>
            </a:r>
            <a:endParaRPr lang="en-US" sz="1400">
              <a:ea typeface="Calibri"/>
              <a:cs typeface="Calibri"/>
            </a:endParaRPr>
          </a:p>
          <a:p>
            <a:pPr algn="just">
              <a:lnSpc>
                <a:spcPct val="150000"/>
              </a:lnSpc>
            </a:pPr>
            <a:endParaRPr lang="en-US" sz="1400" dirty="0">
              <a:ea typeface="+mn-lt"/>
              <a:cs typeface="+mn-lt"/>
            </a:endParaRPr>
          </a:p>
          <a:p>
            <a:pPr marL="285750" indent="-285750" algn="just">
              <a:lnSpc>
                <a:spcPct val="150000"/>
              </a:lnSpc>
              <a:buFont typeface="Arial"/>
              <a:buChar char="•"/>
            </a:pPr>
            <a:r>
              <a:rPr lang="en-US" sz="1400">
                <a:ea typeface="+mn-lt"/>
                <a:cs typeface="+mn-lt"/>
              </a:rPr>
              <a:t>It is not a basic right. The</a:t>
            </a:r>
            <a:r>
              <a:rPr lang="en-US" sz="1400">
                <a:highlight>
                  <a:srgbClr val="FFFF00"/>
                </a:highlight>
                <a:ea typeface="+mn-lt"/>
                <a:cs typeface="+mn-lt"/>
              </a:rPr>
              <a:t> top court decides</a:t>
            </a:r>
            <a:r>
              <a:rPr lang="en-US" sz="1400">
                <a:ea typeface="+mn-lt"/>
                <a:cs typeface="+mn-lt"/>
              </a:rPr>
              <a:t> if it wants to hear the case</a:t>
            </a:r>
            <a:endParaRPr lang="en-US" sz="1400">
              <a:ea typeface="Calibri"/>
              <a:cs typeface="Calibri"/>
            </a:endParaRPr>
          </a:p>
        </p:txBody>
      </p:sp>
      <p:sp>
        <p:nvSpPr>
          <p:cNvPr id="4" name="TextBox 3"/>
          <p:cNvSpPr txBox="1"/>
          <p:nvPr/>
        </p:nvSpPr>
        <p:spPr>
          <a:xfrm>
            <a:off x="11462198" y="6310648"/>
            <a:ext cx="1219200" cy="400110"/>
          </a:xfrm>
          <a:prstGeom prst="rect">
            <a:avLst/>
          </a:prstGeom>
          <a:noFill/>
        </p:spPr>
        <p:txBody>
          <a:bodyPr wrap="square" rtlCol="0">
            <a:spAutoFit/>
          </a:bodyPr>
          <a:lstStyle/>
          <a:p>
            <a:r>
              <a:rPr lang="en-US" sz="2000" dirty="0" smtClean="0"/>
              <a:t>11</a:t>
            </a:r>
            <a:endParaRPr lang="en-IN" sz="2000" dirty="0"/>
          </a:p>
        </p:txBody>
      </p:sp>
    </p:spTree>
    <p:extLst>
      <p:ext uri="{BB962C8B-B14F-4D97-AF65-F5344CB8AC3E}">
        <p14:creationId xmlns:p14="http://schemas.microsoft.com/office/powerpoint/2010/main" val="2265611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3AE4C14-82B0-D0EE-AB38-9BC42DCB243C}"/>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xmlns="" id="{52B53878-5C75-2C9F-14BD-1070BBB3D170}"/>
              </a:ext>
            </a:extLst>
          </p:cNvPr>
          <p:cNvSpPr txBox="1"/>
          <p:nvPr/>
        </p:nvSpPr>
        <p:spPr>
          <a:xfrm>
            <a:off x="124546" y="85248"/>
            <a:ext cx="11952941" cy="66830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2400" b="1" u="sng" dirty="0">
                <a:latin typeface="PT Serif"/>
                <a:ea typeface="Calibri"/>
                <a:cs typeface="Calibri"/>
              </a:rPr>
              <a:t>Limitation 2 : </a:t>
            </a:r>
            <a:endParaRPr lang="en-US" sz="2400" dirty="0">
              <a:ea typeface="Calibri"/>
              <a:cs typeface="Calibri"/>
            </a:endParaRPr>
          </a:p>
          <a:p>
            <a:pPr marL="342900" indent="-342900" algn="just">
              <a:lnSpc>
                <a:spcPct val="150000"/>
              </a:lnSpc>
              <a:buFont typeface="Arial"/>
              <a:buChar char="•"/>
            </a:pPr>
            <a:r>
              <a:rPr lang="en-US" sz="2400" dirty="0">
                <a:ea typeface="+mn-lt"/>
                <a:cs typeface="+mn-lt"/>
              </a:rPr>
              <a:t>ILDC/CJPE treat all Supreme Court cases as a </a:t>
            </a:r>
            <a:r>
              <a:rPr lang="en-US" sz="2400" b="1" dirty="0">
                <a:ea typeface="+mn-lt"/>
                <a:cs typeface="+mn-lt"/>
              </a:rPr>
              <a:t>single uniform group</a:t>
            </a:r>
            <a:r>
              <a:rPr lang="en-US" sz="2400" dirty="0">
                <a:ea typeface="+mn-lt"/>
                <a:cs typeface="+mn-lt"/>
              </a:rPr>
              <a:t> for binary prediction</a:t>
            </a:r>
            <a:endParaRPr lang="en-US" sz="2400" b="1" dirty="0">
              <a:ea typeface="+mn-lt"/>
              <a:cs typeface="+mn-lt"/>
            </a:endParaRPr>
          </a:p>
          <a:p>
            <a:pPr marL="342900" indent="-342900" algn="just">
              <a:lnSpc>
                <a:spcPct val="150000"/>
              </a:lnSpc>
              <a:buFont typeface="Arial"/>
              <a:buChar char="•"/>
            </a:pPr>
            <a:r>
              <a:rPr lang="en-US" sz="2400" dirty="0">
                <a:ea typeface="+mn-lt"/>
                <a:cs typeface="+mn-lt"/>
              </a:rPr>
              <a:t>Ignores structurally &amp; legally distinct case types (Civil/Criminal Appeals, SLP Civil/Criminal, Writ Petitions, </a:t>
            </a:r>
            <a:r>
              <a:rPr lang="en-US" sz="2400" dirty="0" err="1">
                <a:ea typeface="+mn-lt"/>
                <a:cs typeface="+mn-lt"/>
              </a:rPr>
              <a:t>etc</a:t>
            </a:r>
            <a:r>
              <a:rPr lang="en-US" sz="2400" dirty="0">
                <a:ea typeface="+mn-lt"/>
                <a:cs typeface="+mn-lt"/>
              </a:rPr>
              <a:t>)</a:t>
            </a:r>
            <a:endParaRPr lang="en-US" sz="2400" dirty="0">
              <a:ea typeface="Calibri" panose="020F0502020204030204"/>
              <a:cs typeface="Calibri" panose="020F0502020204030204"/>
            </a:endParaRPr>
          </a:p>
          <a:p>
            <a:pPr marL="342900" indent="-342900" algn="just">
              <a:lnSpc>
                <a:spcPct val="150000"/>
              </a:lnSpc>
              <a:buFont typeface="Arial"/>
              <a:buChar char="•"/>
            </a:pPr>
            <a:r>
              <a:rPr lang="en-US" sz="2400" b="1" dirty="0">
                <a:ea typeface="+mn-lt"/>
                <a:cs typeface="+mn-lt"/>
              </a:rPr>
              <a:t>SLPs go through two decisions</a:t>
            </a:r>
            <a:r>
              <a:rPr lang="en-US" sz="2400" dirty="0">
                <a:ea typeface="+mn-lt"/>
                <a:cs typeface="+mn-lt"/>
              </a:rPr>
              <a:t>: (1) whether to admit the case, (2) whether to accept/reject on merits</a:t>
            </a:r>
            <a:endParaRPr lang="en-US" sz="2400" dirty="0">
              <a:ea typeface="Calibri" panose="020F0502020204030204"/>
              <a:cs typeface="Calibri" panose="020F0502020204030204"/>
            </a:endParaRPr>
          </a:p>
          <a:p>
            <a:pPr marL="342900" indent="-342900" algn="just">
              <a:lnSpc>
                <a:spcPct val="150000"/>
              </a:lnSpc>
              <a:buFont typeface="Arial"/>
              <a:buChar char="•"/>
            </a:pPr>
            <a:r>
              <a:rPr lang="en-US" sz="2400" dirty="0">
                <a:ea typeface="+mn-lt"/>
                <a:cs typeface="+mn-lt"/>
              </a:rPr>
              <a:t>Dataset merges both into a single "accepted"/"rejected" label</a:t>
            </a:r>
            <a:endParaRPr lang="en-US" sz="2400" dirty="0">
              <a:ea typeface="Calibri" panose="020F0502020204030204"/>
              <a:cs typeface="Calibri" panose="020F0502020204030204"/>
            </a:endParaRPr>
          </a:p>
          <a:p>
            <a:pPr marL="342900" indent="-342900" algn="just">
              <a:lnSpc>
                <a:spcPct val="150000"/>
              </a:lnSpc>
              <a:buFont typeface="Arial"/>
              <a:buChar char="•"/>
            </a:pPr>
            <a:r>
              <a:rPr lang="en-US" sz="2400" dirty="0">
                <a:ea typeface="+mn-lt"/>
                <a:cs typeface="+mn-lt"/>
              </a:rPr>
              <a:t>A </a:t>
            </a:r>
            <a:r>
              <a:rPr lang="en-US" sz="2400" b="1" dirty="0">
                <a:ea typeface="+mn-lt"/>
                <a:cs typeface="+mn-lt"/>
              </a:rPr>
              <a:t>refusal to hear</a:t>
            </a:r>
            <a:r>
              <a:rPr lang="en-US" sz="2400" dirty="0">
                <a:ea typeface="+mn-lt"/>
                <a:cs typeface="+mn-lt"/>
              </a:rPr>
              <a:t> ≠ a </a:t>
            </a:r>
            <a:r>
              <a:rPr lang="en-US" sz="2400" b="1" dirty="0">
                <a:ea typeface="+mn-lt"/>
                <a:cs typeface="+mn-lt"/>
              </a:rPr>
              <a:t>rejection after full hearing</a:t>
            </a:r>
            <a:r>
              <a:rPr lang="en-US" sz="2400" dirty="0">
                <a:ea typeface="+mn-lt"/>
                <a:cs typeface="+mn-lt"/>
              </a:rPr>
              <a:t> : Merging them creates misleading labels</a:t>
            </a:r>
            <a:endParaRPr lang="en-US" sz="2400" dirty="0">
              <a:ea typeface="Calibri" panose="020F0502020204030204"/>
              <a:cs typeface="Calibri" panose="020F0502020204030204"/>
            </a:endParaRPr>
          </a:p>
          <a:p>
            <a:pPr algn="just">
              <a:lnSpc>
                <a:spcPct val="150000"/>
              </a:lnSpc>
            </a:pPr>
            <a:endParaRPr lang="en-US" sz="2400" b="1" dirty="0">
              <a:ea typeface="+mn-lt"/>
              <a:cs typeface="+mn-lt"/>
            </a:endParaRPr>
          </a:p>
          <a:p>
            <a:pPr algn="just">
              <a:lnSpc>
                <a:spcPct val="150000"/>
              </a:lnSpc>
            </a:pPr>
            <a:r>
              <a:rPr lang="en-US" sz="2400" b="1" u="sng" dirty="0">
                <a:latin typeface="PT Serif"/>
                <a:ea typeface="Calibri"/>
                <a:cs typeface="Calibri"/>
              </a:rPr>
              <a:t>Research Question 2 :</a:t>
            </a:r>
            <a:r>
              <a:rPr lang="en-US" sz="2400" dirty="0">
                <a:latin typeface="PT Serif"/>
                <a:ea typeface="Calibri"/>
                <a:cs typeface="Calibri"/>
              </a:rPr>
              <a:t> </a:t>
            </a:r>
            <a:endParaRPr lang="en-US" sz="2400" dirty="0">
              <a:latin typeface="PT Serif"/>
            </a:endParaRPr>
          </a:p>
          <a:p>
            <a:pPr algn="just">
              <a:lnSpc>
                <a:spcPct val="150000"/>
              </a:lnSpc>
            </a:pPr>
            <a:r>
              <a:rPr lang="en-US" sz="2400" dirty="0">
                <a:ea typeface="+mn-lt"/>
                <a:cs typeface="+mn-lt"/>
              </a:rPr>
              <a:t>Does separating cases by type and splitting "refused to hear" from "heard and rejected",  actually </a:t>
            </a:r>
            <a:r>
              <a:rPr lang="en-US" sz="2400" b="1" dirty="0">
                <a:ea typeface="+mn-lt"/>
                <a:cs typeface="+mn-lt"/>
              </a:rPr>
              <a:t>improve model performance</a:t>
            </a:r>
            <a:r>
              <a:rPr lang="en-US" sz="2400" dirty="0">
                <a:ea typeface="+mn-lt"/>
                <a:cs typeface="+mn-lt"/>
              </a:rPr>
              <a:t>?</a:t>
            </a:r>
          </a:p>
        </p:txBody>
      </p:sp>
      <p:sp>
        <p:nvSpPr>
          <p:cNvPr id="3" name="TextBox 2"/>
          <p:cNvSpPr txBox="1"/>
          <p:nvPr/>
        </p:nvSpPr>
        <p:spPr>
          <a:xfrm>
            <a:off x="11462198" y="6310648"/>
            <a:ext cx="1219200" cy="400110"/>
          </a:xfrm>
          <a:prstGeom prst="rect">
            <a:avLst/>
          </a:prstGeom>
          <a:noFill/>
        </p:spPr>
        <p:txBody>
          <a:bodyPr wrap="square" rtlCol="0">
            <a:spAutoFit/>
          </a:bodyPr>
          <a:lstStyle/>
          <a:p>
            <a:r>
              <a:rPr lang="en-US" sz="2000" dirty="0" smtClean="0"/>
              <a:t>12</a:t>
            </a:r>
            <a:endParaRPr lang="en-IN" sz="2000" dirty="0"/>
          </a:p>
        </p:txBody>
      </p:sp>
    </p:spTree>
    <p:extLst>
      <p:ext uri="{BB962C8B-B14F-4D97-AF65-F5344CB8AC3E}">
        <p14:creationId xmlns:p14="http://schemas.microsoft.com/office/powerpoint/2010/main" val="216744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E7C711-4700-4903-17C3-FB6559E5C079}"/>
              </a:ext>
            </a:extLst>
          </p:cNvPr>
          <p:cNvSpPr>
            <a:spLocks noGrp="1"/>
          </p:cNvSpPr>
          <p:nvPr>
            <p:ph type="title"/>
          </p:nvPr>
        </p:nvSpPr>
        <p:spPr>
          <a:xfrm>
            <a:off x="4445426" y="-4138"/>
            <a:ext cx="3292708" cy="1325563"/>
          </a:xfrm>
        </p:spPr>
        <p:txBody>
          <a:bodyPr>
            <a:normAutofit/>
          </a:bodyPr>
          <a:lstStyle/>
          <a:p>
            <a:r>
              <a:rPr lang="en-IN" sz="4800" b="1">
                <a:latin typeface="Times New Roman" panose="02020603050405020304" pitchFamily="18" charset="0"/>
                <a:cs typeface="Times New Roman" panose="02020603050405020304" pitchFamily="18" charset="0"/>
              </a:rPr>
              <a:t>DATASET</a:t>
            </a:r>
          </a:p>
        </p:txBody>
      </p:sp>
      <p:graphicFrame>
        <p:nvGraphicFramePr>
          <p:cNvPr id="5" name="Table 4">
            <a:extLst>
              <a:ext uri="{FF2B5EF4-FFF2-40B4-BE49-F238E27FC236}">
                <a16:creationId xmlns:a16="http://schemas.microsoft.com/office/drawing/2014/main" xmlns="" id="{93941D1B-1AA4-685F-ED5E-A4B83DB44339}"/>
              </a:ext>
            </a:extLst>
          </p:cNvPr>
          <p:cNvGraphicFramePr>
            <a:graphicFrameLocks noGrp="1"/>
          </p:cNvGraphicFramePr>
          <p:nvPr>
            <p:extLst>
              <p:ext uri="{D42A27DB-BD31-4B8C-83A1-F6EECF244321}">
                <p14:modId xmlns:p14="http://schemas.microsoft.com/office/powerpoint/2010/main" val="979155369"/>
              </p:ext>
            </p:extLst>
          </p:nvPr>
        </p:nvGraphicFramePr>
        <p:xfrm>
          <a:off x="392151" y="981306"/>
          <a:ext cx="11407698" cy="5609064"/>
        </p:xfrm>
        <a:graphic>
          <a:graphicData uri="http://schemas.openxmlformats.org/drawingml/2006/table">
            <a:tbl>
              <a:tblPr firstRow="1" bandRow="1">
                <a:tableStyleId>{2D5ABB26-0587-4C30-8999-92F81FD0307C}</a:tableStyleId>
              </a:tblPr>
              <a:tblGrid>
                <a:gridCol w="5703849">
                  <a:extLst>
                    <a:ext uri="{9D8B030D-6E8A-4147-A177-3AD203B41FA5}">
                      <a16:colId xmlns:a16="http://schemas.microsoft.com/office/drawing/2014/main" xmlns="" val="2625388073"/>
                    </a:ext>
                  </a:extLst>
                </a:gridCol>
                <a:gridCol w="5703849">
                  <a:extLst>
                    <a:ext uri="{9D8B030D-6E8A-4147-A177-3AD203B41FA5}">
                      <a16:colId xmlns:a16="http://schemas.microsoft.com/office/drawing/2014/main" xmlns="" val="870981909"/>
                    </a:ext>
                  </a:extLst>
                </a:gridCol>
              </a:tblGrid>
              <a:tr h="896152">
                <a:tc>
                  <a:txBody>
                    <a:bodyPr/>
                    <a:lstStyle/>
                    <a:p>
                      <a:r>
                        <a:rPr lang="en-IN" sz="3200" b="1" dirty="0">
                          <a:latin typeface="Times New Roman" panose="02020603050405020304" pitchFamily="18" charset="0"/>
                          <a:cs typeface="Times New Roman" panose="02020603050405020304" pitchFamily="18" charset="0"/>
                        </a:rPr>
                        <a:t>                     Parameter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3200" b="1">
                          <a:latin typeface="Times New Roman" panose="02020603050405020304" pitchFamily="18" charset="0"/>
                          <a:cs typeface="Times New Roman" panose="02020603050405020304" pitchFamily="18" charset="0"/>
                        </a:rPr>
                        <a:t>                            Details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55660524"/>
                  </a:ext>
                </a:extLst>
              </a:tr>
              <a:tr h="896152">
                <a:tc>
                  <a:txBody>
                    <a:bodyPr/>
                    <a:lstStyle/>
                    <a:p>
                      <a:r>
                        <a:rPr lang="en-IN" sz="2400" b="1">
                          <a:latin typeface="Times New Roman" panose="02020603050405020304" pitchFamily="18" charset="0"/>
                          <a:cs typeface="Times New Roman" panose="02020603050405020304" pitchFamily="18" charset="0"/>
                        </a:rPr>
                        <a:t>Name of the 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l">
                        <a:lnSpc>
                          <a:spcPct val="100000"/>
                        </a:lnSpc>
                        <a:spcBef>
                          <a:spcPts val="0"/>
                        </a:spcBef>
                        <a:spcAft>
                          <a:spcPts val="0"/>
                        </a:spcAft>
                        <a:buNone/>
                      </a:pPr>
                      <a:r>
                        <a:rPr lang="en-IN" sz="2400" b="0" i="0" u="none" strike="noStrike" noProof="0" dirty="0"/>
                        <a:t>ILDC (Indian Legal Documents Corpus)</a:t>
                      </a:r>
                      <a:endParaRPr lang="en-US" sz="2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23781535"/>
                  </a:ext>
                </a:extLst>
              </a:tr>
              <a:tr h="896152">
                <a:tc>
                  <a:txBody>
                    <a:bodyPr/>
                    <a:lstStyle/>
                    <a:p>
                      <a:r>
                        <a:rPr lang="en-IN" sz="2400" b="1">
                          <a:latin typeface="Times New Roman" panose="02020603050405020304" pitchFamily="18" charset="0"/>
                          <a:cs typeface="Times New Roman" panose="02020603050405020304" pitchFamily="18" charset="0"/>
                        </a:rPr>
                        <a:t>Downloaded from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IN" sz="1800" b="0" i="0" u="none" strike="noStrike" noProof="0" dirty="0">
                          <a:solidFill>
                            <a:srgbClr val="1155CC"/>
                          </a:solidFill>
                          <a:highlight>
                            <a:srgbClr val="FFFFFF"/>
                          </a:highlight>
                        </a:rPr>
                        <a:t>https://huggingface.co/datasets/Exploration-Lab/IL-TUR</a:t>
                      </a:r>
                      <a:endParaRPr 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320616814"/>
                  </a:ext>
                </a:extLst>
              </a:tr>
              <a:tr h="896152">
                <a:tc>
                  <a:txBody>
                    <a:bodyPr/>
                    <a:lstStyle/>
                    <a:p>
                      <a:r>
                        <a:rPr lang="en-IN" sz="2400" b="1">
                          <a:latin typeface="Times New Roman" panose="02020603050405020304" pitchFamily="18" charset="0"/>
                          <a:cs typeface="Times New Roman" panose="02020603050405020304" pitchFamily="18" charset="0"/>
                        </a:rPr>
                        <a:t>Size of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buNone/>
                      </a:pPr>
                      <a:r>
                        <a:rPr lang="en-IN" sz="2400" b="0" i="0" u="none" strike="noStrike" noProof="0"/>
                        <a:t>814 MB</a:t>
                      </a:r>
                      <a:endParaRPr lang="en-US" sz="24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762005652"/>
                  </a:ext>
                </a:extLst>
              </a:tr>
              <a:tr h="896152">
                <a:tc>
                  <a:txBody>
                    <a:bodyPr/>
                    <a:lstStyle/>
                    <a:p>
                      <a:r>
                        <a:rPr lang="en-IN" sz="2400" b="1">
                          <a:latin typeface="Times New Roman" panose="02020603050405020304" pitchFamily="18" charset="0"/>
                          <a:cs typeface="Times New Roman" panose="02020603050405020304" pitchFamily="18" charset="0"/>
                        </a:rPr>
                        <a:t>Number of Attributes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a:latin typeface="Times New Roman"/>
                          <a:cs typeface="Times New Roman"/>
                        </a:rPr>
                        <a:t>4</a:t>
                      </a:r>
                      <a:endParaRPr lang="en-IN" sz="2400" dirty="0">
                        <a:latin typeface="Times New Roman"/>
                        <a:cs typeface="Times New Roma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93287783"/>
                  </a:ext>
                </a:extLst>
              </a:tr>
              <a:tr h="1128304">
                <a:tc>
                  <a:txBody>
                    <a:bodyPr/>
                    <a:lstStyle/>
                    <a:p>
                      <a:pPr lvl="0">
                        <a:buNone/>
                      </a:pPr>
                      <a:r>
                        <a:rPr lang="en-IN" sz="2400" b="1">
                          <a:latin typeface="Times New Roman"/>
                          <a:cs typeface="Times New Roman"/>
                        </a:rPr>
                        <a:t>Attributes used</a:t>
                      </a:r>
                      <a:endParaRPr lang="en-US" sz="2400"/>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l">
                        <a:buNone/>
                      </a:pPr>
                      <a:r>
                        <a:rPr lang="en-US" sz="2400" b="0" i="0" u="none" strike="noStrike" noProof="0" dirty="0">
                          <a:solidFill>
                            <a:srgbClr val="C00000"/>
                          </a:solidFill>
                        </a:rPr>
                        <a:t>Id, District</a:t>
                      </a:r>
                      <a:r>
                        <a:rPr lang="en-US" sz="2400" b="0" i="0" u="none" strike="noStrike" noProof="0" dirty="0">
                          <a:solidFill>
                            <a:srgbClr val="C00000"/>
                          </a:solidFill>
                          <a:latin typeface="Calibri"/>
                          <a:ea typeface="Calibri"/>
                          <a:cs typeface="Calibri"/>
                        </a:rPr>
                        <a:t>, </a:t>
                      </a:r>
                      <a:r>
                        <a:rPr lang="en-US" sz="2400" b="0" i="0" u="none" strike="noStrike" noProof="0" dirty="0">
                          <a:solidFill>
                            <a:srgbClr val="C00000"/>
                          </a:solidFill>
                        </a:rPr>
                        <a:t>Text, </a:t>
                      </a:r>
                      <a:r>
                        <a:rPr lang="en-US" sz="2400" b="0" i="0" u="none" strike="noStrike" noProof="0" dirty="0">
                          <a:solidFill>
                            <a:srgbClr val="C00000"/>
                          </a:solidFill>
                          <a:latin typeface="Calibri"/>
                          <a:ea typeface="Calibri"/>
                          <a:cs typeface="Calibri"/>
                        </a:rPr>
                        <a:t>Label</a:t>
                      </a:r>
                      <a:r>
                        <a:rPr lang="en-US" sz="2400" b="0" i="0" u="none" strike="noStrike" noProof="0" dirty="0">
                          <a:solidFill>
                            <a:srgbClr val="C00000"/>
                          </a:solidFill>
                        </a:rPr>
                        <a:t> </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xmlns="" val="2253970585"/>
                  </a:ext>
                </a:extLst>
              </a:tr>
            </a:tbl>
          </a:graphicData>
        </a:graphic>
      </p:graphicFrame>
      <p:sp>
        <p:nvSpPr>
          <p:cNvPr id="6" name="TextBox 5"/>
          <p:cNvSpPr txBox="1"/>
          <p:nvPr/>
        </p:nvSpPr>
        <p:spPr>
          <a:xfrm>
            <a:off x="11799849" y="6435391"/>
            <a:ext cx="1219200" cy="369332"/>
          </a:xfrm>
          <a:prstGeom prst="rect">
            <a:avLst/>
          </a:prstGeom>
          <a:noFill/>
        </p:spPr>
        <p:txBody>
          <a:bodyPr wrap="square" rtlCol="0">
            <a:spAutoFit/>
          </a:bodyPr>
          <a:lstStyle/>
          <a:p>
            <a:r>
              <a:rPr lang="en-US" dirty="0" smtClean="0"/>
              <a:t>13</a:t>
            </a:r>
            <a:endParaRPr lang="en-IN" sz="2000" dirty="0"/>
          </a:p>
        </p:txBody>
      </p:sp>
    </p:spTree>
    <p:extLst>
      <p:ext uri="{BB962C8B-B14F-4D97-AF65-F5344CB8AC3E}">
        <p14:creationId xmlns:p14="http://schemas.microsoft.com/office/powerpoint/2010/main" val="3432883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2657CD4-C520-E709-FE86-819FC31DF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8F59847A-3F78-69BB-A122-FFED8EC57620}"/>
              </a:ext>
            </a:extLst>
          </p:cNvPr>
          <p:cNvSpPr>
            <a:spLocks noGrp="1"/>
          </p:cNvSpPr>
          <p:nvPr>
            <p:ph type="title"/>
          </p:nvPr>
        </p:nvSpPr>
        <p:spPr>
          <a:xfrm>
            <a:off x="4445426" y="-4138"/>
            <a:ext cx="3292708" cy="1325563"/>
          </a:xfrm>
        </p:spPr>
        <p:txBody>
          <a:bodyPr lIns="91440" tIns="45720" rIns="91440" bIns="45720" anchor="t">
            <a:normAutofit/>
          </a:bodyPr>
          <a:lstStyle/>
          <a:p>
            <a:r>
              <a:rPr lang="en-IN" sz="4800" b="1" u="sng">
                <a:latin typeface="Times New Roman"/>
                <a:cs typeface="Times New Roman"/>
              </a:rPr>
              <a:t>DATASET</a:t>
            </a:r>
          </a:p>
        </p:txBody>
      </p:sp>
      <p:pic>
        <p:nvPicPr>
          <p:cNvPr id="3" name="Picture 2">
            <a:extLst>
              <a:ext uri="{FF2B5EF4-FFF2-40B4-BE49-F238E27FC236}">
                <a16:creationId xmlns:a16="http://schemas.microsoft.com/office/drawing/2014/main" xmlns="" id="{B552F82C-C84C-45F9-8D11-953142FD4C41}"/>
              </a:ext>
            </a:extLst>
          </p:cNvPr>
          <p:cNvPicPr>
            <a:picLocks noChangeAspect="1"/>
          </p:cNvPicPr>
          <p:nvPr/>
        </p:nvPicPr>
        <p:blipFill>
          <a:blip r:embed="rId2"/>
          <a:srcRect r="128" b="-426"/>
          <a:stretch>
            <a:fillRect/>
          </a:stretch>
        </p:blipFill>
        <p:spPr>
          <a:xfrm>
            <a:off x="198228" y="2121739"/>
            <a:ext cx="11795537" cy="3577857"/>
          </a:xfrm>
          <a:prstGeom prst="rect">
            <a:avLst/>
          </a:prstGeom>
        </p:spPr>
      </p:pic>
      <p:sp>
        <p:nvSpPr>
          <p:cNvPr id="4" name="TextBox 3">
            <a:extLst>
              <a:ext uri="{FF2B5EF4-FFF2-40B4-BE49-F238E27FC236}">
                <a16:creationId xmlns:a16="http://schemas.microsoft.com/office/drawing/2014/main" xmlns="" id="{12A8FAB1-4C5A-2913-9547-6EA3E8DB2EA6}"/>
              </a:ext>
            </a:extLst>
          </p:cNvPr>
          <p:cNvSpPr txBox="1"/>
          <p:nvPr/>
        </p:nvSpPr>
        <p:spPr>
          <a:xfrm>
            <a:off x="203200" y="1203582"/>
            <a:ext cx="821167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First 5 rows of the dataset :</a:t>
            </a:r>
          </a:p>
        </p:txBody>
      </p:sp>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14</a:t>
            </a:r>
            <a:endParaRPr lang="en-IN" sz="2000" dirty="0"/>
          </a:p>
        </p:txBody>
      </p:sp>
    </p:spTree>
    <p:extLst>
      <p:ext uri="{BB962C8B-B14F-4D97-AF65-F5344CB8AC3E}">
        <p14:creationId xmlns:p14="http://schemas.microsoft.com/office/powerpoint/2010/main" val="38473758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AB8357A-DFDD-31EB-1D0D-BA3E323EE6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F3E7B452-6555-5E0C-AE73-3ECB591340FF}"/>
              </a:ext>
            </a:extLst>
          </p:cNvPr>
          <p:cNvSpPr>
            <a:spLocks noGrp="1"/>
          </p:cNvSpPr>
          <p:nvPr>
            <p:ph type="title"/>
          </p:nvPr>
        </p:nvSpPr>
        <p:spPr>
          <a:xfrm>
            <a:off x="445143" y="394216"/>
            <a:ext cx="4816708" cy="1325563"/>
          </a:xfrm>
        </p:spPr>
        <p:txBody>
          <a:bodyPr lIns="91440" tIns="45720" rIns="91440" bIns="45720" anchor="t">
            <a:normAutofit/>
          </a:bodyPr>
          <a:lstStyle/>
          <a:p>
            <a:pPr algn="l"/>
            <a:r>
              <a:rPr lang="en-IN" sz="3600" b="1" u="sng" dirty="0">
                <a:latin typeface="Times New Roman"/>
                <a:cs typeface="Times New Roman"/>
              </a:rPr>
              <a:t>METHODOLOGY :</a:t>
            </a:r>
            <a:endParaRPr lang="en-IN" sz="36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xmlns="" id="{F87CA12B-5705-6A60-80F3-E34BB02CEB31}"/>
              </a:ext>
            </a:extLst>
          </p:cNvPr>
          <p:cNvSpPr txBox="1"/>
          <p:nvPr/>
        </p:nvSpPr>
        <p:spPr>
          <a:xfrm>
            <a:off x="445143" y="1554805"/>
            <a:ext cx="11304337"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200" b="1" dirty="0">
                <a:ea typeface="Calibri"/>
                <a:cs typeface="Calibri"/>
              </a:rPr>
              <a:t>4 </a:t>
            </a:r>
            <a:r>
              <a:rPr lang="en-US" sz="3200" b="1" dirty="0" smtClean="0">
                <a:ea typeface="Calibri"/>
                <a:cs typeface="Calibri"/>
              </a:rPr>
              <a:t>Main Stages </a:t>
            </a:r>
            <a:r>
              <a:rPr lang="en-US" sz="3200" b="1" dirty="0">
                <a:ea typeface="Calibri"/>
                <a:cs typeface="Calibri"/>
              </a:rPr>
              <a:t>: </a:t>
            </a:r>
          </a:p>
          <a:p>
            <a:pPr marL="342900" indent="-342900">
              <a:lnSpc>
                <a:spcPct val="150000"/>
              </a:lnSpc>
              <a:buAutoNum type="arabicParenR"/>
            </a:pPr>
            <a:r>
              <a:rPr lang="en-US" sz="3200" dirty="0">
                <a:ea typeface="Calibri"/>
                <a:cs typeface="Calibri"/>
              </a:rPr>
              <a:t>Data Preparation</a:t>
            </a:r>
          </a:p>
          <a:p>
            <a:pPr marL="342900" indent="-342900">
              <a:lnSpc>
                <a:spcPct val="150000"/>
              </a:lnSpc>
              <a:buAutoNum type="arabicParenR"/>
            </a:pPr>
            <a:r>
              <a:rPr lang="en-US" sz="3200" dirty="0">
                <a:ea typeface="Calibri"/>
                <a:cs typeface="Calibri"/>
              </a:rPr>
              <a:t>Feature Engineering</a:t>
            </a:r>
          </a:p>
          <a:p>
            <a:pPr marL="342900" indent="-342900">
              <a:lnSpc>
                <a:spcPct val="150000"/>
              </a:lnSpc>
              <a:buAutoNum type="arabicParenR"/>
            </a:pPr>
            <a:r>
              <a:rPr lang="en-US" sz="3200" dirty="0">
                <a:ea typeface="Calibri"/>
                <a:cs typeface="Calibri"/>
              </a:rPr>
              <a:t>Modeling and Evaluation</a:t>
            </a:r>
          </a:p>
          <a:p>
            <a:pPr marL="342900" indent="-342900">
              <a:lnSpc>
                <a:spcPct val="150000"/>
              </a:lnSpc>
              <a:buAutoNum type="arabicParenR"/>
            </a:pPr>
            <a:r>
              <a:rPr lang="en-US" sz="3200" dirty="0">
                <a:ea typeface="Calibri"/>
                <a:cs typeface="Calibri"/>
              </a:rPr>
              <a:t>Analysis and Findings</a:t>
            </a:r>
          </a:p>
        </p:txBody>
      </p:sp>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15</a:t>
            </a:r>
            <a:endParaRPr lang="en-IN" sz="2000" dirty="0"/>
          </a:p>
        </p:txBody>
      </p:sp>
    </p:spTree>
    <p:extLst>
      <p:ext uri="{BB962C8B-B14F-4D97-AF65-F5344CB8AC3E}">
        <p14:creationId xmlns:p14="http://schemas.microsoft.com/office/powerpoint/2010/main" val="1172280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25504FB-BE47-8519-A762-18FFC97A056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7A2FB59C-5D88-AFC8-3712-2B825B7BE657}"/>
              </a:ext>
            </a:extLst>
          </p:cNvPr>
          <p:cNvSpPr txBox="1"/>
          <p:nvPr/>
        </p:nvSpPr>
        <p:spPr>
          <a:xfrm>
            <a:off x="859710" y="207879"/>
            <a:ext cx="1184536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PROPOSED ARCHITECTURE FOR NYAAYPREDICT</a:t>
            </a:r>
          </a:p>
        </p:txBody>
      </p:sp>
      <p:pic>
        <p:nvPicPr>
          <p:cNvPr id="2" name="Picture 1">
            <a:extLst>
              <a:ext uri="{FF2B5EF4-FFF2-40B4-BE49-F238E27FC236}">
                <a16:creationId xmlns:a16="http://schemas.microsoft.com/office/drawing/2014/main" xmlns="" id="{3FB59A5B-249F-A837-3603-26955F4AA41F}"/>
              </a:ext>
            </a:extLst>
          </p:cNvPr>
          <p:cNvPicPr>
            <a:picLocks noChangeAspect="1"/>
          </p:cNvPicPr>
          <p:nvPr/>
        </p:nvPicPr>
        <p:blipFill>
          <a:blip r:embed="rId2"/>
          <a:stretch>
            <a:fillRect/>
          </a:stretch>
        </p:blipFill>
        <p:spPr>
          <a:xfrm>
            <a:off x="707729" y="790755"/>
            <a:ext cx="10776542" cy="6067246"/>
          </a:xfrm>
          <a:prstGeom prst="rect">
            <a:avLst/>
          </a:prstGeom>
        </p:spPr>
      </p:pic>
      <p:sp>
        <p:nvSpPr>
          <p:cNvPr id="4" name="TextBox 3"/>
          <p:cNvSpPr txBox="1"/>
          <p:nvPr/>
        </p:nvSpPr>
        <p:spPr>
          <a:xfrm>
            <a:off x="11462198" y="6310648"/>
            <a:ext cx="1219200" cy="400110"/>
          </a:xfrm>
          <a:prstGeom prst="rect">
            <a:avLst/>
          </a:prstGeom>
          <a:noFill/>
        </p:spPr>
        <p:txBody>
          <a:bodyPr wrap="square" rtlCol="0">
            <a:spAutoFit/>
          </a:bodyPr>
          <a:lstStyle/>
          <a:p>
            <a:r>
              <a:rPr lang="en-US" sz="2000" dirty="0" smtClean="0"/>
              <a:t>16</a:t>
            </a:r>
            <a:endParaRPr lang="en-IN" sz="2000" dirty="0"/>
          </a:p>
        </p:txBody>
      </p:sp>
    </p:spTree>
    <p:extLst>
      <p:ext uri="{BB962C8B-B14F-4D97-AF65-F5344CB8AC3E}">
        <p14:creationId xmlns:p14="http://schemas.microsoft.com/office/powerpoint/2010/main" val="27613645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6C8E1F-7DA4-139E-A0B5-DA466DC03B6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E5604A3D-55B9-368E-ECB8-888338B24CEF}"/>
              </a:ext>
            </a:extLst>
          </p:cNvPr>
          <p:cNvSpPr txBox="1"/>
          <p:nvPr/>
        </p:nvSpPr>
        <p:spPr>
          <a:xfrm>
            <a:off x="342125" y="135992"/>
            <a:ext cx="118453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ea typeface="Calibri"/>
                <a:cs typeface="Calibri"/>
              </a:rPr>
              <a:t>FEATURE ENGINEERING : </a:t>
            </a:r>
            <a:endParaRPr lang="en-US" sz="3600" b="1" dirty="0">
              <a:ea typeface="Calibri"/>
              <a:cs typeface="Calibri"/>
            </a:endParaRPr>
          </a:p>
        </p:txBody>
      </p:sp>
      <p:sp>
        <p:nvSpPr>
          <p:cNvPr id="3" name="TextBox 2">
            <a:extLst>
              <a:ext uri="{FF2B5EF4-FFF2-40B4-BE49-F238E27FC236}">
                <a16:creationId xmlns:a16="http://schemas.microsoft.com/office/drawing/2014/main" xmlns="" id="{91E39379-C7B4-6364-0FB6-EE424E4C4300}"/>
              </a:ext>
            </a:extLst>
          </p:cNvPr>
          <p:cNvSpPr txBox="1"/>
          <p:nvPr/>
        </p:nvSpPr>
        <p:spPr>
          <a:xfrm>
            <a:off x="336935" y="876262"/>
            <a:ext cx="6447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1) TF-IDF for Base Model :</a:t>
            </a:r>
          </a:p>
        </p:txBody>
      </p:sp>
      <p:pic>
        <p:nvPicPr>
          <p:cNvPr id="2" name="Picture 1">
            <a:extLst>
              <a:ext uri="{FF2B5EF4-FFF2-40B4-BE49-F238E27FC236}">
                <a16:creationId xmlns:a16="http://schemas.microsoft.com/office/drawing/2014/main" xmlns="" id="{DDCB4FE6-652C-0833-86AC-152BEA97E45C}"/>
              </a:ext>
            </a:extLst>
          </p:cNvPr>
          <p:cNvPicPr>
            <a:picLocks noChangeAspect="1"/>
          </p:cNvPicPr>
          <p:nvPr/>
        </p:nvPicPr>
        <p:blipFill>
          <a:blip r:embed="rId2"/>
          <a:stretch>
            <a:fillRect/>
          </a:stretch>
        </p:blipFill>
        <p:spPr>
          <a:xfrm>
            <a:off x="671422" y="1495425"/>
            <a:ext cx="10029645" cy="4988583"/>
          </a:xfrm>
          <a:prstGeom prst="rect">
            <a:avLst/>
          </a:prstGeom>
        </p:spPr>
      </p:pic>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17</a:t>
            </a:r>
            <a:endParaRPr lang="en-IN" sz="2000" dirty="0"/>
          </a:p>
        </p:txBody>
      </p:sp>
    </p:spTree>
    <p:extLst>
      <p:ext uri="{BB962C8B-B14F-4D97-AF65-F5344CB8AC3E}">
        <p14:creationId xmlns:p14="http://schemas.microsoft.com/office/powerpoint/2010/main" val="2207905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DD4E40C-9450-8082-0070-B6C41F5723B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8D60F93B-1DAD-00A3-4352-A9057D1CE6F5}"/>
              </a:ext>
            </a:extLst>
          </p:cNvPr>
          <p:cNvSpPr txBox="1"/>
          <p:nvPr/>
        </p:nvSpPr>
        <p:spPr>
          <a:xfrm>
            <a:off x="342125" y="135992"/>
            <a:ext cx="118453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ea typeface="Calibri"/>
                <a:cs typeface="Calibri"/>
              </a:rPr>
              <a:t>FEATURE ENGINEERING : </a:t>
            </a:r>
            <a:endParaRPr lang="en-US" sz="3600" b="1" dirty="0">
              <a:ea typeface="Calibri"/>
              <a:cs typeface="Calibri"/>
            </a:endParaRPr>
          </a:p>
        </p:txBody>
      </p:sp>
      <p:sp>
        <p:nvSpPr>
          <p:cNvPr id="3" name="TextBox 2">
            <a:extLst>
              <a:ext uri="{FF2B5EF4-FFF2-40B4-BE49-F238E27FC236}">
                <a16:creationId xmlns:a16="http://schemas.microsoft.com/office/drawing/2014/main" xmlns="" id="{9AEA9278-9FF2-96BC-72E8-25D951BA1154}"/>
              </a:ext>
            </a:extLst>
          </p:cNvPr>
          <p:cNvSpPr txBox="1"/>
          <p:nvPr/>
        </p:nvSpPr>
        <p:spPr>
          <a:xfrm>
            <a:off x="336935" y="876262"/>
            <a:ext cx="6447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1) TF-IDF for Base Model :</a:t>
            </a:r>
          </a:p>
        </p:txBody>
      </p:sp>
      <p:pic>
        <p:nvPicPr>
          <p:cNvPr id="4" name="Picture 3">
            <a:extLst>
              <a:ext uri="{FF2B5EF4-FFF2-40B4-BE49-F238E27FC236}">
                <a16:creationId xmlns:a16="http://schemas.microsoft.com/office/drawing/2014/main" xmlns="" id="{C99C815B-CBC1-AC37-17F9-286D5BCAB872}"/>
              </a:ext>
            </a:extLst>
          </p:cNvPr>
          <p:cNvPicPr>
            <a:picLocks noChangeAspect="1"/>
          </p:cNvPicPr>
          <p:nvPr/>
        </p:nvPicPr>
        <p:blipFill>
          <a:blip r:embed="rId2"/>
          <a:stretch>
            <a:fillRect/>
          </a:stretch>
        </p:blipFill>
        <p:spPr>
          <a:xfrm>
            <a:off x="805042" y="1561291"/>
            <a:ext cx="10179349" cy="4655568"/>
          </a:xfrm>
          <a:prstGeom prst="rect">
            <a:avLst/>
          </a:prstGeom>
        </p:spPr>
      </p:pic>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18</a:t>
            </a:r>
            <a:endParaRPr lang="en-IN" sz="2000" dirty="0"/>
          </a:p>
        </p:txBody>
      </p:sp>
    </p:spTree>
    <p:extLst>
      <p:ext uri="{BB962C8B-B14F-4D97-AF65-F5344CB8AC3E}">
        <p14:creationId xmlns:p14="http://schemas.microsoft.com/office/powerpoint/2010/main" val="4066136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CC2DE19-2DBD-F95E-BAD9-FE6944700A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1AD27190-62C2-844B-5AA6-22958EDA1767}"/>
              </a:ext>
            </a:extLst>
          </p:cNvPr>
          <p:cNvSpPr txBox="1"/>
          <p:nvPr/>
        </p:nvSpPr>
        <p:spPr>
          <a:xfrm>
            <a:off x="342125" y="135992"/>
            <a:ext cx="118453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ea typeface="Calibri"/>
                <a:cs typeface="Calibri"/>
              </a:rPr>
              <a:t>FEATURE ENGINEERING : </a:t>
            </a:r>
            <a:endParaRPr lang="en-US" sz="3600" b="1" dirty="0">
              <a:ea typeface="Calibri"/>
              <a:cs typeface="Calibri"/>
            </a:endParaRPr>
          </a:p>
        </p:txBody>
      </p:sp>
      <p:sp>
        <p:nvSpPr>
          <p:cNvPr id="3" name="TextBox 2">
            <a:extLst>
              <a:ext uri="{FF2B5EF4-FFF2-40B4-BE49-F238E27FC236}">
                <a16:creationId xmlns:a16="http://schemas.microsoft.com/office/drawing/2014/main" xmlns="" id="{3BAF004D-D4DA-55F4-DF0F-88716741403F}"/>
              </a:ext>
            </a:extLst>
          </p:cNvPr>
          <p:cNvSpPr txBox="1"/>
          <p:nvPr/>
        </p:nvSpPr>
        <p:spPr>
          <a:xfrm>
            <a:off x="336935" y="876262"/>
            <a:ext cx="6447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2) Embedding for </a:t>
            </a:r>
            <a:r>
              <a:rPr lang="en-US" sz="2800" b="1" dirty="0" err="1">
                <a:ea typeface="Calibri"/>
                <a:cs typeface="Calibri"/>
              </a:rPr>
              <a:t>InLegalBERT</a:t>
            </a:r>
            <a:r>
              <a:rPr lang="en-US" sz="2800" b="1" dirty="0">
                <a:ea typeface="Calibri"/>
                <a:cs typeface="Calibri"/>
              </a:rPr>
              <a:t> :</a:t>
            </a:r>
          </a:p>
        </p:txBody>
      </p:sp>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19</a:t>
            </a:r>
            <a:endParaRPr lang="en-IN" sz="2000" dirty="0"/>
          </a:p>
        </p:txBody>
      </p:sp>
      <p:pic>
        <p:nvPicPr>
          <p:cNvPr id="2" name="Picture 1"/>
          <p:cNvPicPr>
            <a:picLocks noChangeAspect="1"/>
          </p:cNvPicPr>
          <p:nvPr/>
        </p:nvPicPr>
        <p:blipFill>
          <a:blip r:embed="rId2"/>
          <a:stretch>
            <a:fillRect/>
          </a:stretch>
        </p:blipFill>
        <p:spPr>
          <a:xfrm>
            <a:off x="780780" y="1398599"/>
            <a:ext cx="9329135" cy="5106116"/>
          </a:xfrm>
          <a:prstGeom prst="rect">
            <a:avLst/>
          </a:prstGeom>
        </p:spPr>
      </p:pic>
    </p:spTree>
    <p:extLst>
      <p:ext uri="{BB962C8B-B14F-4D97-AF65-F5344CB8AC3E}">
        <p14:creationId xmlns:p14="http://schemas.microsoft.com/office/powerpoint/2010/main" val="38922521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5355FD4-2546-651F-D46D-C644930E23D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F45F3441-FF75-D84A-C135-18CB0B1E6C74}"/>
              </a:ext>
            </a:extLst>
          </p:cNvPr>
          <p:cNvSpPr txBox="1"/>
          <p:nvPr/>
        </p:nvSpPr>
        <p:spPr>
          <a:xfrm>
            <a:off x="342125" y="135992"/>
            <a:ext cx="118453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ea typeface="Calibri"/>
                <a:cs typeface="Calibri"/>
              </a:rPr>
              <a:t>MODEL BUILDING : </a:t>
            </a:r>
            <a:endParaRPr lang="en-US" sz="3600" b="1" dirty="0">
              <a:ea typeface="Calibri"/>
              <a:cs typeface="Calibri"/>
            </a:endParaRPr>
          </a:p>
        </p:txBody>
      </p:sp>
      <p:sp>
        <p:nvSpPr>
          <p:cNvPr id="3" name="TextBox 2">
            <a:extLst>
              <a:ext uri="{FF2B5EF4-FFF2-40B4-BE49-F238E27FC236}">
                <a16:creationId xmlns:a16="http://schemas.microsoft.com/office/drawing/2014/main" xmlns="" id="{6F92EC91-453A-638B-CCD4-21E27B132B3A}"/>
              </a:ext>
            </a:extLst>
          </p:cNvPr>
          <p:cNvSpPr txBox="1"/>
          <p:nvPr/>
        </p:nvSpPr>
        <p:spPr>
          <a:xfrm>
            <a:off x="336935" y="876262"/>
            <a:ext cx="6447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ea typeface="Calibri"/>
                <a:cs typeface="Calibri"/>
              </a:rPr>
              <a:t>1) Logistic Regression (BASE MODEL) : </a:t>
            </a:r>
          </a:p>
        </p:txBody>
      </p:sp>
      <p:pic>
        <p:nvPicPr>
          <p:cNvPr id="4" name="Picture 3">
            <a:extLst>
              <a:ext uri="{FF2B5EF4-FFF2-40B4-BE49-F238E27FC236}">
                <a16:creationId xmlns:a16="http://schemas.microsoft.com/office/drawing/2014/main" xmlns="" id="{A0E2FD79-E757-DBE6-2CE1-ED261A60AAAE}"/>
              </a:ext>
            </a:extLst>
          </p:cNvPr>
          <p:cNvPicPr>
            <a:picLocks noChangeAspect="1"/>
          </p:cNvPicPr>
          <p:nvPr/>
        </p:nvPicPr>
        <p:blipFill>
          <a:blip r:embed="rId2"/>
          <a:stretch>
            <a:fillRect/>
          </a:stretch>
        </p:blipFill>
        <p:spPr>
          <a:xfrm>
            <a:off x="698021" y="1488955"/>
            <a:ext cx="10134600" cy="4857750"/>
          </a:xfrm>
          <a:prstGeom prst="rect">
            <a:avLst/>
          </a:prstGeom>
        </p:spPr>
      </p:pic>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20</a:t>
            </a:r>
            <a:endParaRPr lang="en-IN" sz="2000" dirty="0"/>
          </a:p>
        </p:txBody>
      </p:sp>
    </p:spTree>
    <p:extLst>
      <p:ext uri="{BB962C8B-B14F-4D97-AF65-F5344CB8AC3E}">
        <p14:creationId xmlns:p14="http://schemas.microsoft.com/office/powerpoint/2010/main" val="2909123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5C7C9D0-DA83-E194-5672-BD4AEFF01BB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BA2C4A3D-7BCB-648F-79D0-98450E4ADAED}"/>
              </a:ext>
            </a:extLst>
          </p:cNvPr>
          <p:cNvSpPr txBox="1"/>
          <p:nvPr/>
        </p:nvSpPr>
        <p:spPr>
          <a:xfrm>
            <a:off x="342125" y="135992"/>
            <a:ext cx="118453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ea typeface="Calibri"/>
                <a:cs typeface="Calibri"/>
              </a:rPr>
              <a:t>MODEL BUILDING : </a:t>
            </a:r>
            <a:endParaRPr lang="en-US" sz="3600" b="1" dirty="0">
              <a:ea typeface="Calibri"/>
              <a:cs typeface="Calibri"/>
            </a:endParaRPr>
          </a:p>
        </p:txBody>
      </p:sp>
      <p:sp>
        <p:nvSpPr>
          <p:cNvPr id="3" name="TextBox 2">
            <a:extLst>
              <a:ext uri="{FF2B5EF4-FFF2-40B4-BE49-F238E27FC236}">
                <a16:creationId xmlns:a16="http://schemas.microsoft.com/office/drawing/2014/main" xmlns="" id="{43B54B0E-3F31-765A-EB23-E4C639C7E195}"/>
              </a:ext>
            </a:extLst>
          </p:cNvPr>
          <p:cNvSpPr txBox="1"/>
          <p:nvPr/>
        </p:nvSpPr>
        <p:spPr>
          <a:xfrm>
            <a:off x="336935" y="876262"/>
            <a:ext cx="6447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2) </a:t>
            </a:r>
            <a:r>
              <a:rPr lang="en-US" sz="2800" b="1" dirty="0" err="1">
                <a:ea typeface="Calibri"/>
                <a:cs typeface="Calibri"/>
              </a:rPr>
              <a:t>InLegalBERT</a:t>
            </a:r>
            <a:r>
              <a:rPr lang="en-US" sz="2800" b="1" dirty="0">
                <a:ea typeface="Calibri"/>
                <a:cs typeface="Calibri"/>
              </a:rPr>
              <a:t> : </a:t>
            </a:r>
          </a:p>
        </p:txBody>
      </p:sp>
      <p:pic>
        <p:nvPicPr>
          <p:cNvPr id="2" name="Picture 1">
            <a:extLst>
              <a:ext uri="{FF2B5EF4-FFF2-40B4-BE49-F238E27FC236}">
                <a16:creationId xmlns:a16="http://schemas.microsoft.com/office/drawing/2014/main" xmlns="" id="{29B514B8-D337-0EC2-C389-F3F74664AB90}"/>
              </a:ext>
            </a:extLst>
          </p:cNvPr>
          <p:cNvPicPr>
            <a:picLocks noChangeAspect="1"/>
          </p:cNvPicPr>
          <p:nvPr/>
        </p:nvPicPr>
        <p:blipFill>
          <a:blip r:embed="rId2"/>
          <a:stretch>
            <a:fillRect/>
          </a:stretch>
        </p:blipFill>
        <p:spPr>
          <a:xfrm>
            <a:off x="750588" y="1391908"/>
            <a:ext cx="10949616" cy="4864938"/>
          </a:xfrm>
          <a:prstGeom prst="rect">
            <a:avLst/>
          </a:prstGeom>
        </p:spPr>
      </p:pic>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21</a:t>
            </a:r>
            <a:endParaRPr lang="en-IN" sz="2000" dirty="0"/>
          </a:p>
        </p:txBody>
      </p:sp>
    </p:spTree>
    <p:extLst>
      <p:ext uri="{BB962C8B-B14F-4D97-AF65-F5344CB8AC3E}">
        <p14:creationId xmlns:p14="http://schemas.microsoft.com/office/powerpoint/2010/main" val="8487833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BAA46AD-73BE-9513-D15E-7C93DC60BB7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xmlns="" id="{2B7D1457-E56D-AF15-DBBA-4069F4931D3A}"/>
              </a:ext>
            </a:extLst>
          </p:cNvPr>
          <p:cNvSpPr txBox="1"/>
          <p:nvPr/>
        </p:nvSpPr>
        <p:spPr>
          <a:xfrm>
            <a:off x="342125" y="135992"/>
            <a:ext cx="1184536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dirty="0">
                <a:ea typeface="Calibri"/>
                <a:cs typeface="Calibri"/>
              </a:rPr>
              <a:t>MODEL BUILDING : </a:t>
            </a:r>
          </a:p>
        </p:txBody>
      </p:sp>
      <p:sp>
        <p:nvSpPr>
          <p:cNvPr id="3" name="TextBox 2">
            <a:extLst>
              <a:ext uri="{FF2B5EF4-FFF2-40B4-BE49-F238E27FC236}">
                <a16:creationId xmlns:a16="http://schemas.microsoft.com/office/drawing/2014/main" xmlns="" id="{F837F329-EC8C-97CD-2F99-05026C9573B0}"/>
              </a:ext>
            </a:extLst>
          </p:cNvPr>
          <p:cNvSpPr txBox="1"/>
          <p:nvPr/>
        </p:nvSpPr>
        <p:spPr>
          <a:xfrm>
            <a:off x="336935" y="876262"/>
            <a:ext cx="644791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ea typeface="Calibri"/>
                <a:cs typeface="Calibri"/>
              </a:rPr>
              <a:t>2) </a:t>
            </a:r>
            <a:r>
              <a:rPr lang="en-US" sz="2800" b="1" dirty="0" err="1">
                <a:ea typeface="Calibri"/>
                <a:cs typeface="Calibri"/>
              </a:rPr>
              <a:t>InLegalBERT</a:t>
            </a:r>
            <a:r>
              <a:rPr lang="en-US" sz="2800" b="1" dirty="0">
                <a:ea typeface="Calibri"/>
                <a:cs typeface="Calibri"/>
              </a:rPr>
              <a:t> : </a:t>
            </a:r>
          </a:p>
        </p:txBody>
      </p:sp>
      <p:pic>
        <p:nvPicPr>
          <p:cNvPr id="4" name="Picture 3">
            <a:extLst>
              <a:ext uri="{FF2B5EF4-FFF2-40B4-BE49-F238E27FC236}">
                <a16:creationId xmlns:a16="http://schemas.microsoft.com/office/drawing/2014/main" xmlns="" id="{82529DF5-146F-7C8B-C0B8-73155B178CF6}"/>
              </a:ext>
            </a:extLst>
          </p:cNvPr>
          <p:cNvPicPr>
            <a:picLocks noChangeAspect="1"/>
          </p:cNvPicPr>
          <p:nvPr/>
        </p:nvPicPr>
        <p:blipFill>
          <a:blip r:embed="rId2"/>
          <a:stretch>
            <a:fillRect/>
          </a:stretch>
        </p:blipFill>
        <p:spPr>
          <a:xfrm>
            <a:off x="827327" y="2005013"/>
            <a:ext cx="10824892" cy="3049258"/>
          </a:xfrm>
          <a:prstGeom prst="rect">
            <a:avLst/>
          </a:prstGeom>
        </p:spPr>
      </p:pic>
      <p:sp>
        <p:nvSpPr>
          <p:cNvPr id="6" name="TextBox 5"/>
          <p:cNvSpPr txBox="1"/>
          <p:nvPr/>
        </p:nvSpPr>
        <p:spPr>
          <a:xfrm>
            <a:off x="11462198" y="6310648"/>
            <a:ext cx="1219200" cy="400110"/>
          </a:xfrm>
          <a:prstGeom prst="rect">
            <a:avLst/>
          </a:prstGeom>
          <a:noFill/>
        </p:spPr>
        <p:txBody>
          <a:bodyPr wrap="square" rtlCol="0">
            <a:spAutoFit/>
          </a:bodyPr>
          <a:lstStyle/>
          <a:p>
            <a:r>
              <a:rPr lang="en-US" sz="2000" dirty="0" smtClean="0"/>
              <a:t>22</a:t>
            </a:r>
            <a:endParaRPr lang="en-IN" sz="2000" dirty="0"/>
          </a:p>
        </p:txBody>
      </p:sp>
    </p:spTree>
    <p:extLst>
      <p:ext uri="{BB962C8B-B14F-4D97-AF65-F5344CB8AC3E}">
        <p14:creationId xmlns:p14="http://schemas.microsoft.com/office/powerpoint/2010/main" val="526338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7BCBD4EC-6038-FB87-DF1C-2AF80CEEB018}"/>
              </a:ext>
            </a:extLst>
          </p:cNvPr>
          <p:cNvPicPr>
            <a:picLocks noGrp="1" noChangeAspect="1"/>
          </p:cNvPicPr>
          <p:nvPr>
            <p:ph idx="1"/>
          </p:nvPr>
        </p:nvPicPr>
        <p:blipFill>
          <a:blip r:embed="rId2"/>
          <a:stretch>
            <a:fillRect/>
          </a:stretch>
        </p:blipFill>
        <p:spPr>
          <a:xfrm>
            <a:off x="288356" y="905580"/>
            <a:ext cx="11615287" cy="5731353"/>
          </a:xfrm>
          <a:prstGeom prst="rect">
            <a:avLst/>
          </a:prstGeom>
        </p:spPr>
      </p:pic>
      <p:sp>
        <p:nvSpPr>
          <p:cNvPr id="5" name="TextBox 4"/>
          <p:cNvSpPr txBox="1"/>
          <p:nvPr/>
        </p:nvSpPr>
        <p:spPr>
          <a:xfrm>
            <a:off x="11582400" y="6457890"/>
            <a:ext cx="1219200" cy="400110"/>
          </a:xfrm>
          <a:prstGeom prst="rect">
            <a:avLst/>
          </a:prstGeom>
          <a:noFill/>
        </p:spPr>
        <p:txBody>
          <a:bodyPr wrap="square" rtlCol="0">
            <a:spAutoFit/>
          </a:bodyPr>
          <a:lstStyle/>
          <a:p>
            <a:r>
              <a:rPr lang="en-US" sz="2000" dirty="0" smtClean="0"/>
              <a:t>23</a:t>
            </a:r>
            <a:endParaRPr lang="en-IN" sz="2000" dirty="0"/>
          </a:p>
        </p:txBody>
      </p:sp>
      <p:sp>
        <p:nvSpPr>
          <p:cNvPr id="3" name="Title 2"/>
          <p:cNvSpPr>
            <a:spLocks noGrp="1"/>
          </p:cNvSpPr>
          <p:nvPr>
            <p:ph type="title"/>
          </p:nvPr>
        </p:nvSpPr>
        <p:spPr/>
        <p:txBody>
          <a:bodyPr/>
          <a:lstStyle/>
          <a:p>
            <a:r>
              <a:rPr lang="en-US" dirty="0" smtClean="0"/>
              <a:t>,                                         </a:t>
            </a:r>
            <a:endParaRPr lang="en-IN" dirty="0"/>
          </a:p>
        </p:txBody>
      </p:sp>
      <p:sp>
        <p:nvSpPr>
          <p:cNvPr id="6" name="TextBox 5"/>
          <p:cNvSpPr txBox="1"/>
          <p:nvPr/>
        </p:nvSpPr>
        <p:spPr>
          <a:xfrm>
            <a:off x="288356" y="259249"/>
            <a:ext cx="9332721" cy="646331"/>
          </a:xfrm>
          <a:prstGeom prst="rect">
            <a:avLst/>
          </a:prstGeom>
          <a:noFill/>
        </p:spPr>
        <p:txBody>
          <a:bodyPr wrap="square" rtlCol="0">
            <a:spAutoFit/>
          </a:bodyPr>
          <a:lstStyle/>
          <a:p>
            <a:r>
              <a:rPr lang="en-US" sz="3600" b="1" dirty="0" smtClean="0"/>
              <a:t>MODEL EVALUATION</a:t>
            </a:r>
            <a:endParaRPr lang="en-IN" sz="3600" b="1" dirty="0"/>
          </a:p>
        </p:txBody>
      </p:sp>
    </p:spTree>
    <p:extLst>
      <p:ext uri="{BB962C8B-B14F-4D97-AF65-F5344CB8AC3E}">
        <p14:creationId xmlns:p14="http://schemas.microsoft.com/office/powerpoint/2010/main" val="295900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8371711-59A6-1745-DC5C-BF810F76DA7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05B53F7F-34E1-05F5-685C-841F8BDA8489}"/>
              </a:ext>
            </a:extLst>
          </p:cNvPr>
          <p:cNvSpPr txBox="1"/>
          <p:nvPr/>
        </p:nvSpPr>
        <p:spPr>
          <a:xfrm>
            <a:off x="131482" y="169766"/>
            <a:ext cx="11929035" cy="639694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3600" b="1" u="sng">
                <a:latin typeface="Times New Roman"/>
                <a:ea typeface="+mn-lt"/>
                <a:cs typeface="Times New Roman"/>
              </a:rPr>
              <a:t>CONCLUSION : </a:t>
            </a:r>
            <a:endParaRPr lang="en-US" sz="3600" b="1" u="sng">
              <a:latin typeface="Calibri" panose="020F0502020204030204"/>
              <a:ea typeface="+mn-lt"/>
              <a:cs typeface="Calibri" panose="020F0502020204030204"/>
            </a:endParaRPr>
          </a:p>
          <a:p>
            <a:pPr algn="just">
              <a:lnSpc>
                <a:spcPct val="150000"/>
              </a:lnSpc>
            </a:pPr>
            <a:r>
              <a:rPr lang="en-US" sz="2400" b="1" dirty="0">
                <a:ea typeface="+mn-lt"/>
                <a:cs typeface="+mn-lt"/>
              </a:rPr>
              <a:t>Problem:</a:t>
            </a:r>
            <a:r>
              <a:rPr lang="en-US" sz="2400" dirty="0">
                <a:ea typeface="+mn-lt"/>
                <a:cs typeface="+mn-lt"/>
              </a:rPr>
              <a:t> Existing models predict SC judgments off the judge's reasoning, not the actual facts/arguments and also pools all case types together</a:t>
            </a:r>
            <a:endParaRPr lang="en-US" sz="2400" dirty="0">
              <a:ea typeface="Calibri" panose="020F0502020204030204"/>
              <a:cs typeface="Calibri" panose="020F0502020204030204"/>
            </a:endParaRPr>
          </a:p>
          <a:p>
            <a:pPr algn="just">
              <a:lnSpc>
                <a:spcPct val="150000"/>
              </a:lnSpc>
            </a:pPr>
            <a:endParaRPr lang="en-US" sz="2400" dirty="0">
              <a:ea typeface="+mn-lt"/>
              <a:cs typeface="+mn-lt"/>
            </a:endParaRPr>
          </a:p>
          <a:p>
            <a:pPr algn="just">
              <a:lnSpc>
                <a:spcPct val="150000"/>
              </a:lnSpc>
            </a:pPr>
            <a:r>
              <a:rPr lang="en-US" sz="2400" b="1" dirty="0">
                <a:ea typeface="+mn-lt"/>
                <a:cs typeface="+mn-lt"/>
              </a:rPr>
              <a:t>What to do:</a:t>
            </a:r>
            <a:r>
              <a:rPr lang="en-US" sz="2400" dirty="0">
                <a:ea typeface="+mn-lt"/>
                <a:cs typeface="+mn-lt"/>
              </a:rPr>
              <a:t> </a:t>
            </a:r>
            <a:r>
              <a:rPr lang="en-US" sz="2400">
                <a:ea typeface="+mn-lt"/>
                <a:cs typeface="+mn-lt"/>
              </a:rPr>
              <a:t>This project</a:t>
            </a:r>
            <a:r>
              <a:rPr lang="en-US" sz="2400" b="1">
                <a:ea typeface="+mn-lt"/>
                <a:cs typeface="+mn-lt"/>
              </a:rPr>
              <a:t> </a:t>
            </a:r>
            <a:r>
              <a:rPr lang="en-US" sz="2400">
                <a:ea typeface="+mn-lt"/>
                <a:cs typeface="+mn-lt"/>
              </a:rPr>
              <a:t>predicts outcomes using only facts &amp; arguments, and tests whether </a:t>
            </a:r>
            <a:r>
              <a:rPr lang="en-US" sz="2400" dirty="0">
                <a:ea typeface="+mn-lt"/>
                <a:cs typeface="+mn-lt"/>
              </a:rPr>
              <a:t>splitting cases by type improves accuracy.</a:t>
            </a:r>
            <a:endParaRPr lang="en-US" sz="2400">
              <a:ea typeface="Calibri" panose="020F0502020204030204"/>
              <a:cs typeface="Calibri" panose="020F0502020204030204"/>
            </a:endParaRPr>
          </a:p>
          <a:p>
            <a:pPr algn="just">
              <a:lnSpc>
                <a:spcPct val="150000"/>
              </a:lnSpc>
            </a:pPr>
            <a:endParaRPr lang="en-US" sz="2400" dirty="0">
              <a:ea typeface="+mn-lt"/>
              <a:cs typeface="+mn-lt"/>
            </a:endParaRPr>
          </a:p>
          <a:p>
            <a:pPr algn="just">
              <a:lnSpc>
                <a:spcPct val="150000"/>
              </a:lnSpc>
            </a:pPr>
            <a:r>
              <a:rPr lang="en-US" sz="2400" b="1" dirty="0">
                <a:ea typeface="+mn-lt"/>
                <a:cs typeface="+mn-lt"/>
              </a:rPr>
              <a:t>How to do it:</a:t>
            </a:r>
            <a:r>
              <a:rPr lang="en-US" sz="2400" dirty="0">
                <a:ea typeface="+mn-lt"/>
                <a:cs typeface="+mn-lt"/>
              </a:rPr>
              <a:t> Train  </a:t>
            </a:r>
            <a:r>
              <a:rPr lang="en-US" sz="2400" b="1" dirty="0" err="1">
                <a:ea typeface="+mn-lt"/>
                <a:cs typeface="+mn-lt"/>
              </a:rPr>
              <a:t>InLegalBERT</a:t>
            </a:r>
            <a:r>
              <a:rPr lang="en-US" sz="2400" dirty="0">
                <a:ea typeface="+mn-lt"/>
                <a:cs typeface="+mn-lt"/>
              </a:rPr>
              <a:t> on the </a:t>
            </a:r>
            <a:r>
              <a:rPr lang="en-US" sz="2400" b="1" dirty="0">
                <a:ea typeface="+mn-lt"/>
                <a:cs typeface="+mn-lt"/>
              </a:rPr>
              <a:t>ILDC dataset</a:t>
            </a:r>
            <a:r>
              <a:rPr lang="en-US" sz="2400" dirty="0">
                <a:ea typeface="+mn-lt"/>
                <a:cs typeface="+mn-lt"/>
              </a:rPr>
              <a:t> (34,816 cases). Remove reasoning, engineer features, train &amp; evaluate (Accuracy, Precision, Recall, F1) against a Logistic Regression baseline model.</a:t>
            </a:r>
            <a:endParaRPr lang="en-US" sz="2400" dirty="0">
              <a:ea typeface="Calibri" panose="020F0502020204030204"/>
              <a:cs typeface="Calibri" panose="020F0502020204030204"/>
            </a:endParaRPr>
          </a:p>
          <a:p>
            <a:pPr algn="just">
              <a:lnSpc>
                <a:spcPct val="150000"/>
              </a:lnSpc>
            </a:pPr>
            <a:endParaRPr lang="en-US" sz="2400" b="1" dirty="0">
              <a:latin typeface="Times New Roman"/>
              <a:ea typeface="Calibri"/>
              <a:cs typeface="Times New Roman"/>
            </a:endParaRPr>
          </a:p>
        </p:txBody>
      </p:sp>
      <p:sp>
        <p:nvSpPr>
          <p:cNvPr id="3" name="TextBox 2"/>
          <p:cNvSpPr txBox="1"/>
          <p:nvPr/>
        </p:nvSpPr>
        <p:spPr>
          <a:xfrm>
            <a:off x="11462198" y="6310648"/>
            <a:ext cx="1219200" cy="400110"/>
          </a:xfrm>
          <a:prstGeom prst="rect">
            <a:avLst/>
          </a:prstGeom>
          <a:noFill/>
        </p:spPr>
        <p:txBody>
          <a:bodyPr wrap="square" rtlCol="0">
            <a:spAutoFit/>
          </a:bodyPr>
          <a:lstStyle/>
          <a:p>
            <a:r>
              <a:rPr lang="en-US" sz="2000" dirty="0" smtClean="0"/>
              <a:t>24</a:t>
            </a:r>
            <a:endParaRPr lang="en-IN" sz="2000" dirty="0"/>
          </a:p>
        </p:txBody>
      </p:sp>
    </p:spTree>
    <p:extLst>
      <p:ext uri="{BB962C8B-B14F-4D97-AF65-F5344CB8AC3E}">
        <p14:creationId xmlns:p14="http://schemas.microsoft.com/office/powerpoint/2010/main" val="1028848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F471E9F-6827-B9B1-288A-D5ADD3968D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xmlns="" id="{104D67E4-5155-AB8C-19DB-9F158E70296D}"/>
              </a:ext>
            </a:extLst>
          </p:cNvPr>
          <p:cNvSpPr txBox="1"/>
          <p:nvPr/>
        </p:nvSpPr>
        <p:spPr>
          <a:xfrm>
            <a:off x="131482" y="169766"/>
            <a:ext cx="11929035" cy="63661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sz="3600" b="1" u="sng">
                <a:latin typeface="Times New Roman"/>
                <a:ea typeface="+mn-lt"/>
                <a:cs typeface="Times New Roman"/>
              </a:rPr>
              <a:t>REFERENCES : </a:t>
            </a:r>
            <a:endParaRPr lang="en-US" sz="3600" u="sng">
              <a:latin typeface="Calibri" panose="020F0502020204030204"/>
              <a:ea typeface="+mn-lt"/>
              <a:cs typeface="Calibri" panose="020F0502020204030204"/>
            </a:endParaRPr>
          </a:p>
          <a:p>
            <a:pPr algn="just">
              <a:lnSpc>
                <a:spcPct val="150000"/>
              </a:lnSpc>
            </a:pPr>
            <a:endParaRPr lang="en-US" sz="2400" b="1" dirty="0">
              <a:latin typeface="Times New Roman"/>
              <a:ea typeface="Calibri"/>
              <a:cs typeface="Times New Roman"/>
            </a:endParaRPr>
          </a:p>
          <a:p>
            <a:pPr algn="just"/>
            <a:r>
              <a:rPr lang="en-US">
                <a:latin typeface="Times New Roman"/>
                <a:ea typeface="+mn-lt"/>
                <a:cs typeface="Times New Roman"/>
              </a:rPr>
              <a:t>1. Malik, V., Sanjay, R., Nigam, S. K., Ghosh, K., Guha, S. K., Bhattacharya, A., &amp; Modi, A. (2021). ILDC for CJPE: Indian Legal Documents Corpus for Court Judgment Prediction and Explanation. ACL-IJCNLP 2021, 4046–4062.</a:t>
            </a:r>
            <a:endParaRPr lang="en-US">
              <a:latin typeface="Times New Roman"/>
              <a:ea typeface="Calibri"/>
              <a:cs typeface="Times New Roman"/>
            </a:endParaRPr>
          </a:p>
          <a:p>
            <a:pPr algn="just"/>
            <a:endParaRPr lang="en-US" sz="1400" dirty="0">
              <a:latin typeface="Times New Roman"/>
              <a:ea typeface="Calibri"/>
              <a:cs typeface="Times New Roman"/>
            </a:endParaRPr>
          </a:p>
          <a:p>
            <a:pPr algn="just"/>
            <a:r>
              <a:rPr lang="en-US">
                <a:latin typeface="Times New Roman"/>
                <a:ea typeface="+mn-lt"/>
                <a:cs typeface="Times New Roman"/>
              </a:rPr>
              <a:t>2. Paul, S., Mandal, A., Goyal, P., &amp; Ghosh, S. (2022). Pre-trained language models for the legal domain: A case study on Indian law. arXiv:2209.06049.</a:t>
            </a:r>
            <a:endParaRPr lang="en-US">
              <a:latin typeface="Times New Roman"/>
              <a:ea typeface="Calibri"/>
              <a:cs typeface="Times New Roman"/>
            </a:endParaRPr>
          </a:p>
          <a:p>
            <a:pPr algn="just"/>
            <a:endParaRPr lang="en-US" sz="1400" dirty="0">
              <a:latin typeface="Times New Roman"/>
              <a:ea typeface="Calibri"/>
              <a:cs typeface="Times New Roman"/>
            </a:endParaRPr>
          </a:p>
          <a:p>
            <a:pPr algn="just"/>
            <a:r>
              <a:rPr lang="en-US" dirty="0">
                <a:latin typeface="Times New Roman"/>
                <a:ea typeface="+mn-lt"/>
                <a:cs typeface="Times New Roman"/>
              </a:rPr>
              <a:t>3. Sivaranjani, S., &amp; </a:t>
            </a:r>
            <a:r>
              <a:rPr lang="en-US" dirty="0" err="1">
                <a:latin typeface="Times New Roman"/>
                <a:ea typeface="+mn-lt"/>
                <a:cs typeface="Times New Roman"/>
              </a:rPr>
              <a:t>Jayabharathy</a:t>
            </a:r>
            <a:r>
              <a:rPr lang="en-US" dirty="0">
                <a:latin typeface="Times New Roman"/>
                <a:ea typeface="+mn-lt"/>
                <a:cs typeface="Times New Roman"/>
              </a:rPr>
              <a:t>, J. (2025). Legal logit model for predicting reversal of lower court rulings using case and judge features.</a:t>
            </a:r>
            <a:endParaRPr lang="en-US" dirty="0">
              <a:latin typeface="Times New Roman"/>
              <a:ea typeface="Calibri"/>
              <a:cs typeface="Times New Roman"/>
            </a:endParaRPr>
          </a:p>
          <a:p>
            <a:pPr algn="just"/>
            <a:endParaRPr lang="en-US" sz="1400" dirty="0">
              <a:latin typeface="Times New Roman"/>
              <a:ea typeface="Calibri"/>
              <a:cs typeface="Times New Roman"/>
            </a:endParaRPr>
          </a:p>
          <a:p>
            <a:pPr algn="just"/>
            <a:r>
              <a:rPr lang="en-US">
                <a:latin typeface="Times New Roman"/>
                <a:ea typeface="+mn-lt"/>
                <a:cs typeface="Times New Roman"/>
              </a:rPr>
              <a:t>4. Sil, R., et al. (2024). Logistic regression-based prediction of dowry case outcomes using Indian trial court records. </a:t>
            </a:r>
            <a:endParaRPr lang="en-US">
              <a:latin typeface="Times New Roman"/>
              <a:ea typeface="Calibri"/>
              <a:cs typeface="Times New Roman"/>
            </a:endParaRPr>
          </a:p>
          <a:p>
            <a:pPr algn="just"/>
            <a:endParaRPr lang="en-US" sz="1400" dirty="0">
              <a:latin typeface="Times New Roman"/>
              <a:ea typeface="Calibri"/>
              <a:cs typeface="Times New Roman"/>
            </a:endParaRPr>
          </a:p>
          <a:p>
            <a:pPr algn="just"/>
            <a:r>
              <a:rPr lang="en-US">
                <a:latin typeface="Times New Roman"/>
                <a:ea typeface="+mn-lt"/>
                <a:cs typeface="Times New Roman"/>
              </a:rPr>
              <a:t>5. Abbara, F., et al. (2023). ALJP: Automated legal judgment prediction using SVM and logistic regression with TF-IDF features.</a:t>
            </a:r>
            <a:endParaRPr lang="en-US">
              <a:latin typeface="Times New Roman"/>
              <a:ea typeface="Calibri"/>
              <a:cs typeface="Times New Roman"/>
            </a:endParaRPr>
          </a:p>
          <a:p>
            <a:pPr algn="just"/>
            <a:endParaRPr lang="en-US" sz="1400" dirty="0">
              <a:latin typeface="Times New Roman"/>
              <a:ea typeface="Calibri"/>
              <a:cs typeface="Times New Roman"/>
            </a:endParaRPr>
          </a:p>
          <a:p>
            <a:pPr algn="just">
              <a:lnSpc>
                <a:spcPct val="150000"/>
              </a:lnSpc>
            </a:pPr>
            <a:r>
              <a:rPr lang="en-US">
                <a:latin typeface="Times New Roman"/>
                <a:ea typeface="+mn-lt"/>
                <a:cs typeface="Times New Roman"/>
              </a:rPr>
              <a:t>6. The Live Nagpur. (2026, August 3). Supreme Court backlog tops 96,000 cases; 10,000 pending for over 10 years. </a:t>
            </a:r>
            <a:r>
              <a:rPr lang="en-US" dirty="0">
                <a:latin typeface="Times New Roman"/>
                <a:ea typeface="+mn-lt"/>
                <a:cs typeface="Times New Roman"/>
              </a:rPr>
              <a:t>https://thelivenagpur.com/2026/08/03/supreme-court-backlog-tops-96000-cases-10000-pending-for-over-10-years/</a:t>
            </a:r>
            <a:endParaRPr lang="en-US">
              <a:latin typeface="Times New Roman"/>
              <a:ea typeface="Calibri"/>
              <a:cs typeface="Times New Roman"/>
            </a:endParaRPr>
          </a:p>
          <a:p>
            <a:pPr algn="just">
              <a:lnSpc>
                <a:spcPct val="150000"/>
              </a:lnSpc>
            </a:pPr>
            <a:endParaRPr lang="en-US" sz="2400" b="1" dirty="0">
              <a:latin typeface="Times New Roman"/>
              <a:ea typeface="Calibri"/>
              <a:cs typeface="Times New Roman"/>
            </a:endParaRPr>
          </a:p>
        </p:txBody>
      </p:sp>
      <p:sp>
        <p:nvSpPr>
          <p:cNvPr id="3" name="TextBox 2"/>
          <p:cNvSpPr txBox="1"/>
          <p:nvPr/>
        </p:nvSpPr>
        <p:spPr>
          <a:xfrm>
            <a:off x="11462198" y="6310648"/>
            <a:ext cx="1219200" cy="400110"/>
          </a:xfrm>
          <a:prstGeom prst="rect">
            <a:avLst/>
          </a:prstGeom>
          <a:noFill/>
        </p:spPr>
        <p:txBody>
          <a:bodyPr wrap="square" rtlCol="0">
            <a:spAutoFit/>
          </a:bodyPr>
          <a:lstStyle/>
          <a:p>
            <a:r>
              <a:rPr lang="en-US" sz="2000" dirty="0" smtClean="0"/>
              <a:t>25</a:t>
            </a:r>
            <a:endParaRPr lang="en-IN" sz="2000" dirty="0"/>
          </a:p>
        </p:txBody>
      </p:sp>
    </p:spTree>
    <p:extLst>
      <p:ext uri="{BB962C8B-B14F-4D97-AF65-F5344CB8AC3E}">
        <p14:creationId xmlns:p14="http://schemas.microsoft.com/office/powerpoint/2010/main" val="29264832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840</Words>
  <Application>Microsoft Office PowerPoint</Application>
  <PresentationFormat>Widescreen</PresentationFormat>
  <Paragraphs>171</Paragraphs>
  <Slides>27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Georgia</vt:lpstr>
      <vt:lpstr>PT Serif</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DATASET</vt:lpstr>
      <vt:lpstr>DATASET</vt:lpstr>
      <vt:lpstr>METHODOLOGY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Lenovo</cp:lastModifiedBy>
  <cp:revision>714</cp:revision>
  <dcterms:created xsi:type="dcterms:W3CDTF">2026-08-24T03:10:03Z</dcterms:created>
  <dcterms:modified xsi:type="dcterms:W3CDTF">2026-08-27T01:56:23Z</dcterms:modified>
</cp:coreProperties>
</file>